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seminar paper asks how a successful automotive company can be built in China, and which governance and financing structure is most likely to create long-term shareholder value. We compare three real archetypes — SAIC, BYD and Geely. I'll walk through the framework, the four-dimension comparison, our verdict, and finally reflect on how we used AI in the research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tension: for three decades the joint venture was THE way to build cars at scale in China — foreign tech for market access. By 2025 that model is breaking down. EVs are the majority of sales, Chinese independents lead globally, and the EU now puts different tariffs on different governance models — 35.3% on state-led SAIC versus 17% on BYD. That sets up our central question, on the right. Note we compare models, not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strands of theory all point the same direction. Agency theory: founder ownership removes the principal-agent conflict. Shleifer and Vishny: in state firms, control rights steer capital toward political goals, not shareholder value. And the empirical literature — including Allen et al. 2024 on the Chinese market — finds state-controlled firms structurally underperform. So the prior is clear before we even look at the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analytical frame and the roadmap for the next six slides. Three archetypes down the side — state JV, vertical-integration, and M&amp;A — assessed across four dimensions across the top: governance, financing, capability building, long-term viability. Each later slide fills in one column. The theoretical lenses we apply are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about who holds control rights. SAIC: SASAC owns ~73%, the Party mandate is written into the charter, and JV boards need bilateral consent — three brakes on decisions. BYD: the founder and team hold a third of votes under one-share-one-vote, enabling unilateral moves like exiting combustion entirely in 2022. Geely: Li Shufu controls the apex, agile on deals but paying multi-brand coordination cost. The takeaway: concentrated commercial control acts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goal — fund growth — but the risk lands differently. SAIC externalised capital risk onto 50/50 JV partners; capital-light worked until sales fell and it was contractually bound to absorb losses it couldn't restructure — a capital trap. BYD funds itself from operating cash flow, net-cash, spending more on R&amp;D than it earns in profit. Geely borrows to buy capability fast — highest financing risk, dependent on Volvo's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financing story in one chart: return on equity in FY2024. SAIC essentially flat at 0.6%, BYD 21.7%, Geely 19.2%. The gap is structural, not luck. On the right: BYD's ROE did compress to 13.2% in FY2025 under the price war — I'm being honest about that — but it stays self-funded. SAIC's FY2025 'recovery' is just the absence of last year's impairments. Geely is resilient but levering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building is a speed-depth-independence trade-off, mapped here. SAIC's JV route was fastest for production quality — Bai et al. measure +8.3% — but rents cannibalised its own innovation, so it never built EV platforms. Geely bought capability fast and, uniquely, turned it into genuine co-development — the CMA platform. BYD took the slow organic road but accumulated tacit, non-imitable knowledge from cell chemistry to software. Slowest to build, hardest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 transition audited every prior choice. SAIC is most exposed: its plants run at 14-37% of capacity and the profit rebound is just the absence of last year's write-downs. BYD is strongest: no combustion legacy, fourth year as global NEV leader, exports up 140% — though margins are compressing and it's moved to net debt. Geely is the adaptive middle: a majority-EV sales mix and strong profit growth, but levered and platform-dependent on Volvo.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four dimensions together into one scorecard. BYD scores high across governance speed, financing resilience, capability depth, and viability. Geely matches BYD only on governance speed and is medium elsewhere. SAIC trails on all four. This is the bridge to our verdict: the comparison is not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cases we abstract three transferable lessons. One: how you acquire capability decides how durable it is across technology shifts. Two: governance is first-order for adaptability — when technology moves faster than your decision cycle, governance becomes the binding constraint. Three: capital structure decides who survives a contraction — self-financing trades speed for resilience, leverage does the opposite. These generalise beyond autos to any high-growth, high-uncertainty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to the central question. Of the three, BYD is most likely to create long-term shareholder value: highest ROE, four years as global NEV leader, a 5.6-billion-dollar raise that sovereign wealth funds joined, and private governance that the literature says structurally outperforms state control. The nuance in the box matters: it's not that vertical integration is magic — it's that BYD aligns commercial founder control with a self-financing structure. Governance and capital discipline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and to widen the lens. The deep point: governance is not a knob you turn after picking a strategy — it is the mechanism that lets any strategy be executed at all. The JV model didn't lose to a better battery; it lost to a better way of allocating control and capital. And the open question, honestly stated: BYD's lead depends on the same discipline that built it, now under price-war pressure. The 2020-25 transition is, in effect, a natural experiment showing governance beats endowment in converting disruption into durable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required reflection on the AI platform. We didn't use a chatbot — we used Claude Code as a layered system. A core model — Sonnet for most work, Opus for the hard analytical passes — orchestrated five specialised agents: ingest, query, lint, verify-claims, and find-references, plus web-search and repo-Q&amp;A via MCP. Everything lived in a shared git repository with one wiki per case and a shared comparison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role did it actually play? Two things. First, research infrastructure: a persistent wiki we ingested sources into once and then queried — far faster than re-reading PDFs. Second, a quality enforcer: every source was rated on journal quality and relevance, and a per-case writing guide held the verified numbers and citations so all three of us stayed consistent. Because the AI could read all three wikis, cross-case comparison didn't need manual data swapping.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it helpful? Most of all for compressing research time — and concretely, it caught three real data errors before they reached the paper: a provisional tariff we'd have quoted as final, a net-profit figure inflated by a currency-unit mix-up, and an EPS on the wrong share count. Each was caught by forcing a trace back to the audited annual report. It also flagged duplicated arguments and APA slips, and the persistent base survived a hardware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limits were real. No paywalled journals, so some reading was manual. Geely's PDFs weren't machine-readable, which is why that case leaned more on web sources. Long sessions hit context limits, forcing us to split work. And AI text needed active review — early drafts overclaimed and we corrected them by hand. The line we held: infrastructure and review were AI-assisted; judgment and interpretation stayed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ease of use: the technique mattered more than the tool. The single most effective move was framing Claude as a critical reviewer — a supervisor hunting for errors — rather than a helpful collaborator validating our text. Isolating one claim and demanding the exact source passage is what caught our data errors. 'Shorten without changing the argument or dropping citations' kept edits safe. And bounding comparisons to verified wiki data beat free-form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cost and effort. Marginal cost was low: about 21 euros a month per person on Claude Pro, no per-query fees, no paid data services. Setup was a one-session install via the apm package manager. The real cost was the learning curve — coming from chat-only experience, it took several hours to become productive, because the value is in the agent-and-wiki workflow, not in chatting. Once that clicked, it paid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sources, in APA style, across governance theory, the capability literature, and the audited annual reports underpinning every figure in the deck.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Shape 1"/>
          <p:cNvSpPr/>
          <p:nvPr/>
        </p:nvSpPr>
        <p:spPr>
          <a:xfrm>
            <a:off x="502920" y="960120"/>
            <a:ext cx="502920" cy="64008"/>
          </a:xfrm>
          <a:prstGeom prst="rect">
            <a:avLst/>
          </a:prstGeom>
          <a:solidFill>
            <a:srgbClr val="2563EB"/>
          </a:solidFill>
          <a:ln/>
        </p:spPr>
      </p:sp>
      <p:sp>
        <p:nvSpPr>
          <p:cNvPr id="4" name="Shape 2"/>
          <p:cNvSpPr/>
          <p:nvPr/>
        </p:nvSpPr>
        <p:spPr>
          <a:xfrm>
            <a:off x="1069848" y="960120"/>
            <a:ext cx="502920" cy="64008"/>
          </a:xfrm>
          <a:prstGeom prst="rect">
            <a:avLst/>
          </a:prstGeom>
          <a:solidFill>
            <a:srgbClr val="06B6D4"/>
          </a:solidFill>
          <a:ln/>
        </p:spPr>
      </p:sp>
      <p:sp>
        <p:nvSpPr>
          <p:cNvPr id="5" name="Shape 3"/>
          <p:cNvSpPr/>
          <p:nvPr/>
        </p:nvSpPr>
        <p:spPr>
          <a:xfrm>
            <a:off x="1636776" y="960120"/>
            <a:ext cx="274320" cy="64008"/>
          </a:xfrm>
          <a:prstGeom prst="rect">
            <a:avLst/>
          </a:prstGeom>
          <a:solidFill>
            <a:srgbClr val="DC2626"/>
          </a:solidFill>
          <a:ln/>
        </p:spPr>
      </p:sp>
      <p:sp>
        <p:nvSpPr>
          <p:cNvPr id="6" name="Text 4"/>
          <p:cNvSpPr/>
          <p:nvPr/>
        </p:nvSpPr>
        <p:spPr>
          <a:xfrm>
            <a:off x="502920" y="1188720"/>
            <a:ext cx="8138160" cy="274320"/>
          </a:xfrm>
          <a:prstGeom prst="rect">
            <a:avLst/>
          </a:prstGeom>
          <a:noFill/>
          <a:ln/>
        </p:spPr>
        <p:txBody>
          <a:bodyPr wrap="square" rtlCol="0" anchor="ctr"/>
          <a:lstStyle/>
          <a:p>
            <a:pPr indent="0" marL="0">
              <a:buNone/>
            </a:pPr>
            <a:r>
              <a:rPr lang="en-US" sz="1100" b="1" spc="200" kern="0" dirty="0">
                <a:solidFill>
                  <a:srgbClr val="06B6D4"/>
                </a:solidFill>
                <a:latin typeface="Arial" pitchFamily="34" charset="0"/>
                <a:ea typeface="Arial" pitchFamily="34" charset="-122"/>
                <a:cs typeface="Arial" pitchFamily="34" charset="-120"/>
              </a:rPr>
              <a:t>SEMINAR PAPER  ·  M&amp;A AS TRANSFORMER OF THE AUTOMOTIVE INDUSTRY</a:t>
            </a:r>
            <a:endParaRPr lang="en-US" sz="1100" dirty="0"/>
          </a:p>
        </p:txBody>
      </p:sp>
      <p:sp>
        <p:nvSpPr>
          <p:cNvPr id="7" name="Text 5"/>
          <p:cNvSpPr/>
          <p:nvPr/>
        </p:nvSpPr>
        <p:spPr>
          <a:xfrm>
            <a:off x="502920" y="1554480"/>
            <a:ext cx="8138160" cy="1371600"/>
          </a:xfrm>
          <a:prstGeom prst="rect">
            <a:avLst/>
          </a:prstGeom>
          <a:noFill/>
          <a:ln/>
        </p:spPr>
        <p:txBody>
          <a:bodyPr wrap="square" rtlCol="0" anchor="ctr"/>
          <a:lstStyle/>
          <a:p>
            <a:pPr indent="0" marL="0">
              <a:lnSpc>
                <a:spcPct val="98000"/>
              </a:lnSpc>
              <a:buNone/>
            </a:pPr>
            <a:r>
              <a:rPr lang="en-US" sz="4000" b="1" dirty="0">
                <a:solidFill>
                  <a:srgbClr val="FFFFFF"/>
                </a:solidFill>
                <a:latin typeface="Arial" pitchFamily="34" charset="0"/>
                <a:ea typeface="Arial" pitchFamily="34" charset="-122"/>
                <a:cs typeface="Arial" pitchFamily="34" charset="-120"/>
              </a:rPr>
              <a:t>China Strategies in the</a:t>
            </a:r>
            <a:endParaRPr lang="en-US" sz="4000" dirty="0"/>
          </a:p>
          <a:p>
            <a:pPr indent="0" marL="0">
              <a:lnSpc>
                <a:spcPct val="98000"/>
              </a:lnSpc>
              <a:buNone/>
            </a:pPr>
            <a:r>
              <a:rPr lang="en-US" sz="4000" b="1" dirty="0">
                <a:solidFill>
                  <a:srgbClr val="FFFFFF"/>
                </a:solidFill>
                <a:latin typeface="Arial" pitchFamily="34" charset="0"/>
                <a:ea typeface="Arial" pitchFamily="34" charset="-122"/>
                <a:cs typeface="Arial" pitchFamily="34" charset="-120"/>
              </a:rPr>
              <a:t>Automotive Industry</a:t>
            </a:r>
            <a:endParaRPr lang="en-US" sz="4000" dirty="0"/>
          </a:p>
        </p:txBody>
      </p:sp>
      <p:sp>
        <p:nvSpPr>
          <p:cNvPr id="8" name="Text 6"/>
          <p:cNvSpPr/>
          <p:nvPr/>
        </p:nvSpPr>
        <p:spPr>
          <a:xfrm>
            <a:off x="502920" y="2971800"/>
            <a:ext cx="8138160" cy="457200"/>
          </a:xfrm>
          <a:prstGeom prst="rect">
            <a:avLst/>
          </a:prstGeom>
          <a:noFill/>
          <a:ln/>
        </p:spPr>
        <p:txBody>
          <a:bodyPr wrap="square" rtlCol="0" anchor="ctr"/>
          <a:lstStyle/>
          <a:p>
            <a:pPr indent="0" marL="0">
              <a:buNone/>
            </a:pPr>
            <a:r>
              <a:rPr lang="en-US" sz="1600" i="1" dirty="0">
                <a:solidFill>
                  <a:srgbClr val="A8C2EE"/>
                </a:solidFill>
                <a:latin typeface="Arial" pitchFamily="34" charset="0"/>
                <a:ea typeface="Arial" pitchFamily="34" charset="-122"/>
                <a:cs typeface="Arial" pitchFamily="34" charset="-120"/>
              </a:rPr>
              <a:t>Which governance and financing model builds lasting shareholder value?</a:t>
            </a:r>
            <a:endParaRPr lang="en-US" sz="1600" dirty="0"/>
          </a:p>
        </p:txBody>
      </p:sp>
      <p:sp>
        <p:nvSpPr>
          <p:cNvPr id="9" name="Shape 7"/>
          <p:cNvSpPr/>
          <p:nvPr/>
        </p:nvSpPr>
        <p:spPr>
          <a:xfrm>
            <a:off x="502920" y="3703320"/>
            <a:ext cx="2011680" cy="27432"/>
          </a:xfrm>
          <a:prstGeom prst="rect">
            <a:avLst/>
          </a:prstGeom>
          <a:solidFill>
            <a:srgbClr val="2563EB"/>
          </a:solidFill>
          <a:ln/>
        </p:spPr>
      </p:sp>
      <p:sp>
        <p:nvSpPr>
          <p:cNvPr id="10" name="Text 8"/>
          <p:cNvSpPr/>
          <p:nvPr/>
        </p:nvSpPr>
        <p:spPr>
          <a:xfrm>
            <a:off x="502920" y="3840480"/>
            <a:ext cx="8138160" cy="310896"/>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Julia Ort  ·  Batughan Maus  ·  Chiara Stubner</a:t>
            </a:r>
            <a:endParaRPr lang="en-US" sz="1500" dirty="0"/>
          </a:p>
        </p:txBody>
      </p:sp>
      <p:sp>
        <p:nvSpPr>
          <p:cNvPr id="11" name="Text 9"/>
          <p:cNvSpPr/>
          <p:nvPr/>
        </p:nvSpPr>
        <p:spPr>
          <a:xfrm>
            <a:off x="502920" y="4187952"/>
            <a:ext cx="8138160" cy="274320"/>
          </a:xfrm>
          <a:prstGeom prst="rect">
            <a:avLst/>
          </a:prstGeom>
          <a:noFill/>
          <a:ln/>
        </p:spPr>
        <p:txBody>
          <a:bodyPr wrap="square" rtlCol="0" anchor="ctr"/>
          <a:lstStyle/>
          <a:p>
            <a:pPr indent="0" marL="0">
              <a:buNone/>
            </a:pPr>
            <a:r>
              <a:rPr lang="en-US" sz="1200" dirty="0">
                <a:solidFill>
                  <a:srgbClr val="8FA6CC"/>
                </a:solidFill>
                <a:latin typeface="Arial" pitchFamily="34" charset="0"/>
                <a:ea typeface="Arial" pitchFamily="34" charset="-122"/>
                <a:cs typeface="Arial" pitchFamily="34" charset="-120"/>
              </a:rPr>
              <a:t>Goethe University Frankfurt  ·  Chair of Banking and Finance  ·  29 June 2026</a:t>
            </a:r>
            <a:endParaRPr lang="en-US" sz="1200" dirty="0"/>
          </a:p>
        </p:txBody>
      </p:sp>
      <p:sp>
        <p:nvSpPr>
          <p:cNvPr id="12" name="Text 10"/>
          <p:cNvSpPr/>
          <p:nvPr/>
        </p:nvSpPr>
        <p:spPr>
          <a:xfrm>
            <a:off x="502920" y="4617720"/>
            <a:ext cx="8138160" cy="274320"/>
          </a:xfrm>
          <a:prstGeom prst="rect">
            <a:avLst/>
          </a:prstGeom>
          <a:noFill/>
          <a:ln/>
        </p:spPr>
        <p:txBody>
          <a:bodyPr wrap="square" rtlCol="0" anchor="ctr"/>
          <a:lstStyle/>
          <a:p>
            <a:pPr indent="0" marL="0">
              <a:buNone/>
            </a:pPr>
            <a:r>
              <a:rPr lang="en-US" sz="1100" b="1" spc="400" kern="0" dirty="0">
                <a:solidFill>
                  <a:srgbClr val="06B6D4"/>
                </a:solidFill>
                <a:latin typeface="Arial" pitchFamily="34" charset="0"/>
                <a:ea typeface="Arial" pitchFamily="34" charset="-122"/>
                <a:cs typeface="Arial" pitchFamily="34" charset="-120"/>
              </a:rPr>
              <a:t>SAIC  ·  BYD  ·  GEELY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INTRODUCTION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The joint-venture model that built China's auto industry for three decades is unravelling</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Text 4"/>
          <p:cNvSpPr/>
          <p:nvPr/>
        </p:nvSpPr>
        <p:spPr>
          <a:xfrm>
            <a:off x="502920" y="1554480"/>
            <a:ext cx="4983480" cy="2468880"/>
          </a:xfrm>
          <a:prstGeom prst="rect">
            <a:avLst/>
          </a:prstGeom>
          <a:noFill/>
          <a:ln/>
        </p:spPr>
        <p:txBody>
          <a:bodyPr wrap="square" rtlCol="0" anchor="t"/>
          <a:lstStyle/>
          <a:p>
            <a:pPr marL="177800" indent="-177800">
              <a:spcAft>
                <a:spcPts val="1100"/>
              </a:spcAft>
              <a:buSzPct val="100000"/>
              <a:buChar char="•"/>
            </a:pPr>
            <a:r>
              <a:rPr lang="en-US" sz="1350" b="1" dirty="0">
                <a:solidFill>
                  <a:srgbClr val="0F172A"/>
                </a:solidFill>
                <a:latin typeface="Arial" pitchFamily="34" charset="0"/>
                <a:ea typeface="Arial" pitchFamily="34" charset="-122"/>
                <a:cs typeface="Arial" pitchFamily="34" charset="-120"/>
              </a:rPr>
              <a:t>30 years of dominance: </a:t>
            </a:r>
            <a:pPr indent="0" marL="0">
              <a:spcAft>
                <a:spcPts val="1100"/>
              </a:spcAft>
              <a:buNone/>
            </a:pPr>
            <a:r>
              <a:rPr lang="en-US" sz="1350" dirty="0">
                <a:solidFill>
                  <a:srgbClr val="1E293B"/>
                </a:solidFill>
                <a:latin typeface="Arial" pitchFamily="34" charset="0"/>
                <a:ea typeface="Arial" pitchFamily="34" charset="-122"/>
                <a:cs typeface="Arial" pitchFamily="34" charset="-120"/>
              </a:rPr>
              <a:t>foreign technology exchanged for market access via a mandatory state-owned JV partner.</a:t>
            </a:r>
            <a:endParaRPr lang="en-US" sz="1350" dirty="0"/>
          </a:p>
          <a:p>
            <a:pPr indent="0" marL="0">
              <a:spcAft>
                <a:spcPts val="1100"/>
              </a:spcAft>
              <a:buNone/>
            </a:pPr>
            <a:r>
              <a:rPr lang="en-US" sz="1350" b="1" dirty="0">
                <a:solidFill>
                  <a:srgbClr val="0F172A"/>
                </a:solidFill>
                <a:latin typeface="Arial" pitchFamily="34" charset="0"/>
                <a:ea typeface="Arial" pitchFamily="34" charset="-122"/>
                <a:cs typeface="Arial" pitchFamily="34" charset="-120"/>
              </a:rPr>
              <a:t>2025 inflection: </a:t>
            </a:r>
            <a:pPr indent="0" marL="0">
              <a:spcAft>
                <a:spcPts val="1100"/>
              </a:spcAft>
              <a:buNone/>
            </a:pPr>
            <a:r>
              <a:rPr lang="en-US" sz="1350" dirty="0">
                <a:solidFill>
                  <a:srgbClr val="1E293B"/>
                </a:solidFill>
                <a:latin typeface="Arial" pitchFamily="34" charset="0"/>
                <a:ea typeface="Arial" pitchFamily="34" charset="-122"/>
                <a:cs typeface="Arial" pitchFamily="34" charset="-120"/>
              </a:rPr>
              <a:t>EVs reached ~55% of China's new-vehicle sales; Chinese makers supplied ~60% of global EV sales.</a:t>
            </a:r>
            <a:endParaRPr lang="en-US" sz="1350" dirty="0"/>
          </a:p>
          <a:p>
            <a:pPr indent="0" marL="0">
              <a:spcAft>
                <a:spcPts val="1100"/>
              </a:spcAft>
              <a:buNone/>
            </a:pPr>
            <a:r>
              <a:rPr lang="en-US" sz="1350" b="1" dirty="0">
                <a:solidFill>
                  <a:srgbClr val="0F172A"/>
                </a:solidFill>
                <a:latin typeface="Arial" pitchFamily="34" charset="0"/>
                <a:ea typeface="Arial" pitchFamily="34" charset="-122"/>
                <a:cs typeface="Arial" pitchFamily="34" charset="-120"/>
              </a:rPr>
              <a:t>Diverging fates: </a:t>
            </a:r>
            <a:pPr indent="0" marL="0">
              <a:spcAft>
                <a:spcPts val="1100"/>
              </a:spcAft>
              <a:buNone/>
            </a:pPr>
            <a:r>
              <a:rPr lang="en-US" sz="1350" dirty="0">
                <a:solidFill>
                  <a:srgbClr val="1E293B"/>
                </a:solidFill>
                <a:latin typeface="Arial" pitchFamily="34" charset="0"/>
                <a:ea typeface="Arial" pitchFamily="34" charset="-122"/>
                <a:cs typeface="Arial" pitchFamily="34" charset="-120"/>
              </a:rPr>
              <a:t>JV-reliant firms are losing share; independent Chinese manufacturers now lead globally.</a:t>
            </a:r>
            <a:endParaRPr lang="en-US" sz="1350" dirty="0"/>
          </a:p>
          <a:p>
            <a:pPr indent="0" marL="0">
              <a:spcAft>
                <a:spcPts val="1100"/>
              </a:spcAft>
              <a:buNone/>
            </a:pPr>
            <a:r>
              <a:rPr lang="en-US" sz="1350" b="1" dirty="0">
                <a:solidFill>
                  <a:srgbClr val="DC2626"/>
                </a:solidFill>
                <a:latin typeface="Arial" pitchFamily="34" charset="0"/>
                <a:ea typeface="Arial" pitchFamily="34" charset="-122"/>
                <a:cs typeface="Arial" pitchFamily="34" charset="-120"/>
              </a:rPr>
              <a:t>Governance is now priced: </a:t>
            </a:r>
            <a:pPr indent="0" marL="0">
              <a:spcAft>
                <a:spcPts val="1100"/>
              </a:spcAft>
              <a:buNone/>
            </a:pPr>
            <a:r>
              <a:rPr lang="en-US" sz="1350" dirty="0">
                <a:solidFill>
                  <a:srgbClr val="1E293B"/>
                </a:solidFill>
                <a:latin typeface="Arial" pitchFamily="34" charset="0"/>
                <a:ea typeface="Arial" pitchFamily="34" charset="-122"/>
                <a:cs typeface="Arial" pitchFamily="34" charset="-120"/>
              </a:rPr>
              <a:t>EU countervailing duties differ by ownership model (see right).</a:t>
            </a:r>
            <a:endParaRPr lang="en-US" sz="1350" dirty="0"/>
          </a:p>
        </p:txBody>
      </p:sp>
      <p:sp>
        <p:nvSpPr>
          <p:cNvPr id="7" name="Text 5"/>
          <p:cNvSpPr/>
          <p:nvPr/>
        </p:nvSpPr>
        <p:spPr>
          <a:xfrm>
            <a:off x="502920" y="3977640"/>
            <a:ext cx="49834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EU anti-subsidy tariff by model</a:t>
            </a:r>
            <a:endParaRPr lang="en-US" sz="1100" dirty="0"/>
          </a:p>
        </p:txBody>
      </p:sp>
      <p:sp>
        <p:nvSpPr>
          <p:cNvPr id="8" name="Text 6"/>
          <p:cNvSpPr/>
          <p:nvPr/>
        </p:nvSpPr>
        <p:spPr>
          <a:xfrm>
            <a:off x="502920" y="4261104"/>
            <a:ext cx="1554480" cy="22860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SAIC</a:t>
            </a:r>
            <a:endParaRPr lang="en-US" sz="1100" dirty="0"/>
          </a:p>
        </p:txBody>
      </p:sp>
      <p:sp>
        <p:nvSpPr>
          <p:cNvPr id="9" name="Shape 7"/>
          <p:cNvSpPr/>
          <p:nvPr/>
        </p:nvSpPr>
        <p:spPr>
          <a:xfrm>
            <a:off x="502920" y="4507992"/>
            <a:ext cx="1463040" cy="201168"/>
          </a:xfrm>
          <a:prstGeom prst="rect">
            <a:avLst/>
          </a:prstGeom>
          <a:solidFill>
            <a:srgbClr val="94A3B8"/>
          </a:solidFill>
          <a:ln/>
        </p:spPr>
      </p:sp>
      <p:sp>
        <p:nvSpPr>
          <p:cNvPr id="10" name="Text 8"/>
          <p:cNvSpPr/>
          <p:nvPr/>
        </p:nvSpPr>
        <p:spPr>
          <a:xfrm>
            <a:off x="1417320" y="4480560"/>
            <a:ext cx="640080" cy="237744"/>
          </a:xfrm>
          <a:prstGeom prst="rect">
            <a:avLst/>
          </a:prstGeom>
          <a:noFill/>
          <a:ln/>
        </p:spPr>
        <p:txBody>
          <a:bodyPr wrap="square" rtlCol="0" anchor="ctr"/>
          <a:lstStyle/>
          <a:p>
            <a:pPr indent="0" marL="0">
              <a:buNone/>
            </a:pPr>
            <a:r>
              <a:rPr lang="en-US" sz="1100" b="1" dirty="0">
                <a:solidFill>
                  <a:srgbClr val="94A3B8"/>
                </a:solidFill>
                <a:latin typeface="Arial" pitchFamily="34" charset="0"/>
                <a:ea typeface="Arial" pitchFamily="34" charset="-122"/>
                <a:cs typeface="Arial" pitchFamily="34" charset="-120"/>
              </a:rPr>
              <a:t>35.3%</a:t>
            </a:r>
            <a:endParaRPr lang="en-US" sz="1100" dirty="0"/>
          </a:p>
        </p:txBody>
      </p:sp>
      <p:sp>
        <p:nvSpPr>
          <p:cNvPr id="11" name="Text 9"/>
          <p:cNvSpPr/>
          <p:nvPr/>
        </p:nvSpPr>
        <p:spPr>
          <a:xfrm>
            <a:off x="2194560" y="4261104"/>
            <a:ext cx="1554480" cy="22860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Geely</a:t>
            </a:r>
            <a:endParaRPr lang="en-US" sz="1100" dirty="0"/>
          </a:p>
        </p:txBody>
      </p:sp>
      <p:sp>
        <p:nvSpPr>
          <p:cNvPr id="12" name="Shape 10"/>
          <p:cNvSpPr/>
          <p:nvPr/>
        </p:nvSpPr>
        <p:spPr>
          <a:xfrm>
            <a:off x="2194560" y="4507992"/>
            <a:ext cx="779183" cy="201168"/>
          </a:xfrm>
          <a:prstGeom prst="rect">
            <a:avLst/>
          </a:prstGeom>
          <a:solidFill>
            <a:srgbClr val="06B6D4"/>
          </a:solidFill>
          <a:ln/>
        </p:spPr>
      </p:sp>
      <p:sp>
        <p:nvSpPr>
          <p:cNvPr id="13" name="Text 11"/>
          <p:cNvSpPr/>
          <p:nvPr/>
        </p:nvSpPr>
        <p:spPr>
          <a:xfrm>
            <a:off x="3108960" y="4480560"/>
            <a:ext cx="640080" cy="237744"/>
          </a:xfrm>
          <a:prstGeom prst="rect">
            <a:avLst/>
          </a:prstGeom>
          <a:noFill/>
          <a:ln/>
        </p:spPr>
        <p:txBody>
          <a:bodyPr wrap="square" rtlCol="0" anchor="ctr"/>
          <a:lstStyle/>
          <a:p>
            <a:pPr indent="0" marL="0">
              <a:buNone/>
            </a:pPr>
            <a:r>
              <a:rPr lang="en-US" sz="1100" b="1" dirty="0">
                <a:solidFill>
                  <a:srgbClr val="06B6D4"/>
                </a:solidFill>
                <a:latin typeface="Arial" pitchFamily="34" charset="0"/>
                <a:ea typeface="Arial" pitchFamily="34" charset="-122"/>
                <a:cs typeface="Arial" pitchFamily="34" charset="-120"/>
              </a:rPr>
              <a:t>18.8%</a:t>
            </a:r>
            <a:endParaRPr lang="en-US" sz="1100" dirty="0"/>
          </a:p>
        </p:txBody>
      </p:sp>
      <p:sp>
        <p:nvSpPr>
          <p:cNvPr id="14" name="Text 12"/>
          <p:cNvSpPr/>
          <p:nvPr/>
        </p:nvSpPr>
        <p:spPr>
          <a:xfrm>
            <a:off x="3886200" y="4261104"/>
            <a:ext cx="1554480" cy="22860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BYD</a:t>
            </a:r>
            <a:endParaRPr lang="en-US" sz="1100" dirty="0"/>
          </a:p>
        </p:txBody>
      </p:sp>
      <p:sp>
        <p:nvSpPr>
          <p:cNvPr id="15" name="Shape 13"/>
          <p:cNvSpPr/>
          <p:nvPr/>
        </p:nvSpPr>
        <p:spPr>
          <a:xfrm>
            <a:off x="3886200" y="4507992"/>
            <a:ext cx="704580" cy="201168"/>
          </a:xfrm>
          <a:prstGeom prst="rect">
            <a:avLst/>
          </a:prstGeom>
          <a:solidFill>
            <a:srgbClr val="2563EB"/>
          </a:solidFill>
          <a:ln/>
        </p:spPr>
      </p:sp>
      <p:sp>
        <p:nvSpPr>
          <p:cNvPr id="16" name="Text 14"/>
          <p:cNvSpPr/>
          <p:nvPr/>
        </p:nvSpPr>
        <p:spPr>
          <a:xfrm>
            <a:off x="4800600" y="4480560"/>
            <a:ext cx="640080" cy="237744"/>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17%</a:t>
            </a:r>
            <a:endParaRPr lang="en-US" sz="1100" dirty="0"/>
          </a:p>
        </p:txBody>
      </p:sp>
      <p:sp>
        <p:nvSpPr>
          <p:cNvPr id="17" name="Shape 15"/>
          <p:cNvSpPr/>
          <p:nvPr/>
        </p:nvSpPr>
        <p:spPr>
          <a:xfrm>
            <a:off x="5760720" y="1554480"/>
            <a:ext cx="2880360" cy="3154680"/>
          </a:xfrm>
          <a:prstGeom prst="roundRect">
            <a:avLst>
              <a:gd name="adj" fmla="val 2540"/>
            </a:avLst>
          </a:prstGeom>
          <a:solidFill>
            <a:srgbClr val="0F172A"/>
          </a:solidFill>
          <a:ln/>
        </p:spPr>
      </p:sp>
      <p:sp>
        <p:nvSpPr>
          <p:cNvPr id="18" name="Shape 16"/>
          <p:cNvSpPr/>
          <p:nvPr/>
        </p:nvSpPr>
        <p:spPr>
          <a:xfrm>
            <a:off x="5760720" y="1554480"/>
            <a:ext cx="82296" cy="3154680"/>
          </a:xfrm>
          <a:prstGeom prst="rect">
            <a:avLst/>
          </a:prstGeom>
          <a:solidFill>
            <a:srgbClr val="06B6D4"/>
          </a:solidFill>
          <a:ln/>
        </p:spPr>
      </p:sp>
      <p:sp>
        <p:nvSpPr>
          <p:cNvPr id="19" name="Text 17"/>
          <p:cNvSpPr/>
          <p:nvPr/>
        </p:nvSpPr>
        <p:spPr>
          <a:xfrm>
            <a:off x="5989320" y="1755648"/>
            <a:ext cx="2560320" cy="274320"/>
          </a:xfrm>
          <a:prstGeom prst="rect">
            <a:avLst/>
          </a:prstGeom>
          <a:noFill/>
          <a:ln/>
        </p:spPr>
        <p:txBody>
          <a:bodyPr wrap="square" rtlCol="0" anchor="ctr"/>
          <a:lstStyle/>
          <a:p>
            <a:pPr indent="0" marL="0">
              <a:buNone/>
            </a:pPr>
            <a:r>
              <a:rPr lang="en-US" sz="1100" b="1" spc="200" kern="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20" name="Text 18"/>
          <p:cNvSpPr/>
          <p:nvPr/>
        </p:nvSpPr>
        <p:spPr>
          <a:xfrm>
            <a:off x="5989320" y="2121408"/>
            <a:ext cx="2514600" cy="1828800"/>
          </a:xfrm>
          <a:prstGeom prst="rect">
            <a:avLst/>
          </a:prstGeom>
          <a:noFill/>
          <a:ln/>
        </p:spPr>
        <p:txBody>
          <a:bodyPr wrap="square" rtlCol="0" anchor="t"/>
          <a:lstStyle/>
          <a:p>
            <a:pPr indent="0" marL="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21" name="Text 19"/>
          <p:cNvSpPr/>
          <p:nvPr/>
        </p:nvSpPr>
        <p:spPr>
          <a:xfrm>
            <a:off x="5989320" y="4114800"/>
            <a:ext cx="2514600" cy="502920"/>
          </a:xfrm>
          <a:prstGeom prst="rect">
            <a:avLst/>
          </a:prstGeom>
          <a:noFill/>
          <a:ln/>
        </p:spPr>
        <p:txBody>
          <a:bodyPr wrap="square" rtlCol="0" anchor="ctr"/>
          <a:lstStyle/>
          <a:p>
            <a:pPr indent="0" marL="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22" name="Text 20"/>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IEA (2026); Holmes et al. (2015); European Commission (2024).</a:t>
            </a:r>
            <a:endParaRPr lang="en-US" sz="850" dirty="0"/>
          </a:p>
        </p:txBody>
      </p:sp>
      <p:sp>
        <p:nvSpPr>
          <p:cNvPr id="23" name="Text 21"/>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THEORY &amp; LITERATURE</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Governance theory predicts founder-controlled private firms outperform state-controlled peers</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00200"/>
            <a:ext cx="109728" cy="868680"/>
          </a:xfrm>
          <a:prstGeom prst="rect">
            <a:avLst/>
          </a:prstGeom>
          <a:solidFill>
            <a:srgbClr val="2563EB"/>
          </a:solidFill>
          <a:ln/>
        </p:spPr>
      </p:sp>
      <p:sp>
        <p:nvSpPr>
          <p:cNvPr id="7" name="Shape 5"/>
          <p:cNvSpPr/>
          <p:nvPr/>
        </p:nvSpPr>
        <p:spPr>
          <a:xfrm>
            <a:off x="612648" y="1600200"/>
            <a:ext cx="8028432" cy="868680"/>
          </a:xfrm>
          <a:prstGeom prst="rect">
            <a:avLst/>
          </a:prstGeom>
          <a:solidFill>
            <a:srgbClr val="F8FAFC"/>
          </a:solidFill>
          <a:ln/>
        </p:spPr>
      </p:sp>
      <p:sp>
        <p:nvSpPr>
          <p:cNvPr id="8" name="Text 6"/>
          <p:cNvSpPr/>
          <p:nvPr/>
        </p:nvSpPr>
        <p:spPr>
          <a:xfrm>
            <a:off x="795528" y="1709928"/>
            <a:ext cx="2011680" cy="640080"/>
          </a:xfrm>
          <a:prstGeom prst="rect">
            <a:avLst/>
          </a:prstGeom>
          <a:noFill/>
          <a:ln/>
        </p:spPr>
        <p:txBody>
          <a:bodyPr wrap="square" rtlCol="0" anchor="t"/>
          <a:lstStyle/>
          <a:p>
            <a:pPr indent="0" marL="0">
              <a:buNone/>
            </a:pPr>
            <a:r>
              <a:rPr lang="en-US" sz="1400" b="1" dirty="0">
                <a:solidFill>
                  <a:srgbClr val="0F172A"/>
                </a:solidFill>
                <a:latin typeface="Arial" pitchFamily="34" charset="0"/>
                <a:ea typeface="Arial" pitchFamily="34" charset="-122"/>
                <a:cs typeface="Arial" pitchFamily="34" charset="-120"/>
              </a:rPr>
              <a:t>Agency theory</a:t>
            </a:r>
            <a:endParaRPr lang="en-US" sz="1400" dirty="0"/>
          </a:p>
        </p:txBody>
      </p:sp>
      <p:sp>
        <p:nvSpPr>
          <p:cNvPr id="9" name="Text 7"/>
          <p:cNvSpPr/>
          <p:nvPr/>
        </p:nvSpPr>
        <p:spPr>
          <a:xfrm>
            <a:off x="2834640" y="1709928"/>
            <a:ext cx="4160520" cy="685800"/>
          </a:xfrm>
          <a:prstGeom prst="rect">
            <a:avLst/>
          </a:prstGeom>
          <a:noFill/>
          <a:ln/>
        </p:spPr>
        <p:txBody>
          <a:bodyPr wrap="square" rtlCol="0" anchor="t"/>
          <a:lstStyle/>
          <a:p>
            <a:pPr indent="0" marL="0">
              <a:lnSpc>
                <a:spcPct val="95000"/>
              </a:lnSpc>
              <a:buNone/>
            </a:pPr>
            <a:r>
              <a:rPr lang="en-US" sz="1200" dirty="0">
                <a:solidFill>
                  <a:srgbClr val="1E293B"/>
                </a:solidFill>
                <a:latin typeface="Arial" pitchFamily="34" charset="0"/>
                <a:ea typeface="Arial" pitchFamily="34" charset="-122"/>
                <a:cs typeface="Arial" pitchFamily="34" charset="-120"/>
              </a:rPr>
              <a:t>Founder ownership aligns control and cash-flow rights and removes the principal–agent conflict of externally managed firms.</a:t>
            </a:r>
            <a:endParaRPr lang="en-US" sz="1200" dirty="0"/>
          </a:p>
        </p:txBody>
      </p:sp>
      <p:sp>
        <p:nvSpPr>
          <p:cNvPr id="10" name="Text 8"/>
          <p:cNvSpPr/>
          <p:nvPr/>
        </p:nvSpPr>
        <p:spPr>
          <a:xfrm>
            <a:off x="7086600" y="1709928"/>
            <a:ext cx="1463040" cy="685800"/>
          </a:xfrm>
          <a:prstGeom prst="rect">
            <a:avLst/>
          </a:prstGeom>
          <a:noFill/>
          <a:ln/>
        </p:spPr>
        <p:txBody>
          <a:bodyPr wrap="square" rtlCol="0" anchor="t"/>
          <a:lstStyle/>
          <a:p>
            <a:pPr indent="0" marL="0">
              <a:buNone/>
            </a:pPr>
            <a:r>
              <a:rPr lang="en-US" sz="950" i="1" dirty="0">
                <a:solidFill>
                  <a:srgbClr val="64748B"/>
                </a:solidFill>
                <a:latin typeface="Arial" pitchFamily="34" charset="0"/>
                <a:ea typeface="Arial" pitchFamily="34" charset="-122"/>
                <a:cs typeface="Arial" pitchFamily="34" charset="-120"/>
              </a:rPr>
              <a:t>Jensen &amp; Meckling (1976)</a:t>
            </a:r>
            <a:endParaRPr lang="en-US" sz="950" dirty="0"/>
          </a:p>
        </p:txBody>
      </p:sp>
      <p:sp>
        <p:nvSpPr>
          <p:cNvPr id="11" name="Shape 9"/>
          <p:cNvSpPr/>
          <p:nvPr/>
        </p:nvSpPr>
        <p:spPr>
          <a:xfrm>
            <a:off x="502920" y="2624328"/>
            <a:ext cx="109728" cy="868680"/>
          </a:xfrm>
          <a:prstGeom prst="rect">
            <a:avLst/>
          </a:prstGeom>
          <a:solidFill>
            <a:srgbClr val="06B6D4"/>
          </a:solidFill>
          <a:ln/>
        </p:spPr>
      </p:sp>
      <p:sp>
        <p:nvSpPr>
          <p:cNvPr id="12" name="Shape 10"/>
          <p:cNvSpPr/>
          <p:nvPr/>
        </p:nvSpPr>
        <p:spPr>
          <a:xfrm>
            <a:off x="612648" y="2624328"/>
            <a:ext cx="8028432" cy="868680"/>
          </a:xfrm>
          <a:prstGeom prst="rect">
            <a:avLst/>
          </a:prstGeom>
          <a:solidFill>
            <a:srgbClr val="F8FAFC"/>
          </a:solidFill>
          <a:ln/>
        </p:spPr>
      </p:sp>
      <p:sp>
        <p:nvSpPr>
          <p:cNvPr id="13" name="Text 11"/>
          <p:cNvSpPr/>
          <p:nvPr/>
        </p:nvSpPr>
        <p:spPr>
          <a:xfrm>
            <a:off x="795528" y="2734056"/>
            <a:ext cx="2011680" cy="640080"/>
          </a:xfrm>
          <a:prstGeom prst="rect">
            <a:avLst/>
          </a:prstGeom>
          <a:noFill/>
          <a:ln/>
        </p:spPr>
        <p:txBody>
          <a:bodyPr wrap="square" rtlCol="0" anchor="t"/>
          <a:lstStyle/>
          <a:p>
            <a:pPr indent="0" marL="0">
              <a:buNone/>
            </a:pPr>
            <a:r>
              <a:rPr lang="en-US" sz="1400" b="1" dirty="0">
                <a:solidFill>
                  <a:srgbClr val="0F172A"/>
                </a:solidFill>
                <a:latin typeface="Arial" pitchFamily="34" charset="0"/>
                <a:ea typeface="Arial" pitchFamily="34" charset="-122"/>
                <a:cs typeface="Arial" pitchFamily="34" charset="-120"/>
              </a:rPr>
              <a:t>Political control</a:t>
            </a:r>
            <a:endParaRPr lang="en-US" sz="1400" dirty="0"/>
          </a:p>
        </p:txBody>
      </p:sp>
      <p:sp>
        <p:nvSpPr>
          <p:cNvPr id="14" name="Text 12"/>
          <p:cNvSpPr/>
          <p:nvPr/>
        </p:nvSpPr>
        <p:spPr>
          <a:xfrm>
            <a:off x="2834640" y="2734056"/>
            <a:ext cx="4160520" cy="685800"/>
          </a:xfrm>
          <a:prstGeom prst="rect">
            <a:avLst/>
          </a:prstGeom>
          <a:noFill/>
          <a:ln/>
        </p:spPr>
        <p:txBody>
          <a:bodyPr wrap="square" rtlCol="0" anchor="t"/>
          <a:lstStyle/>
          <a:p>
            <a:pPr indent="0" marL="0">
              <a:lnSpc>
                <a:spcPct val="95000"/>
              </a:lnSpc>
              <a:buNone/>
            </a:pPr>
            <a:r>
              <a:rPr lang="en-US" sz="1200" dirty="0">
                <a:solidFill>
                  <a:srgbClr val="1E293B"/>
                </a:solidFill>
                <a:latin typeface="Arial" pitchFamily="34" charset="0"/>
                <a:ea typeface="Arial" pitchFamily="34" charset="-122"/>
                <a:cs typeface="Arial" pitchFamily="34" charset="-120"/>
              </a:rPr>
              <a:t>Control rights — not cash-flow rights — drive resource allocation; the state pursues objectives beyond shareholder value.</a:t>
            </a:r>
            <a:endParaRPr lang="en-US" sz="1200" dirty="0"/>
          </a:p>
        </p:txBody>
      </p:sp>
      <p:sp>
        <p:nvSpPr>
          <p:cNvPr id="15" name="Text 13"/>
          <p:cNvSpPr/>
          <p:nvPr/>
        </p:nvSpPr>
        <p:spPr>
          <a:xfrm>
            <a:off x="7086600" y="2734056"/>
            <a:ext cx="1463040" cy="685800"/>
          </a:xfrm>
          <a:prstGeom prst="rect">
            <a:avLst/>
          </a:prstGeom>
          <a:noFill/>
          <a:ln/>
        </p:spPr>
        <p:txBody>
          <a:bodyPr wrap="square" rtlCol="0" anchor="t"/>
          <a:lstStyle/>
          <a:p>
            <a:pPr indent="0" marL="0">
              <a:buNone/>
            </a:pPr>
            <a:r>
              <a:rPr lang="en-US" sz="950" i="1" dirty="0">
                <a:solidFill>
                  <a:srgbClr val="64748B"/>
                </a:solidFill>
                <a:latin typeface="Arial" pitchFamily="34" charset="0"/>
                <a:ea typeface="Arial" pitchFamily="34" charset="-122"/>
                <a:cs typeface="Arial" pitchFamily="34" charset="-120"/>
              </a:rPr>
              <a:t>Shleifer &amp; Vishny (1994); Fan et al. (2007)</a:t>
            </a:r>
            <a:endParaRPr lang="en-US" sz="950" dirty="0"/>
          </a:p>
        </p:txBody>
      </p:sp>
      <p:sp>
        <p:nvSpPr>
          <p:cNvPr id="16" name="Shape 14"/>
          <p:cNvSpPr/>
          <p:nvPr/>
        </p:nvSpPr>
        <p:spPr>
          <a:xfrm>
            <a:off x="502920" y="3648456"/>
            <a:ext cx="109728" cy="868680"/>
          </a:xfrm>
          <a:prstGeom prst="rect">
            <a:avLst/>
          </a:prstGeom>
          <a:solidFill>
            <a:srgbClr val="DC2626"/>
          </a:solidFill>
          <a:ln/>
        </p:spPr>
      </p:sp>
      <p:sp>
        <p:nvSpPr>
          <p:cNvPr id="17" name="Shape 15"/>
          <p:cNvSpPr/>
          <p:nvPr/>
        </p:nvSpPr>
        <p:spPr>
          <a:xfrm>
            <a:off x="612648" y="3648456"/>
            <a:ext cx="8028432" cy="868680"/>
          </a:xfrm>
          <a:prstGeom prst="rect">
            <a:avLst/>
          </a:prstGeom>
          <a:solidFill>
            <a:srgbClr val="F8FAFC"/>
          </a:solidFill>
          <a:ln/>
        </p:spPr>
      </p:sp>
      <p:sp>
        <p:nvSpPr>
          <p:cNvPr id="18" name="Text 16"/>
          <p:cNvSpPr/>
          <p:nvPr/>
        </p:nvSpPr>
        <p:spPr>
          <a:xfrm>
            <a:off x="795528" y="3758184"/>
            <a:ext cx="2011680" cy="640080"/>
          </a:xfrm>
          <a:prstGeom prst="rect">
            <a:avLst/>
          </a:prstGeom>
          <a:noFill/>
          <a:ln/>
        </p:spPr>
        <p:txBody>
          <a:bodyPr wrap="square" rtlCol="0" anchor="t"/>
          <a:lstStyle/>
          <a:p>
            <a:pPr indent="0" marL="0">
              <a:buNone/>
            </a:pPr>
            <a:r>
              <a:rPr lang="en-US" sz="1400" b="1" dirty="0">
                <a:solidFill>
                  <a:srgbClr val="0F172A"/>
                </a:solidFill>
                <a:latin typeface="Arial" pitchFamily="34" charset="0"/>
                <a:ea typeface="Arial" pitchFamily="34" charset="-122"/>
                <a:cs typeface="Arial" pitchFamily="34" charset="-120"/>
              </a:rPr>
              <a:t>Empirical verdict</a:t>
            </a:r>
            <a:endParaRPr lang="en-US" sz="1400" dirty="0"/>
          </a:p>
        </p:txBody>
      </p:sp>
      <p:sp>
        <p:nvSpPr>
          <p:cNvPr id="19" name="Text 17"/>
          <p:cNvSpPr/>
          <p:nvPr/>
        </p:nvSpPr>
        <p:spPr>
          <a:xfrm>
            <a:off x="2834640" y="3758184"/>
            <a:ext cx="4160520" cy="685800"/>
          </a:xfrm>
          <a:prstGeom prst="rect">
            <a:avLst/>
          </a:prstGeom>
          <a:noFill/>
          <a:ln/>
        </p:spPr>
        <p:txBody>
          <a:bodyPr wrap="square" rtlCol="0" anchor="t"/>
          <a:lstStyle/>
          <a:p>
            <a:pPr indent="0" marL="0">
              <a:lnSpc>
                <a:spcPct val="95000"/>
              </a:lnSpc>
              <a:buNone/>
            </a:pPr>
            <a:r>
              <a:rPr lang="en-US" sz="1200" dirty="0">
                <a:solidFill>
                  <a:srgbClr val="1E293B"/>
                </a:solidFill>
                <a:latin typeface="Arial" pitchFamily="34" charset="0"/>
                <a:ea typeface="Arial" pitchFamily="34" charset="-122"/>
                <a:cs typeface="Arial" pitchFamily="34" charset="-120"/>
              </a:rPr>
              <a:t>State-controlled Chinese listed firms structurally underperform privately governed peers; weak governance is the driver.</a:t>
            </a:r>
            <a:endParaRPr lang="en-US" sz="1200" dirty="0"/>
          </a:p>
        </p:txBody>
      </p:sp>
      <p:sp>
        <p:nvSpPr>
          <p:cNvPr id="20" name="Text 18"/>
          <p:cNvSpPr/>
          <p:nvPr/>
        </p:nvSpPr>
        <p:spPr>
          <a:xfrm>
            <a:off x="7086600" y="3758184"/>
            <a:ext cx="1463040" cy="685800"/>
          </a:xfrm>
          <a:prstGeom prst="rect">
            <a:avLst/>
          </a:prstGeom>
          <a:noFill/>
          <a:ln/>
        </p:spPr>
        <p:txBody>
          <a:bodyPr wrap="square" rtlCol="0" anchor="t"/>
          <a:lstStyle/>
          <a:p>
            <a:pPr indent="0" marL="0">
              <a:buNone/>
            </a:pPr>
            <a:r>
              <a:rPr lang="en-US" sz="950" i="1" dirty="0">
                <a:solidFill>
                  <a:srgbClr val="64748B"/>
                </a:solidFill>
                <a:latin typeface="Arial" pitchFamily="34" charset="0"/>
                <a:ea typeface="Arial" pitchFamily="34" charset="-122"/>
                <a:cs typeface="Arial" pitchFamily="34" charset="-120"/>
              </a:rPr>
              <a:t>Megginson &amp; Netter (2001); Allen et al. (2024)</a:t>
            </a:r>
            <a:endParaRPr lang="en-US" sz="950" dirty="0"/>
          </a:p>
        </p:txBody>
      </p:sp>
      <p:sp>
        <p:nvSpPr>
          <p:cNvPr id="21" name="Text 19"/>
          <p:cNvSpPr/>
          <p:nvPr/>
        </p:nvSpPr>
        <p:spPr>
          <a:xfrm>
            <a:off x="502920" y="4572000"/>
            <a:ext cx="8138160" cy="274320"/>
          </a:xfrm>
          <a:prstGeom prst="rect">
            <a:avLst/>
          </a:prstGeom>
          <a:noFill/>
          <a:ln/>
        </p:spPr>
        <p:txBody>
          <a:bodyPr wrap="square" rtlCol="0" anchor="ctr"/>
          <a:lstStyle/>
          <a:p>
            <a:pPr indent="0" marL="0">
              <a:buNone/>
            </a:pPr>
            <a:r>
              <a:rPr lang="en-US" sz="1150" b="1" dirty="0">
                <a:solidFill>
                  <a:srgbClr val="2563EB"/>
                </a:solidFill>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lang="en-US" sz="1150" dirty="0"/>
          </a:p>
        </p:txBody>
      </p:sp>
      <p:sp>
        <p:nvSpPr>
          <p:cNvPr id="22" name="Text 20"/>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THEORY &amp; LITERATURE</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Three ownership archetypes, assessed across four dimensions — the analytical frame</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2057400" y="1572768"/>
            <a:ext cx="1591056" cy="365760"/>
          </a:xfrm>
          <a:prstGeom prst="rect">
            <a:avLst/>
          </a:prstGeom>
          <a:solidFill>
            <a:srgbClr val="0F172A"/>
          </a:solidFill>
          <a:ln/>
        </p:spPr>
      </p:sp>
      <p:sp>
        <p:nvSpPr>
          <p:cNvPr id="7" name="Text 5"/>
          <p:cNvSpPr/>
          <p:nvPr/>
        </p:nvSpPr>
        <p:spPr>
          <a:xfrm>
            <a:off x="2057400" y="1572768"/>
            <a:ext cx="1591056" cy="36576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Governance</a:t>
            </a:r>
            <a:endParaRPr lang="en-US" sz="1150" dirty="0"/>
          </a:p>
        </p:txBody>
      </p:sp>
      <p:sp>
        <p:nvSpPr>
          <p:cNvPr id="8" name="Shape 6"/>
          <p:cNvSpPr/>
          <p:nvPr/>
        </p:nvSpPr>
        <p:spPr>
          <a:xfrm>
            <a:off x="3703320" y="1572768"/>
            <a:ext cx="1591056" cy="365760"/>
          </a:xfrm>
          <a:prstGeom prst="rect">
            <a:avLst/>
          </a:prstGeom>
          <a:solidFill>
            <a:srgbClr val="0F172A"/>
          </a:solidFill>
          <a:ln/>
        </p:spPr>
      </p:sp>
      <p:sp>
        <p:nvSpPr>
          <p:cNvPr id="9" name="Text 7"/>
          <p:cNvSpPr/>
          <p:nvPr/>
        </p:nvSpPr>
        <p:spPr>
          <a:xfrm>
            <a:off x="3703320" y="1572768"/>
            <a:ext cx="1591056" cy="36576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Financing</a:t>
            </a:r>
            <a:endParaRPr lang="en-US" sz="1150" dirty="0"/>
          </a:p>
        </p:txBody>
      </p:sp>
      <p:sp>
        <p:nvSpPr>
          <p:cNvPr id="10" name="Shape 8"/>
          <p:cNvSpPr/>
          <p:nvPr/>
        </p:nvSpPr>
        <p:spPr>
          <a:xfrm>
            <a:off x="5349240" y="1572768"/>
            <a:ext cx="1591056" cy="365760"/>
          </a:xfrm>
          <a:prstGeom prst="rect">
            <a:avLst/>
          </a:prstGeom>
          <a:solidFill>
            <a:srgbClr val="0F172A"/>
          </a:solidFill>
          <a:ln/>
        </p:spPr>
      </p:sp>
      <p:sp>
        <p:nvSpPr>
          <p:cNvPr id="11" name="Text 9"/>
          <p:cNvSpPr/>
          <p:nvPr/>
        </p:nvSpPr>
        <p:spPr>
          <a:xfrm>
            <a:off x="5349240" y="1572768"/>
            <a:ext cx="1591056" cy="36576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Capability</a:t>
            </a:r>
            <a:endParaRPr lang="en-US" sz="1150" dirty="0"/>
          </a:p>
        </p:txBody>
      </p:sp>
      <p:sp>
        <p:nvSpPr>
          <p:cNvPr id="12" name="Shape 10"/>
          <p:cNvSpPr/>
          <p:nvPr/>
        </p:nvSpPr>
        <p:spPr>
          <a:xfrm>
            <a:off x="6995160" y="1572768"/>
            <a:ext cx="1591056" cy="365760"/>
          </a:xfrm>
          <a:prstGeom prst="rect">
            <a:avLst/>
          </a:prstGeom>
          <a:solidFill>
            <a:srgbClr val="0F172A"/>
          </a:solidFill>
          <a:ln/>
        </p:spPr>
      </p:sp>
      <p:sp>
        <p:nvSpPr>
          <p:cNvPr id="13" name="Text 11"/>
          <p:cNvSpPr/>
          <p:nvPr/>
        </p:nvSpPr>
        <p:spPr>
          <a:xfrm>
            <a:off x="6995160" y="1572768"/>
            <a:ext cx="1591056" cy="36576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Viability</a:t>
            </a:r>
            <a:endParaRPr lang="en-US" sz="1150" dirty="0"/>
          </a:p>
        </p:txBody>
      </p:sp>
      <p:sp>
        <p:nvSpPr>
          <p:cNvPr id="14" name="Shape 12"/>
          <p:cNvSpPr/>
          <p:nvPr/>
        </p:nvSpPr>
        <p:spPr>
          <a:xfrm>
            <a:off x="502920" y="1993392"/>
            <a:ext cx="1499616" cy="713232"/>
          </a:xfrm>
          <a:prstGeom prst="rect">
            <a:avLst/>
          </a:prstGeom>
          <a:solidFill>
            <a:srgbClr val="94A3B8"/>
          </a:solidFill>
          <a:ln/>
        </p:spPr>
      </p:sp>
      <p:sp>
        <p:nvSpPr>
          <p:cNvPr id="15" name="Text 13"/>
          <p:cNvSpPr/>
          <p:nvPr/>
        </p:nvSpPr>
        <p:spPr>
          <a:xfrm>
            <a:off x="576072" y="1993392"/>
            <a:ext cx="1371600" cy="7132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SAIC — JV / SOE</a:t>
            </a:r>
            <a:endParaRPr lang="en-US" sz="1100" dirty="0"/>
          </a:p>
        </p:txBody>
      </p:sp>
      <p:sp>
        <p:nvSpPr>
          <p:cNvPr id="16" name="Shape 14"/>
          <p:cNvSpPr/>
          <p:nvPr/>
        </p:nvSpPr>
        <p:spPr>
          <a:xfrm>
            <a:off x="2057400" y="1993392"/>
            <a:ext cx="1591056" cy="713232"/>
          </a:xfrm>
          <a:prstGeom prst="rect">
            <a:avLst/>
          </a:prstGeom>
          <a:solidFill>
            <a:srgbClr val="EEF2FB"/>
          </a:solidFill>
          <a:ln/>
        </p:spPr>
      </p:sp>
      <p:sp>
        <p:nvSpPr>
          <p:cNvPr id="17" name="Text 15"/>
          <p:cNvSpPr/>
          <p:nvPr/>
        </p:nvSpPr>
        <p:spPr>
          <a:xfrm>
            <a:off x="2103120" y="1993392"/>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State + Party control</a:t>
            </a:r>
            <a:endParaRPr lang="en-US" sz="1000" dirty="0"/>
          </a:p>
        </p:txBody>
      </p:sp>
      <p:sp>
        <p:nvSpPr>
          <p:cNvPr id="18" name="Shape 16"/>
          <p:cNvSpPr/>
          <p:nvPr/>
        </p:nvSpPr>
        <p:spPr>
          <a:xfrm>
            <a:off x="3703320" y="1993392"/>
            <a:ext cx="1591056" cy="713232"/>
          </a:xfrm>
          <a:prstGeom prst="rect">
            <a:avLst/>
          </a:prstGeom>
          <a:solidFill>
            <a:srgbClr val="F8FAFC"/>
          </a:solidFill>
          <a:ln/>
        </p:spPr>
      </p:sp>
      <p:sp>
        <p:nvSpPr>
          <p:cNvPr id="19" name="Text 17"/>
          <p:cNvSpPr/>
          <p:nvPr/>
        </p:nvSpPr>
        <p:spPr>
          <a:xfrm>
            <a:off x="3749040" y="1993392"/>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Capital-light JV rents</a:t>
            </a:r>
            <a:endParaRPr lang="en-US" sz="1000" dirty="0"/>
          </a:p>
        </p:txBody>
      </p:sp>
      <p:sp>
        <p:nvSpPr>
          <p:cNvPr id="20" name="Shape 18"/>
          <p:cNvSpPr/>
          <p:nvPr/>
        </p:nvSpPr>
        <p:spPr>
          <a:xfrm>
            <a:off x="5349240" y="1993392"/>
            <a:ext cx="1591056" cy="713232"/>
          </a:xfrm>
          <a:prstGeom prst="rect">
            <a:avLst/>
          </a:prstGeom>
          <a:solidFill>
            <a:srgbClr val="EEF2FB"/>
          </a:solidFill>
          <a:ln/>
        </p:spPr>
      </p:sp>
      <p:sp>
        <p:nvSpPr>
          <p:cNvPr id="21" name="Text 19"/>
          <p:cNvSpPr/>
          <p:nvPr/>
        </p:nvSpPr>
        <p:spPr>
          <a:xfrm>
            <a:off x="5394960" y="1993392"/>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Tech transfer (capped)</a:t>
            </a:r>
            <a:endParaRPr lang="en-US" sz="1000" dirty="0"/>
          </a:p>
        </p:txBody>
      </p:sp>
      <p:sp>
        <p:nvSpPr>
          <p:cNvPr id="22" name="Shape 20"/>
          <p:cNvSpPr/>
          <p:nvPr/>
        </p:nvSpPr>
        <p:spPr>
          <a:xfrm>
            <a:off x="6995160" y="1993392"/>
            <a:ext cx="1591056" cy="713232"/>
          </a:xfrm>
          <a:prstGeom prst="rect">
            <a:avLst/>
          </a:prstGeom>
          <a:solidFill>
            <a:srgbClr val="F8FAFC"/>
          </a:solidFill>
          <a:ln/>
        </p:spPr>
      </p:sp>
      <p:sp>
        <p:nvSpPr>
          <p:cNvPr id="23" name="Text 21"/>
          <p:cNvSpPr/>
          <p:nvPr/>
        </p:nvSpPr>
        <p:spPr>
          <a:xfrm>
            <a:off x="7040880" y="1993392"/>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JV erosion</a:t>
            </a:r>
            <a:endParaRPr lang="en-US" sz="1000" dirty="0"/>
          </a:p>
        </p:txBody>
      </p:sp>
      <p:sp>
        <p:nvSpPr>
          <p:cNvPr id="24" name="Shape 22"/>
          <p:cNvSpPr/>
          <p:nvPr/>
        </p:nvSpPr>
        <p:spPr>
          <a:xfrm>
            <a:off x="502920" y="2779776"/>
            <a:ext cx="1499616" cy="713232"/>
          </a:xfrm>
          <a:prstGeom prst="rect">
            <a:avLst/>
          </a:prstGeom>
          <a:solidFill>
            <a:srgbClr val="2563EB"/>
          </a:solidFill>
          <a:ln/>
        </p:spPr>
      </p:sp>
      <p:sp>
        <p:nvSpPr>
          <p:cNvPr id="25" name="Text 23"/>
          <p:cNvSpPr/>
          <p:nvPr/>
        </p:nvSpPr>
        <p:spPr>
          <a:xfrm>
            <a:off x="576072" y="2779776"/>
            <a:ext cx="1371600" cy="7132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BYD — Vertical / Private</a:t>
            </a:r>
            <a:endParaRPr lang="en-US" sz="1100" dirty="0"/>
          </a:p>
        </p:txBody>
      </p:sp>
      <p:sp>
        <p:nvSpPr>
          <p:cNvPr id="26" name="Shape 24"/>
          <p:cNvSpPr/>
          <p:nvPr/>
        </p:nvSpPr>
        <p:spPr>
          <a:xfrm>
            <a:off x="2057400" y="2779776"/>
            <a:ext cx="1591056" cy="713232"/>
          </a:xfrm>
          <a:prstGeom prst="rect">
            <a:avLst/>
          </a:prstGeom>
          <a:solidFill>
            <a:srgbClr val="EEF2FB"/>
          </a:solidFill>
          <a:ln/>
        </p:spPr>
      </p:sp>
      <p:sp>
        <p:nvSpPr>
          <p:cNvPr id="27" name="Text 25"/>
          <p:cNvSpPr/>
          <p:nvPr/>
        </p:nvSpPr>
        <p:spPr>
          <a:xfrm>
            <a:off x="2103120" y="2779776"/>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Founder, one-share-vote</a:t>
            </a:r>
            <a:endParaRPr lang="en-US" sz="1000" dirty="0"/>
          </a:p>
        </p:txBody>
      </p:sp>
      <p:sp>
        <p:nvSpPr>
          <p:cNvPr id="28" name="Shape 26"/>
          <p:cNvSpPr/>
          <p:nvPr/>
        </p:nvSpPr>
        <p:spPr>
          <a:xfrm>
            <a:off x="3703320" y="2779776"/>
            <a:ext cx="1591056" cy="713232"/>
          </a:xfrm>
          <a:prstGeom prst="rect">
            <a:avLst/>
          </a:prstGeom>
          <a:solidFill>
            <a:srgbClr val="F8FAFC"/>
          </a:solidFill>
          <a:ln/>
        </p:spPr>
      </p:sp>
      <p:sp>
        <p:nvSpPr>
          <p:cNvPr id="29" name="Text 27"/>
          <p:cNvSpPr/>
          <p:nvPr/>
        </p:nvSpPr>
        <p:spPr>
          <a:xfrm>
            <a:off x="3749040" y="2779776"/>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Self-financed cash flow</a:t>
            </a:r>
            <a:endParaRPr lang="en-US" sz="1000" dirty="0"/>
          </a:p>
        </p:txBody>
      </p:sp>
      <p:sp>
        <p:nvSpPr>
          <p:cNvPr id="30" name="Shape 28"/>
          <p:cNvSpPr/>
          <p:nvPr/>
        </p:nvSpPr>
        <p:spPr>
          <a:xfrm>
            <a:off x="5349240" y="2779776"/>
            <a:ext cx="1591056" cy="713232"/>
          </a:xfrm>
          <a:prstGeom prst="rect">
            <a:avLst/>
          </a:prstGeom>
          <a:solidFill>
            <a:srgbClr val="EEF2FB"/>
          </a:solidFill>
          <a:ln/>
        </p:spPr>
      </p:sp>
      <p:sp>
        <p:nvSpPr>
          <p:cNvPr id="31" name="Text 29"/>
          <p:cNvSpPr/>
          <p:nvPr/>
        </p:nvSpPr>
        <p:spPr>
          <a:xfrm>
            <a:off x="5394960" y="2779776"/>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Organic deep build</a:t>
            </a:r>
            <a:endParaRPr lang="en-US" sz="1000" dirty="0"/>
          </a:p>
        </p:txBody>
      </p:sp>
      <p:sp>
        <p:nvSpPr>
          <p:cNvPr id="32" name="Shape 30"/>
          <p:cNvSpPr/>
          <p:nvPr/>
        </p:nvSpPr>
        <p:spPr>
          <a:xfrm>
            <a:off x="6995160" y="2779776"/>
            <a:ext cx="1591056" cy="713232"/>
          </a:xfrm>
          <a:prstGeom prst="rect">
            <a:avLst/>
          </a:prstGeom>
          <a:solidFill>
            <a:srgbClr val="F8FAFC"/>
          </a:solidFill>
          <a:ln/>
        </p:spPr>
      </p:sp>
      <p:sp>
        <p:nvSpPr>
          <p:cNvPr id="33" name="Text 31"/>
          <p:cNvSpPr/>
          <p:nvPr/>
        </p:nvSpPr>
        <p:spPr>
          <a:xfrm>
            <a:off x="7040880" y="2779776"/>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Structural leader</a:t>
            </a:r>
            <a:endParaRPr lang="en-US" sz="1000" dirty="0"/>
          </a:p>
        </p:txBody>
      </p:sp>
      <p:sp>
        <p:nvSpPr>
          <p:cNvPr id="34" name="Shape 32"/>
          <p:cNvSpPr/>
          <p:nvPr/>
        </p:nvSpPr>
        <p:spPr>
          <a:xfrm>
            <a:off x="502920" y="3566160"/>
            <a:ext cx="1499616" cy="713232"/>
          </a:xfrm>
          <a:prstGeom prst="rect">
            <a:avLst/>
          </a:prstGeom>
          <a:solidFill>
            <a:srgbClr val="06B6D4"/>
          </a:solidFill>
          <a:ln/>
        </p:spPr>
      </p:sp>
      <p:sp>
        <p:nvSpPr>
          <p:cNvPr id="35" name="Text 33"/>
          <p:cNvSpPr/>
          <p:nvPr/>
        </p:nvSpPr>
        <p:spPr>
          <a:xfrm>
            <a:off x="576072" y="3566160"/>
            <a:ext cx="1371600" cy="7132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Geely — M&amp;A / Private</a:t>
            </a:r>
            <a:endParaRPr lang="en-US" sz="1100" dirty="0"/>
          </a:p>
        </p:txBody>
      </p:sp>
      <p:sp>
        <p:nvSpPr>
          <p:cNvPr id="36" name="Shape 34"/>
          <p:cNvSpPr/>
          <p:nvPr/>
        </p:nvSpPr>
        <p:spPr>
          <a:xfrm>
            <a:off x="2057400" y="3566160"/>
            <a:ext cx="1591056" cy="713232"/>
          </a:xfrm>
          <a:prstGeom prst="rect">
            <a:avLst/>
          </a:prstGeom>
          <a:solidFill>
            <a:srgbClr val="EEF2FB"/>
          </a:solidFill>
          <a:ln/>
        </p:spPr>
      </p:sp>
      <p:sp>
        <p:nvSpPr>
          <p:cNvPr id="37" name="Text 35"/>
          <p:cNvSpPr/>
          <p:nvPr/>
        </p:nvSpPr>
        <p:spPr>
          <a:xfrm>
            <a:off x="2103120" y="3566160"/>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Founder apex (ZGH)</a:t>
            </a:r>
            <a:endParaRPr lang="en-US" sz="1000" dirty="0"/>
          </a:p>
        </p:txBody>
      </p:sp>
      <p:sp>
        <p:nvSpPr>
          <p:cNvPr id="38" name="Shape 36"/>
          <p:cNvSpPr/>
          <p:nvPr/>
        </p:nvSpPr>
        <p:spPr>
          <a:xfrm>
            <a:off x="3703320" y="3566160"/>
            <a:ext cx="1591056" cy="713232"/>
          </a:xfrm>
          <a:prstGeom prst="rect">
            <a:avLst/>
          </a:prstGeom>
          <a:solidFill>
            <a:srgbClr val="F8FAFC"/>
          </a:solidFill>
          <a:ln/>
        </p:spPr>
      </p:sp>
      <p:sp>
        <p:nvSpPr>
          <p:cNvPr id="39" name="Text 37"/>
          <p:cNvSpPr/>
          <p:nvPr/>
        </p:nvSpPr>
        <p:spPr>
          <a:xfrm>
            <a:off x="3749040" y="3566160"/>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Acquisition-financed debt</a:t>
            </a:r>
            <a:endParaRPr lang="en-US" sz="1000" dirty="0"/>
          </a:p>
        </p:txBody>
      </p:sp>
      <p:sp>
        <p:nvSpPr>
          <p:cNvPr id="40" name="Shape 38"/>
          <p:cNvSpPr/>
          <p:nvPr/>
        </p:nvSpPr>
        <p:spPr>
          <a:xfrm>
            <a:off x="5349240" y="3566160"/>
            <a:ext cx="1591056" cy="713232"/>
          </a:xfrm>
          <a:prstGeom prst="rect">
            <a:avLst/>
          </a:prstGeom>
          <a:solidFill>
            <a:srgbClr val="EEF2FB"/>
          </a:solidFill>
          <a:ln/>
        </p:spPr>
      </p:sp>
      <p:sp>
        <p:nvSpPr>
          <p:cNvPr id="41" name="Text 39"/>
          <p:cNvSpPr/>
          <p:nvPr/>
        </p:nvSpPr>
        <p:spPr>
          <a:xfrm>
            <a:off x="5394960" y="3566160"/>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Cross-border M&amp;A</a:t>
            </a:r>
            <a:endParaRPr lang="en-US" sz="1000" dirty="0"/>
          </a:p>
        </p:txBody>
      </p:sp>
      <p:sp>
        <p:nvSpPr>
          <p:cNvPr id="42" name="Shape 40"/>
          <p:cNvSpPr/>
          <p:nvPr/>
        </p:nvSpPr>
        <p:spPr>
          <a:xfrm>
            <a:off x="6995160" y="3566160"/>
            <a:ext cx="1591056" cy="713232"/>
          </a:xfrm>
          <a:prstGeom prst="rect">
            <a:avLst/>
          </a:prstGeom>
          <a:solidFill>
            <a:srgbClr val="F8FAFC"/>
          </a:solidFill>
          <a:ln/>
        </p:spPr>
      </p:sp>
      <p:sp>
        <p:nvSpPr>
          <p:cNvPr id="43" name="Text 41"/>
          <p:cNvSpPr/>
          <p:nvPr/>
        </p:nvSpPr>
        <p:spPr>
          <a:xfrm>
            <a:off x="7040880" y="3566160"/>
            <a:ext cx="1499616" cy="713232"/>
          </a:xfrm>
          <a:prstGeom prst="rect">
            <a:avLst/>
          </a:prstGeom>
          <a:noFill/>
          <a:ln/>
        </p:spPr>
        <p:txBody>
          <a:bodyPr wrap="square" rtlCol="0" anchor="ctr"/>
          <a:lstStyle/>
          <a:p>
            <a:pPr algn="ctr" indent="0" marL="0">
              <a:lnSpc>
                <a:spcPct val="90000"/>
              </a:lnSpc>
              <a:buNone/>
            </a:pPr>
            <a:r>
              <a:rPr lang="en-US" sz="1000" dirty="0">
                <a:solidFill>
                  <a:srgbClr val="1E293B"/>
                </a:solidFill>
                <a:latin typeface="Arial" pitchFamily="34" charset="0"/>
                <a:ea typeface="Arial" pitchFamily="34" charset="-122"/>
                <a:cs typeface="Arial" pitchFamily="34" charset="-120"/>
              </a:rPr>
              <a:t>Adaptive, levered</a:t>
            </a:r>
            <a:endParaRPr lang="en-US" sz="1000" dirty="0"/>
          </a:p>
        </p:txBody>
      </p:sp>
      <p:sp>
        <p:nvSpPr>
          <p:cNvPr id="44" name="Text 42"/>
          <p:cNvSpPr/>
          <p:nvPr/>
        </p:nvSpPr>
        <p:spPr>
          <a:xfrm>
            <a:off x="502920" y="4498848"/>
            <a:ext cx="8138160" cy="41148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Lenses applied: </a:t>
            </a:r>
            <a:pPr indent="0" marL="0">
              <a:buNone/>
            </a:pPr>
            <a:r>
              <a:rPr lang="en-US" sz="1050" dirty="0">
                <a:solidFill>
                  <a:srgbClr val="1E293B"/>
                </a:solidFill>
                <a:latin typeface="Arial" pitchFamily="34" charset="0"/>
                <a:ea typeface="Arial" pitchFamily="34" charset="-122"/>
                <a:cs typeface="Arial" pitchFamily="34" charset="-120"/>
              </a:rPr>
              <a:t>springboard M&amp;A (Luo &amp; Tung, 2007), dynamic capabilities / tacit knowledge (Teece et al., 1997), quid-pro-quo tech transfer (Holmes et al., 2015; Bai et al., 2025).</a:t>
            </a:r>
            <a:endParaRPr lang="en-US" sz="1050" dirty="0"/>
          </a:p>
        </p:txBody>
      </p:sp>
      <p:sp>
        <p:nvSpPr>
          <p:cNvPr id="45" name="Text 43"/>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GOVERNANCE</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Who controls the firm decides what it optimizes — and how fast it can act</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00200"/>
            <a:ext cx="2560320" cy="457200"/>
          </a:xfrm>
          <a:prstGeom prst="rect">
            <a:avLst/>
          </a:prstGeom>
          <a:solidFill>
            <a:srgbClr val="94A3B8"/>
          </a:solidFill>
          <a:ln/>
        </p:spPr>
      </p:sp>
      <p:sp>
        <p:nvSpPr>
          <p:cNvPr id="7" name="Text 5"/>
          <p:cNvSpPr/>
          <p:nvPr/>
        </p:nvSpPr>
        <p:spPr>
          <a:xfrm>
            <a:off x="612648" y="1618488"/>
            <a:ext cx="2340864"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SAIC Motor</a:t>
            </a:r>
            <a:endParaRPr lang="en-US" sz="1400" dirty="0"/>
          </a:p>
        </p:txBody>
      </p:sp>
      <p:sp>
        <p:nvSpPr>
          <p:cNvPr id="8" name="Text 6"/>
          <p:cNvSpPr/>
          <p:nvPr/>
        </p:nvSpPr>
        <p:spPr>
          <a:xfrm>
            <a:off x="612648" y="1847088"/>
            <a:ext cx="2340864" cy="201168"/>
          </a:xfrm>
          <a:prstGeom prst="rect">
            <a:avLst/>
          </a:prstGeom>
          <a:noFill/>
          <a:ln/>
        </p:spPr>
        <p:txBody>
          <a:bodyPr wrap="square" rtlCol="0" anchor="ctr"/>
          <a:lstStyle/>
          <a:p>
            <a:pPr indent="0" marL="0">
              <a:buNone/>
            </a:pPr>
            <a:r>
              <a:rPr lang="en-US" sz="950" dirty="0">
                <a:solidFill>
                  <a:srgbClr val="DCE6F7"/>
                </a:solidFill>
                <a:latin typeface="Arial" pitchFamily="34" charset="0"/>
                <a:ea typeface="Arial" pitchFamily="34" charset="-122"/>
                <a:cs typeface="Arial" pitchFamily="34" charset="-120"/>
              </a:rPr>
              <a:t>State / dual principal</a:t>
            </a:r>
            <a:endParaRPr lang="en-US" sz="950" dirty="0"/>
          </a:p>
        </p:txBody>
      </p:sp>
      <p:sp>
        <p:nvSpPr>
          <p:cNvPr id="9" name="Shape 7"/>
          <p:cNvSpPr/>
          <p:nvPr/>
        </p:nvSpPr>
        <p:spPr>
          <a:xfrm>
            <a:off x="502920" y="2057400"/>
            <a:ext cx="2560320" cy="2331720"/>
          </a:xfrm>
          <a:prstGeom prst="rect">
            <a:avLst/>
          </a:prstGeom>
          <a:solidFill>
            <a:srgbClr val="F8FAFC"/>
          </a:solidFill>
          <a:ln/>
        </p:spPr>
      </p:sp>
      <p:sp>
        <p:nvSpPr>
          <p:cNvPr id="10" name="Text 8"/>
          <p:cNvSpPr/>
          <p:nvPr/>
        </p:nvSpPr>
        <p:spPr>
          <a:xfrm>
            <a:off x="640080" y="2194560"/>
            <a:ext cx="2286000" cy="2103120"/>
          </a:xfrm>
          <a:prstGeom prst="rect">
            <a:avLst/>
          </a:prstGeom>
          <a:noFill/>
          <a:ln/>
        </p:spPr>
        <p:txBody>
          <a:bodyPr wrap="square" rtlCol="0" anchor="t"/>
          <a:lstStyle/>
          <a:p>
            <a:pPr marL="152400" indent="-152400">
              <a:spcAft>
                <a:spcPts val="900"/>
              </a:spcAft>
              <a:buSzPct val="100000"/>
              <a:buChar char="•"/>
            </a:pPr>
            <a:r>
              <a:rPr lang="en-US" sz="1150" dirty="0">
                <a:solidFill>
                  <a:srgbClr val="1E293B"/>
                </a:solidFill>
                <a:latin typeface="Arial" pitchFamily="34" charset="0"/>
                <a:ea typeface="Arial" pitchFamily="34" charset="-122"/>
                <a:cs typeface="Arial" pitchFamily="34" charset="-120"/>
              </a:rPr>
              <a:t>SASAC ~73% + CCP “two consistencies” mandate</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50/50 JV boards need bilateral consent</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Optimizes state + commercial goals → slow</a:t>
            </a:r>
            <a:endParaRPr lang="en-US" sz="1150" dirty="0"/>
          </a:p>
        </p:txBody>
      </p:sp>
      <p:sp>
        <p:nvSpPr>
          <p:cNvPr id="11" name="Shape 9"/>
          <p:cNvSpPr/>
          <p:nvPr/>
        </p:nvSpPr>
        <p:spPr>
          <a:xfrm>
            <a:off x="3291840" y="1600200"/>
            <a:ext cx="2560320" cy="457200"/>
          </a:xfrm>
          <a:prstGeom prst="rect">
            <a:avLst/>
          </a:prstGeom>
          <a:solidFill>
            <a:srgbClr val="2563EB"/>
          </a:solidFill>
          <a:ln/>
        </p:spPr>
      </p:sp>
      <p:sp>
        <p:nvSpPr>
          <p:cNvPr id="12" name="Text 10"/>
          <p:cNvSpPr/>
          <p:nvPr/>
        </p:nvSpPr>
        <p:spPr>
          <a:xfrm>
            <a:off x="3401568" y="1618488"/>
            <a:ext cx="2340864"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BYD</a:t>
            </a:r>
            <a:endParaRPr lang="en-US" sz="1400" dirty="0"/>
          </a:p>
        </p:txBody>
      </p:sp>
      <p:sp>
        <p:nvSpPr>
          <p:cNvPr id="13" name="Text 11"/>
          <p:cNvSpPr/>
          <p:nvPr/>
        </p:nvSpPr>
        <p:spPr>
          <a:xfrm>
            <a:off x="3401568" y="1847088"/>
            <a:ext cx="2340864" cy="201168"/>
          </a:xfrm>
          <a:prstGeom prst="rect">
            <a:avLst/>
          </a:prstGeom>
          <a:noFill/>
          <a:ln/>
        </p:spPr>
        <p:txBody>
          <a:bodyPr wrap="square" rtlCol="0" anchor="ctr"/>
          <a:lstStyle/>
          <a:p>
            <a:pPr indent="0" marL="0">
              <a:buNone/>
            </a:pPr>
            <a:r>
              <a:rPr lang="en-US" sz="950" dirty="0">
                <a:solidFill>
                  <a:srgbClr val="DCE6F7"/>
                </a:solidFill>
                <a:latin typeface="Arial" pitchFamily="34" charset="0"/>
                <a:ea typeface="Arial" pitchFamily="34" charset="-122"/>
                <a:cs typeface="Arial" pitchFamily="34" charset="-120"/>
              </a:rPr>
              <a:t>Founder-controlled</a:t>
            </a:r>
            <a:endParaRPr lang="en-US" sz="950" dirty="0"/>
          </a:p>
        </p:txBody>
      </p:sp>
      <p:sp>
        <p:nvSpPr>
          <p:cNvPr id="14" name="Shape 12"/>
          <p:cNvSpPr/>
          <p:nvPr/>
        </p:nvSpPr>
        <p:spPr>
          <a:xfrm>
            <a:off x="3291840" y="2057400"/>
            <a:ext cx="2560320" cy="2331720"/>
          </a:xfrm>
          <a:prstGeom prst="rect">
            <a:avLst/>
          </a:prstGeom>
          <a:solidFill>
            <a:srgbClr val="F8FAFC"/>
          </a:solidFill>
          <a:ln/>
        </p:spPr>
      </p:sp>
      <p:sp>
        <p:nvSpPr>
          <p:cNvPr id="15" name="Text 13"/>
          <p:cNvSpPr/>
          <p:nvPr/>
        </p:nvSpPr>
        <p:spPr>
          <a:xfrm>
            <a:off x="3429000" y="2194560"/>
            <a:ext cx="2286000" cy="2103120"/>
          </a:xfrm>
          <a:prstGeom prst="rect">
            <a:avLst/>
          </a:prstGeom>
          <a:noFill/>
          <a:ln/>
        </p:spPr>
        <p:txBody>
          <a:bodyPr wrap="square" rtlCol="0" anchor="t"/>
          <a:lstStyle/>
          <a:p>
            <a:pPr marL="152400" indent="-152400">
              <a:spcAft>
                <a:spcPts val="900"/>
              </a:spcAft>
              <a:buSzPct val="100000"/>
              <a:buChar char="•"/>
            </a:pPr>
            <a:r>
              <a:rPr lang="en-US" sz="1150" dirty="0">
                <a:solidFill>
                  <a:srgbClr val="1E293B"/>
                </a:solidFill>
                <a:latin typeface="Arial" pitchFamily="34" charset="0"/>
                <a:ea typeface="Arial" pitchFamily="34" charset="-122"/>
                <a:cs typeface="Arial" pitchFamily="34" charset="-120"/>
              </a:rPr>
              <a:t>Wang Chuanfu ~17%; founding team &gt;1/3 votes</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One-share-one-vote, no party committee</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Unilateral speed: full ICE exit in 2022</a:t>
            </a:r>
            <a:endParaRPr lang="en-US" sz="1150" dirty="0"/>
          </a:p>
        </p:txBody>
      </p:sp>
      <p:sp>
        <p:nvSpPr>
          <p:cNvPr id="16" name="Shape 14"/>
          <p:cNvSpPr/>
          <p:nvPr/>
        </p:nvSpPr>
        <p:spPr>
          <a:xfrm>
            <a:off x="6080760" y="1600200"/>
            <a:ext cx="2560320" cy="457200"/>
          </a:xfrm>
          <a:prstGeom prst="rect">
            <a:avLst/>
          </a:prstGeom>
          <a:solidFill>
            <a:srgbClr val="06B6D4"/>
          </a:solidFill>
          <a:ln/>
        </p:spPr>
      </p:sp>
      <p:sp>
        <p:nvSpPr>
          <p:cNvPr id="17" name="Text 15"/>
          <p:cNvSpPr/>
          <p:nvPr/>
        </p:nvSpPr>
        <p:spPr>
          <a:xfrm>
            <a:off x="6190488" y="1618488"/>
            <a:ext cx="2340864"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Geely</a:t>
            </a:r>
            <a:endParaRPr lang="en-US" sz="1400" dirty="0"/>
          </a:p>
        </p:txBody>
      </p:sp>
      <p:sp>
        <p:nvSpPr>
          <p:cNvPr id="18" name="Text 16"/>
          <p:cNvSpPr/>
          <p:nvPr/>
        </p:nvSpPr>
        <p:spPr>
          <a:xfrm>
            <a:off x="6190488" y="1847088"/>
            <a:ext cx="2340864" cy="201168"/>
          </a:xfrm>
          <a:prstGeom prst="rect">
            <a:avLst/>
          </a:prstGeom>
          <a:noFill/>
          <a:ln/>
        </p:spPr>
        <p:txBody>
          <a:bodyPr wrap="square" rtlCol="0" anchor="ctr"/>
          <a:lstStyle/>
          <a:p>
            <a:pPr indent="0" marL="0">
              <a:buNone/>
            </a:pPr>
            <a:r>
              <a:rPr lang="en-US" sz="950" dirty="0">
                <a:solidFill>
                  <a:srgbClr val="DCE6F7"/>
                </a:solidFill>
                <a:latin typeface="Arial" pitchFamily="34" charset="0"/>
                <a:ea typeface="Arial" pitchFamily="34" charset="-122"/>
                <a:cs typeface="Arial" pitchFamily="34" charset="-120"/>
              </a:rPr>
              <a:t>Founder apex (ZGH)</a:t>
            </a:r>
            <a:endParaRPr lang="en-US" sz="950" dirty="0"/>
          </a:p>
        </p:txBody>
      </p:sp>
      <p:sp>
        <p:nvSpPr>
          <p:cNvPr id="19" name="Shape 17"/>
          <p:cNvSpPr/>
          <p:nvPr/>
        </p:nvSpPr>
        <p:spPr>
          <a:xfrm>
            <a:off x="6080760" y="2057400"/>
            <a:ext cx="2560320" cy="2331720"/>
          </a:xfrm>
          <a:prstGeom prst="rect">
            <a:avLst/>
          </a:prstGeom>
          <a:solidFill>
            <a:srgbClr val="F8FAFC"/>
          </a:solidFill>
          <a:ln/>
        </p:spPr>
      </p:sp>
      <p:sp>
        <p:nvSpPr>
          <p:cNvPr id="20" name="Text 18"/>
          <p:cNvSpPr/>
          <p:nvPr/>
        </p:nvSpPr>
        <p:spPr>
          <a:xfrm>
            <a:off x="6217920" y="2194560"/>
            <a:ext cx="2286000" cy="2103120"/>
          </a:xfrm>
          <a:prstGeom prst="rect">
            <a:avLst/>
          </a:prstGeom>
          <a:noFill/>
          <a:ln/>
        </p:spPr>
        <p:txBody>
          <a:bodyPr wrap="square" rtlCol="0" anchor="t"/>
          <a:lstStyle/>
          <a:p>
            <a:pPr marL="152400" indent="-152400">
              <a:spcAft>
                <a:spcPts val="900"/>
              </a:spcAft>
              <a:buSzPct val="100000"/>
              <a:buChar char="•"/>
            </a:pPr>
            <a:r>
              <a:rPr lang="en-US" sz="1150" dirty="0">
                <a:solidFill>
                  <a:srgbClr val="1E293B"/>
                </a:solidFill>
                <a:latin typeface="Arial" pitchFamily="34" charset="0"/>
                <a:ea typeface="Arial" pitchFamily="34" charset="-122"/>
                <a:cs typeface="Arial" pitchFamily="34" charset="-120"/>
              </a:rPr>
              <a:t>Li Shufu controls unlisted ZGH apex</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Agile cross-border acquisitions</a:t>
            </a:r>
            <a:endParaRPr lang="en-US" sz="1150" dirty="0"/>
          </a:p>
          <a:p>
            <a:pPr indent="0" marL="0">
              <a:spcAft>
                <a:spcPts val="900"/>
              </a:spcAft>
              <a:buNone/>
            </a:pPr>
            <a:r>
              <a:rPr lang="en-US" sz="1150" dirty="0">
                <a:solidFill>
                  <a:srgbClr val="1E293B"/>
                </a:solidFill>
                <a:latin typeface="Arial" pitchFamily="34" charset="0"/>
                <a:ea typeface="Arial" pitchFamily="34" charset="-122"/>
                <a:cs typeface="Arial" pitchFamily="34" charset="-120"/>
              </a:rPr>
              <a:t>Cost: multi-brand coordination</a:t>
            </a:r>
            <a:endParaRPr lang="en-US" sz="1150" dirty="0"/>
          </a:p>
        </p:txBody>
      </p:sp>
      <p:sp>
        <p:nvSpPr>
          <p:cNvPr id="21" name="Text 19"/>
          <p:cNvSpPr/>
          <p:nvPr/>
        </p:nvSpPr>
        <p:spPr>
          <a:xfrm>
            <a:off x="502920" y="4498848"/>
            <a:ext cx="8138160" cy="292608"/>
          </a:xfrm>
          <a:prstGeom prst="rect">
            <a:avLst/>
          </a:prstGeom>
          <a:noFill/>
          <a:ln/>
        </p:spPr>
        <p:txBody>
          <a:bodyPr wrap="square" rtlCol="0" anchor="ctr"/>
          <a:lstStyle/>
          <a:p>
            <a:pPr algn="ctr" indent="0" marL="0">
              <a:buNone/>
            </a:pPr>
            <a:r>
              <a:rPr lang="en-US" sz="1100" i="1" dirty="0">
                <a:solidFill>
                  <a:srgbClr val="0F172A"/>
                </a:solidFill>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lang="en-US" sz="1100" dirty="0"/>
          </a:p>
        </p:txBody>
      </p:sp>
      <p:sp>
        <p:nvSpPr>
          <p:cNvPr id="22" name="Text 20"/>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BYD (2025); SAIC Motor (2026); Geely Automobile Holdings (2025); Zhang et al. (2025).</a:t>
            </a:r>
            <a:endParaRPr lang="en-US" sz="850" dirty="0"/>
          </a:p>
        </p:txBody>
      </p:sp>
      <p:sp>
        <p:nvSpPr>
          <p:cNvPr id="23" name="Text 21"/>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FINANCING</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Each financing model places capital risk on a different bearer</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572768"/>
            <a:ext cx="2560320" cy="420624"/>
          </a:xfrm>
          <a:prstGeom prst="rect">
            <a:avLst/>
          </a:prstGeom>
          <a:solidFill>
            <a:srgbClr val="94A3B8"/>
          </a:solidFill>
          <a:ln/>
        </p:spPr>
      </p:sp>
      <p:sp>
        <p:nvSpPr>
          <p:cNvPr id="7" name="Text 5"/>
          <p:cNvSpPr/>
          <p:nvPr/>
        </p:nvSpPr>
        <p:spPr>
          <a:xfrm>
            <a:off x="502920" y="1572768"/>
            <a:ext cx="2560320" cy="42062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SAIC</a:t>
            </a:r>
            <a:endParaRPr lang="en-US" sz="1500" dirty="0"/>
          </a:p>
        </p:txBody>
      </p:sp>
      <p:sp>
        <p:nvSpPr>
          <p:cNvPr id="8" name="Text 6"/>
          <p:cNvSpPr/>
          <p:nvPr/>
        </p:nvSpPr>
        <p:spPr>
          <a:xfrm>
            <a:off x="502920" y="2103120"/>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CAPITAL SOURCE</a:t>
            </a:r>
            <a:endParaRPr lang="en-US" sz="850" dirty="0"/>
          </a:p>
        </p:txBody>
      </p:sp>
      <p:sp>
        <p:nvSpPr>
          <p:cNvPr id="9" name="Text 7"/>
          <p:cNvSpPr/>
          <p:nvPr/>
        </p:nvSpPr>
        <p:spPr>
          <a:xfrm>
            <a:off x="502920" y="2286000"/>
            <a:ext cx="2560320" cy="457200"/>
          </a:xfrm>
          <a:prstGeom prst="rect">
            <a:avLst/>
          </a:prstGeom>
          <a:noFill/>
          <a:ln/>
        </p:spPr>
        <p:txBody>
          <a:bodyPr wrap="square" rtlCol="0" anchor="t"/>
          <a:lstStyle/>
          <a:p>
            <a:pPr algn="ctr" indent="0" marL="0">
              <a:buNone/>
            </a:pPr>
            <a:r>
              <a:rPr lang="en-US" sz="1200" b="1" dirty="0">
                <a:solidFill>
                  <a:srgbClr val="0F172A"/>
                </a:solidFill>
                <a:latin typeface="Arial" pitchFamily="34" charset="0"/>
                <a:ea typeface="Arial" pitchFamily="34" charset="-122"/>
                <a:cs typeface="Arial" pitchFamily="34" charset="-120"/>
              </a:rPr>
              <a:t>State equity + JV dividends</a:t>
            </a:r>
            <a:endParaRPr lang="en-US" sz="1200" dirty="0"/>
          </a:p>
        </p:txBody>
      </p:sp>
      <p:sp>
        <p:nvSpPr>
          <p:cNvPr id="10" name="Text 8"/>
          <p:cNvSpPr/>
          <p:nvPr/>
        </p:nvSpPr>
        <p:spPr>
          <a:xfrm>
            <a:off x="502920" y="2743200"/>
            <a:ext cx="2560320" cy="22860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502920" y="2962656"/>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RISK BEARER</a:t>
            </a:r>
            <a:endParaRPr lang="en-US" sz="850" dirty="0"/>
          </a:p>
        </p:txBody>
      </p:sp>
      <p:sp>
        <p:nvSpPr>
          <p:cNvPr id="12" name="Shape 10"/>
          <p:cNvSpPr/>
          <p:nvPr/>
        </p:nvSpPr>
        <p:spPr>
          <a:xfrm>
            <a:off x="594360" y="3154680"/>
            <a:ext cx="2377440" cy="384048"/>
          </a:xfrm>
          <a:prstGeom prst="roundRect">
            <a:avLst>
              <a:gd name="adj" fmla="val 11905"/>
            </a:avLst>
          </a:prstGeom>
          <a:solidFill>
            <a:srgbClr val="EEF2FB"/>
          </a:solidFill>
          <a:ln/>
        </p:spPr>
      </p:sp>
      <p:sp>
        <p:nvSpPr>
          <p:cNvPr id="13" name="Text 11"/>
          <p:cNvSpPr/>
          <p:nvPr/>
        </p:nvSpPr>
        <p:spPr>
          <a:xfrm>
            <a:off x="594360" y="3154680"/>
            <a:ext cx="2377440" cy="384048"/>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State / JV partners (50/50)</a:t>
            </a:r>
            <a:endParaRPr lang="en-US" sz="1100" dirty="0"/>
          </a:p>
        </p:txBody>
      </p:sp>
      <p:sp>
        <p:nvSpPr>
          <p:cNvPr id="14" name="Text 12"/>
          <p:cNvSpPr/>
          <p:nvPr/>
        </p:nvSpPr>
        <p:spPr>
          <a:xfrm>
            <a:off x="548640" y="3639312"/>
            <a:ext cx="2468880" cy="1097280"/>
          </a:xfrm>
          <a:prstGeom prst="rect">
            <a:avLst/>
          </a:prstGeom>
          <a:noFill/>
          <a:ln/>
        </p:spPr>
        <p:txBody>
          <a:bodyPr wrap="square" rtlCol="0" anchor="t"/>
          <a:lstStyle/>
          <a:p>
            <a:pPr indent="0" marL="0">
              <a:lnSpc>
                <a:spcPct val="95000"/>
              </a:lnSpc>
              <a:buNone/>
            </a:pPr>
            <a:r>
              <a:rPr lang="en-US" sz="1000" dirty="0">
                <a:solidFill>
                  <a:srgbClr val="1E293B"/>
                </a:solidFill>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lang="en-US" sz="1000" dirty="0"/>
          </a:p>
        </p:txBody>
      </p:sp>
      <p:sp>
        <p:nvSpPr>
          <p:cNvPr id="15" name="Shape 13"/>
          <p:cNvSpPr/>
          <p:nvPr/>
        </p:nvSpPr>
        <p:spPr>
          <a:xfrm>
            <a:off x="3291840" y="1572768"/>
            <a:ext cx="2560320" cy="420624"/>
          </a:xfrm>
          <a:prstGeom prst="rect">
            <a:avLst/>
          </a:prstGeom>
          <a:solidFill>
            <a:srgbClr val="2563EB"/>
          </a:solidFill>
          <a:ln/>
        </p:spPr>
      </p:sp>
      <p:sp>
        <p:nvSpPr>
          <p:cNvPr id="16" name="Text 14"/>
          <p:cNvSpPr/>
          <p:nvPr/>
        </p:nvSpPr>
        <p:spPr>
          <a:xfrm>
            <a:off x="3291840" y="1572768"/>
            <a:ext cx="2560320" cy="42062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BYD</a:t>
            </a:r>
            <a:endParaRPr lang="en-US" sz="1500" dirty="0"/>
          </a:p>
        </p:txBody>
      </p:sp>
      <p:sp>
        <p:nvSpPr>
          <p:cNvPr id="17" name="Text 15"/>
          <p:cNvSpPr/>
          <p:nvPr/>
        </p:nvSpPr>
        <p:spPr>
          <a:xfrm>
            <a:off x="3291840" y="2103120"/>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CAPITAL SOURCE</a:t>
            </a:r>
            <a:endParaRPr lang="en-US" sz="850" dirty="0"/>
          </a:p>
        </p:txBody>
      </p:sp>
      <p:sp>
        <p:nvSpPr>
          <p:cNvPr id="18" name="Text 16"/>
          <p:cNvSpPr/>
          <p:nvPr/>
        </p:nvSpPr>
        <p:spPr>
          <a:xfrm>
            <a:off x="3291840" y="2286000"/>
            <a:ext cx="2560320" cy="457200"/>
          </a:xfrm>
          <a:prstGeom prst="rect">
            <a:avLst/>
          </a:prstGeom>
          <a:noFill/>
          <a:ln/>
        </p:spPr>
        <p:txBody>
          <a:bodyPr wrap="square" rtlCol="0" anchor="t"/>
          <a:lstStyle/>
          <a:p>
            <a:pPr algn="ctr" indent="0" marL="0">
              <a:buNone/>
            </a:pPr>
            <a:r>
              <a:rPr lang="en-US" sz="1200" b="1" dirty="0">
                <a:solidFill>
                  <a:srgbClr val="0F172A"/>
                </a:solidFill>
                <a:latin typeface="Arial" pitchFamily="34" charset="0"/>
                <a:ea typeface="Arial" pitchFamily="34" charset="-122"/>
                <a:cs typeface="Arial" pitchFamily="34" charset="-120"/>
              </a:rPr>
              <a:t>Operating cash flow (retained earnings)</a:t>
            </a:r>
            <a:endParaRPr lang="en-US" sz="1200" dirty="0"/>
          </a:p>
        </p:txBody>
      </p:sp>
      <p:sp>
        <p:nvSpPr>
          <p:cNvPr id="19" name="Text 17"/>
          <p:cNvSpPr/>
          <p:nvPr/>
        </p:nvSpPr>
        <p:spPr>
          <a:xfrm>
            <a:off x="3291840" y="2743200"/>
            <a:ext cx="2560320" cy="228600"/>
          </a:xfrm>
          <a:prstGeom prst="rect">
            <a:avLst/>
          </a:prstGeom>
          <a:noFill/>
          <a:ln/>
        </p:spPr>
        <p:txBody>
          <a:bodyPr wrap="square" rtlCol="0" anchor="ctr"/>
          <a:lstStyle/>
          <a:p>
            <a:pPr algn="ctr" indent="0" marL="0">
              <a:buNone/>
            </a:pPr>
            <a:r>
              <a:rPr lang="en-US" sz="1200" dirty="0">
                <a:solidFill>
                  <a:srgbClr val="2563EB"/>
                </a:solidFill>
                <a:latin typeface="Arial" pitchFamily="34" charset="0"/>
                <a:ea typeface="Arial" pitchFamily="34" charset="-122"/>
                <a:cs typeface="Arial" pitchFamily="34" charset="-120"/>
              </a:rPr>
              <a:t>▼</a:t>
            </a:r>
            <a:endParaRPr lang="en-US" sz="1200" dirty="0"/>
          </a:p>
        </p:txBody>
      </p:sp>
      <p:sp>
        <p:nvSpPr>
          <p:cNvPr id="20" name="Text 18"/>
          <p:cNvSpPr/>
          <p:nvPr/>
        </p:nvSpPr>
        <p:spPr>
          <a:xfrm>
            <a:off x="3291840" y="2962656"/>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RISK BEARER</a:t>
            </a:r>
            <a:endParaRPr lang="en-US" sz="850" dirty="0"/>
          </a:p>
        </p:txBody>
      </p:sp>
      <p:sp>
        <p:nvSpPr>
          <p:cNvPr id="21" name="Shape 19"/>
          <p:cNvSpPr/>
          <p:nvPr/>
        </p:nvSpPr>
        <p:spPr>
          <a:xfrm>
            <a:off x="3383280" y="3154680"/>
            <a:ext cx="2377440" cy="384048"/>
          </a:xfrm>
          <a:prstGeom prst="roundRect">
            <a:avLst>
              <a:gd name="adj" fmla="val 11905"/>
            </a:avLst>
          </a:prstGeom>
          <a:solidFill>
            <a:srgbClr val="EEF2FB"/>
          </a:solidFill>
          <a:ln/>
        </p:spPr>
      </p:sp>
      <p:sp>
        <p:nvSpPr>
          <p:cNvPr id="22" name="Text 20"/>
          <p:cNvSpPr/>
          <p:nvPr/>
        </p:nvSpPr>
        <p:spPr>
          <a:xfrm>
            <a:off x="3383280" y="3154680"/>
            <a:ext cx="2377440" cy="384048"/>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Equity holders (founder-led)</a:t>
            </a:r>
            <a:endParaRPr lang="en-US" sz="1100" dirty="0"/>
          </a:p>
        </p:txBody>
      </p:sp>
      <p:sp>
        <p:nvSpPr>
          <p:cNvPr id="23" name="Text 21"/>
          <p:cNvSpPr/>
          <p:nvPr/>
        </p:nvSpPr>
        <p:spPr>
          <a:xfrm>
            <a:off x="3337560" y="3639312"/>
            <a:ext cx="2468880" cy="1097280"/>
          </a:xfrm>
          <a:prstGeom prst="rect">
            <a:avLst/>
          </a:prstGeom>
          <a:noFill/>
          <a:ln/>
        </p:spPr>
        <p:txBody>
          <a:bodyPr wrap="square" rtlCol="0" anchor="t"/>
          <a:lstStyle/>
          <a:p>
            <a:pPr indent="0" marL="0">
              <a:lnSpc>
                <a:spcPct val="95000"/>
              </a:lnSpc>
              <a:buNone/>
            </a:pPr>
            <a:r>
              <a:rPr lang="en-US" sz="1000" dirty="0">
                <a:solidFill>
                  <a:srgbClr val="1E293B"/>
                </a:solidFill>
                <a:latin typeface="Arial" pitchFamily="34" charset="0"/>
                <a:ea typeface="Arial" pitchFamily="34" charset="-122"/>
                <a:cs typeface="Arial" pitchFamily="34" charset="-120"/>
              </a:rPr>
              <a:t>Self-funded from operations; net-cash, R&amp;D &gt; net profit. Independence from capital markets enables long-horizon reinvestment.</a:t>
            </a:r>
            <a:endParaRPr lang="en-US" sz="1000" dirty="0"/>
          </a:p>
        </p:txBody>
      </p:sp>
      <p:sp>
        <p:nvSpPr>
          <p:cNvPr id="24" name="Shape 22"/>
          <p:cNvSpPr/>
          <p:nvPr/>
        </p:nvSpPr>
        <p:spPr>
          <a:xfrm>
            <a:off x="6080760" y="1572768"/>
            <a:ext cx="2560320" cy="420624"/>
          </a:xfrm>
          <a:prstGeom prst="rect">
            <a:avLst/>
          </a:prstGeom>
          <a:solidFill>
            <a:srgbClr val="06B6D4"/>
          </a:solidFill>
          <a:ln/>
        </p:spPr>
      </p:sp>
      <p:sp>
        <p:nvSpPr>
          <p:cNvPr id="25" name="Text 23"/>
          <p:cNvSpPr/>
          <p:nvPr/>
        </p:nvSpPr>
        <p:spPr>
          <a:xfrm>
            <a:off x="6080760" y="1572768"/>
            <a:ext cx="2560320" cy="42062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Geely</a:t>
            </a:r>
            <a:endParaRPr lang="en-US" sz="1500" dirty="0"/>
          </a:p>
        </p:txBody>
      </p:sp>
      <p:sp>
        <p:nvSpPr>
          <p:cNvPr id="26" name="Text 24"/>
          <p:cNvSpPr/>
          <p:nvPr/>
        </p:nvSpPr>
        <p:spPr>
          <a:xfrm>
            <a:off x="6080760" y="2103120"/>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CAPITAL SOURCE</a:t>
            </a:r>
            <a:endParaRPr lang="en-US" sz="850" dirty="0"/>
          </a:p>
        </p:txBody>
      </p:sp>
      <p:sp>
        <p:nvSpPr>
          <p:cNvPr id="27" name="Text 25"/>
          <p:cNvSpPr/>
          <p:nvPr/>
        </p:nvSpPr>
        <p:spPr>
          <a:xfrm>
            <a:off x="6080760" y="2286000"/>
            <a:ext cx="2560320" cy="457200"/>
          </a:xfrm>
          <a:prstGeom prst="rect">
            <a:avLst/>
          </a:prstGeom>
          <a:noFill/>
          <a:ln/>
        </p:spPr>
        <p:txBody>
          <a:bodyPr wrap="square" rtlCol="0" anchor="t"/>
          <a:lstStyle/>
          <a:p>
            <a:pPr algn="ctr" indent="0" marL="0">
              <a:buNone/>
            </a:pPr>
            <a:r>
              <a:rPr lang="en-US" sz="1200" b="1" dirty="0">
                <a:solidFill>
                  <a:srgbClr val="0F172A"/>
                </a:solidFill>
                <a:latin typeface="Arial" pitchFamily="34" charset="0"/>
                <a:ea typeface="Arial" pitchFamily="34" charset="-122"/>
                <a:cs typeface="Arial" pitchFamily="34" charset="-120"/>
              </a:rPr>
              <a:t>Debt (acquisition-financed)</a:t>
            </a:r>
            <a:endParaRPr lang="en-US" sz="1200" dirty="0"/>
          </a:p>
        </p:txBody>
      </p:sp>
      <p:sp>
        <p:nvSpPr>
          <p:cNvPr id="28" name="Text 26"/>
          <p:cNvSpPr/>
          <p:nvPr/>
        </p:nvSpPr>
        <p:spPr>
          <a:xfrm>
            <a:off x="6080760" y="2743200"/>
            <a:ext cx="2560320" cy="228600"/>
          </a:xfrm>
          <a:prstGeom prst="rect">
            <a:avLst/>
          </a:prstGeom>
          <a:noFill/>
          <a:ln/>
        </p:spPr>
        <p:txBody>
          <a:bodyPr wrap="square" rtlCol="0" anchor="ctr"/>
          <a:lstStyle/>
          <a:p>
            <a:pPr algn="ctr" indent="0" marL="0">
              <a:buNone/>
            </a:pPr>
            <a:r>
              <a:rPr lang="en-US" sz="1200" dirty="0">
                <a:solidFill>
                  <a:srgbClr val="06B6D4"/>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6080760" y="2962656"/>
            <a:ext cx="2560320" cy="201168"/>
          </a:xfrm>
          <a:prstGeom prst="rect">
            <a:avLst/>
          </a:prstGeom>
          <a:noFill/>
          <a:ln/>
        </p:spPr>
        <p:txBody>
          <a:bodyPr wrap="square" rtlCol="0" anchor="ctr"/>
          <a:lstStyle/>
          <a:p>
            <a:pPr algn="ctr" indent="0" marL="0">
              <a:buNone/>
            </a:pPr>
            <a:r>
              <a:rPr lang="en-US" sz="850" b="1" spc="100" kern="0" dirty="0">
                <a:solidFill>
                  <a:srgbClr val="64748B"/>
                </a:solidFill>
                <a:latin typeface="Arial" pitchFamily="34" charset="0"/>
                <a:ea typeface="Arial" pitchFamily="34" charset="-122"/>
                <a:cs typeface="Arial" pitchFamily="34" charset="-120"/>
              </a:rPr>
              <a:t>RISK BEARER</a:t>
            </a:r>
            <a:endParaRPr lang="en-US" sz="850" dirty="0"/>
          </a:p>
        </p:txBody>
      </p:sp>
      <p:sp>
        <p:nvSpPr>
          <p:cNvPr id="30" name="Shape 28"/>
          <p:cNvSpPr/>
          <p:nvPr/>
        </p:nvSpPr>
        <p:spPr>
          <a:xfrm>
            <a:off x="6172200" y="3154680"/>
            <a:ext cx="2377440" cy="384048"/>
          </a:xfrm>
          <a:prstGeom prst="roundRect">
            <a:avLst>
              <a:gd name="adj" fmla="val 11905"/>
            </a:avLst>
          </a:prstGeom>
          <a:solidFill>
            <a:srgbClr val="EEF2FB"/>
          </a:solidFill>
          <a:ln/>
        </p:spPr>
      </p:sp>
      <p:sp>
        <p:nvSpPr>
          <p:cNvPr id="31" name="Text 29"/>
          <p:cNvSpPr/>
          <p:nvPr/>
        </p:nvSpPr>
        <p:spPr>
          <a:xfrm>
            <a:off x="6172200" y="3154680"/>
            <a:ext cx="2377440" cy="384048"/>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Debt providers</a:t>
            </a:r>
            <a:endParaRPr lang="en-US" sz="1100" dirty="0"/>
          </a:p>
        </p:txBody>
      </p:sp>
      <p:sp>
        <p:nvSpPr>
          <p:cNvPr id="32" name="Text 30"/>
          <p:cNvSpPr/>
          <p:nvPr/>
        </p:nvSpPr>
        <p:spPr>
          <a:xfrm>
            <a:off x="6126480" y="3639312"/>
            <a:ext cx="2468880" cy="1097280"/>
          </a:xfrm>
          <a:prstGeom prst="rect">
            <a:avLst/>
          </a:prstGeom>
          <a:noFill/>
          <a:ln/>
        </p:spPr>
        <p:txBody>
          <a:bodyPr wrap="square" rtlCol="0" anchor="t"/>
          <a:lstStyle/>
          <a:p>
            <a:pPr indent="0" marL="0">
              <a:lnSpc>
                <a:spcPct val="95000"/>
              </a:lnSpc>
              <a:buNone/>
            </a:pPr>
            <a:r>
              <a:rPr lang="en-US" sz="1000" dirty="0">
                <a:solidFill>
                  <a:srgbClr val="1E293B"/>
                </a:solidFill>
                <a:latin typeface="Arial" pitchFamily="34" charset="0"/>
                <a:ea typeface="Arial" pitchFamily="34" charset="-122"/>
                <a:cs typeface="Arial" pitchFamily="34" charset="-120"/>
              </a:rPr>
              <a:t>Leverage-for-speed: Volvo and Lynk &amp; Co financed via debt; highest financing risk, contingent on sustained profitability.</a:t>
            </a:r>
            <a:endParaRPr lang="en-US" sz="1000" dirty="0"/>
          </a:p>
        </p:txBody>
      </p:sp>
      <p:sp>
        <p:nvSpPr>
          <p:cNvPr id="33" name="Text 31"/>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SAIC Motor (2025); BYD (2025); Balcet et al. (2012); Geely Automobile Holdings (2026).</a:t>
            </a:r>
            <a:endParaRPr lang="en-US" sz="850" dirty="0"/>
          </a:p>
        </p:txBody>
      </p:sp>
      <p:sp>
        <p:nvSpPr>
          <p:cNvPr id="34" name="Text 32"/>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FINANCING</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BYD self-finances and earns the highest returns; SAIC depends on eroding JV rents</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Text 4"/>
          <p:cNvSpPr/>
          <p:nvPr/>
        </p:nvSpPr>
        <p:spPr>
          <a:xfrm>
            <a:off x="502920" y="1554480"/>
            <a:ext cx="4754880" cy="27432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Return on equity, FY2024</a:t>
            </a:r>
            <a:endParaRPr lang="en-US" sz="1200" dirty="0"/>
          </a:p>
        </p:txBody>
      </p:sp>
      <p:sp>
        <p:nvSpPr>
          <p:cNvPr id="7" name="Shape 5"/>
          <p:cNvSpPr/>
          <p:nvPr/>
        </p:nvSpPr>
        <p:spPr>
          <a:xfrm>
            <a:off x="502920" y="4160520"/>
            <a:ext cx="4572000" cy="16459"/>
          </a:xfrm>
          <a:prstGeom prst="rect">
            <a:avLst/>
          </a:prstGeom>
          <a:solidFill>
            <a:srgbClr val="CBD5E1"/>
          </a:solidFill>
          <a:ln/>
        </p:spPr>
      </p:sp>
      <p:sp>
        <p:nvSpPr>
          <p:cNvPr id="8" name="Shape 6"/>
          <p:cNvSpPr/>
          <p:nvPr/>
        </p:nvSpPr>
        <p:spPr>
          <a:xfrm>
            <a:off x="1005840" y="4111904"/>
            <a:ext cx="868680" cy="48616"/>
          </a:xfrm>
          <a:prstGeom prst="rect">
            <a:avLst/>
          </a:prstGeom>
          <a:solidFill>
            <a:srgbClr val="94A3B8"/>
          </a:solidFill>
          <a:ln/>
        </p:spPr>
      </p:sp>
      <p:sp>
        <p:nvSpPr>
          <p:cNvPr id="9" name="Text 7"/>
          <p:cNvSpPr/>
          <p:nvPr/>
        </p:nvSpPr>
        <p:spPr>
          <a:xfrm>
            <a:off x="868680" y="3801008"/>
            <a:ext cx="1143000" cy="2743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0.6%</a:t>
            </a:r>
            <a:endParaRPr lang="en-US" sz="1300" dirty="0"/>
          </a:p>
        </p:txBody>
      </p:sp>
      <p:sp>
        <p:nvSpPr>
          <p:cNvPr id="10" name="Text 8"/>
          <p:cNvSpPr/>
          <p:nvPr/>
        </p:nvSpPr>
        <p:spPr>
          <a:xfrm>
            <a:off x="777240" y="4215384"/>
            <a:ext cx="1325880" cy="274320"/>
          </a:xfrm>
          <a:prstGeom prst="rect">
            <a:avLst/>
          </a:prstGeom>
          <a:noFill/>
          <a:ln/>
        </p:spPr>
        <p:txBody>
          <a:bodyPr wrap="square" rtlCol="0" anchor="ctr"/>
          <a:lstStyle/>
          <a:p>
            <a:pPr algn="ctr" indent="0" marL="0">
              <a:buNone/>
            </a:pPr>
            <a:r>
              <a:rPr lang="en-US" sz="1100" dirty="0">
                <a:solidFill>
                  <a:srgbClr val="1E293B"/>
                </a:solidFill>
                <a:latin typeface="Arial" pitchFamily="34" charset="0"/>
                <a:ea typeface="Arial" pitchFamily="34" charset="-122"/>
                <a:cs typeface="Arial" pitchFamily="34" charset="-120"/>
              </a:rPr>
              <a:t>SAIC</a:t>
            </a:r>
            <a:endParaRPr lang="en-US" sz="1100" dirty="0"/>
          </a:p>
        </p:txBody>
      </p:sp>
      <p:sp>
        <p:nvSpPr>
          <p:cNvPr id="11" name="Shape 9"/>
          <p:cNvSpPr/>
          <p:nvPr/>
        </p:nvSpPr>
        <p:spPr>
          <a:xfrm>
            <a:off x="2377440" y="2341626"/>
            <a:ext cx="868680" cy="1818894"/>
          </a:xfrm>
          <a:prstGeom prst="rect">
            <a:avLst/>
          </a:prstGeom>
          <a:solidFill>
            <a:srgbClr val="2563EB"/>
          </a:solidFill>
          <a:ln/>
        </p:spPr>
      </p:sp>
      <p:sp>
        <p:nvSpPr>
          <p:cNvPr id="12" name="Text 10"/>
          <p:cNvSpPr/>
          <p:nvPr/>
        </p:nvSpPr>
        <p:spPr>
          <a:xfrm>
            <a:off x="2240280" y="2030730"/>
            <a:ext cx="1143000" cy="274320"/>
          </a:xfrm>
          <a:prstGeom prst="rect">
            <a:avLst/>
          </a:prstGeom>
          <a:noFill/>
          <a:ln/>
        </p:spPr>
        <p:txBody>
          <a:bodyPr wrap="square" rtlCol="0" anchor="ctr"/>
          <a:lstStyle/>
          <a:p>
            <a:pPr algn="ctr" indent="0" marL="0">
              <a:buNone/>
            </a:pPr>
            <a:r>
              <a:rPr lang="en-US" sz="1300" b="1" dirty="0">
                <a:solidFill>
                  <a:srgbClr val="DC2626"/>
                </a:solidFill>
                <a:latin typeface="Arial" pitchFamily="34" charset="0"/>
                <a:ea typeface="Arial" pitchFamily="34" charset="-122"/>
                <a:cs typeface="Arial" pitchFamily="34" charset="-120"/>
              </a:rPr>
              <a:t>21.7%</a:t>
            </a:r>
            <a:endParaRPr lang="en-US" sz="1300" dirty="0"/>
          </a:p>
        </p:txBody>
      </p:sp>
      <p:sp>
        <p:nvSpPr>
          <p:cNvPr id="13" name="Text 11"/>
          <p:cNvSpPr/>
          <p:nvPr/>
        </p:nvSpPr>
        <p:spPr>
          <a:xfrm>
            <a:off x="2148840" y="4215384"/>
            <a:ext cx="1325880" cy="274320"/>
          </a:xfrm>
          <a:prstGeom prst="rect">
            <a:avLst/>
          </a:prstGeom>
          <a:noFill/>
          <a:ln/>
        </p:spPr>
        <p:txBody>
          <a:bodyPr wrap="square" rtlCol="0" anchor="ctr"/>
          <a:lstStyle/>
          <a:p>
            <a:pPr algn="ctr" indent="0" marL="0">
              <a:buNone/>
            </a:pPr>
            <a:r>
              <a:rPr lang="en-US" sz="1100" dirty="0">
                <a:solidFill>
                  <a:srgbClr val="1E293B"/>
                </a:solidFill>
                <a:latin typeface="Arial" pitchFamily="34" charset="0"/>
                <a:ea typeface="Arial" pitchFamily="34" charset="-122"/>
                <a:cs typeface="Arial" pitchFamily="34" charset="-120"/>
              </a:rPr>
              <a:t>BYD</a:t>
            </a:r>
            <a:endParaRPr lang="en-US" sz="1100" dirty="0"/>
          </a:p>
        </p:txBody>
      </p:sp>
      <p:sp>
        <p:nvSpPr>
          <p:cNvPr id="14" name="Shape 12"/>
          <p:cNvSpPr/>
          <p:nvPr/>
        </p:nvSpPr>
        <p:spPr>
          <a:xfrm>
            <a:off x="3749040" y="2551176"/>
            <a:ext cx="868680" cy="1609344"/>
          </a:xfrm>
          <a:prstGeom prst="rect">
            <a:avLst/>
          </a:prstGeom>
          <a:solidFill>
            <a:srgbClr val="06B6D4"/>
          </a:solidFill>
          <a:ln/>
        </p:spPr>
      </p:sp>
      <p:sp>
        <p:nvSpPr>
          <p:cNvPr id="15" name="Text 13"/>
          <p:cNvSpPr/>
          <p:nvPr/>
        </p:nvSpPr>
        <p:spPr>
          <a:xfrm>
            <a:off x="3611880" y="2240280"/>
            <a:ext cx="1143000" cy="2743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19.2%</a:t>
            </a:r>
            <a:endParaRPr lang="en-US" sz="1300" dirty="0"/>
          </a:p>
        </p:txBody>
      </p:sp>
      <p:sp>
        <p:nvSpPr>
          <p:cNvPr id="16" name="Text 14"/>
          <p:cNvSpPr/>
          <p:nvPr/>
        </p:nvSpPr>
        <p:spPr>
          <a:xfrm>
            <a:off x="3520440" y="4215384"/>
            <a:ext cx="1325880" cy="274320"/>
          </a:xfrm>
          <a:prstGeom prst="rect">
            <a:avLst/>
          </a:prstGeom>
          <a:noFill/>
          <a:ln/>
        </p:spPr>
        <p:txBody>
          <a:bodyPr wrap="square" rtlCol="0" anchor="ctr"/>
          <a:lstStyle/>
          <a:p>
            <a:pPr algn="ctr" indent="0" marL="0">
              <a:buNone/>
            </a:pPr>
            <a:r>
              <a:rPr lang="en-US" sz="1100" dirty="0">
                <a:solidFill>
                  <a:srgbClr val="1E293B"/>
                </a:solidFill>
                <a:latin typeface="Arial" pitchFamily="34" charset="0"/>
                <a:ea typeface="Arial" pitchFamily="34" charset="-122"/>
                <a:cs typeface="Arial" pitchFamily="34" charset="-120"/>
              </a:rPr>
              <a:t>Geely</a:t>
            </a:r>
            <a:endParaRPr lang="en-US" sz="1100" dirty="0"/>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sp>
      <p:sp>
        <p:nvSpPr>
          <p:cNvPr id="18" name="Text 16"/>
          <p:cNvSpPr/>
          <p:nvPr/>
        </p:nvSpPr>
        <p:spPr>
          <a:xfrm>
            <a:off x="822960" y="2148840"/>
            <a:ext cx="1325880" cy="310896"/>
          </a:xfrm>
          <a:prstGeom prst="rect">
            <a:avLst/>
          </a:prstGeom>
          <a:noFill/>
          <a:ln/>
        </p:spPr>
        <p:txBody>
          <a:bodyPr wrap="square" rtlCol="0" anchor="ctr"/>
          <a:lstStyle/>
          <a:p>
            <a:pPr algn="ctr" indent="0" marL="0">
              <a:buNone/>
            </a:pPr>
            <a:r>
              <a:rPr lang="en-US" sz="950" b="1" dirty="0">
                <a:solidFill>
                  <a:srgbClr val="DC2626"/>
                </a:solidFill>
                <a:latin typeface="Arial" pitchFamily="34" charset="0"/>
                <a:ea typeface="Arial" pitchFamily="34" charset="-122"/>
                <a:cs typeface="Arial" pitchFamily="34" charset="-120"/>
              </a:rPr>
              <a:t>BYD ▲ highest</a:t>
            </a:r>
            <a:endParaRPr lang="en-US" sz="950" dirty="0"/>
          </a:p>
        </p:txBody>
      </p:sp>
      <p:sp>
        <p:nvSpPr>
          <p:cNvPr id="19" name="Text 17"/>
          <p:cNvSpPr/>
          <p:nvPr/>
        </p:nvSpPr>
        <p:spPr>
          <a:xfrm>
            <a:off x="5577840" y="1554480"/>
            <a:ext cx="3063240" cy="27432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What the numbers say</a:t>
            </a:r>
            <a:endParaRPr lang="en-US" sz="1200" dirty="0"/>
          </a:p>
        </p:txBody>
      </p:sp>
      <p:sp>
        <p:nvSpPr>
          <p:cNvPr id="20" name="Text 18"/>
          <p:cNvSpPr/>
          <p:nvPr/>
        </p:nvSpPr>
        <p:spPr>
          <a:xfrm>
            <a:off x="5577840" y="1920240"/>
            <a:ext cx="3108960" cy="2743200"/>
          </a:xfrm>
          <a:prstGeom prst="rect">
            <a:avLst/>
          </a:prstGeom>
          <a:noFill/>
          <a:ln/>
        </p:spPr>
        <p:txBody>
          <a:bodyPr wrap="square" rtlCol="0" anchor="t"/>
          <a:lstStyle/>
          <a:p>
            <a:pPr marL="152400" indent="-152400">
              <a:spcAft>
                <a:spcPts val="1100"/>
              </a:spcAft>
              <a:buSzPct val="100000"/>
              <a:buChar char="•"/>
            </a:pPr>
            <a:r>
              <a:rPr lang="en-US" sz="1150" b="1" dirty="0">
                <a:solidFill>
                  <a:srgbClr val="2563EB"/>
                </a:solidFill>
                <a:latin typeface="Arial" pitchFamily="34" charset="0"/>
                <a:ea typeface="Arial" pitchFamily="34" charset="-122"/>
                <a:cs typeface="Arial" pitchFamily="34" charset="-120"/>
              </a:rPr>
              <a:t>BYD: </a:t>
            </a:r>
            <a:pPr indent="0" marL="0">
              <a:spcAft>
                <a:spcPts val="1100"/>
              </a:spcAft>
              <a:buNone/>
            </a:pPr>
            <a:r>
              <a:rPr lang="en-US" sz="1150" dirty="0">
                <a:solidFill>
                  <a:srgbClr val="1E293B"/>
                </a:solidFill>
                <a:latin typeface="Arial" pitchFamily="34" charset="0"/>
                <a:ea typeface="Arial" pitchFamily="34" charset="-122"/>
                <a:cs typeface="Arial" pitchFamily="34" charset="-120"/>
              </a:rPr>
              <a:t>ROE 21.7% → 13.2% (FY25) as the price war compresses margins, yet still self-funded.</a:t>
            </a:r>
            <a:endParaRPr lang="en-US" sz="1150" dirty="0"/>
          </a:p>
          <a:p>
            <a:pPr indent="0" marL="0">
              <a:spcAft>
                <a:spcPts val="1100"/>
              </a:spcAft>
              <a:buNone/>
            </a:pPr>
            <a:r>
              <a:rPr lang="en-US" sz="1150" b="1" dirty="0">
                <a:solidFill>
                  <a:srgbClr val="94A3B8"/>
                </a:solidFill>
                <a:latin typeface="Arial" pitchFamily="34" charset="0"/>
                <a:ea typeface="Arial" pitchFamily="34" charset="-122"/>
                <a:cs typeface="Arial" pitchFamily="34" charset="-120"/>
              </a:rPr>
              <a:t>SAIC: </a:t>
            </a:r>
            <a:pPr indent="0" marL="0">
              <a:spcAft>
                <a:spcPts val="1100"/>
              </a:spcAft>
              <a:buNone/>
            </a:pPr>
            <a:r>
              <a:rPr lang="en-US" sz="1150" dirty="0">
                <a:solidFill>
                  <a:srgbClr val="1E293B"/>
                </a:solidFill>
                <a:latin typeface="Arial" pitchFamily="34" charset="0"/>
                <a:ea typeface="Arial" pitchFamily="34" charset="-122"/>
                <a:cs typeface="Arial" pitchFamily="34" charset="-120"/>
              </a:rPr>
              <a:t>0.58% → 3.43%; the FY25 lift is non-recurring impairments, not a structural recovery.</a:t>
            </a:r>
            <a:endParaRPr lang="en-US" sz="1150" dirty="0"/>
          </a:p>
          <a:p>
            <a:pPr indent="0" marL="0">
              <a:spcAft>
                <a:spcPts val="1100"/>
              </a:spcAft>
              <a:buNone/>
            </a:pPr>
            <a:r>
              <a:rPr lang="en-US" sz="1150" b="1" dirty="0">
                <a:solidFill>
                  <a:srgbClr val="06B6D4"/>
                </a:solidFill>
                <a:latin typeface="Arial" pitchFamily="34" charset="0"/>
                <a:ea typeface="Arial" pitchFamily="34" charset="-122"/>
                <a:cs typeface="Arial" pitchFamily="34" charset="-120"/>
              </a:rPr>
              <a:t>Geely: </a:t>
            </a:r>
            <a:pPr indent="0" marL="0">
              <a:spcAft>
                <a:spcPts val="1100"/>
              </a:spcAft>
              <a:buNone/>
            </a:pPr>
            <a:r>
              <a:rPr lang="en-US" sz="1150" dirty="0">
                <a:solidFill>
                  <a:srgbClr val="1E293B"/>
                </a:solidFill>
                <a:latin typeface="Arial" pitchFamily="34" charset="0"/>
                <a:ea typeface="Arial" pitchFamily="34" charset="-122"/>
                <a:cs typeface="Arial" pitchFamily="34" charset="-120"/>
              </a:rPr>
              <a:t>19.2% → 18.2%; resilient, but net gearing rose to 19.8% on the Lynk &amp; Co deal.</a:t>
            </a:r>
            <a:endParaRPr lang="en-US" sz="1150" dirty="0"/>
          </a:p>
          <a:p>
            <a:pPr indent="0" marL="0">
              <a:spcAft>
                <a:spcPts val="1100"/>
              </a:spcAft>
              <a:buNone/>
            </a:pPr>
            <a:r>
              <a:rPr lang="en-US" sz="1150" b="1" dirty="0">
                <a:solidFill>
                  <a:srgbClr val="0F172A"/>
                </a:solidFill>
                <a:latin typeface="Arial" pitchFamily="34" charset="0"/>
                <a:ea typeface="Arial" pitchFamily="34" charset="-122"/>
                <a:cs typeface="Arial" pitchFamily="34" charset="-120"/>
              </a:rPr>
              <a:t>Net gearing FY25: </a:t>
            </a:r>
            <a:pPr indent="0" marL="0">
              <a:spcAft>
                <a:spcPts val="1100"/>
              </a:spcAft>
              <a:buNone/>
            </a:pPr>
            <a:r>
              <a:rPr lang="en-US" sz="1150" dirty="0">
                <a:solidFill>
                  <a:srgbClr val="1E293B"/>
                </a:solidFill>
                <a:latin typeface="Arial" pitchFamily="34" charset="0"/>
                <a:ea typeface="Arial" pitchFamily="34" charset="-122"/>
                <a:cs typeface="Arial" pitchFamily="34" charset="-120"/>
              </a:rPr>
              <a:t>BYD swung −36% → +25% on global factory build-out.</a:t>
            </a:r>
            <a:endParaRPr lang="en-US" sz="1150" dirty="0"/>
          </a:p>
        </p:txBody>
      </p:sp>
      <p:sp>
        <p:nvSpPr>
          <p:cNvPr id="21" name="Text 19"/>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Annual reports SAIC / BYD / Geely 2024–2025 (Table 1); EU Reg. 2024/2754.</a:t>
            </a:r>
            <a:endParaRPr lang="en-US" sz="850" dirty="0"/>
          </a:p>
        </p:txBody>
      </p:sp>
      <p:sp>
        <p:nvSpPr>
          <p:cNvPr id="22" name="Text 20"/>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CAPABILITY</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Capability mode trades speed against depth — and against independence</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868680" y="1691640"/>
            <a:ext cx="18288" cy="2743200"/>
          </a:xfrm>
          <a:prstGeom prst="rect">
            <a:avLst/>
          </a:prstGeom>
          <a:solidFill>
            <a:srgbClr val="94A3B8"/>
          </a:solidFill>
          <a:ln/>
        </p:spPr>
      </p:sp>
      <p:sp>
        <p:nvSpPr>
          <p:cNvPr id="7" name="Shape 5"/>
          <p:cNvSpPr/>
          <p:nvPr/>
        </p:nvSpPr>
        <p:spPr>
          <a:xfrm>
            <a:off x="868680" y="4434840"/>
            <a:ext cx="4663440" cy="18288"/>
          </a:xfrm>
          <a:prstGeom prst="rect">
            <a:avLst/>
          </a:prstGeom>
          <a:solidFill>
            <a:srgbClr val="94A3B8"/>
          </a:solidFill>
          <a:ln/>
        </p:spPr>
      </p:sp>
      <p:sp>
        <p:nvSpPr>
          <p:cNvPr id="8" name="Text 6"/>
          <p:cNvSpPr/>
          <p:nvPr/>
        </p:nvSpPr>
        <p:spPr>
          <a:xfrm>
            <a:off x="548640" y="1417320"/>
            <a:ext cx="2743200" cy="228600"/>
          </a:xfrm>
          <a:prstGeom prst="rect">
            <a:avLst/>
          </a:prstGeom>
          <a:noFill/>
          <a:ln/>
        </p:spPr>
        <p:txBody>
          <a:bodyPr wrap="square" rtlCol="0" anchor="ctr"/>
          <a:lstStyle/>
          <a:p>
            <a:pPr indent="0" marL="0">
              <a:buNone/>
            </a:pPr>
            <a:r>
              <a:rPr lang="en-US" sz="950" i="1" dirty="0">
                <a:solidFill>
                  <a:srgbClr val="64748B"/>
                </a:solidFill>
                <a:latin typeface="Arial" pitchFamily="34" charset="0"/>
                <a:ea typeface="Arial" pitchFamily="34" charset="-122"/>
                <a:cs typeface="Arial" pitchFamily="34" charset="-120"/>
              </a:rPr>
              <a:t>Depth / non-imitability →</a:t>
            </a:r>
            <a:endParaRPr lang="en-US" sz="950" dirty="0"/>
          </a:p>
        </p:txBody>
      </p:sp>
      <p:sp>
        <p:nvSpPr>
          <p:cNvPr id="9" name="Text 7"/>
          <p:cNvSpPr/>
          <p:nvPr/>
        </p:nvSpPr>
        <p:spPr>
          <a:xfrm>
            <a:off x="3520440" y="4489704"/>
            <a:ext cx="2103120" cy="228600"/>
          </a:xfrm>
          <a:prstGeom prst="rect">
            <a:avLst/>
          </a:prstGeom>
          <a:noFill/>
          <a:ln/>
        </p:spPr>
        <p:txBody>
          <a:bodyPr wrap="square" rtlCol="0" anchor="ctr"/>
          <a:lstStyle/>
          <a:p>
            <a:pPr algn="r" indent="0" marL="0">
              <a:buNone/>
            </a:pPr>
            <a:r>
              <a:rPr lang="en-US" sz="950" i="1" dirty="0">
                <a:solidFill>
                  <a:srgbClr val="64748B"/>
                </a:solidFill>
                <a:latin typeface="Arial" pitchFamily="34" charset="0"/>
                <a:ea typeface="Arial" pitchFamily="34" charset="-122"/>
                <a:cs typeface="Arial" pitchFamily="34" charset="-120"/>
              </a:rPr>
              <a:t>Speed of acquisition →</a:t>
            </a:r>
            <a:endParaRPr lang="en-US" sz="950" dirty="0"/>
          </a:p>
        </p:txBody>
      </p:sp>
      <p:sp>
        <p:nvSpPr>
          <p:cNvPr id="10" name="Shape 8"/>
          <p:cNvSpPr/>
          <p:nvPr/>
        </p:nvSpPr>
        <p:spPr>
          <a:xfrm>
            <a:off x="4396435" y="3776472"/>
            <a:ext cx="219456" cy="219456"/>
          </a:xfrm>
          <a:prstGeom prst="ellipse">
            <a:avLst/>
          </a:prstGeom>
          <a:solidFill>
            <a:srgbClr val="94A3B8"/>
          </a:solidFill>
          <a:ln w="19050">
            <a:solidFill>
              <a:srgbClr val="FFFFFF"/>
            </a:solidFill>
            <a:prstDash val="solid"/>
          </a:ln>
        </p:spPr>
      </p:sp>
      <p:sp>
        <p:nvSpPr>
          <p:cNvPr id="11" name="Text 9"/>
          <p:cNvSpPr/>
          <p:nvPr/>
        </p:nvSpPr>
        <p:spPr>
          <a:xfrm>
            <a:off x="3683203" y="3429000"/>
            <a:ext cx="1645920" cy="274320"/>
          </a:xfrm>
          <a:prstGeom prst="rect">
            <a:avLst/>
          </a:prstGeom>
          <a:noFill/>
          <a:ln/>
        </p:spPr>
        <p:txBody>
          <a:bodyPr wrap="square" rtlCol="0" anchor="ctr"/>
          <a:lstStyle/>
          <a:p>
            <a:pPr algn="ctr" indent="0" marL="0">
              <a:buNone/>
            </a:pPr>
            <a:r>
              <a:rPr lang="en-US" sz="1100" b="1" dirty="0">
                <a:solidFill>
                  <a:srgbClr val="94A3B8"/>
                </a:solidFill>
                <a:latin typeface="Arial" pitchFamily="34" charset="0"/>
                <a:ea typeface="Arial" pitchFamily="34" charset="-122"/>
                <a:cs typeface="Arial" pitchFamily="34" charset="-120"/>
              </a:rPr>
              <a:t>SAIC (JV)</a:t>
            </a:r>
            <a:endParaRPr lang="en-US" sz="1100" dirty="0"/>
          </a:p>
        </p:txBody>
      </p:sp>
      <p:sp>
        <p:nvSpPr>
          <p:cNvPr id="12" name="Shape 10"/>
          <p:cNvSpPr/>
          <p:nvPr/>
        </p:nvSpPr>
        <p:spPr>
          <a:xfrm>
            <a:off x="4023360" y="2624328"/>
            <a:ext cx="219456" cy="219456"/>
          </a:xfrm>
          <a:prstGeom prst="ellipse">
            <a:avLst/>
          </a:prstGeom>
          <a:solidFill>
            <a:srgbClr val="06B6D4"/>
          </a:solidFill>
          <a:ln w="19050">
            <a:solidFill>
              <a:srgbClr val="FFFFFF"/>
            </a:solidFill>
            <a:prstDash val="solid"/>
          </a:ln>
        </p:spPr>
      </p:sp>
      <p:sp>
        <p:nvSpPr>
          <p:cNvPr id="13" name="Text 11"/>
          <p:cNvSpPr/>
          <p:nvPr/>
        </p:nvSpPr>
        <p:spPr>
          <a:xfrm>
            <a:off x="3310128" y="2276856"/>
            <a:ext cx="1645920" cy="274320"/>
          </a:xfrm>
          <a:prstGeom prst="rect">
            <a:avLst/>
          </a:prstGeom>
          <a:noFill/>
          <a:ln/>
        </p:spPr>
        <p:txBody>
          <a:bodyPr wrap="square" rtlCol="0" anchor="ctr"/>
          <a:lstStyle/>
          <a:p>
            <a:pPr algn="ctr" indent="0" marL="0">
              <a:buNone/>
            </a:pPr>
            <a:r>
              <a:rPr lang="en-US" sz="1100" b="1" dirty="0">
                <a:solidFill>
                  <a:srgbClr val="06B6D4"/>
                </a:solidFill>
                <a:latin typeface="Arial" pitchFamily="34" charset="0"/>
                <a:ea typeface="Arial" pitchFamily="34" charset="-122"/>
                <a:cs typeface="Arial" pitchFamily="34" charset="-120"/>
              </a:rPr>
              <a:t>Geely (M&amp;A)</a:t>
            </a:r>
            <a:endParaRPr lang="en-US" sz="1100" dirty="0"/>
          </a:p>
        </p:txBody>
      </p:sp>
      <p:sp>
        <p:nvSpPr>
          <p:cNvPr id="14" name="Shape 12"/>
          <p:cNvSpPr/>
          <p:nvPr/>
        </p:nvSpPr>
        <p:spPr>
          <a:xfrm>
            <a:off x="1598371" y="1801368"/>
            <a:ext cx="219456" cy="219456"/>
          </a:xfrm>
          <a:prstGeom prst="ellipse">
            <a:avLst/>
          </a:prstGeom>
          <a:solidFill>
            <a:srgbClr val="2563EB"/>
          </a:solidFill>
          <a:ln w="19050">
            <a:solidFill>
              <a:srgbClr val="FFFFFF"/>
            </a:solidFill>
            <a:prstDash val="solid"/>
          </a:ln>
        </p:spPr>
      </p:sp>
      <p:sp>
        <p:nvSpPr>
          <p:cNvPr id="15" name="Text 13"/>
          <p:cNvSpPr/>
          <p:nvPr/>
        </p:nvSpPr>
        <p:spPr>
          <a:xfrm>
            <a:off x="885139" y="1453896"/>
            <a:ext cx="1645920" cy="274320"/>
          </a:xfrm>
          <a:prstGeom prst="rect">
            <a:avLst/>
          </a:prstGeom>
          <a:noFill/>
          <a:ln/>
        </p:spPr>
        <p:txBody>
          <a:bodyPr wrap="square"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BYD (organic)</a:t>
            </a:r>
            <a:endParaRPr lang="en-US" sz="1100" dirty="0"/>
          </a:p>
        </p:txBody>
      </p:sp>
      <p:sp>
        <p:nvSpPr>
          <p:cNvPr id="16" name="Text 14"/>
          <p:cNvSpPr/>
          <p:nvPr/>
        </p:nvSpPr>
        <p:spPr>
          <a:xfrm>
            <a:off x="5532120" y="1645920"/>
            <a:ext cx="3154680" cy="2926080"/>
          </a:xfrm>
          <a:prstGeom prst="rect">
            <a:avLst/>
          </a:prstGeom>
          <a:noFill/>
          <a:ln/>
        </p:spPr>
        <p:txBody>
          <a:bodyPr wrap="square" rtlCol="0" anchor="t"/>
          <a:lstStyle/>
          <a:p>
            <a:pPr marL="152400" indent="-152400">
              <a:spcAft>
                <a:spcPts val="1100"/>
              </a:spcAft>
              <a:buSzPct val="100000"/>
              <a:buChar char="•"/>
            </a:pPr>
            <a:r>
              <a:rPr lang="en-US" sz="1100" b="1" dirty="0">
                <a:solidFill>
                  <a:srgbClr val="94A3B8"/>
                </a:solidFill>
                <a:latin typeface="Arial" pitchFamily="34" charset="0"/>
                <a:ea typeface="Arial" pitchFamily="34" charset="-122"/>
                <a:cs typeface="Arial" pitchFamily="34" charset="-120"/>
              </a:rPr>
              <a:t>SAIC — fast, shallow, dependent: </a:t>
            </a:r>
            <a:pPr indent="0" marL="0">
              <a:spcAft>
                <a:spcPts val="1100"/>
              </a:spcAft>
              <a:buNone/>
            </a:pPr>
            <a:r>
              <a:rPr lang="en-US" sz="1100" dirty="0">
                <a:solidFill>
                  <a:srgbClr val="1E293B"/>
                </a:solidFill>
                <a:latin typeface="Arial" pitchFamily="34" charset="0"/>
                <a:ea typeface="Arial" pitchFamily="34" charset="-122"/>
                <a:cs typeface="Arial" pitchFamily="34" charset="-120"/>
              </a:rPr>
              <a:t>quid pro quo added +8.3% quality, but JV rents cannibalised autonomous innovation — no proprietary EV platforms.</a:t>
            </a:r>
            <a:endParaRPr lang="en-US" sz="1100" dirty="0"/>
          </a:p>
          <a:p>
            <a:pPr indent="0" marL="0">
              <a:spcAft>
                <a:spcPts val="1100"/>
              </a:spcAft>
              <a:buNone/>
            </a:pPr>
            <a:r>
              <a:rPr lang="en-US" sz="1100" b="1" dirty="0">
                <a:solidFill>
                  <a:srgbClr val="06B6D4"/>
                </a:solidFill>
                <a:latin typeface="Arial" pitchFamily="34" charset="0"/>
                <a:ea typeface="Arial" pitchFamily="34" charset="-122"/>
                <a:cs typeface="Arial" pitchFamily="34" charset="-120"/>
              </a:rPr>
              <a:t>Geely — fast, medium depth: </a:t>
            </a:r>
            <a:pPr indent="0" marL="0">
              <a:spcAft>
                <a:spcPts val="1100"/>
              </a:spcAft>
              <a:buNone/>
            </a:pPr>
            <a:r>
              <a:rPr lang="en-US" sz="1100" dirty="0">
                <a:solidFill>
                  <a:srgbClr val="1E293B"/>
                </a:solidFill>
                <a:latin typeface="Arial" pitchFamily="34" charset="0"/>
                <a:ea typeface="Arial" pitchFamily="34" charset="-122"/>
                <a:cs typeface="Arial" pitchFamily="34" charset="-120"/>
              </a:rPr>
              <a:t>acquisition compressed the timeline; the CMA platform shows genuine co-development, not one-way extraction.</a:t>
            </a:r>
            <a:endParaRPr lang="en-US" sz="1100" dirty="0"/>
          </a:p>
          <a:p>
            <a:pPr indent="0" marL="0">
              <a:spcAft>
                <a:spcPts val="1100"/>
              </a:spcAft>
              <a:buNone/>
            </a:pPr>
            <a:r>
              <a:rPr lang="en-US" sz="1100" b="1" dirty="0">
                <a:solidFill>
                  <a:srgbClr val="2563EB"/>
                </a:solidFill>
                <a:latin typeface="Arial" pitchFamily="34" charset="0"/>
                <a:ea typeface="Arial" pitchFamily="34" charset="-122"/>
                <a:cs typeface="Arial" pitchFamily="34" charset="-120"/>
              </a:rPr>
              <a:t>BYD — slowest, deepest, independent: </a:t>
            </a:r>
            <a:pPr indent="0" marL="0">
              <a:spcAft>
                <a:spcPts val="1100"/>
              </a:spcAft>
              <a:buNone/>
            </a:pPr>
            <a:r>
              <a:rPr lang="en-US" sz="1100" dirty="0">
                <a:solidFill>
                  <a:srgbClr val="1E293B"/>
                </a:solidFill>
                <a:latin typeface="Arial" pitchFamily="34" charset="0"/>
                <a:ea typeface="Arial" pitchFamily="34" charset="-122"/>
                <a:cs typeface="Arial" pitchFamily="34" charset="-120"/>
              </a:rPr>
              <a:t>three decades from cell chemistry to software produced path-dependent, non-imitable capability.</a:t>
            </a:r>
            <a:endParaRPr lang="en-US" sz="1100" dirty="0"/>
          </a:p>
        </p:txBody>
      </p:sp>
      <p:sp>
        <p:nvSpPr>
          <p:cNvPr id="17" name="Text 15"/>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Bai et al. (2025); Howell (2018); Teece et al. (1997); Konda et al. (2022); Whitfield &amp; Wuttke (2026).</a:t>
            </a:r>
            <a:endParaRPr lang="en-US" sz="850" dirty="0"/>
          </a:p>
        </p:txBody>
      </p:sp>
      <p:sp>
        <p:nvSpPr>
          <p:cNvPr id="18" name="Text 16"/>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LONG-TERM VIABILITY</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The EV transition acted as a structural audit of each model</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00200"/>
            <a:ext cx="1188720" cy="960120"/>
          </a:xfrm>
          <a:prstGeom prst="rect">
            <a:avLst/>
          </a:prstGeom>
          <a:solidFill>
            <a:srgbClr val="94A3B8"/>
          </a:solidFill>
          <a:ln/>
        </p:spPr>
      </p:sp>
      <p:sp>
        <p:nvSpPr>
          <p:cNvPr id="7" name="Text 5"/>
          <p:cNvSpPr/>
          <p:nvPr/>
        </p:nvSpPr>
        <p:spPr>
          <a:xfrm>
            <a:off x="502920" y="1746504"/>
            <a:ext cx="1188720" cy="32918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SAIC</a:t>
            </a:r>
            <a:endParaRPr lang="en-US" sz="1500" dirty="0"/>
          </a:p>
        </p:txBody>
      </p:sp>
      <p:sp>
        <p:nvSpPr>
          <p:cNvPr id="8" name="Text 6"/>
          <p:cNvSpPr/>
          <p:nvPr/>
        </p:nvSpPr>
        <p:spPr>
          <a:xfrm>
            <a:off x="502920" y="2112264"/>
            <a:ext cx="1188720" cy="310896"/>
          </a:xfrm>
          <a:prstGeom prst="rect">
            <a:avLst/>
          </a:prstGeom>
          <a:noFill/>
          <a:ln/>
        </p:spPr>
        <p:txBody>
          <a:bodyPr wrap="square" rtlCol="0" anchor="ctr"/>
          <a:lstStyle/>
          <a:p>
            <a:pPr algn="ctr" indent="0" marL="0">
              <a:buNone/>
            </a:pPr>
            <a:r>
              <a:rPr lang="en-US" sz="850" b="1" spc="100" kern="0" dirty="0">
                <a:solidFill>
                  <a:srgbClr val="E2E8F0"/>
                </a:solidFill>
                <a:latin typeface="Arial" pitchFamily="34" charset="0"/>
                <a:ea typeface="Arial" pitchFamily="34" charset="-122"/>
                <a:cs typeface="Arial" pitchFamily="34" charset="-120"/>
              </a:rPr>
              <a:t>MOST EXPOSED</a:t>
            </a:r>
            <a:endParaRPr lang="en-US" sz="850" dirty="0"/>
          </a:p>
        </p:txBody>
      </p:sp>
      <p:sp>
        <p:nvSpPr>
          <p:cNvPr id="9" name="Shape 7"/>
          <p:cNvSpPr/>
          <p:nvPr/>
        </p:nvSpPr>
        <p:spPr>
          <a:xfrm>
            <a:off x="1728216" y="1600200"/>
            <a:ext cx="6912864" cy="960120"/>
          </a:xfrm>
          <a:prstGeom prst="rect">
            <a:avLst/>
          </a:prstGeom>
          <a:solidFill>
            <a:srgbClr val="F8FAFC"/>
          </a:solidFill>
          <a:ln/>
        </p:spPr>
      </p:sp>
      <p:sp>
        <p:nvSpPr>
          <p:cNvPr id="10" name="Text 8"/>
          <p:cNvSpPr/>
          <p:nvPr/>
        </p:nvSpPr>
        <p:spPr>
          <a:xfrm>
            <a:off x="1874520" y="1709928"/>
            <a:ext cx="6629400" cy="777240"/>
          </a:xfrm>
          <a:prstGeom prst="rect">
            <a:avLst/>
          </a:prstGeom>
          <a:noFill/>
          <a:ln/>
        </p:spPr>
        <p:txBody>
          <a:bodyPr wrap="square" rtlCol="0" anchor="ctr"/>
          <a:lstStyle/>
          <a:p>
            <a:pPr marL="152400" indent="-152400">
              <a:lnSpc>
                <a:spcPct val="95000"/>
              </a:lnSpc>
              <a:spcAft>
                <a:spcPts val="500"/>
              </a:spcAft>
              <a:buSzPct val="100000"/>
              <a:buChar char="•"/>
            </a:pPr>
            <a:r>
              <a:rPr lang="en-US" sz="1100" dirty="0">
                <a:solidFill>
                  <a:srgbClr val="1E293B"/>
                </a:solidFill>
                <a:latin typeface="Arial" pitchFamily="34" charset="0"/>
                <a:ea typeface="Arial" pitchFamily="34" charset="-122"/>
                <a:cs typeface="Arial" pitchFamily="34" charset="-120"/>
              </a:rPr>
              <a:t>Capability dependency hardened into deficit: SAIC-GM at 37% capacity, VW MEB plant at 14%</a:t>
            </a:r>
            <a:endParaRPr lang="en-US" sz="1100" dirty="0"/>
          </a:p>
          <a:p>
            <a:pPr indent="0" marL="0">
              <a:lnSpc>
                <a:spcPct val="95000"/>
              </a:lnSpc>
              <a:spcAft>
                <a:spcPts val="500"/>
              </a:spcAft>
              <a:buNone/>
            </a:pPr>
            <a:r>
              <a:rPr lang="en-US" sz="1100" dirty="0">
                <a:solidFill>
                  <a:srgbClr val="1E293B"/>
                </a:solidFill>
                <a:latin typeface="Arial" pitchFamily="34" charset="0"/>
                <a:ea typeface="Arial" pitchFamily="34" charset="-122"/>
                <a:cs typeface="Arial" pitchFamily="34" charset="-120"/>
              </a:rPr>
              <a:t>FY25 profit rebound is non-recurring impairments, not a structural fix</a:t>
            </a:r>
            <a:endParaRPr lang="en-US" sz="1100" dirty="0"/>
          </a:p>
        </p:txBody>
      </p:sp>
      <p:sp>
        <p:nvSpPr>
          <p:cNvPr id="11" name="Shape 9"/>
          <p:cNvSpPr/>
          <p:nvPr/>
        </p:nvSpPr>
        <p:spPr>
          <a:xfrm>
            <a:off x="502920" y="2660904"/>
            <a:ext cx="1188720" cy="960120"/>
          </a:xfrm>
          <a:prstGeom prst="rect">
            <a:avLst/>
          </a:prstGeom>
          <a:solidFill>
            <a:srgbClr val="2563EB"/>
          </a:solidFill>
          <a:ln/>
        </p:spPr>
      </p:sp>
      <p:sp>
        <p:nvSpPr>
          <p:cNvPr id="12" name="Text 10"/>
          <p:cNvSpPr/>
          <p:nvPr/>
        </p:nvSpPr>
        <p:spPr>
          <a:xfrm>
            <a:off x="502920" y="2807208"/>
            <a:ext cx="1188720" cy="32918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BYD</a:t>
            </a:r>
            <a:endParaRPr lang="en-US" sz="1500" dirty="0"/>
          </a:p>
        </p:txBody>
      </p:sp>
      <p:sp>
        <p:nvSpPr>
          <p:cNvPr id="13" name="Text 11"/>
          <p:cNvSpPr/>
          <p:nvPr/>
        </p:nvSpPr>
        <p:spPr>
          <a:xfrm>
            <a:off x="502920" y="3172968"/>
            <a:ext cx="1188720" cy="310896"/>
          </a:xfrm>
          <a:prstGeom prst="rect">
            <a:avLst/>
          </a:prstGeom>
          <a:noFill/>
          <a:ln/>
        </p:spPr>
        <p:txBody>
          <a:bodyPr wrap="square" rtlCol="0" anchor="ctr"/>
          <a:lstStyle/>
          <a:p>
            <a:pPr algn="ctr" indent="0" marL="0">
              <a:buNone/>
            </a:pPr>
            <a:r>
              <a:rPr lang="en-US" sz="850" b="1" spc="100" kern="0" dirty="0">
                <a:solidFill>
                  <a:srgbClr val="E2E8F0"/>
                </a:solidFill>
                <a:latin typeface="Arial" pitchFamily="34" charset="0"/>
                <a:ea typeface="Arial" pitchFamily="34" charset="-122"/>
                <a:cs typeface="Arial" pitchFamily="34" charset="-120"/>
              </a:rPr>
              <a:t>STRONGEST</a:t>
            </a:r>
            <a:endParaRPr lang="en-US" sz="850" dirty="0"/>
          </a:p>
        </p:txBody>
      </p:sp>
      <p:sp>
        <p:nvSpPr>
          <p:cNvPr id="14" name="Shape 12"/>
          <p:cNvSpPr/>
          <p:nvPr/>
        </p:nvSpPr>
        <p:spPr>
          <a:xfrm>
            <a:off x="1728216" y="2660904"/>
            <a:ext cx="6912864" cy="960120"/>
          </a:xfrm>
          <a:prstGeom prst="rect">
            <a:avLst/>
          </a:prstGeom>
          <a:solidFill>
            <a:srgbClr val="F8FAFC"/>
          </a:solidFill>
          <a:ln/>
        </p:spPr>
      </p:sp>
      <p:sp>
        <p:nvSpPr>
          <p:cNvPr id="15" name="Text 13"/>
          <p:cNvSpPr/>
          <p:nvPr/>
        </p:nvSpPr>
        <p:spPr>
          <a:xfrm>
            <a:off x="1874520" y="2770632"/>
            <a:ext cx="6629400" cy="777240"/>
          </a:xfrm>
          <a:prstGeom prst="rect">
            <a:avLst/>
          </a:prstGeom>
          <a:noFill/>
          <a:ln/>
        </p:spPr>
        <p:txBody>
          <a:bodyPr wrap="square" rtlCol="0" anchor="ctr"/>
          <a:lstStyle/>
          <a:p>
            <a:pPr marL="152400" indent="-152400">
              <a:lnSpc>
                <a:spcPct val="95000"/>
              </a:lnSpc>
              <a:spcAft>
                <a:spcPts val="500"/>
              </a:spcAft>
              <a:buSzPct val="100000"/>
              <a:buChar char="•"/>
            </a:pPr>
            <a:r>
              <a:rPr lang="en-US" sz="1100" dirty="0">
                <a:solidFill>
                  <a:srgbClr val="1E293B"/>
                </a:solidFill>
                <a:latin typeface="Arial" pitchFamily="34" charset="0"/>
                <a:ea typeface="Arial" pitchFamily="34" charset="-122"/>
                <a:cs typeface="Arial" pitchFamily="34" charset="-120"/>
              </a:rPr>
              <a:t>No ICE legacy (exited 2022); 4th straight year global NEV leader</a:t>
            </a:r>
            <a:endParaRPr lang="en-US" sz="1100" dirty="0"/>
          </a:p>
          <a:p>
            <a:pPr indent="0" marL="0">
              <a:lnSpc>
                <a:spcPct val="95000"/>
              </a:lnSpc>
              <a:spcAft>
                <a:spcPts val="500"/>
              </a:spcAft>
              <a:buNone/>
            </a:pPr>
            <a:r>
              <a:rPr lang="en-US" sz="1100" dirty="0">
                <a:solidFill>
                  <a:srgbClr val="1E293B"/>
                </a:solidFill>
                <a:latin typeface="Arial" pitchFamily="34" charset="0"/>
                <a:ea typeface="Arial" pitchFamily="34" charset="-122"/>
                <a:cs typeface="Arial" pitchFamily="34" charset="-120"/>
              </a:rPr>
              <a:t>&gt;1m exports (+140%), 119 countries; margin 19.4%→17.7%, net-cash → net-debt on factory build-out</a:t>
            </a:r>
            <a:endParaRPr lang="en-US" sz="1100" dirty="0"/>
          </a:p>
        </p:txBody>
      </p:sp>
      <p:sp>
        <p:nvSpPr>
          <p:cNvPr id="16" name="Shape 14"/>
          <p:cNvSpPr/>
          <p:nvPr/>
        </p:nvSpPr>
        <p:spPr>
          <a:xfrm>
            <a:off x="502920" y="3721608"/>
            <a:ext cx="1188720" cy="960120"/>
          </a:xfrm>
          <a:prstGeom prst="rect">
            <a:avLst/>
          </a:prstGeom>
          <a:solidFill>
            <a:srgbClr val="06B6D4"/>
          </a:solidFill>
          <a:ln/>
        </p:spPr>
      </p:sp>
      <p:sp>
        <p:nvSpPr>
          <p:cNvPr id="17" name="Text 15"/>
          <p:cNvSpPr/>
          <p:nvPr/>
        </p:nvSpPr>
        <p:spPr>
          <a:xfrm>
            <a:off x="502920" y="3867912"/>
            <a:ext cx="1188720" cy="32918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Geely</a:t>
            </a:r>
            <a:endParaRPr lang="en-US" sz="1500" dirty="0"/>
          </a:p>
        </p:txBody>
      </p:sp>
      <p:sp>
        <p:nvSpPr>
          <p:cNvPr id="18" name="Text 16"/>
          <p:cNvSpPr/>
          <p:nvPr/>
        </p:nvSpPr>
        <p:spPr>
          <a:xfrm>
            <a:off x="502920" y="4233672"/>
            <a:ext cx="1188720" cy="310896"/>
          </a:xfrm>
          <a:prstGeom prst="rect">
            <a:avLst/>
          </a:prstGeom>
          <a:noFill/>
          <a:ln/>
        </p:spPr>
        <p:txBody>
          <a:bodyPr wrap="square" rtlCol="0" anchor="ctr"/>
          <a:lstStyle/>
          <a:p>
            <a:pPr algn="ctr" indent="0" marL="0">
              <a:buNone/>
            </a:pPr>
            <a:r>
              <a:rPr lang="en-US" sz="850" b="1" spc="100" kern="0" dirty="0">
                <a:solidFill>
                  <a:srgbClr val="E2E8F0"/>
                </a:solidFill>
                <a:latin typeface="Arial" pitchFamily="34" charset="0"/>
                <a:ea typeface="Arial" pitchFamily="34" charset="-122"/>
                <a:cs typeface="Arial" pitchFamily="34" charset="-120"/>
              </a:rPr>
              <a:t>ADAPTIVE, LEVERED</a:t>
            </a:r>
            <a:endParaRPr lang="en-US" sz="850" dirty="0"/>
          </a:p>
        </p:txBody>
      </p:sp>
      <p:sp>
        <p:nvSpPr>
          <p:cNvPr id="19" name="Shape 17"/>
          <p:cNvSpPr/>
          <p:nvPr/>
        </p:nvSpPr>
        <p:spPr>
          <a:xfrm>
            <a:off x="1728216" y="3721608"/>
            <a:ext cx="6912864" cy="960120"/>
          </a:xfrm>
          <a:prstGeom prst="rect">
            <a:avLst/>
          </a:prstGeom>
          <a:solidFill>
            <a:srgbClr val="F8FAFC"/>
          </a:solidFill>
          <a:ln/>
        </p:spPr>
      </p:sp>
      <p:sp>
        <p:nvSpPr>
          <p:cNvPr id="20" name="Text 18"/>
          <p:cNvSpPr/>
          <p:nvPr/>
        </p:nvSpPr>
        <p:spPr>
          <a:xfrm>
            <a:off x="1874520" y="3831336"/>
            <a:ext cx="6629400" cy="777240"/>
          </a:xfrm>
          <a:prstGeom prst="rect">
            <a:avLst/>
          </a:prstGeom>
          <a:noFill/>
          <a:ln/>
        </p:spPr>
        <p:txBody>
          <a:bodyPr wrap="square" rtlCol="0" anchor="ctr"/>
          <a:lstStyle/>
          <a:p>
            <a:pPr marL="152400" indent="-152400">
              <a:lnSpc>
                <a:spcPct val="95000"/>
              </a:lnSpc>
              <a:spcAft>
                <a:spcPts val="500"/>
              </a:spcAft>
              <a:buSzPct val="100000"/>
              <a:buChar char="•"/>
            </a:pPr>
            <a:r>
              <a:rPr lang="en-US" sz="1100" dirty="0">
                <a:solidFill>
                  <a:srgbClr val="1E293B"/>
                </a:solidFill>
                <a:latin typeface="Arial" pitchFamily="34" charset="0"/>
                <a:ea typeface="Arial" pitchFamily="34" charset="-122"/>
                <a:cs typeface="Arial" pitchFamily="34" charset="-120"/>
              </a:rPr>
              <a:t>NEV 51.5% of H1-25 mix; adjusted profit +102%</a:t>
            </a:r>
            <a:endParaRPr lang="en-US" sz="1100" dirty="0"/>
          </a:p>
          <a:p>
            <a:pPr indent="0" marL="0">
              <a:lnSpc>
                <a:spcPct val="95000"/>
              </a:lnSpc>
              <a:spcAft>
                <a:spcPts val="500"/>
              </a:spcAft>
              <a:buNone/>
            </a:pPr>
            <a:r>
              <a:rPr lang="en-US" sz="1100" dirty="0">
                <a:solidFill>
                  <a:srgbClr val="1E293B"/>
                </a:solidFill>
                <a:latin typeface="Arial" pitchFamily="34" charset="0"/>
                <a:ea typeface="Arial" pitchFamily="34" charset="-122"/>
                <a:cs typeface="Arial" pitchFamily="34" charset="-120"/>
              </a:rPr>
              <a:t>Platform dependency on Volvo &amp; Smart; loss-making units create contingent liabilities</a:t>
            </a:r>
            <a:endParaRPr lang="en-US" sz="1100" dirty="0"/>
          </a:p>
        </p:txBody>
      </p:sp>
      <p:sp>
        <p:nvSpPr>
          <p:cNvPr id="21" name="Text 19"/>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SAIC Motor (2026); BYD (2026); Geely Automobile Holdings (2026); Inkpen &amp; Beamish (1997).</a:t>
            </a:r>
            <a:endParaRPr lang="en-US" sz="850" dirty="0"/>
          </a:p>
        </p:txBody>
      </p:sp>
      <p:sp>
        <p:nvSpPr>
          <p:cNvPr id="22" name="Text 20"/>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DISCUSSION · SYNTHESIS</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Across all four dimensions, BYD enters the EV era from the strongest position</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Text 4"/>
          <p:cNvSpPr/>
          <p:nvPr/>
        </p:nvSpPr>
        <p:spPr>
          <a:xfrm>
            <a:off x="2057400" y="1572768"/>
            <a:ext cx="1645920" cy="5029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Governance</a:t>
            </a:r>
            <a:endParaRPr lang="en-US" sz="1100" dirty="0"/>
          </a:p>
          <a:p>
            <a:pPr algn="ctr" indent="0" marL="0">
              <a:buNone/>
            </a:pPr>
            <a:r>
              <a:rPr lang="en-US" sz="1100" b="1" dirty="0">
                <a:solidFill>
                  <a:srgbClr val="0F172A"/>
                </a:solidFill>
                <a:latin typeface="Arial" pitchFamily="34" charset="0"/>
                <a:ea typeface="Arial" pitchFamily="34" charset="-122"/>
                <a:cs typeface="Arial" pitchFamily="34" charset="-120"/>
              </a:rPr>
              <a:t>speed</a:t>
            </a:r>
            <a:endParaRPr lang="en-US" sz="1100" dirty="0"/>
          </a:p>
        </p:txBody>
      </p:sp>
      <p:sp>
        <p:nvSpPr>
          <p:cNvPr id="7" name="Text 5"/>
          <p:cNvSpPr/>
          <p:nvPr/>
        </p:nvSpPr>
        <p:spPr>
          <a:xfrm>
            <a:off x="3703320" y="1572768"/>
            <a:ext cx="1645920" cy="5029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Financing</a:t>
            </a:r>
            <a:endParaRPr lang="en-US" sz="1100" dirty="0"/>
          </a:p>
          <a:p>
            <a:pPr algn="ctr" indent="0" marL="0">
              <a:buNone/>
            </a:pPr>
            <a:r>
              <a:rPr lang="en-US" sz="1100" b="1" dirty="0">
                <a:solidFill>
                  <a:srgbClr val="0F172A"/>
                </a:solidFill>
                <a:latin typeface="Arial" pitchFamily="34" charset="0"/>
                <a:ea typeface="Arial" pitchFamily="34" charset="-122"/>
                <a:cs typeface="Arial" pitchFamily="34" charset="-120"/>
              </a:rPr>
              <a:t>resilience</a:t>
            </a:r>
            <a:endParaRPr lang="en-US" sz="1100" dirty="0"/>
          </a:p>
        </p:txBody>
      </p:sp>
      <p:sp>
        <p:nvSpPr>
          <p:cNvPr id="8" name="Text 6"/>
          <p:cNvSpPr/>
          <p:nvPr/>
        </p:nvSpPr>
        <p:spPr>
          <a:xfrm>
            <a:off x="5349240" y="1572768"/>
            <a:ext cx="1645920" cy="5029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Capability</a:t>
            </a:r>
            <a:endParaRPr lang="en-US" sz="1100" dirty="0"/>
          </a:p>
          <a:p>
            <a:pPr algn="ctr" indent="0" marL="0">
              <a:buNone/>
            </a:pPr>
            <a:r>
              <a:rPr lang="en-US" sz="1100" b="1" dirty="0">
                <a:solidFill>
                  <a:srgbClr val="0F172A"/>
                </a:solidFill>
                <a:latin typeface="Arial" pitchFamily="34" charset="0"/>
                <a:ea typeface="Arial" pitchFamily="34" charset="-122"/>
                <a:cs typeface="Arial" pitchFamily="34" charset="-120"/>
              </a:rPr>
              <a:t>depth</a:t>
            </a:r>
            <a:endParaRPr lang="en-US" sz="1100" dirty="0"/>
          </a:p>
        </p:txBody>
      </p:sp>
      <p:sp>
        <p:nvSpPr>
          <p:cNvPr id="9" name="Text 7"/>
          <p:cNvSpPr/>
          <p:nvPr/>
        </p:nvSpPr>
        <p:spPr>
          <a:xfrm>
            <a:off x="6995160" y="1572768"/>
            <a:ext cx="1645920" cy="5029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Long-term</a:t>
            </a:r>
            <a:endParaRPr lang="en-US" sz="1100" dirty="0"/>
          </a:p>
          <a:p>
            <a:pPr algn="ctr" indent="0" marL="0">
              <a:buNone/>
            </a:pPr>
            <a:r>
              <a:rPr lang="en-US" sz="1100" b="1" dirty="0">
                <a:solidFill>
                  <a:srgbClr val="0F172A"/>
                </a:solidFill>
                <a:latin typeface="Arial" pitchFamily="34" charset="0"/>
                <a:ea typeface="Arial" pitchFamily="34" charset="-122"/>
                <a:cs typeface="Arial" pitchFamily="34" charset="-120"/>
              </a:rPr>
              <a:t>viability</a:t>
            </a:r>
            <a:endParaRPr lang="en-US" sz="1100" dirty="0"/>
          </a:p>
        </p:txBody>
      </p:sp>
      <p:sp>
        <p:nvSpPr>
          <p:cNvPr id="10" name="Shape 8"/>
          <p:cNvSpPr/>
          <p:nvPr/>
        </p:nvSpPr>
        <p:spPr>
          <a:xfrm>
            <a:off x="502920" y="2121408"/>
            <a:ext cx="1417320" cy="548640"/>
          </a:xfrm>
          <a:prstGeom prst="rect">
            <a:avLst/>
          </a:prstGeom>
          <a:solidFill>
            <a:srgbClr val="94A3B8"/>
          </a:solidFill>
          <a:ln/>
        </p:spPr>
      </p:sp>
      <p:sp>
        <p:nvSpPr>
          <p:cNvPr id="11" name="Text 9"/>
          <p:cNvSpPr/>
          <p:nvPr/>
        </p:nvSpPr>
        <p:spPr>
          <a:xfrm>
            <a:off x="502920" y="2121408"/>
            <a:ext cx="14173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SAIC</a:t>
            </a:r>
            <a:endParaRPr lang="en-US" sz="1400" dirty="0"/>
          </a:p>
        </p:txBody>
      </p:sp>
      <p:sp>
        <p:nvSpPr>
          <p:cNvPr id="12" name="Shape 10"/>
          <p:cNvSpPr/>
          <p:nvPr/>
        </p:nvSpPr>
        <p:spPr>
          <a:xfrm>
            <a:off x="2057400" y="2121408"/>
            <a:ext cx="1572768" cy="548640"/>
          </a:xfrm>
          <a:prstGeom prst="rect">
            <a:avLst/>
          </a:prstGeom>
          <a:solidFill>
            <a:srgbClr val="F8FAFC"/>
          </a:solidFill>
          <a:ln/>
        </p:spPr>
      </p:sp>
      <p:sp>
        <p:nvSpPr>
          <p:cNvPr id="13" name="Shape 11"/>
          <p:cNvSpPr/>
          <p:nvPr/>
        </p:nvSpPr>
        <p:spPr>
          <a:xfrm>
            <a:off x="2496312" y="2295144"/>
            <a:ext cx="201168" cy="201168"/>
          </a:xfrm>
          <a:prstGeom prst="ellipse">
            <a:avLst/>
          </a:prstGeom>
          <a:solidFill>
            <a:srgbClr val="CBD5E1"/>
          </a:solidFill>
          <a:ln/>
        </p:spPr>
      </p:sp>
      <p:sp>
        <p:nvSpPr>
          <p:cNvPr id="14" name="Shape 12"/>
          <p:cNvSpPr/>
          <p:nvPr/>
        </p:nvSpPr>
        <p:spPr>
          <a:xfrm>
            <a:off x="2788920" y="2295144"/>
            <a:ext cx="201168" cy="201168"/>
          </a:xfrm>
          <a:prstGeom prst="ellipse">
            <a:avLst/>
          </a:prstGeom>
          <a:solidFill>
            <a:srgbClr val="EAEEF4"/>
          </a:solidFill>
          <a:ln/>
        </p:spPr>
      </p:sp>
      <p:sp>
        <p:nvSpPr>
          <p:cNvPr id="15" name="Shape 13"/>
          <p:cNvSpPr/>
          <p:nvPr/>
        </p:nvSpPr>
        <p:spPr>
          <a:xfrm>
            <a:off x="3081528" y="2295144"/>
            <a:ext cx="201168" cy="201168"/>
          </a:xfrm>
          <a:prstGeom prst="ellipse">
            <a:avLst/>
          </a:prstGeom>
          <a:solidFill>
            <a:srgbClr val="EAEEF4"/>
          </a:solidFill>
          <a:ln/>
        </p:spPr>
      </p:sp>
      <p:sp>
        <p:nvSpPr>
          <p:cNvPr id="16" name="Shape 14"/>
          <p:cNvSpPr/>
          <p:nvPr/>
        </p:nvSpPr>
        <p:spPr>
          <a:xfrm>
            <a:off x="3703320" y="2121408"/>
            <a:ext cx="1572768" cy="548640"/>
          </a:xfrm>
          <a:prstGeom prst="rect">
            <a:avLst/>
          </a:prstGeom>
          <a:solidFill>
            <a:srgbClr val="F8FAFC"/>
          </a:solidFill>
          <a:ln/>
        </p:spPr>
      </p:sp>
      <p:sp>
        <p:nvSpPr>
          <p:cNvPr id="17" name="Shape 15"/>
          <p:cNvSpPr/>
          <p:nvPr/>
        </p:nvSpPr>
        <p:spPr>
          <a:xfrm>
            <a:off x="4142232" y="2295144"/>
            <a:ext cx="201168" cy="201168"/>
          </a:xfrm>
          <a:prstGeom prst="ellipse">
            <a:avLst/>
          </a:prstGeom>
          <a:solidFill>
            <a:srgbClr val="CBD5E1"/>
          </a:solidFill>
          <a:ln/>
        </p:spPr>
      </p:sp>
      <p:sp>
        <p:nvSpPr>
          <p:cNvPr id="18" name="Shape 16"/>
          <p:cNvSpPr/>
          <p:nvPr/>
        </p:nvSpPr>
        <p:spPr>
          <a:xfrm>
            <a:off x="4434840" y="2295144"/>
            <a:ext cx="201168" cy="201168"/>
          </a:xfrm>
          <a:prstGeom prst="ellipse">
            <a:avLst/>
          </a:prstGeom>
          <a:solidFill>
            <a:srgbClr val="EAEEF4"/>
          </a:solidFill>
          <a:ln/>
        </p:spPr>
      </p:sp>
      <p:sp>
        <p:nvSpPr>
          <p:cNvPr id="19" name="Shape 17"/>
          <p:cNvSpPr/>
          <p:nvPr/>
        </p:nvSpPr>
        <p:spPr>
          <a:xfrm>
            <a:off x="4727448" y="2295144"/>
            <a:ext cx="201168" cy="201168"/>
          </a:xfrm>
          <a:prstGeom prst="ellipse">
            <a:avLst/>
          </a:prstGeom>
          <a:solidFill>
            <a:srgbClr val="EAEEF4"/>
          </a:solidFill>
          <a:ln/>
        </p:spPr>
      </p:sp>
      <p:sp>
        <p:nvSpPr>
          <p:cNvPr id="20" name="Shape 18"/>
          <p:cNvSpPr/>
          <p:nvPr/>
        </p:nvSpPr>
        <p:spPr>
          <a:xfrm>
            <a:off x="5349240" y="2121408"/>
            <a:ext cx="1572768" cy="548640"/>
          </a:xfrm>
          <a:prstGeom prst="rect">
            <a:avLst/>
          </a:prstGeom>
          <a:solidFill>
            <a:srgbClr val="F8FAFC"/>
          </a:solidFill>
          <a:ln/>
        </p:spPr>
      </p:sp>
      <p:sp>
        <p:nvSpPr>
          <p:cNvPr id="21" name="Shape 19"/>
          <p:cNvSpPr/>
          <p:nvPr/>
        </p:nvSpPr>
        <p:spPr>
          <a:xfrm>
            <a:off x="5788152" y="2295144"/>
            <a:ext cx="201168" cy="201168"/>
          </a:xfrm>
          <a:prstGeom prst="ellipse">
            <a:avLst/>
          </a:prstGeom>
          <a:solidFill>
            <a:srgbClr val="CBD5E1"/>
          </a:solidFill>
          <a:ln/>
        </p:spPr>
      </p:sp>
      <p:sp>
        <p:nvSpPr>
          <p:cNvPr id="22" name="Shape 20"/>
          <p:cNvSpPr/>
          <p:nvPr/>
        </p:nvSpPr>
        <p:spPr>
          <a:xfrm>
            <a:off x="6080760" y="2295144"/>
            <a:ext cx="201168" cy="201168"/>
          </a:xfrm>
          <a:prstGeom prst="ellipse">
            <a:avLst/>
          </a:prstGeom>
          <a:solidFill>
            <a:srgbClr val="EAEEF4"/>
          </a:solidFill>
          <a:ln/>
        </p:spPr>
      </p:sp>
      <p:sp>
        <p:nvSpPr>
          <p:cNvPr id="23" name="Shape 21"/>
          <p:cNvSpPr/>
          <p:nvPr/>
        </p:nvSpPr>
        <p:spPr>
          <a:xfrm>
            <a:off x="6373368" y="2295144"/>
            <a:ext cx="201168" cy="201168"/>
          </a:xfrm>
          <a:prstGeom prst="ellipse">
            <a:avLst/>
          </a:prstGeom>
          <a:solidFill>
            <a:srgbClr val="EAEEF4"/>
          </a:solidFill>
          <a:ln/>
        </p:spPr>
      </p:sp>
      <p:sp>
        <p:nvSpPr>
          <p:cNvPr id="24" name="Shape 22"/>
          <p:cNvSpPr/>
          <p:nvPr/>
        </p:nvSpPr>
        <p:spPr>
          <a:xfrm>
            <a:off x="6995160" y="2121408"/>
            <a:ext cx="1572768" cy="548640"/>
          </a:xfrm>
          <a:prstGeom prst="rect">
            <a:avLst/>
          </a:prstGeom>
          <a:solidFill>
            <a:srgbClr val="F8FAFC"/>
          </a:solidFill>
          <a:ln/>
        </p:spPr>
      </p:sp>
      <p:sp>
        <p:nvSpPr>
          <p:cNvPr id="25" name="Shape 23"/>
          <p:cNvSpPr/>
          <p:nvPr/>
        </p:nvSpPr>
        <p:spPr>
          <a:xfrm>
            <a:off x="7434072" y="2295144"/>
            <a:ext cx="201168" cy="201168"/>
          </a:xfrm>
          <a:prstGeom prst="ellipse">
            <a:avLst/>
          </a:prstGeom>
          <a:solidFill>
            <a:srgbClr val="CBD5E1"/>
          </a:solidFill>
          <a:ln/>
        </p:spPr>
      </p:sp>
      <p:sp>
        <p:nvSpPr>
          <p:cNvPr id="26" name="Shape 24"/>
          <p:cNvSpPr/>
          <p:nvPr/>
        </p:nvSpPr>
        <p:spPr>
          <a:xfrm>
            <a:off x="7726680" y="2295144"/>
            <a:ext cx="201168" cy="201168"/>
          </a:xfrm>
          <a:prstGeom prst="ellipse">
            <a:avLst/>
          </a:prstGeom>
          <a:solidFill>
            <a:srgbClr val="EAEEF4"/>
          </a:solidFill>
          <a:ln/>
        </p:spPr>
      </p:sp>
      <p:sp>
        <p:nvSpPr>
          <p:cNvPr id="27" name="Shape 25"/>
          <p:cNvSpPr/>
          <p:nvPr/>
        </p:nvSpPr>
        <p:spPr>
          <a:xfrm>
            <a:off x="8019288" y="2295144"/>
            <a:ext cx="201168" cy="201168"/>
          </a:xfrm>
          <a:prstGeom prst="ellipse">
            <a:avLst/>
          </a:prstGeom>
          <a:solidFill>
            <a:srgbClr val="EAEEF4"/>
          </a:solidFill>
          <a:ln/>
        </p:spPr>
      </p:sp>
      <p:sp>
        <p:nvSpPr>
          <p:cNvPr id="28" name="Shape 26"/>
          <p:cNvSpPr/>
          <p:nvPr/>
        </p:nvSpPr>
        <p:spPr>
          <a:xfrm>
            <a:off x="502920" y="2724912"/>
            <a:ext cx="1417320" cy="548640"/>
          </a:xfrm>
          <a:prstGeom prst="rect">
            <a:avLst/>
          </a:prstGeom>
          <a:solidFill>
            <a:srgbClr val="2563EB"/>
          </a:solidFill>
          <a:ln/>
        </p:spPr>
      </p:sp>
      <p:sp>
        <p:nvSpPr>
          <p:cNvPr id="29" name="Text 27"/>
          <p:cNvSpPr/>
          <p:nvPr/>
        </p:nvSpPr>
        <p:spPr>
          <a:xfrm>
            <a:off x="502920" y="2724912"/>
            <a:ext cx="14173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BYD</a:t>
            </a:r>
            <a:endParaRPr lang="en-US" sz="1400" dirty="0"/>
          </a:p>
        </p:txBody>
      </p:sp>
      <p:sp>
        <p:nvSpPr>
          <p:cNvPr id="30" name="Shape 28"/>
          <p:cNvSpPr/>
          <p:nvPr/>
        </p:nvSpPr>
        <p:spPr>
          <a:xfrm>
            <a:off x="2057400" y="2724912"/>
            <a:ext cx="1572768" cy="548640"/>
          </a:xfrm>
          <a:prstGeom prst="rect">
            <a:avLst/>
          </a:prstGeom>
          <a:solidFill>
            <a:srgbClr val="F8FAFC"/>
          </a:solidFill>
          <a:ln/>
        </p:spPr>
      </p:sp>
      <p:sp>
        <p:nvSpPr>
          <p:cNvPr id="31" name="Shape 29"/>
          <p:cNvSpPr/>
          <p:nvPr/>
        </p:nvSpPr>
        <p:spPr>
          <a:xfrm>
            <a:off x="2496312" y="2898648"/>
            <a:ext cx="201168" cy="201168"/>
          </a:xfrm>
          <a:prstGeom prst="ellipse">
            <a:avLst/>
          </a:prstGeom>
          <a:solidFill>
            <a:srgbClr val="2563EB"/>
          </a:solidFill>
          <a:ln/>
        </p:spPr>
      </p:sp>
      <p:sp>
        <p:nvSpPr>
          <p:cNvPr id="32" name="Shape 30"/>
          <p:cNvSpPr/>
          <p:nvPr/>
        </p:nvSpPr>
        <p:spPr>
          <a:xfrm>
            <a:off x="2788920" y="2898648"/>
            <a:ext cx="201168" cy="201168"/>
          </a:xfrm>
          <a:prstGeom prst="ellipse">
            <a:avLst/>
          </a:prstGeom>
          <a:solidFill>
            <a:srgbClr val="2563EB"/>
          </a:solidFill>
          <a:ln/>
        </p:spPr>
      </p:sp>
      <p:sp>
        <p:nvSpPr>
          <p:cNvPr id="33" name="Shape 31"/>
          <p:cNvSpPr/>
          <p:nvPr/>
        </p:nvSpPr>
        <p:spPr>
          <a:xfrm>
            <a:off x="3081528" y="2898648"/>
            <a:ext cx="201168" cy="201168"/>
          </a:xfrm>
          <a:prstGeom prst="ellipse">
            <a:avLst/>
          </a:prstGeom>
          <a:solidFill>
            <a:srgbClr val="2563EB"/>
          </a:solidFill>
          <a:ln/>
        </p:spPr>
      </p:sp>
      <p:sp>
        <p:nvSpPr>
          <p:cNvPr id="34" name="Shape 32"/>
          <p:cNvSpPr/>
          <p:nvPr/>
        </p:nvSpPr>
        <p:spPr>
          <a:xfrm>
            <a:off x="3703320" y="2724912"/>
            <a:ext cx="1572768" cy="548640"/>
          </a:xfrm>
          <a:prstGeom prst="rect">
            <a:avLst/>
          </a:prstGeom>
          <a:solidFill>
            <a:srgbClr val="F8FAFC"/>
          </a:solidFill>
          <a:ln/>
        </p:spPr>
      </p:sp>
      <p:sp>
        <p:nvSpPr>
          <p:cNvPr id="35" name="Shape 33"/>
          <p:cNvSpPr/>
          <p:nvPr/>
        </p:nvSpPr>
        <p:spPr>
          <a:xfrm>
            <a:off x="4142232" y="2898648"/>
            <a:ext cx="201168" cy="201168"/>
          </a:xfrm>
          <a:prstGeom prst="ellipse">
            <a:avLst/>
          </a:prstGeom>
          <a:solidFill>
            <a:srgbClr val="2563EB"/>
          </a:solidFill>
          <a:ln/>
        </p:spPr>
      </p:sp>
      <p:sp>
        <p:nvSpPr>
          <p:cNvPr id="36" name="Shape 34"/>
          <p:cNvSpPr/>
          <p:nvPr/>
        </p:nvSpPr>
        <p:spPr>
          <a:xfrm>
            <a:off x="4434840" y="2898648"/>
            <a:ext cx="201168" cy="201168"/>
          </a:xfrm>
          <a:prstGeom prst="ellipse">
            <a:avLst/>
          </a:prstGeom>
          <a:solidFill>
            <a:srgbClr val="2563EB"/>
          </a:solidFill>
          <a:ln/>
        </p:spPr>
      </p:sp>
      <p:sp>
        <p:nvSpPr>
          <p:cNvPr id="37" name="Shape 35"/>
          <p:cNvSpPr/>
          <p:nvPr/>
        </p:nvSpPr>
        <p:spPr>
          <a:xfrm>
            <a:off x="4727448" y="2898648"/>
            <a:ext cx="201168" cy="201168"/>
          </a:xfrm>
          <a:prstGeom prst="ellipse">
            <a:avLst/>
          </a:prstGeom>
          <a:solidFill>
            <a:srgbClr val="2563EB"/>
          </a:solidFill>
          <a:ln/>
        </p:spPr>
      </p:sp>
      <p:sp>
        <p:nvSpPr>
          <p:cNvPr id="38" name="Shape 36"/>
          <p:cNvSpPr/>
          <p:nvPr/>
        </p:nvSpPr>
        <p:spPr>
          <a:xfrm>
            <a:off x="5349240" y="2724912"/>
            <a:ext cx="1572768" cy="548640"/>
          </a:xfrm>
          <a:prstGeom prst="rect">
            <a:avLst/>
          </a:prstGeom>
          <a:solidFill>
            <a:srgbClr val="F8FAFC"/>
          </a:solidFill>
          <a:ln/>
        </p:spPr>
      </p:sp>
      <p:sp>
        <p:nvSpPr>
          <p:cNvPr id="39" name="Shape 37"/>
          <p:cNvSpPr/>
          <p:nvPr/>
        </p:nvSpPr>
        <p:spPr>
          <a:xfrm>
            <a:off x="5788152" y="2898648"/>
            <a:ext cx="201168" cy="201168"/>
          </a:xfrm>
          <a:prstGeom prst="ellipse">
            <a:avLst/>
          </a:prstGeom>
          <a:solidFill>
            <a:srgbClr val="2563EB"/>
          </a:solidFill>
          <a:ln/>
        </p:spPr>
      </p:sp>
      <p:sp>
        <p:nvSpPr>
          <p:cNvPr id="40" name="Shape 38"/>
          <p:cNvSpPr/>
          <p:nvPr/>
        </p:nvSpPr>
        <p:spPr>
          <a:xfrm>
            <a:off x="6080760" y="2898648"/>
            <a:ext cx="201168" cy="201168"/>
          </a:xfrm>
          <a:prstGeom prst="ellipse">
            <a:avLst/>
          </a:prstGeom>
          <a:solidFill>
            <a:srgbClr val="2563EB"/>
          </a:solidFill>
          <a:ln/>
        </p:spPr>
      </p:sp>
      <p:sp>
        <p:nvSpPr>
          <p:cNvPr id="41" name="Shape 39"/>
          <p:cNvSpPr/>
          <p:nvPr/>
        </p:nvSpPr>
        <p:spPr>
          <a:xfrm>
            <a:off x="6373368" y="2898648"/>
            <a:ext cx="201168" cy="201168"/>
          </a:xfrm>
          <a:prstGeom prst="ellipse">
            <a:avLst/>
          </a:prstGeom>
          <a:solidFill>
            <a:srgbClr val="2563EB"/>
          </a:solidFill>
          <a:ln/>
        </p:spPr>
      </p:sp>
      <p:sp>
        <p:nvSpPr>
          <p:cNvPr id="42" name="Shape 40"/>
          <p:cNvSpPr/>
          <p:nvPr/>
        </p:nvSpPr>
        <p:spPr>
          <a:xfrm>
            <a:off x="6995160" y="2724912"/>
            <a:ext cx="1572768" cy="548640"/>
          </a:xfrm>
          <a:prstGeom prst="rect">
            <a:avLst/>
          </a:prstGeom>
          <a:solidFill>
            <a:srgbClr val="F8FAFC"/>
          </a:solidFill>
          <a:ln/>
        </p:spPr>
      </p:sp>
      <p:sp>
        <p:nvSpPr>
          <p:cNvPr id="43" name="Shape 41"/>
          <p:cNvSpPr/>
          <p:nvPr/>
        </p:nvSpPr>
        <p:spPr>
          <a:xfrm>
            <a:off x="7434072" y="2898648"/>
            <a:ext cx="201168" cy="201168"/>
          </a:xfrm>
          <a:prstGeom prst="ellipse">
            <a:avLst/>
          </a:prstGeom>
          <a:solidFill>
            <a:srgbClr val="2563EB"/>
          </a:solidFill>
          <a:ln/>
        </p:spPr>
      </p:sp>
      <p:sp>
        <p:nvSpPr>
          <p:cNvPr id="44" name="Shape 42"/>
          <p:cNvSpPr/>
          <p:nvPr/>
        </p:nvSpPr>
        <p:spPr>
          <a:xfrm>
            <a:off x="7726680" y="2898648"/>
            <a:ext cx="201168" cy="201168"/>
          </a:xfrm>
          <a:prstGeom prst="ellipse">
            <a:avLst/>
          </a:prstGeom>
          <a:solidFill>
            <a:srgbClr val="2563EB"/>
          </a:solidFill>
          <a:ln/>
        </p:spPr>
      </p:sp>
      <p:sp>
        <p:nvSpPr>
          <p:cNvPr id="45" name="Shape 43"/>
          <p:cNvSpPr/>
          <p:nvPr/>
        </p:nvSpPr>
        <p:spPr>
          <a:xfrm>
            <a:off x="8019288" y="2898648"/>
            <a:ext cx="201168" cy="201168"/>
          </a:xfrm>
          <a:prstGeom prst="ellipse">
            <a:avLst/>
          </a:prstGeom>
          <a:solidFill>
            <a:srgbClr val="2563EB"/>
          </a:solidFill>
          <a:ln/>
        </p:spPr>
      </p:sp>
      <p:sp>
        <p:nvSpPr>
          <p:cNvPr id="46" name="Shape 44"/>
          <p:cNvSpPr/>
          <p:nvPr/>
        </p:nvSpPr>
        <p:spPr>
          <a:xfrm>
            <a:off x="502920" y="3328416"/>
            <a:ext cx="1417320" cy="548640"/>
          </a:xfrm>
          <a:prstGeom prst="rect">
            <a:avLst/>
          </a:prstGeom>
          <a:solidFill>
            <a:srgbClr val="06B6D4"/>
          </a:solidFill>
          <a:ln/>
        </p:spPr>
      </p:sp>
      <p:sp>
        <p:nvSpPr>
          <p:cNvPr id="47" name="Text 45"/>
          <p:cNvSpPr/>
          <p:nvPr/>
        </p:nvSpPr>
        <p:spPr>
          <a:xfrm>
            <a:off x="502920" y="3328416"/>
            <a:ext cx="14173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Geely</a:t>
            </a:r>
            <a:endParaRPr lang="en-US" sz="1400" dirty="0"/>
          </a:p>
        </p:txBody>
      </p:sp>
      <p:sp>
        <p:nvSpPr>
          <p:cNvPr id="48" name="Shape 46"/>
          <p:cNvSpPr/>
          <p:nvPr/>
        </p:nvSpPr>
        <p:spPr>
          <a:xfrm>
            <a:off x="2057400" y="3328416"/>
            <a:ext cx="1572768" cy="548640"/>
          </a:xfrm>
          <a:prstGeom prst="rect">
            <a:avLst/>
          </a:prstGeom>
          <a:solidFill>
            <a:srgbClr val="F8FAFC"/>
          </a:solidFill>
          <a:ln/>
        </p:spPr>
      </p:sp>
      <p:sp>
        <p:nvSpPr>
          <p:cNvPr id="49" name="Shape 47"/>
          <p:cNvSpPr/>
          <p:nvPr/>
        </p:nvSpPr>
        <p:spPr>
          <a:xfrm>
            <a:off x="2496312" y="3502152"/>
            <a:ext cx="201168" cy="201168"/>
          </a:xfrm>
          <a:prstGeom prst="ellipse">
            <a:avLst/>
          </a:prstGeom>
          <a:solidFill>
            <a:srgbClr val="06B6D4"/>
          </a:solidFill>
          <a:ln/>
        </p:spPr>
      </p:sp>
      <p:sp>
        <p:nvSpPr>
          <p:cNvPr id="50" name="Shape 48"/>
          <p:cNvSpPr/>
          <p:nvPr/>
        </p:nvSpPr>
        <p:spPr>
          <a:xfrm>
            <a:off x="2788920" y="3502152"/>
            <a:ext cx="201168" cy="201168"/>
          </a:xfrm>
          <a:prstGeom prst="ellipse">
            <a:avLst/>
          </a:prstGeom>
          <a:solidFill>
            <a:srgbClr val="06B6D4"/>
          </a:solidFill>
          <a:ln/>
        </p:spPr>
      </p:sp>
      <p:sp>
        <p:nvSpPr>
          <p:cNvPr id="51" name="Shape 49"/>
          <p:cNvSpPr/>
          <p:nvPr/>
        </p:nvSpPr>
        <p:spPr>
          <a:xfrm>
            <a:off x="3081528" y="3502152"/>
            <a:ext cx="201168" cy="201168"/>
          </a:xfrm>
          <a:prstGeom prst="ellipse">
            <a:avLst/>
          </a:prstGeom>
          <a:solidFill>
            <a:srgbClr val="06B6D4"/>
          </a:solidFill>
          <a:ln/>
        </p:spPr>
      </p:sp>
      <p:sp>
        <p:nvSpPr>
          <p:cNvPr id="52" name="Shape 50"/>
          <p:cNvSpPr/>
          <p:nvPr/>
        </p:nvSpPr>
        <p:spPr>
          <a:xfrm>
            <a:off x="3703320" y="3328416"/>
            <a:ext cx="1572768" cy="548640"/>
          </a:xfrm>
          <a:prstGeom prst="rect">
            <a:avLst/>
          </a:prstGeom>
          <a:solidFill>
            <a:srgbClr val="F8FAFC"/>
          </a:solidFill>
          <a:ln/>
        </p:spPr>
      </p:sp>
      <p:sp>
        <p:nvSpPr>
          <p:cNvPr id="53" name="Shape 51"/>
          <p:cNvSpPr/>
          <p:nvPr/>
        </p:nvSpPr>
        <p:spPr>
          <a:xfrm>
            <a:off x="4142232" y="3502152"/>
            <a:ext cx="201168" cy="201168"/>
          </a:xfrm>
          <a:prstGeom prst="ellipse">
            <a:avLst/>
          </a:prstGeom>
          <a:solidFill>
            <a:srgbClr val="9CB7E8"/>
          </a:solidFill>
          <a:ln/>
        </p:spPr>
      </p:sp>
      <p:sp>
        <p:nvSpPr>
          <p:cNvPr id="54" name="Shape 52"/>
          <p:cNvSpPr/>
          <p:nvPr/>
        </p:nvSpPr>
        <p:spPr>
          <a:xfrm>
            <a:off x="4434840" y="3502152"/>
            <a:ext cx="201168" cy="201168"/>
          </a:xfrm>
          <a:prstGeom prst="ellipse">
            <a:avLst/>
          </a:prstGeom>
          <a:solidFill>
            <a:srgbClr val="9CB7E8"/>
          </a:solidFill>
          <a:ln/>
        </p:spPr>
      </p:sp>
      <p:sp>
        <p:nvSpPr>
          <p:cNvPr id="55" name="Shape 53"/>
          <p:cNvSpPr/>
          <p:nvPr/>
        </p:nvSpPr>
        <p:spPr>
          <a:xfrm>
            <a:off x="4727448" y="3502152"/>
            <a:ext cx="201168" cy="201168"/>
          </a:xfrm>
          <a:prstGeom prst="ellipse">
            <a:avLst/>
          </a:prstGeom>
          <a:solidFill>
            <a:srgbClr val="EAEEF4"/>
          </a:solidFill>
          <a:ln/>
        </p:spPr>
      </p:sp>
      <p:sp>
        <p:nvSpPr>
          <p:cNvPr id="56" name="Shape 54"/>
          <p:cNvSpPr/>
          <p:nvPr/>
        </p:nvSpPr>
        <p:spPr>
          <a:xfrm>
            <a:off x="5349240" y="3328416"/>
            <a:ext cx="1572768" cy="548640"/>
          </a:xfrm>
          <a:prstGeom prst="rect">
            <a:avLst/>
          </a:prstGeom>
          <a:solidFill>
            <a:srgbClr val="F8FAFC"/>
          </a:solidFill>
          <a:ln/>
        </p:spPr>
      </p:sp>
      <p:sp>
        <p:nvSpPr>
          <p:cNvPr id="57" name="Shape 55"/>
          <p:cNvSpPr/>
          <p:nvPr/>
        </p:nvSpPr>
        <p:spPr>
          <a:xfrm>
            <a:off x="5788152" y="3502152"/>
            <a:ext cx="201168" cy="201168"/>
          </a:xfrm>
          <a:prstGeom prst="ellipse">
            <a:avLst/>
          </a:prstGeom>
          <a:solidFill>
            <a:srgbClr val="9CB7E8"/>
          </a:solidFill>
          <a:ln/>
        </p:spPr>
      </p:sp>
      <p:sp>
        <p:nvSpPr>
          <p:cNvPr id="58" name="Shape 56"/>
          <p:cNvSpPr/>
          <p:nvPr/>
        </p:nvSpPr>
        <p:spPr>
          <a:xfrm>
            <a:off x="6080760" y="3502152"/>
            <a:ext cx="201168" cy="201168"/>
          </a:xfrm>
          <a:prstGeom prst="ellipse">
            <a:avLst/>
          </a:prstGeom>
          <a:solidFill>
            <a:srgbClr val="9CB7E8"/>
          </a:solidFill>
          <a:ln/>
        </p:spPr>
      </p:sp>
      <p:sp>
        <p:nvSpPr>
          <p:cNvPr id="59" name="Shape 57"/>
          <p:cNvSpPr/>
          <p:nvPr/>
        </p:nvSpPr>
        <p:spPr>
          <a:xfrm>
            <a:off x="6373368" y="3502152"/>
            <a:ext cx="201168" cy="201168"/>
          </a:xfrm>
          <a:prstGeom prst="ellipse">
            <a:avLst/>
          </a:prstGeom>
          <a:solidFill>
            <a:srgbClr val="EAEEF4"/>
          </a:solidFill>
          <a:ln/>
        </p:spPr>
      </p:sp>
      <p:sp>
        <p:nvSpPr>
          <p:cNvPr id="60" name="Shape 58"/>
          <p:cNvSpPr/>
          <p:nvPr/>
        </p:nvSpPr>
        <p:spPr>
          <a:xfrm>
            <a:off x="6995160" y="3328416"/>
            <a:ext cx="1572768" cy="548640"/>
          </a:xfrm>
          <a:prstGeom prst="rect">
            <a:avLst/>
          </a:prstGeom>
          <a:solidFill>
            <a:srgbClr val="F8FAFC"/>
          </a:solidFill>
          <a:ln/>
        </p:spPr>
      </p:sp>
      <p:sp>
        <p:nvSpPr>
          <p:cNvPr id="61" name="Shape 59"/>
          <p:cNvSpPr/>
          <p:nvPr/>
        </p:nvSpPr>
        <p:spPr>
          <a:xfrm>
            <a:off x="7434072" y="3502152"/>
            <a:ext cx="201168" cy="201168"/>
          </a:xfrm>
          <a:prstGeom prst="ellipse">
            <a:avLst/>
          </a:prstGeom>
          <a:solidFill>
            <a:srgbClr val="9CB7E8"/>
          </a:solidFill>
          <a:ln/>
        </p:spPr>
      </p:sp>
      <p:sp>
        <p:nvSpPr>
          <p:cNvPr id="62" name="Shape 60"/>
          <p:cNvSpPr/>
          <p:nvPr/>
        </p:nvSpPr>
        <p:spPr>
          <a:xfrm>
            <a:off x="7726680" y="3502152"/>
            <a:ext cx="201168" cy="201168"/>
          </a:xfrm>
          <a:prstGeom prst="ellipse">
            <a:avLst/>
          </a:prstGeom>
          <a:solidFill>
            <a:srgbClr val="9CB7E8"/>
          </a:solidFill>
          <a:ln/>
        </p:spPr>
      </p:sp>
      <p:sp>
        <p:nvSpPr>
          <p:cNvPr id="63" name="Shape 61"/>
          <p:cNvSpPr/>
          <p:nvPr/>
        </p:nvSpPr>
        <p:spPr>
          <a:xfrm>
            <a:off x="8019288" y="3502152"/>
            <a:ext cx="201168" cy="201168"/>
          </a:xfrm>
          <a:prstGeom prst="ellipse">
            <a:avLst/>
          </a:prstGeom>
          <a:solidFill>
            <a:srgbClr val="EAEEF4"/>
          </a:solidFill>
          <a:ln/>
        </p:spPr>
      </p:sp>
      <p:sp>
        <p:nvSpPr>
          <p:cNvPr id="64" name="Text 62"/>
          <p:cNvSpPr/>
          <p:nvPr/>
        </p:nvSpPr>
        <p:spPr>
          <a:xfrm>
            <a:off x="502920" y="3968496"/>
            <a:ext cx="45720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 High      ●● Medium      ● Low</a:t>
            </a:r>
            <a:endParaRPr lang="en-US" sz="1000" dirty="0"/>
          </a:p>
        </p:txBody>
      </p:sp>
      <p:sp>
        <p:nvSpPr>
          <p:cNvPr id="65" name="Shape 63"/>
          <p:cNvSpPr/>
          <p:nvPr/>
        </p:nvSpPr>
        <p:spPr>
          <a:xfrm>
            <a:off x="502920" y="4315968"/>
            <a:ext cx="8138160" cy="457200"/>
          </a:xfrm>
          <a:prstGeom prst="roundRect">
            <a:avLst>
              <a:gd name="adj" fmla="val 12000"/>
            </a:avLst>
          </a:prstGeom>
          <a:solidFill>
            <a:srgbClr val="0F172A"/>
          </a:solidFill>
          <a:ln/>
        </p:spPr>
      </p:sp>
      <p:sp>
        <p:nvSpPr>
          <p:cNvPr id="66" name="Text 64"/>
          <p:cNvSpPr/>
          <p:nvPr/>
        </p:nvSpPr>
        <p:spPr>
          <a:xfrm>
            <a:off x="640080" y="4315968"/>
            <a:ext cx="786384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BYD scores highest on three of four dimensions; Geely matches on governance speed; SAIC trails throughout.</a:t>
            </a:r>
            <a:endParaRPr lang="en-US" sz="1200" dirty="0"/>
          </a:p>
        </p:txBody>
      </p:sp>
      <p:sp>
        <p:nvSpPr>
          <p:cNvPr id="67" name="Text 65"/>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KEY LESSONS</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Three transferable lessons on governance and value creation in high-growth markets</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572768"/>
            <a:ext cx="8138160" cy="960120"/>
          </a:xfrm>
          <a:prstGeom prst="rect">
            <a:avLst/>
          </a:prstGeom>
          <a:solidFill>
            <a:srgbClr val="F8FAFC"/>
          </a:solidFill>
          <a:ln/>
        </p:spPr>
      </p:sp>
      <p:sp>
        <p:nvSpPr>
          <p:cNvPr id="7" name="Shape 5"/>
          <p:cNvSpPr/>
          <p:nvPr/>
        </p:nvSpPr>
        <p:spPr>
          <a:xfrm>
            <a:off x="502920" y="1572768"/>
            <a:ext cx="777240" cy="960120"/>
          </a:xfrm>
          <a:prstGeom prst="rect">
            <a:avLst/>
          </a:prstGeom>
          <a:solidFill>
            <a:srgbClr val="2563EB"/>
          </a:solidFill>
          <a:ln/>
        </p:spPr>
      </p:sp>
      <p:sp>
        <p:nvSpPr>
          <p:cNvPr id="8" name="Text 6"/>
          <p:cNvSpPr/>
          <p:nvPr/>
        </p:nvSpPr>
        <p:spPr>
          <a:xfrm>
            <a:off x="502920" y="1572768"/>
            <a:ext cx="777240" cy="9601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9" name="Text 7"/>
          <p:cNvSpPr/>
          <p:nvPr/>
        </p:nvSpPr>
        <p:spPr>
          <a:xfrm>
            <a:off x="1463040" y="1682496"/>
            <a:ext cx="6995160" cy="365760"/>
          </a:xfrm>
          <a:prstGeom prst="rect">
            <a:avLst/>
          </a:prstGeom>
          <a:noFill/>
          <a:ln/>
        </p:spPr>
        <p:txBody>
          <a:bodyPr wrap="square" rtlCol="0" anchor="t"/>
          <a:lstStyle/>
          <a:p>
            <a:pPr indent="0" marL="0">
              <a:buNone/>
            </a:pPr>
            <a:r>
              <a:rPr lang="en-US" sz="1350" b="1" dirty="0">
                <a:solidFill>
                  <a:srgbClr val="0F172A"/>
                </a:solidFill>
                <a:latin typeface="Arial" pitchFamily="34" charset="0"/>
                <a:ea typeface="Arial" pitchFamily="34" charset="-122"/>
                <a:cs typeface="Arial" pitchFamily="34" charset="-120"/>
              </a:rPr>
              <a:t>Capability mode determines durability across technology cycles</a:t>
            </a:r>
            <a:endParaRPr lang="en-US" sz="1350" dirty="0"/>
          </a:p>
        </p:txBody>
      </p:sp>
      <p:sp>
        <p:nvSpPr>
          <p:cNvPr id="10" name="Text 8"/>
          <p:cNvSpPr/>
          <p:nvPr/>
        </p:nvSpPr>
        <p:spPr>
          <a:xfrm>
            <a:off x="1463040" y="2029968"/>
            <a:ext cx="6995160" cy="457200"/>
          </a:xfrm>
          <a:prstGeom prst="rect">
            <a:avLst/>
          </a:prstGeom>
          <a:noFill/>
          <a:ln/>
        </p:spPr>
        <p:txBody>
          <a:bodyPr wrap="square" rtlCol="0" anchor="t"/>
          <a:lstStyle/>
          <a:p>
            <a:pPr indent="0" marL="0">
              <a:lnSpc>
                <a:spcPct val="95000"/>
              </a:lnSpc>
              <a:buNone/>
            </a:pPr>
            <a:r>
              <a:rPr lang="en-US" sz="1100" dirty="0">
                <a:solidFill>
                  <a:srgbClr val="1E293B"/>
                </a:solidFill>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lang="en-US" sz="1100" dirty="0"/>
          </a:p>
        </p:txBody>
      </p:sp>
      <p:sp>
        <p:nvSpPr>
          <p:cNvPr id="11" name="Shape 9"/>
          <p:cNvSpPr/>
          <p:nvPr/>
        </p:nvSpPr>
        <p:spPr>
          <a:xfrm>
            <a:off x="502920" y="2633472"/>
            <a:ext cx="8138160" cy="960120"/>
          </a:xfrm>
          <a:prstGeom prst="rect">
            <a:avLst/>
          </a:prstGeom>
          <a:solidFill>
            <a:srgbClr val="F8FAFC"/>
          </a:solidFill>
          <a:ln/>
        </p:spPr>
      </p:sp>
      <p:sp>
        <p:nvSpPr>
          <p:cNvPr id="12" name="Shape 10"/>
          <p:cNvSpPr/>
          <p:nvPr/>
        </p:nvSpPr>
        <p:spPr>
          <a:xfrm>
            <a:off x="502920" y="2633472"/>
            <a:ext cx="777240" cy="960120"/>
          </a:xfrm>
          <a:prstGeom prst="rect">
            <a:avLst/>
          </a:prstGeom>
          <a:solidFill>
            <a:srgbClr val="06B6D4"/>
          </a:solidFill>
          <a:ln/>
        </p:spPr>
      </p:sp>
      <p:sp>
        <p:nvSpPr>
          <p:cNvPr id="13" name="Text 11"/>
          <p:cNvSpPr/>
          <p:nvPr/>
        </p:nvSpPr>
        <p:spPr>
          <a:xfrm>
            <a:off x="502920" y="2633472"/>
            <a:ext cx="777240" cy="9601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14" name="Text 12"/>
          <p:cNvSpPr/>
          <p:nvPr/>
        </p:nvSpPr>
        <p:spPr>
          <a:xfrm>
            <a:off x="1463040" y="2743200"/>
            <a:ext cx="6995160" cy="365760"/>
          </a:xfrm>
          <a:prstGeom prst="rect">
            <a:avLst/>
          </a:prstGeom>
          <a:noFill/>
          <a:ln/>
        </p:spPr>
        <p:txBody>
          <a:bodyPr wrap="square" rtlCol="0" anchor="t"/>
          <a:lstStyle/>
          <a:p>
            <a:pPr indent="0" marL="0">
              <a:buNone/>
            </a:pPr>
            <a:r>
              <a:rPr lang="en-US" sz="1350" b="1" dirty="0">
                <a:solidFill>
                  <a:srgbClr val="0F172A"/>
                </a:solidFill>
                <a:latin typeface="Arial" pitchFamily="34" charset="0"/>
                <a:ea typeface="Arial" pitchFamily="34" charset="-122"/>
                <a:cs typeface="Arial" pitchFamily="34" charset="-120"/>
              </a:rPr>
              <a:t>Governance is a first-order determinant of strategic adaptability</a:t>
            </a:r>
            <a:endParaRPr lang="en-US" sz="1350" dirty="0"/>
          </a:p>
        </p:txBody>
      </p:sp>
      <p:sp>
        <p:nvSpPr>
          <p:cNvPr id="15" name="Text 13"/>
          <p:cNvSpPr/>
          <p:nvPr/>
        </p:nvSpPr>
        <p:spPr>
          <a:xfrm>
            <a:off x="1463040" y="3090672"/>
            <a:ext cx="6995160" cy="457200"/>
          </a:xfrm>
          <a:prstGeom prst="rect">
            <a:avLst/>
          </a:prstGeom>
          <a:noFill/>
          <a:ln/>
        </p:spPr>
        <p:txBody>
          <a:bodyPr wrap="square" rtlCol="0" anchor="t"/>
          <a:lstStyle/>
          <a:p>
            <a:pPr indent="0" marL="0">
              <a:lnSpc>
                <a:spcPct val="95000"/>
              </a:lnSpc>
              <a:buNone/>
            </a:pPr>
            <a:r>
              <a:rPr lang="en-US" sz="1100" dirty="0">
                <a:solidFill>
                  <a:srgbClr val="1E293B"/>
                </a:solidFill>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lang="en-US" sz="1100" dirty="0"/>
          </a:p>
        </p:txBody>
      </p:sp>
      <p:sp>
        <p:nvSpPr>
          <p:cNvPr id="16" name="Shape 14"/>
          <p:cNvSpPr/>
          <p:nvPr/>
        </p:nvSpPr>
        <p:spPr>
          <a:xfrm>
            <a:off x="502920" y="3694176"/>
            <a:ext cx="8138160" cy="960120"/>
          </a:xfrm>
          <a:prstGeom prst="rect">
            <a:avLst/>
          </a:prstGeom>
          <a:solidFill>
            <a:srgbClr val="F8FAFC"/>
          </a:solidFill>
          <a:ln/>
        </p:spPr>
      </p:sp>
      <p:sp>
        <p:nvSpPr>
          <p:cNvPr id="17" name="Shape 15"/>
          <p:cNvSpPr/>
          <p:nvPr/>
        </p:nvSpPr>
        <p:spPr>
          <a:xfrm>
            <a:off x="502920" y="3694176"/>
            <a:ext cx="777240" cy="960120"/>
          </a:xfrm>
          <a:prstGeom prst="rect">
            <a:avLst/>
          </a:prstGeom>
          <a:solidFill>
            <a:srgbClr val="DC2626"/>
          </a:solidFill>
          <a:ln/>
        </p:spPr>
      </p:sp>
      <p:sp>
        <p:nvSpPr>
          <p:cNvPr id="18" name="Text 16"/>
          <p:cNvSpPr/>
          <p:nvPr/>
        </p:nvSpPr>
        <p:spPr>
          <a:xfrm>
            <a:off x="502920" y="3694176"/>
            <a:ext cx="777240" cy="9601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19" name="Text 17"/>
          <p:cNvSpPr/>
          <p:nvPr/>
        </p:nvSpPr>
        <p:spPr>
          <a:xfrm>
            <a:off x="1463040" y="3803904"/>
            <a:ext cx="6995160" cy="365760"/>
          </a:xfrm>
          <a:prstGeom prst="rect">
            <a:avLst/>
          </a:prstGeom>
          <a:noFill/>
          <a:ln/>
        </p:spPr>
        <p:txBody>
          <a:bodyPr wrap="square" rtlCol="0" anchor="t"/>
          <a:lstStyle/>
          <a:p>
            <a:pPr indent="0" marL="0">
              <a:buNone/>
            </a:pPr>
            <a:r>
              <a:rPr lang="en-US" sz="1350" b="1" dirty="0">
                <a:solidFill>
                  <a:srgbClr val="0F172A"/>
                </a:solidFill>
                <a:latin typeface="Arial" pitchFamily="34" charset="0"/>
                <a:ea typeface="Arial" pitchFamily="34" charset="-122"/>
                <a:cs typeface="Arial" pitchFamily="34" charset="-120"/>
              </a:rPr>
              <a:t>Capital structure determines resilience when markets contract</a:t>
            </a:r>
            <a:endParaRPr lang="en-US" sz="1350" dirty="0"/>
          </a:p>
        </p:txBody>
      </p:sp>
      <p:sp>
        <p:nvSpPr>
          <p:cNvPr id="20" name="Text 18"/>
          <p:cNvSpPr/>
          <p:nvPr/>
        </p:nvSpPr>
        <p:spPr>
          <a:xfrm>
            <a:off x="1463040" y="4151376"/>
            <a:ext cx="6995160" cy="457200"/>
          </a:xfrm>
          <a:prstGeom prst="rect">
            <a:avLst/>
          </a:prstGeom>
          <a:noFill/>
          <a:ln/>
        </p:spPr>
        <p:txBody>
          <a:bodyPr wrap="square" rtlCol="0" anchor="t"/>
          <a:lstStyle/>
          <a:p>
            <a:pPr indent="0" marL="0">
              <a:lnSpc>
                <a:spcPct val="95000"/>
              </a:lnSpc>
              <a:buNone/>
            </a:pPr>
            <a:r>
              <a:rPr lang="en-US" sz="1100" dirty="0">
                <a:solidFill>
                  <a:srgbClr val="1E293B"/>
                </a:solidFill>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lang="en-US" sz="1100" dirty="0"/>
          </a:p>
        </p:txBody>
      </p:sp>
      <p:sp>
        <p:nvSpPr>
          <p:cNvPr id="21" name="Text 19"/>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VERDICT</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BYD's founder-led vertical integration is most likely to create long-term shareholder value</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45920"/>
            <a:ext cx="1897380" cy="1371600"/>
          </a:xfrm>
          <a:prstGeom prst="roundRect">
            <a:avLst>
              <a:gd name="adj" fmla="val 5333"/>
            </a:avLst>
          </a:prstGeom>
          <a:solidFill>
            <a:srgbClr val="0F172A"/>
          </a:solidFill>
          <a:ln/>
        </p:spPr>
      </p:sp>
      <p:sp>
        <p:nvSpPr>
          <p:cNvPr id="7" name="Shape 5"/>
          <p:cNvSpPr/>
          <p:nvPr/>
        </p:nvSpPr>
        <p:spPr>
          <a:xfrm>
            <a:off x="502920" y="1645920"/>
            <a:ext cx="1897380" cy="54864"/>
          </a:xfrm>
          <a:prstGeom prst="rect">
            <a:avLst/>
          </a:prstGeom>
          <a:solidFill>
            <a:srgbClr val="2563EB"/>
          </a:solidFill>
          <a:ln/>
        </p:spPr>
      </p:sp>
      <p:sp>
        <p:nvSpPr>
          <p:cNvPr id="8" name="Text 6"/>
          <p:cNvSpPr/>
          <p:nvPr/>
        </p:nvSpPr>
        <p:spPr>
          <a:xfrm>
            <a:off x="594360" y="1828800"/>
            <a:ext cx="1714500" cy="548640"/>
          </a:xfrm>
          <a:prstGeom prst="rect">
            <a:avLst/>
          </a:prstGeom>
          <a:noFill/>
          <a:ln/>
        </p:spPr>
        <p:txBody>
          <a:bodyPr wrap="square" rtlCol="0" anchor="ctr"/>
          <a:lstStyle/>
          <a:p>
            <a:pPr algn="ctr" indent="0" marL="0">
              <a:buNone/>
            </a:pPr>
            <a:r>
              <a:rPr lang="en-US" sz="2400" b="1" dirty="0">
                <a:solidFill>
                  <a:srgbClr val="06B6D4"/>
                </a:solidFill>
                <a:latin typeface="Arial" pitchFamily="34" charset="0"/>
                <a:ea typeface="Arial" pitchFamily="34" charset="-122"/>
                <a:cs typeface="Arial" pitchFamily="34" charset="-120"/>
              </a:rPr>
              <a:t>21.7%</a:t>
            </a:r>
            <a:endParaRPr lang="en-US" sz="2400" dirty="0"/>
          </a:p>
        </p:txBody>
      </p:sp>
      <p:sp>
        <p:nvSpPr>
          <p:cNvPr id="9" name="Text 7"/>
          <p:cNvSpPr/>
          <p:nvPr/>
        </p:nvSpPr>
        <p:spPr>
          <a:xfrm>
            <a:off x="612648" y="2395728"/>
            <a:ext cx="1677924" cy="548640"/>
          </a:xfrm>
          <a:prstGeom prst="rect">
            <a:avLst/>
          </a:prstGeom>
          <a:noFill/>
          <a:ln/>
        </p:spPr>
        <p:txBody>
          <a:bodyPr wrap="square" rtlCol="0" anchor="t"/>
          <a:lstStyle/>
          <a:p>
            <a:pPr algn="ctr" indent="0" marL="0">
              <a:lnSpc>
                <a:spcPct val="95000"/>
              </a:lnSpc>
              <a:buNone/>
            </a:pPr>
            <a:r>
              <a:rPr lang="en-US" sz="1050" dirty="0">
                <a:solidFill>
                  <a:srgbClr val="DCE6F7"/>
                </a:solidFill>
                <a:latin typeface="Arial" pitchFamily="34" charset="0"/>
                <a:ea typeface="Arial" pitchFamily="34" charset="-122"/>
                <a:cs typeface="Arial" pitchFamily="34" charset="-120"/>
              </a:rPr>
              <a:t>highest ROE of the three firms (FY2024)</a:t>
            </a:r>
            <a:endParaRPr lang="en-US" sz="1050" dirty="0"/>
          </a:p>
        </p:txBody>
      </p:sp>
      <p:sp>
        <p:nvSpPr>
          <p:cNvPr id="10" name="Shape 8"/>
          <p:cNvSpPr/>
          <p:nvPr/>
        </p:nvSpPr>
        <p:spPr>
          <a:xfrm>
            <a:off x="2583180" y="1645920"/>
            <a:ext cx="1897380" cy="1371600"/>
          </a:xfrm>
          <a:prstGeom prst="roundRect">
            <a:avLst>
              <a:gd name="adj" fmla="val 5333"/>
            </a:avLst>
          </a:prstGeom>
          <a:solidFill>
            <a:srgbClr val="0F172A"/>
          </a:solidFill>
          <a:ln/>
        </p:spPr>
      </p:sp>
      <p:sp>
        <p:nvSpPr>
          <p:cNvPr id="11" name="Shape 9"/>
          <p:cNvSpPr/>
          <p:nvPr/>
        </p:nvSpPr>
        <p:spPr>
          <a:xfrm>
            <a:off x="2583180" y="1645920"/>
            <a:ext cx="1897380" cy="54864"/>
          </a:xfrm>
          <a:prstGeom prst="rect">
            <a:avLst/>
          </a:prstGeom>
          <a:solidFill>
            <a:srgbClr val="2563EB"/>
          </a:solidFill>
          <a:ln/>
        </p:spPr>
      </p:sp>
      <p:sp>
        <p:nvSpPr>
          <p:cNvPr id="12" name="Text 10"/>
          <p:cNvSpPr/>
          <p:nvPr/>
        </p:nvSpPr>
        <p:spPr>
          <a:xfrm>
            <a:off x="2674620" y="1828800"/>
            <a:ext cx="1714500" cy="548640"/>
          </a:xfrm>
          <a:prstGeom prst="rect">
            <a:avLst/>
          </a:prstGeom>
          <a:noFill/>
          <a:ln/>
        </p:spPr>
        <p:txBody>
          <a:bodyPr wrap="square" rtlCol="0" anchor="ctr"/>
          <a:lstStyle/>
          <a:p>
            <a:pPr algn="ctr" indent="0" marL="0">
              <a:buNone/>
            </a:pPr>
            <a:r>
              <a:rPr lang="en-US" sz="2400" b="1" dirty="0">
                <a:solidFill>
                  <a:srgbClr val="06B6D4"/>
                </a:solidFill>
                <a:latin typeface="Arial" pitchFamily="34" charset="0"/>
                <a:ea typeface="Arial" pitchFamily="34" charset="-122"/>
                <a:cs typeface="Arial" pitchFamily="34" charset="-120"/>
              </a:rPr>
              <a:t>4 yrs</a:t>
            </a:r>
            <a:endParaRPr lang="en-US" sz="2400" dirty="0"/>
          </a:p>
        </p:txBody>
      </p:sp>
      <p:sp>
        <p:nvSpPr>
          <p:cNvPr id="13" name="Text 11"/>
          <p:cNvSpPr/>
          <p:nvPr/>
        </p:nvSpPr>
        <p:spPr>
          <a:xfrm>
            <a:off x="2692908" y="2395728"/>
            <a:ext cx="1677924" cy="548640"/>
          </a:xfrm>
          <a:prstGeom prst="rect">
            <a:avLst/>
          </a:prstGeom>
          <a:noFill/>
          <a:ln/>
        </p:spPr>
        <p:txBody>
          <a:bodyPr wrap="square" rtlCol="0" anchor="t"/>
          <a:lstStyle/>
          <a:p>
            <a:pPr algn="ctr" indent="0" marL="0">
              <a:lnSpc>
                <a:spcPct val="95000"/>
              </a:lnSpc>
              <a:buNone/>
            </a:pPr>
            <a:r>
              <a:rPr lang="en-US" sz="1050" dirty="0">
                <a:solidFill>
                  <a:srgbClr val="DCE6F7"/>
                </a:solidFill>
                <a:latin typeface="Arial" pitchFamily="34" charset="0"/>
                <a:ea typeface="Arial" pitchFamily="34" charset="-122"/>
                <a:cs typeface="Arial" pitchFamily="34" charset="-120"/>
              </a:rPr>
              <a:t>consecutive global NEV market leader</a:t>
            </a:r>
            <a:endParaRPr lang="en-US" sz="1050" dirty="0"/>
          </a:p>
        </p:txBody>
      </p:sp>
      <p:sp>
        <p:nvSpPr>
          <p:cNvPr id="14" name="Shape 12"/>
          <p:cNvSpPr/>
          <p:nvPr/>
        </p:nvSpPr>
        <p:spPr>
          <a:xfrm>
            <a:off x="4663440" y="1645920"/>
            <a:ext cx="1897380" cy="1371600"/>
          </a:xfrm>
          <a:prstGeom prst="roundRect">
            <a:avLst>
              <a:gd name="adj" fmla="val 5333"/>
            </a:avLst>
          </a:prstGeom>
          <a:solidFill>
            <a:srgbClr val="0F172A"/>
          </a:solidFill>
          <a:ln/>
        </p:spPr>
      </p:sp>
      <p:sp>
        <p:nvSpPr>
          <p:cNvPr id="15" name="Shape 13"/>
          <p:cNvSpPr/>
          <p:nvPr/>
        </p:nvSpPr>
        <p:spPr>
          <a:xfrm>
            <a:off x="4663440" y="1645920"/>
            <a:ext cx="1897380" cy="54864"/>
          </a:xfrm>
          <a:prstGeom prst="rect">
            <a:avLst/>
          </a:prstGeom>
          <a:solidFill>
            <a:srgbClr val="2563EB"/>
          </a:solidFill>
          <a:ln/>
        </p:spPr>
      </p:sp>
      <p:sp>
        <p:nvSpPr>
          <p:cNvPr id="16" name="Text 14"/>
          <p:cNvSpPr/>
          <p:nvPr/>
        </p:nvSpPr>
        <p:spPr>
          <a:xfrm>
            <a:off x="4754880" y="1828800"/>
            <a:ext cx="1714500" cy="548640"/>
          </a:xfrm>
          <a:prstGeom prst="rect">
            <a:avLst/>
          </a:prstGeom>
          <a:noFill/>
          <a:ln/>
        </p:spPr>
        <p:txBody>
          <a:bodyPr wrap="square" rtlCol="0" anchor="ctr"/>
          <a:lstStyle/>
          <a:p>
            <a:pPr algn="ctr" indent="0" marL="0">
              <a:buNone/>
            </a:pPr>
            <a:r>
              <a:rPr lang="en-US" sz="2400" b="1" dirty="0">
                <a:solidFill>
                  <a:srgbClr val="06B6D4"/>
                </a:solidFill>
                <a:latin typeface="Arial" pitchFamily="34" charset="0"/>
                <a:ea typeface="Arial" pitchFamily="34" charset="-122"/>
                <a:cs typeface="Arial" pitchFamily="34" charset="-120"/>
              </a:rPr>
              <a:t>USD 5.6 bn</a:t>
            </a:r>
            <a:endParaRPr lang="en-US" sz="2400" dirty="0"/>
          </a:p>
        </p:txBody>
      </p:sp>
      <p:sp>
        <p:nvSpPr>
          <p:cNvPr id="17" name="Text 15"/>
          <p:cNvSpPr/>
          <p:nvPr/>
        </p:nvSpPr>
        <p:spPr>
          <a:xfrm>
            <a:off x="4773168" y="2395728"/>
            <a:ext cx="1677924" cy="548640"/>
          </a:xfrm>
          <a:prstGeom prst="rect">
            <a:avLst/>
          </a:prstGeom>
          <a:noFill/>
          <a:ln/>
        </p:spPr>
        <p:txBody>
          <a:bodyPr wrap="square" rtlCol="0" anchor="t"/>
          <a:lstStyle/>
          <a:p>
            <a:pPr algn="ctr" indent="0" marL="0">
              <a:lnSpc>
                <a:spcPct val="95000"/>
              </a:lnSpc>
              <a:buNone/>
            </a:pPr>
            <a:r>
              <a:rPr lang="en-US" sz="1050" dirty="0">
                <a:solidFill>
                  <a:srgbClr val="DCE6F7"/>
                </a:solidFill>
                <a:latin typeface="Arial" pitchFamily="34" charset="0"/>
                <a:ea typeface="Arial" pitchFamily="34" charset="-122"/>
                <a:cs typeface="Arial" pitchFamily="34" charset="-120"/>
              </a:rPr>
              <a:t>2025 raise incl. sovereign wealth funds</a:t>
            </a:r>
            <a:endParaRPr lang="en-US" sz="1050" dirty="0"/>
          </a:p>
        </p:txBody>
      </p:sp>
      <p:sp>
        <p:nvSpPr>
          <p:cNvPr id="18" name="Shape 16"/>
          <p:cNvSpPr/>
          <p:nvPr/>
        </p:nvSpPr>
        <p:spPr>
          <a:xfrm>
            <a:off x="6743700" y="1645920"/>
            <a:ext cx="1897380" cy="1371600"/>
          </a:xfrm>
          <a:prstGeom prst="roundRect">
            <a:avLst>
              <a:gd name="adj" fmla="val 5333"/>
            </a:avLst>
          </a:prstGeom>
          <a:solidFill>
            <a:srgbClr val="0F172A"/>
          </a:solidFill>
          <a:ln/>
        </p:spPr>
      </p:sp>
      <p:sp>
        <p:nvSpPr>
          <p:cNvPr id="19" name="Shape 17"/>
          <p:cNvSpPr/>
          <p:nvPr/>
        </p:nvSpPr>
        <p:spPr>
          <a:xfrm>
            <a:off x="6743700" y="1645920"/>
            <a:ext cx="1897380" cy="54864"/>
          </a:xfrm>
          <a:prstGeom prst="rect">
            <a:avLst/>
          </a:prstGeom>
          <a:solidFill>
            <a:srgbClr val="DC2626"/>
          </a:solidFill>
          <a:ln/>
        </p:spPr>
      </p:sp>
      <p:sp>
        <p:nvSpPr>
          <p:cNvPr id="20" name="Text 18"/>
          <p:cNvSpPr/>
          <p:nvPr/>
        </p:nvSpPr>
        <p:spPr>
          <a:xfrm>
            <a:off x="6835140" y="1828800"/>
            <a:ext cx="1714500" cy="548640"/>
          </a:xfrm>
          <a:prstGeom prst="rect">
            <a:avLst/>
          </a:prstGeom>
          <a:noFill/>
          <a:ln/>
        </p:spPr>
        <p:txBody>
          <a:bodyPr wrap="square" rtlCol="0" anchor="ctr"/>
          <a:lstStyle/>
          <a:p>
            <a:pPr algn="ctr" indent="0" marL="0">
              <a:buNone/>
            </a:pPr>
            <a:r>
              <a:rPr lang="en-US" sz="2400" b="1" dirty="0">
                <a:solidFill>
                  <a:srgbClr val="06B6D4"/>
                </a:solidFill>
                <a:latin typeface="Arial" pitchFamily="34" charset="0"/>
                <a:ea typeface="Arial" pitchFamily="34" charset="-122"/>
                <a:cs typeface="Arial" pitchFamily="34" charset="-120"/>
              </a:rPr>
              <a:t>Private</a:t>
            </a:r>
            <a:endParaRPr lang="en-US" sz="2400" dirty="0"/>
          </a:p>
        </p:txBody>
      </p:sp>
      <p:sp>
        <p:nvSpPr>
          <p:cNvPr id="21" name="Text 19"/>
          <p:cNvSpPr/>
          <p:nvPr/>
        </p:nvSpPr>
        <p:spPr>
          <a:xfrm>
            <a:off x="6853428" y="2395728"/>
            <a:ext cx="1677924" cy="548640"/>
          </a:xfrm>
          <a:prstGeom prst="rect">
            <a:avLst/>
          </a:prstGeom>
          <a:noFill/>
          <a:ln/>
        </p:spPr>
        <p:txBody>
          <a:bodyPr wrap="square" rtlCol="0" anchor="t"/>
          <a:lstStyle/>
          <a:p>
            <a:pPr algn="ctr" indent="0" marL="0">
              <a:lnSpc>
                <a:spcPct val="95000"/>
              </a:lnSpc>
              <a:buNone/>
            </a:pPr>
            <a:r>
              <a:rPr lang="en-US" sz="1050" dirty="0">
                <a:solidFill>
                  <a:srgbClr val="DCE6F7"/>
                </a:solidFill>
                <a:latin typeface="Arial" pitchFamily="34" charset="0"/>
                <a:ea typeface="Arial" pitchFamily="34" charset="-122"/>
                <a:cs typeface="Arial" pitchFamily="34" charset="-120"/>
              </a:rPr>
              <a:t>governance structurally outperforms state (Allen et al., 2024)</a:t>
            </a:r>
            <a:endParaRPr lang="en-US" sz="1050" dirty="0"/>
          </a:p>
        </p:txBody>
      </p:sp>
      <p:sp>
        <p:nvSpPr>
          <p:cNvPr id="22" name="Shape 20"/>
          <p:cNvSpPr/>
          <p:nvPr/>
        </p:nvSpPr>
        <p:spPr>
          <a:xfrm>
            <a:off x="502920" y="3246120"/>
            <a:ext cx="8138160" cy="1417320"/>
          </a:xfrm>
          <a:prstGeom prst="roundRect">
            <a:avLst>
              <a:gd name="adj" fmla="val 3871"/>
            </a:avLst>
          </a:prstGeom>
          <a:solidFill>
            <a:srgbClr val="EEF2FB"/>
          </a:solidFill>
          <a:ln/>
        </p:spPr>
      </p:sp>
      <p:sp>
        <p:nvSpPr>
          <p:cNvPr id="23" name="Shape 21"/>
          <p:cNvSpPr/>
          <p:nvPr/>
        </p:nvSpPr>
        <p:spPr>
          <a:xfrm>
            <a:off x="502920" y="3246120"/>
            <a:ext cx="82296" cy="1417320"/>
          </a:xfrm>
          <a:prstGeom prst="rect">
            <a:avLst/>
          </a:prstGeom>
          <a:solidFill>
            <a:srgbClr val="2563EB"/>
          </a:solidFill>
          <a:ln/>
        </p:spPr>
      </p:sp>
      <p:sp>
        <p:nvSpPr>
          <p:cNvPr id="24" name="Text 22"/>
          <p:cNvSpPr/>
          <p:nvPr/>
        </p:nvSpPr>
        <p:spPr>
          <a:xfrm>
            <a:off x="731520" y="3383280"/>
            <a:ext cx="7726680" cy="1188720"/>
          </a:xfrm>
          <a:prstGeom prst="rect">
            <a:avLst/>
          </a:prstGeom>
          <a:noFill/>
          <a:ln/>
        </p:spPr>
        <p:txBody>
          <a:bodyPr wrap="square" rtlCol="0" anchor="ctr"/>
          <a:lstStyle/>
          <a:p>
            <a:pPr indent="0" marL="0">
              <a:lnSpc>
                <a:spcPct val="100000"/>
              </a:lnSpc>
              <a:buNone/>
            </a:pPr>
            <a:r>
              <a:rPr lang="en-US" sz="1250" b="1" dirty="0">
                <a:solidFill>
                  <a:srgbClr val="0F172A"/>
                </a:solidFill>
                <a:latin typeface="Arial" pitchFamily="34" charset="0"/>
                <a:ea typeface="Arial" pitchFamily="34" charset="-122"/>
                <a:cs typeface="Arial" pitchFamily="34" charset="-120"/>
              </a:rPr>
              <a:t>Why BYD — and why not simply “vertical integration is best”:  </a:t>
            </a:r>
            <a:pPr indent="0" marL="0">
              <a:lnSpc>
                <a:spcPct val="100000"/>
              </a:lnSpc>
              <a:buNone/>
            </a:pPr>
            <a:r>
              <a:rPr lang="en-US" sz="1250" dirty="0">
                <a:solidFill>
                  <a:srgbClr val="1E293B"/>
                </a:solidFill>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lang="en-US" sz="1250" dirty="0"/>
          </a:p>
        </p:txBody>
      </p:sp>
      <p:sp>
        <p:nvSpPr>
          <p:cNvPr id="25" name="Text 23"/>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BYD (2026); Allen et al. (2024); Table 1. ROE compressed to 13.2% in FY2025 under price-war margin pressure.</a:t>
            </a:r>
            <a:endParaRPr lang="en-US" sz="850" dirty="0"/>
          </a:p>
        </p:txBody>
      </p:sp>
      <p:sp>
        <p:nvSpPr>
          <p:cNvPr id="26" name="Text 24"/>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502920" y="457200"/>
            <a:ext cx="8138160" cy="274320"/>
          </a:xfrm>
          <a:prstGeom prst="rect">
            <a:avLst/>
          </a:prstGeom>
          <a:noFill/>
          <a:ln/>
        </p:spPr>
        <p:txBody>
          <a:bodyPr wrap="square" rtlCol="0" anchor="ctr"/>
          <a:lstStyle/>
          <a:p>
            <a:pPr indent="0" marL="0">
              <a:buNone/>
            </a:pPr>
            <a:r>
              <a:rPr lang="en-US" sz="1200" b="1" spc="300" kern="0" dirty="0">
                <a:solidFill>
                  <a:srgbClr val="06B6D4"/>
                </a:solidFill>
                <a:latin typeface="Arial" pitchFamily="34" charset="0"/>
                <a:ea typeface="Arial" pitchFamily="34" charset="-122"/>
                <a:cs typeface="Arial" pitchFamily="34" charset="-120"/>
              </a:rPr>
              <a:t>CONCLUSION</a:t>
            </a:r>
            <a:endParaRPr lang="en-US" sz="1200" dirty="0"/>
          </a:p>
        </p:txBody>
      </p:sp>
      <p:sp>
        <p:nvSpPr>
          <p:cNvPr id="4" name="Text 2"/>
          <p:cNvSpPr/>
          <p:nvPr/>
        </p:nvSpPr>
        <p:spPr>
          <a:xfrm>
            <a:off x="502920" y="868680"/>
            <a:ext cx="8138160" cy="1097280"/>
          </a:xfrm>
          <a:prstGeom prst="rect">
            <a:avLst/>
          </a:prstGeom>
          <a:noFill/>
          <a:ln/>
        </p:spPr>
        <p:txBody>
          <a:bodyPr wrap="square" rtlCol="0" anchor="ctr"/>
          <a:lstStyle/>
          <a:p>
            <a:pPr indent="0" marL="0">
              <a:lnSpc>
                <a:spcPct val="100000"/>
              </a:lnSpc>
              <a:buNone/>
            </a:pPr>
            <a:r>
              <a:rPr lang="en-US" sz="2400" b="1" dirty="0">
                <a:solidFill>
                  <a:srgbClr val="FFFFFF"/>
                </a:solidFill>
                <a:latin typeface="Arial" pitchFamily="34" charset="0"/>
                <a:ea typeface="Arial" pitchFamily="34" charset="-122"/>
                <a:cs typeface="Arial" pitchFamily="34" charset="-120"/>
              </a:rPr>
              <a:t>Governance is not a variable firms tune after strategy —</a:t>
            </a:r>
            <a:endParaRPr lang="en-US" sz="2400" dirty="0"/>
          </a:p>
          <a:p>
            <a:pPr indent="0" marL="0">
              <a:lnSpc>
                <a:spcPct val="100000"/>
              </a:lnSpc>
              <a:buNone/>
            </a:pPr>
            <a:r>
              <a:rPr lang="en-US" sz="2400" b="1" dirty="0">
                <a:solidFill>
                  <a:srgbClr val="FFFFFF"/>
                </a:solidFill>
                <a:latin typeface="Arial" pitchFamily="34" charset="0"/>
                <a:ea typeface="Arial" pitchFamily="34" charset="-122"/>
                <a:cs typeface="Arial" pitchFamily="34" charset="-120"/>
              </a:rPr>
              <a:t>it is the mechanism through which any strategy is executed</a:t>
            </a:r>
            <a:endParaRPr lang="en-US" sz="2400" dirty="0"/>
          </a:p>
        </p:txBody>
      </p:sp>
      <p:sp>
        <p:nvSpPr>
          <p:cNvPr id="5" name="Shape 3"/>
          <p:cNvSpPr/>
          <p:nvPr/>
        </p:nvSpPr>
        <p:spPr>
          <a:xfrm>
            <a:off x="502920" y="2057400"/>
            <a:ext cx="1828800" cy="27432"/>
          </a:xfrm>
          <a:prstGeom prst="rect">
            <a:avLst/>
          </a:prstGeom>
          <a:solidFill>
            <a:srgbClr val="2563EB"/>
          </a:solidFill>
          <a:ln/>
        </p:spPr>
      </p:sp>
      <p:sp>
        <p:nvSpPr>
          <p:cNvPr id="6" name="Text 4"/>
          <p:cNvSpPr/>
          <p:nvPr/>
        </p:nvSpPr>
        <p:spPr>
          <a:xfrm>
            <a:off x="502920" y="2286000"/>
            <a:ext cx="5212080" cy="2103120"/>
          </a:xfrm>
          <a:prstGeom prst="rect">
            <a:avLst/>
          </a:prstGeom>
          <a:noFill/>
          <a:ln/>
        </p:spPr>
        <p:txBody>
          <a:bodyPr wrap="square" rtlCol="0" anchor="t"/>
          <a:lstStyle/>
          <a:p>
            <a:pPr indent="0" marL="0">
              <a:lnSpc>
                <a:spcPct val="105000"/>
              </a:lnSpc>
              <a:spcAft>
                <a:spcPts val="600"/>
              </a:spcAft>
              <a:buNone/>
            </a:pPr>
            <a:r>
              <a:rPr lang="en-US" sz="1400" dirty="0">
                <a:solidFill>
                  <a:srgbClr val="E2E8F0"/>
                </a:solidFill>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lang="en-US" sz="1400" dirty="0"/>
          </a:p>
          <a:p>
            <a:pPr indent="0" marL="0">
              <a:lnSpc>
                <a:spcPct val="105000"/>
              </a:lnSpc>
              <a:spcAft>
                <a:spcPts val="600"/>
              </a:spcAft>
              <a:buNone/>
            </a:pPr>
            <a:endParaRPr lang="en-US" sz="1400" dirty="0"/>
          </a:p>
          <a:p>
            <a:pPr indent="0" marL="0">
              <a:lnSpc>
                <a:spcPct val="105000"/>
              </a:lnSpc>
              <a:spcAft>
                <a:spcPts val="600"/>
              </a:spcAft>
              <a:buNone/>
            </a:pPr>
            <a:r>
              <a:rPr lang="en-US" sz="1400" dirty="0">
                <a:solidFill>
                  <a:srgbClr val="E2E8F0"/>
                </a:solidFill>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lang="en-US" sz="1400" dirty="0"/>
          </a:p>
        </p:txBody>
      </p:sp>
      <p:sp>
        <p:nvSpPr>
          <p:cNvPr id="7" name="Shape 5"/>
          <p:cNvSpPr/>
          <p:nvPr/>
        </p:nvSpPr>
        <p:spPr>
          <a:xfrm>
            <a:off x="5943600" y="2286000"/>
            <a:ext cx="2697480" cy="2057400"/>
          </a:xfrm>
          <a:prstGeom prst="roundRect">
            <a:avLst>
              <a:gd name="adj" fmla="val 3556"/>
            </a:avLst>
          </a:prstGeom>
          <a:solidFill>
            <a:srgbClr val="16223C"/>
          </a:solidFill>
          <a:ln w="12700">
            <a:solidFill>
              <a:srgbClr val="2563EB"/>
            </a:solidFill>
            <a:prstDash val="solid"/>
          </a:ln>
        </p:spPr>
      </p:sp>
      <p:sp>
        <p:nvSpPr>
          <p:cNvPr id="8" name="Text 6"/>
          <p:cNvSpPr/>
          <p:nvPr/>
        </p:nvSpPr>
        <p:spPr>
          <a:xfrm>
            <a:off x="6126480" y="2468880"/>
            <a:ext cx="2377440" cy="45720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The Chinese auto transition, 2020–2025</a:t>
            </a:r>
            <a:endParaRPr lang="en-US" sz="1200" dirty="0"/>
          </a:p>
        </p:txBody>
      </p:sp>
      <p:sp>
        <p:nvSpPr>
          <p:cNvPr id="9" name="Text 7"/>
          <p:cNvSpPr/>
          <p:nvPr/>
        </p:nvSpPr>
        <p:spPr>
          <a:xfrm>
            <a:off x="6126480" y="2926080"/>
            <a:ext cx="2377440" cy="1325880"/>
          </a:xfrm>
          <a:prstGeom prst="rect">
            <a:avLst/>
          </a:prstGeom>
          <a:noFill/>
          <a:ln/>
        </p:spPr>
        <p:txBody>
          <a:bodyPr wrap="square" rtlCol="0" anchor="t"/>
          <a:lstStyle/>
          <a:p>
            <a:pPr indent="0" marL="0">
              <a:lnSpc>
                <a:spcPct val="105000"/>
              </a:lnSpc>
              <a:buNone/>
            </a:pPr>
            <a:r>
              <a:rPr lang="en-US" sz="1250" dirty="0">
                <a:solidFill>
                  <a:srgbClr val="FFFFFF"/>
                </a:solidFill>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lang="en-US" sz="1250" dirty="0"/>
          </a:p>
        </p:txBody>
      </p:sp>
      <p:sp>
        <p:nvSpPr>
          <p:cNvPr id="10" name="Text 8"/>
          <p:cNvSpPr/>
          <p:nvPr/>
        </p:nvSpPr>
        <p:spPr>
          <a:xfrm>
            <a:off x="502920" y="4617720"/>
            <a:ext cx="8138160" cy="274320"/>
          </a:xfrm>
          <a:prstGeom prst="rect">
            <a:avLst/>
          </a:prstGeom>
          <a:noFill/>
          <a:ln/>
        </p:spPr>
        <p:txBody>
          <a:bodyPr wrap="square" rtlCol="0" anchor="ctr"/>
          <a:lstStyle/>
          <a:p>
            <a:pPr indent="0" marL="0">
              <a:buNone/>
            </a:pPr>
            <a:r>
              <a:rPr lang="en-US" sz="1000" spc="100" kern="0" dirty="0">
                <a:solidFill>
                  <a:srgbClr val="8FA6CC"/>
                </a:solidFill>
                <a:latin typeface="Arial" pitchFamily="34" charset="0"/>
                <a:ea typeface="Arial" pitchFamily="34" charset="-122"/>
                <a:cs typeface="Arial" pitchFamily="34" charset="-120"/>
              </a:rPr>
              <a:t>SAIC  ·  BYD  ·  GEELY   |   Ort · Maus · Stubner</a:t>
            </a:r>
            <a:endParaRPr lang="en-US" sz="1000" dirty="0"/>
          </a:p>
        </p:txBody>
      </p:sp>
      <p:sp>
        <p:nvSpPr>
          <p:cNvPr id="11" name="Text 9"/>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Research ran on Claude Code as a layered agent system, not a single chatbot</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91640"/>
            <a:ext cx="2286000" cy="1371600"/>
          </a:xfrm>
          <a:prstGeom prst="roundRect">
            <a:avLst>
              <a:gd name="adj" fmla="val 5333"/>
            </a:avLst>
          </a:prstGeom>
          <a:solidFill>
            <a:srgbClr val="0F172A"/>
          </a:solidFill>
          <a:ln/>
        </p:spPr>
      </p:sp>
      <p:sp>
        <p:nvSpPr>
          <p:cNvPr id="7" name="Text 5"/>
          <p:cNvSpPr/>
          <p:nvPr/>
        </p:nvSpPr>
        <p:spPr>
          <a:xfrm>
            <a:off x="502920" y="1828800"/>
            <a:ext cx="2286000" cy="3657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Claude Code</a:t>
            </a:r>
            <a:endParaRPr lang="en-US" sz="1500" dirty="0"/>
          </a:p>
        </p:txBody>
      </p:sp>
      <p:sp>
        <p:nvSpPr>
          <p:cNvPr id="8" name="Text 6"/>
          <p:cNvSpPr/>
          <p:nvPr/>
        </p:nvSpPr>
        <p:spPr>
          <a:xfrm>
            <a:off x="502920" y="2240280"/>
            <a:ext cx="2286000" cy="640080"/>
          </a:xfrm>
          <a:prstGeom prst="rect">
            <a:avLst/>
          </a:prstGeom>
          <a:noFill/>
          <a:ln/>
        </p:spPr>
        <p:txBody>
          <a:bodyPr wrap="square" rtlCol="0" anchor="ctr"/>
          <a:lstStyle/>
          <a:p>
            <a:pPr algn="ctr" indent="0" marL="0">
              <a:buNone/>
            </a:pPr>
            <a:r>
              <a:rPr lang="en-US" sz="1100" dirty="0">
                <a:solidFill>
                  <a:srgbClr val="A8C2EE"/>
                </a:solidFill>
                <a:latin typeface="Arial" pitchFamily="34" charset="0"/>
                <a:ea typeface="Arial" pitchFamily="34" charset="-122"/>
                <a:cs typeface="Arial" pitchFamily="34" charset="-120"/>
              </a:rPr>
              <a:t>Sonnet 4.6 — primary</a:t>
            </a:r>
            <a:endParaRPr lang="en-US" sz="1100" dirty="0"/>
          </a:p>
          <a:p>
            <a:pPr algn="ctr" indent="0" marL="0">
              <a:buNone/>
            </a:pPr>
            <a:r>
              <a:rPr lang="en-US" sz="1100" dirty="0">
                <a:solidFill>
                  <a:srgbClr val="A8C2EE"/>
                </a:solidFill>
                <a:latin typeface="Arial" pitchFamily="34" charset="0"/>
                <a:ea typeface="Arial" pitchFamily="34" charset="-122"/>
                <a:cs typeface="Arial" pitchFamily="34" charset="-120"/>
              </a:rPr>
              <a:t>Opus 4 — deep analysis</a:t>
            </a:r>
            <a:endParaRPr lang="en-US" sz="1100" dirty="0"/>
          </a:p>
        </p:txBody>
      </p:sp>
      <p:sp>
        <p:nvSpPr>
          <p:cNvPr id="9" name="Text 7"/>
          <p:cNvSpPr/>
          <p:nvPr/>
        </p:nvSpPr>
        <p:spPr>
          <a:xfrm>
            <a:off x="502920" y="3200400"/>
            <a:ext cx="2286000" cy="274320"/>
          </a:xfrm>
          <a:prstGeom prst="rect">
            <a:avLst/>
          </a:prstGeom>
          <a:noFill/>
          <a:ln/>
        </p:spPr>
        <p:txBody>
          <a:bodyPr wrap="square" rtlCol="0" anchor="ctr"/>
          <a:lstStyle/>
          <a:p>
            <a:pPr algn="ctr" indent="0" marL="0">
              <a:buNone/>
            </a:pPr>
            <a:r>
              <a:rPr lang="en-US" sz="950" i="1" dirty="0">
                <a:solidFill>
                  <a:srgbClr val="64748B"/>
                </a:solidFill>
                <a:latin typeface="Arial" pitchFamily="34" charset="0"/>
                <a:ea typeface="Arial" pitchFamily="34" charset="-122"/>
                <a:cs typeface="Arial" pitchFamily="34" charset="-120"/>
              </a:rPr>
              <a:t>MCP: parallel-search · deepwiki</a:t>
            </a:r>
            <a:endParaRPr lang="en-US" sz="950" dirty="0"/>
          </a:p>
        </p:txBody>
      </p:sp>
      <p:sp>
        <p:nvSpPr>
          <p:cNvPr id="10" name="Shape 8"/>
          <p:cNvSpPr/>
          <p:nvPr/>
        </p:nvSpPr>
        <p:spPr>
          <a:xfrm>
            <a:off x="3200400" y="1938528"/>
            <a:ext cx="320040" cy="10973"/>
          </a:xfrm>
          <a:prstGeom prst="rect">
            <a:avLst/>
          </a:prstGeom>
          <a:solidFill>
            <a:srgbClr val="CBD5E1"/>
          </a:solidFill>
          <a:ln/>
        </p:spPr>
      </p:sp>
      <p:sp>
        <p:nvSpPr>
          <p:cNvPr id="11" name="Shape 9"/>
          <p:cNvSpPr/>
          <p:nvPr/>
        </p:nvSpPr>
        <p:spPr>
          <a:xfrm>
            <a:off x="3520440" y="1627632"/>
            <a:ext cx="5120640" cy="548640"/>
          </a:xfrm>
          <a:prstGeom prst="roundRect">
            <a:avLst>
              <a:gd name="adj" fmla="val 8333"/>
            </a:avLst>
          </a:prstGeom>
          <a:solidFill>
            <a:srgbClr val="F8FAFC"/>
          </a:solidFill>
          <a:ln/>
        </p:spPr>
      </p:sp>
      <p:sp>
        <p:nvSpPr>
          <p:cNvPr id="12" name="Shape 10"/>
          <p:cNvSpPr/>
          <p:nvPr/>
        </p:nvSpPr>
        <p:spPr>
          <a:xfrm>
            <a:off x="3520440" y="1627632"/>
            <a:ext cx="73152" cy="548640"/>
          </a:xfrm>
          <a:prstGeom prst="rect">
            <a:avLst/>
          </a:prstGeom>
          <a:solidFill>
            <a:srgbClr val="2563EB"/>
          </a:solidFill>
          <a:ln/>
        </p:spPr>
      </p:sp>
      <p:sp>
        <p:nvSpPr>
          <p:cNvPr id="13" name="Text 11"/>
          <p:cNvSpPr/>
          <p:nvPr/>
        </p:nvSpPr>
        <p:spPr>
          <a:xfrm>
            <a:off x="3657600" y="1673352"/>
            <a:ext cx="1828800" cy="4572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wiki-ingest</a:t>
            </a:r>
            <a:endParaRPr lang="en-US" sz="1250" dirty="0"/>
          </a:p>
        </p:txBody>
      </p:sp>
      <p:sp>
        <p:nvSpPr>
          <p:cNvPr id="14" name="Text 12"/>
          <p:cNvSpPr/>
          <p:nvPr/>
        </p:nvSpPr>
        <p:spPr>
          <a:xfrm>
            <a:off x="5486400" y="1673352"/>
            <a:ext cx="306324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structured ingest of PDFs &amp; web</a:t>
            </a:r>
            <a:endParaRPr lang="en-US" sz="1050" dirty="0"/>
          </a:p>
        </p:txBody>
      </p:sp>
      <p:sp>
        <p:nvSpPr>
          <p:cNvPr id="15" name="Shape 13"/>
          <p:cNvSpPr/>
          <p:nvPr/>
        </p:nvSpPr>
        <p:spPr>
          <a:xfrm>
            <a:off x="3200400" y="2569464"/>
            <a:ext cx="320040" cy="10973"/>
          </a:xfrm>
          <a:prstGeom prst="rect">
            <a:avLst/>
          </a:prstGeom>
          <a:solidFill>
            <a:srgbClr val="CBD5E1"/>
          </a:solidFill>
          <a:ln/>
        </p:spPr>
      </p:sp>
      <p:sp>
        <p:nvSpPr>
          <p:cNvPr id="16" name="Shape 14"/>
          <p:cNvSpPr/>
          <p:nvPr/>
        </p:nvSpPr>
        <p:spPr>
          <a:xfrm>
            <a:off x="3520440" y="2258568"/>
            <a:ext cx="5120640" cy="548640"/>
          </a:xfrm>
          <a:prstGeom prst="roundRect">
            <a:avLst>
              <a:gd name="adj" fmla="val 8333"/>
            </a:avLst>
          </a:prstGeom>
          <a:solidFill>
            <a:srgbClr val="F8FAFC"/>
          </a:solidFill>
          <a:ln/>
        </p:spPr>
      </p:sp>
      <p:sp>
        <p:nvSpPr>
          <p:cNvPr id="17" name="Shape 15"/>
          <p:cNvSpPr/>
          <p:nvPr/>
        </p:nvSpPr>
        <p:spPr>
          <a:xfrm>
            <a:off x="3520440" y="2258568"/>
            <a:ext cx="73152" cy="548640"/>
          </a:xfrm>
          <a:prstGeom prst="rect">
            <a:avLst/>
          </a:prstGeom>
          <a:solidFill>
            <a:srgbClr val="2563EB"/>
          </a:solidFill>
          <a:ln/>
        </p:spPr>
      </p:sp>
      <p:sp>
        <p:nvSpPr>
          <p:cNvPr id="18" name="Text 16"/>
          <p:cNvSpPr/>
          <p:nvPr/>
        </p:nvSpPr>
        <p:spPr>
          <a:xfrm>
            <a:off x="3657600" y="2304288"/>
            <a:ext cx="1828800" cy="4572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wiki-query</a:t>
            </a:r>
            <a:endParaRPr lang="en-US" sz="1250" dirty="0"/>
          </a:p>
        </p:txBody>
      </p:sp>
      <p:sp>
        <p:nvSpPr>
          <p:cNvPr id="19" name="Text 17"/>
          <p:cNvSpPr/>
          <p:nvPr/>
        </p:nvSpPr>
        <p:spPr>
          <a:xfrm>
            <a:off x="5486400" y="2304288"/>
            <a:ext cx="306324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retrieve from the knowledge base</a:t>
            </a:r>
            <a:endParaRPr lang="en-US" sz="1050" dirty="0"/>
          </a:p>
        </p:txBody>
      </p:sp>
      <p:sp>
        <p:nvSpPr>
          <p:cNvPr id="20" name="Shape 18"/>
          <p:cNvSpPr/>
          <p:nvPr/>
        </p:nvSpPr>
        <p:spPr>
          <a:xfrm>
            <a:off x="3200400" y="3200400"/>
            <a:ext cx="320040" cy="10973"/>
          </a:xfrm>
          <a:prstGeom prst="rect">
            <a:avLst/>
          </a:prstGeom>
          <a:solidFill>
            <a:srgbClr val="CBD5E1"/>
          </a:solidFill>
          <a:ln/>
        </p:spPr>
      </p:sp>
      <p:sp>
        <p:nvSpPr>
          <p:cNvPr id="21" name="Shape 19"/>
          <p:cNvSpPr/>
          <p:nvPr/>
        </p:nvSpPr>
        <p:spPr>
          <a:xfrm>
            <a:off x="3520440" y="2889504"/>
            <a:ext cx="5120640" cy="548640"/>
          </a:xfrm>
          <a:prstGeom prst="roundRect">
            <a:avLst>
              <a:gd name="adj" fmla="val 8333"/>
            </a:avLst>
          </a:prstGeom>
          <a:solidFill>
            <a:srgbClr val="F8FAFC"/>
          </a:solidFill>
          <a:ln/>
        </p:spPr>
      </p:sp>
      <p:sp>
        <p:nvSpPr>
          <p:cNvPr id="22" name="Shape 20"/>
          <p:cNvSpPr/>
          <p:nvPr/>
        </p:nvSpPr>
        <p:spPr>
          <a:xfrm>
            <a:off x="3520440" y="2889504"/>
            <a:ext cx="73152" cy="548640"/>
          </a:xfrm>
          <a:prstGeom prst="rect">
            <a:avLst/>
          </a:prstGeom>
          <a:solidFill>
            <a:srgbClr val="2563EB"/>
          </a:solidFill>
          <a:ln/>
        </p:spPr>
      </p:sp>
      <p:sp>
        <p:nvSpPr>
          <p:cNvPr id="23" name="Text 21"/>
          <p:cNvSpPr/>
          <p:nvPr/>
        </p:nvSpPr>
        <p:spPr>
          <a:xfrm>
            <a:off x="3657600" y="2935224"/>
            <a:ext cx="1828800" cy="4572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wiki-lint</a:t>
            </a:r>
            <a:endParaRPr lang="en-US" sz="1250" dirty="0"/>
          </a:p>
        </p:txBody>
      </p:sp>
      <p:sp>
        <p:nvSpPr>
          <p:cNvPr id="24" name="Text 22"/>
          <p:cNvSpPr/>
          <p:nvPr/>
        </p:nvSpPr>
        <p:spPr>
          <a:xfrm>
            <a:off x="5486400" y="2935224"/>
            <a:ext cx="306324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broken links, contradictions, stale data</a:t>
            </a:r>
            <a:endParaRPr lang="en-US" sz="1050" dirty="0"/>
          </a:p>
        </p:txBody>
      </p:sp>
      <p:sp>
        <p:nvSpPr>
          <p:cNvPr id="25" name="Shape 23"/>
          <p:cNvSpPr/>
          <p:nvPr/>
        </p:nvSpPr>
        <p:spPr>
          <a:xfrm>
            <a:off x="3200400" y="3831336"/>
            <a:ext cx="320040" cy="10973"/>
          </a:xfrm>
          <a:prstGeom prst="rect">
            <a:avLst/>
          </a:prstGeom>
          <a:solidFill>
            <a:srgbClr val="CBD5E1"/>
          </a:solidFill>
          <a:ln/>
        </p:spPr>
      </p:sp>
      <p:sp>
        <p:nvSpPr>
          <p:cNvPr id="26" name="Shape 24"/>
          <p:cNvSpPr/>
          <p:nvPr/>
        </p:nvSpPr>
        <p:spPr>
          <a:xfrm>
            <a:off x="3520440" y="3520440"/>
            <a:ext cx="5120640" cy="548640"/>
          </a:xfrm>
          <a:prstGeom prst="roundRect">
            <a:avLst>
              <a:gd name="adj" fmla="val 8333"/>
            </a:avLst>
          </a:prstGeom>
          <a:solidFill>
            <a:srgbClr val="F8FAFC"/>
          </a:solidFill>
          <a:ln/>
        </p:spPr>
      </p:sp>
      <p:sp>
        <p:nvSpPr>
          <p:cNvPr id="27" name="Shape 25"/>
          <p:cNvSpPr/>
          <p:nvPr/>
        </p:nvSpPr>
        <p:spPr>
          <a:xfrm>
            <a:off x="3520440" y="3520440"/>
            <a:ext cx="73152" cy="548640"/>
          </a:xfrm>
          <a:prstGeom prst="rect">
            <a:avLst/>
          </a:prstGeom>
          <a:solidFill>
            <a:srgbClr val="2563EB"/>
          </a:solidFill>
          <a:ln/>
        </p:spPr>
      </p:sp>
      <p:sp>
        <p:nvSpPr>
          <p:cNvPr id="28" name="Text 26"/>
          <p:cNvSpPr/>
          <p:nvPr/>
        </p:nvSpPr>
        <p:spPr>
          <a:xfrm>
            <a:off x="3657600" y="3566160"/>
            <a:ext cx="1828800" cy="4572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verify-claims</a:t>
            </a:r>
            <a:endParaRPr lang="en-US" sz="1250" dirty="0"/>
          </a:p>
        </p:txBody>
      </p:sp>
      <p:sp>
        <p:nvSpPr>
          <p:cNvPr id="29" name="Text 27"/>
          <p:cNvSpPr/>
          <p:nvPr/>
        </p:nvSpPr>
        <p:spPr>
          <a:xfrm>
            <a:off x="5486400" y="3566160"/>
            <a:ext cx="306324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trace each figure to its primary source</a:t>
            </a:r>
            <a:endParaRPr lang="en-US" sz="1050" dirty="0"/>
          </a:p>
        </p:txBody>
      </p:sp>
      <p:sp>
        <p:nvSpPr>
          <p:cNvPr id="30" name="Shape 28"/>
          <p:cNvSpPr/>
          <p:nvPr/>
        </p:nvSpPr>
        <p:spPr>
          <a:xfrm>
            <a:off x="3200400" y="4462272"/>
            <a:ext cx="320040" cy="10973"/>
          </a:xfrm>
          <a:prstGeom prst="rect">
            <a:avLst/>
          </a:prstGeom>
          <a:solidFill>
            <a:srgbClr val="CBD5E1"/>
          </a:solidFill>
          <a:ln/>
        </p:spPr>
      </p:sp>
      <p:sp>
        <p:nvSpPr>
          <p:cNvPr id="31" name="Shape 29"/>
          <p:cNvSpPr/>
          <p:nvPr/>
        </p:nvSpPr>
        <p:spPr>
          <a:xfrm>
            <a:off x="3520440" y="4151376"/>
            <a:ext cx="5120640" cy="548640"/>
          </a:xfrm>
          <a:prstGeom prst="roundRect">
            <a:avLst>
              <a:gd name="adj" fmla="val 8333"/>
            </a:avLst>
          </a:prstGeom>
          <a:solidFill>
            <a:srgbClr val="F8FAFC"/>
          </a:solidFill>
          <a:ln/>
        </p:spPr>
      </p:sp>
      <p:sp>
        <p:nvSpPr>
          <p:cNvPr id="32" name="Shape 30"/>
          <p:cNvSpPr/>
          <p:nvPr/>
        </p:nvSpPr>
        <p:spPr>
          <a:xfrm>
            <a:off x="3520440" y="4151376"/>
            <a:ext cx="73152" cy="548640"/>
          </a:xfrm>
          <a:prstGeom prst="rect">
            <a:avLst/>
          </a:prstGeom>
          <a:solidFill>
            <a:srgbClr val="2563EB"/>
          </a:solidFill>
          <a:ln/>
        </p:spPr>
      </p:sp>
      <p:sp>
        <p:nvSpPr>
          <p:cNvPr id="33" name="Text 31"/>
          <p:cNvSpPr/>
          <p:nvPr/>
        </p:nvSpPr>
        <p:spPr>
          <a:xfrm>
            <a:off x="3657600" y="4197096"/>
            <a:ext cx="1828800" cy="4572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find-references</a:t>
            </a:r>
            <a:endParaRPr lang="en-US" sz="1250" dirty="0"/>
          </a:p>
        </p:txBody>
      </p:sp>
      <p:sp>
        <p:nvSpPr>
          <p:cNvPr id="34" name="Text 32"/>
          <p:cNvSpPr/>
          <p:nvPr/>
        </p:nvSpPr>
        <p:spPr>
          <a:xfrm>
            <a:off x="5486400" y="4197096"/>
            <a:ext cx="3063240" cy="457200"/>
          </a:xfrm>
          <a:prstGeom prst="rect">
            <a:avLst/>
          </a:prstGeom>
          <a:noFill/>
          <a:ln/>
        </p:spPr>
        <p:txBody>
          <a:bodyPr wrap="square" rtlCol="0" anchor="ctr"/>
          <a:lstStyle/>
          <a:p>
            <a:pPr indent="0" marL="0">
              <a:buNone/>
            </a:pPr>
            <a:r>
              <a:rPr lang="en-US" sz="1050" dirty="0">
                <a:solidFill>
                  <a:srgbClr val="1E293B"/>
                </a:solidFill>
                <a:latin typeface="Arial" pitchFamily="34" charset="0"/>
                <a:ea typeface="Arial" pitchFamily="34" charset="-122"/>
                <a:cs typeface="Arial" pitchFamily="34" charset="-120"/>
              </a:rPr>
              <a:t>surface supporting literature</a:t>
            </a:r>
            <a:endParaRPr lang="en-US" sz="1050" dirty="0"/>
          </a:p>
        </p:txBody>
      </p:sp>
      <p:sp>
        <p:nvSpPr>
          <p:cNvPr id="35" name="Text 33"/>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Shared git repo: 3 case wikis (saic-motor / byd / geely) + shared comparison layer.</a:t>
            </a:r>
            <a:endParaRPr lang="en-US" sz="850" dirty="0"/>
          </a:p>
        </p:txBody>
      </p:sp>
      <p:sp>
        <p:nvSpPr>
          <p:cNvPr id="36" name="Text 34"/>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AI served as research infrastructure and a source-quality enforcer</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Text 4"/>
          <p:cNvSpPr/>
          <p:nvPr/>
        </p:nvSpPr>
        <p:spPr>
          <a:xfrm>
            <a:off x="502920" y="1600200"/>
            <a:ext cx="8138160" cy="3017520"/>
          </a:xfrm>
          <a:prstGeom prst="rect">
            <a:avLst/>
          </a:prstGeom>
          <a:noFill/>
          <a:ln/>
        </p:spPr>
        <p:txBody>
          <a:bodyPr wrap="square" rtlCol="0" anchor="t"/>
          <a:lstStyle/>
          <a:p>
            <a:pPr marL="177800" indent="-177800">
              <a:spcAft>
                <a:spcPts val="1300"/>
              </a:spcAft>
              <a:buSzPct val="100000"/>
              <a:buChar char="•"/>
            </a:pPr>
            <a:r>
              <a:rPr lang="en-US" sz="1300" b="1" dirty="0">
                <a:solidFill>
                  <a:srgbClr val="0F172A"/>
                </a:solidFill>
                <a:latin typeface="Arial" pitchFamily="34" charset="0"/>
                <a:ea typeface="Arial" pitchFamily="34" charset="-122"/>
                <a:cs typeface="Arial" pitchFamily="34" charset="-120"/>
              </a:rPr>
              <a:t>Persistent knowledge base: </a:t>
            </a:r>
            <a:pPr indent="0" marL="0">
              <a:spcAft>
                <a:spcPts val="1300"/>
              </a:spcAft>
              <a:buNone/>
            </a:pPr>
            <a:r>
              <a:rPr lang="en-US" sz="1300" dirty="0">
                <a:solidFill>
                  <a:srgbClr val="1E293B"/>
                </a:solidFill>
                <a:latin typeface="Arial" pitchFamily="34" charset="0"/>
                <a:ea typeface="Arial" pitchFamily="34" charset="-122"/>
                <a:cs typeface="Arial" pitchFamily="34" charset="-120"/>
              </a:rPr>
              <a:t>papers and annual reports ingested once, then queried — targeted retrieval instead of repeated re-reading.</a:t>
            </a:r>
            <a:endParaRPr lang="en-US" sz="1300" dirty="0"/>
          </a:p>
          <a:p>
            <a:pPr indent="0" marL="0">
              <a:spcAft>
                <a:spcPts val="1300"/>
              </a:spcAft>
              <a:buNone/>
            </a:pPr>
            <a:r>
              <a:rPr lang="en-US" sz="1300" b="1" dirty="0">
                <a:solidFill>
                  <a:srgbClr val="0F172A"/>
                </a:solidFill>
                <a:latin typeface="Arial" pitchFamily="34" charset="0"/>
                <a:ea typeface="Arial" pitchFamily="34" charset="-122"/>
                <a:cs typeface="Arial" pitchFamily="34" charset="-120"/>
              </a:rPr>
              <a:t>Source-quality rating: </a:t>
            </a:r>
            <a:pPr indent="0" marL="0">
              <a:spcAft>
                <a:spcPts val="1300"/>
              </a:spcAft>
              <a:buNone/>
            </a:pPr>
            <a:r>
              <a:rPr lang="en-US" sz="1300" dirty="0">
                <a:solidFill>
                  <a:srgbClr val="1E293B"/>
                </a:solidFill>
                <a:latin typeface="Arial" pitchFamily="34" charset="0"/>
                <a:ea typeface="Arial" pitchFamily="34" charset="-122"/>
                <a:cs typeface="Arial" pitchFamily="34" charset="-120"/>
              </a:rPr>
              <a:t>every source scored on journal quality (Q1 ABS A* → Q5 web) × relevance (R1 named case → R4 background), checked each session.</a:t>
            </a:r>
            <a:endParaRPr lang="en-US" sz="1300" dirty="0"/>
          </a:p>
          <a:p>
            <a:pPr indent="0" marL="0">
              <a:spcAft>
                <a:spcPts val="1300"/>
              </a:spcAft>
              <a:buNone/>
            </a:pPr>
            <a:r>
              <a:rPr lang="en-US" sz="1300" b="1" dirty="0">
                <a:solidFill>
                  <a:srgbClr val="0F172A"/>
                </a:solidFill>
                <a:latin typeface="Arial" pitchFamily="34" charset="0"/>
                <a:ea typeface="Arial" pitchFamily="34" charset="-122"/>
                <a:cs typeface="Arial" pitchFamily="34" charset="-120"/>
              </a:rPr>
              <a:t>Per-case writing guide: </a:t>
            </a:r>
            <a:pPr indent="0" marL="0">
              <a:spcAft>
                <a:spcPts val="1300"/>
              </a:spcAft>
              <a:buNone/>
            </a:pPr>
            <a:r>
              <a:rPr lang="en-US" sz="1300" dirty="0">
                <a:solidFill>
                  <a:srgbClr val="1E293B"/>
                </a:solidFill>
                <a:latin typeface="Arial" pitchFamily="34" charset="0"/>
                <a:ea typeface="Arial" pitchFamily="34" charset="-122"/>
                <a:cs typeface="Arial" pitchFamily="34" charset="-120"/>
              </a:rPr>
              <a:t>a verified single source of truth for data points and citations, keeping formatting consistent across members.</a:t>
            </a:r>
            <a:endParaRPr lang="en-US" sz="1300" dirty="0"/>
          </a:p>
          <a:p>
            <a:pPr indent="0" marL="0">
              <a:spcAft>
                <a:spcPts val="1300"/>
              </a:spcAft>
              <a:buNone/>
            </a:pPr>
            <a:r>
              <a:rPr lang="en-US" sz="1300" b="1" dirty="0">
                <a:solidFill>
                  <a:srgbClr val="0F172A"/>
                </a:solidFill>
                <a:latin typeface="Arial" pitchFamily="34" charset="0"/>
                <a:ea typeface="Arial" pitchFamily="34" charset="-122"/>
                <a:cs typeface="Arial" pitchFamily="34" charset="-120"/>
              </a:rPr>
              <a:t>Cross-case comparison: </a:t>
            </a:r>
            <a:pPr indent="0" marL="0">
              <a:spcAft>
                <a:spcPts val="1300"/>
              </a:spcAft>
              <a:buNone/>
            </a:pPr>
            <a:r>
              <a:rPr lang="en-US" sz="1300" dirty="0">
                <a:solidFill>
                  <a:srgbClr val="1E293B"/>
                </a:solidFill>
                <a:latin typeface="Arial" pitchFamily="34" charset="0"/>
                <a:ea typeface="Arial" pitchFamily="34" charset="-122"/>
                <a:cs typeface="Arial" pitchFamily="34" charset="-120"/>
              </a:rPr>
              <a:t>read access to all three wikis enabled like-for-like comparison without manual data sharing.</a:t>
            </a:r>
            <a:endParaRPr lang="en-US" sz="1300" dirty="0"/>
          </a:p>
        </p:txBody>
      </p:sp>
      <p:sp>
        <p:nvSpPr>
          <p:cNvPr id="7" name="Text 5"/>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Workflow rule: git pull before every session, git push after.</a:t>
            </a:r>
            <a:endParaRPr lang="en-US" sz="850" dirty="0"/>
          </a:p>
        </p:txBody>
      </p:sp>
      <p:sp>
        <p:nvSpPr>
          <p:cNvPr id="8" name="Text 6"/>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Most valuable for compressing research time — and it caught three real data errors</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Text 4"/>
          <p:cNvSpPr/>
          <p:nvPr/>
        </p:nvSpPr>
        <p:spPr>
          <a:xfrm>
            <a:off x="502920" y="1572768"/>
            <a:ext cx="4114800" cy="274320"/>
          </a:xfrm>
          <a:prstGeom prst="rect">
            <a:avLst/>
          </a:prstGeom>
          <a:noFill/>
          <a:ln/>
        </p:spPr>
        <p:txBody>
          <a:bodyPr wrap="square" rtlCol="0" anchor="ctr"/>
          <a:lstStyle/>
          <a:p>
            <a:pPr indent="0" marL="0">
              <a:buNone/>
            </a:pPr>
            <a:r>
              <a:rPr lang="en-US" sz="1250" b="1" dirty="0">
                <a:solidFill>
                  <a:srgbClr val="06B6D4"/>
                </a:solidFill>
                <a:latin typeface="Arial" pitchFamily="34" charset="0"/>
                <a:ea typeface="Arial" pitchFamily="34" charset="-122"/>
                <a:cs typeface="Arial" pitchFamily="34" charset="-120"/>
              </a:rPr>
              <a:t>Where it helped most</a:t>
            </a:r>
            <a:endParaRPr lang="en-US" sz="1250" dirty="0"/>
          </a:p>
        </p:txBody>
      </p:sp>
      <p:sp>
        <p:nvSpPr>
          <p:cNvPr id="7" name="Text 5"/>
          <p:cNvSpPr/>
          <p:nvPr/>
        </p:nvSpPr>
        <p:spPr>
          <a:xfrm>
            <a:off x="502920" y="1901952"/>
            <a:ext cx="4114800" cy="2560320"/>
          </a:xfrm>
          <a:prstGeom prst="rect">
            <a:avLst/>
          </a:prstGeom>
          <a:noFill/>
          <a:ln/>
        </p:spPr>
        <p:txBody>
          <a:bodyPr wrap="square" rtlCol="0" anchor="t"/>
          <a:lstStyle/>
          <a:p>
            <a:pPr marL="152400" indent="-152400">
              <a:spcAft>
                <a:spcPts val="1100"/>
              </a:spcAft>
              <a:buSzPct val="100000"/>
              <a:buChar char="•"/>
            </a:pPr>
            <a:r>
              <a:rPr lang="en-US" sz="1200" dirty="0">
                <a:solidFill>
                  <a:srgbClr val="1E293B"/>
                </a:solidFill>
                <a:latin typeface="Arial" pitchFamily="34" charset="0"/>
                <a:ea typeface="Arial" pitchFamily="34" charset="-122"/>
                <a:cs typeface="Arial" pitchFamily="34" charset="-120"/>
              </a:rPr>
              <a:t>Ingested &amp; indexed sources across all three cases → fast targeted retrieval.</a:t>
            </a:r>
            <a:endParaRPr lang="en-US" sz="1200" dirty="0"/>
          </a:p>
          <a:p>
            <a:pPr indent="0" marL="0">
              <a:spcAft>
                <a:spcPts val="1100"/>
              </a:spcAft>
              <a:buNone/>
            </a:pPr>
            <a:r>
              <a:rPr lang="en-US" sz="1200" dirty="0">
                <a:solidFill>
                  <a:srgbClr val="1E293B"/>
                </a:solidFill>
                <a:latin typeface="Arial" pitchFamily="34" charset="0"/>
                <a:ea typeface="Arial" pitchFamily="34" charset="-122"/>
                <a:cs typeface="Arial" pitchFamily="34" charset="-120"/>
              </a:rPr>
              <a:t>Flagged duplicated arguments and APA inconsistencies at section level.</a:t>
            </a:r>
            <a:endParaRPr lang="en-US" sz="1200" dirty="0"/>
          </a:p>
          <a:p>
            <a:pPr indent="0" marL="0">
              <a:spcAft>
                <a:spcPts val="1100"/>
              </a:spcAft>
              <a:buNone/>
            </a:pPr>
            <a:r>
              <a:rPr lang="en-US" sz="1200" dirty="0">
                <a:solidFill>
                  <a:srgbClr val="1E293B"/>
                </a:solidFill>
                <a:latin typeface="Arial" pitchFamily="34" charset="0"/>
                <a:ea typeface="Arial" pitchFamily="34" charset="-122"/>
                <a:cs typeface="Arial" pitchFamily="34" charset="-120"/>
              </a:rPr>
              <a:t>Persistence: a full research base survived a hardware shutdown and was recovered without rebuilding.</a:t>
            </a:r>
            <a:endParaRPr lang="en-US" sz="1200" dirty="0"/>
          </a:p>
        </p:txBody>
      </p:sp>
      <p:sp>
        <p:nvSpPr>
          <p:cNvPr id="8" name="Shape 6"/>
          <p:cNvSpPr/>
          <p:nvPr/>
        </p:nvSpPr>
        <p:spPr>
          <a:xfrm>
            <a:off x="4892040" y="1572768"/>
            <a:ext cx="3749040" cy="3063240"/>
          </a:xfrm>
          <a:prstGeom prst="roundRect">
            <a:avLst>
              <a:gd name="adj" fmla="val 2388"/>
            </a:avLst>
          </a:prstGeom>
          <a:solidFill>
            <a:srgbClr val="F8FAFC"/>
          </a:solidFill>
          <a:ln/>
        </p:spPr>
      </p:sp>
      <p:sp>
        <p:nvSpPr>
          <p:cNvPr id="9" name="Shape 7"/>
          <p:cNvSpPr/>
          <p:nvPr/>
        </p:nvSpPr>
        <p:spPr>
          <a:xfrm>
            <a:off x="4892040" y="1572768"/>
            <a:ext cx="3749040" cy="420624"/>
          </a:xfrm>
          <a:prstGeom prst="rect">
            <a:avLst/>
          </a:prstGeom>
          <a:solidFill>
            <a:srgbClr val="DC2626"/>
          </a:solidFill>
          <a:ln/>
        </p:spPr>
      </p:sp>
      <p:sp>
        <p:nvSpPr>
          <p:cNvPr id="10" name="Text 8"/>
          <p:cNvSpPr/>
          <p:nvPr/>
        </p:nvSpPr>
        <p:spPr>
          <a:xfrm>
            <a:off x="5029200" y="1572768"/>
            <a:ext cx="3474720" cy="42062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3 data errors caught before submission</a:t>
            </a:r>
            <a:endParaRPr lang="en-US" sz="1250" dirty="0"/>
          </a:p>
        </p:txBody>
      </p:sp>
      <p:sp>
        <p:nvSpPr>
          <p:cNvPr id="11" name="Text 9"/>
          <p:cNvSpPr/>
          <p:nvPr/>
        </p:nvSpPr>
        <p:spPr>
          <a:xfrm>
            <a:off x="5074920" y="2148840"/>
            <a:ext cx="3429000" cy="2286000"/>
          </a:xfrm>
          <a:prstGeom prst="rect">
            <a:avLst/>
          </a:prstGeom>
          <a:noFill/>
          <a:ln/>
        </p:spPr>
        <p:txBody>
          <a:bodyPr wrap="square" rtlCol="0" anchor="t"/>
          <a:lstStyle/>
          <a:p>
            <a:pPr indent="0" marL="0">
              <a:spcAft>
                <a:spcPts val="1200"/>
              </a:spcAft>
              <a:buNone/>
            </a:pPr>
            <a:r>
              <a:rPr lang="en-US" sz="1200" dirty="0">
                <a:solidFill>
                  <a:srgbClr val="1E293B"/>
                </a:solidFill>
                <a:latin typeface="Arial" pitchFamily="34" charset="0"/>
                <a:ea typeface="Arial" pitchFamily="34" charset="-122"/>
                <a:cs typeface="Arial" pitchFamily="34" charset="-120"/>
              </a:rPr>
              <a:t>1  Provisional EU tariff → corrected to the final regulatory figure.</a:t>
            </a:r>
            <a:endParaRPr lang="en-US" sz="1200" dirty="0"/>
          </a:p>
          <a:p>
            <a:pPr indent="0" marL="0">
              <a:spcAft>
                <a:spcPts val="1200"/>
              </a:spcAft>
              <a:buNone/>
            </a:pPr>
            <a:r>
              <a:rPr lang="en-US" sz="1200" dirty="0">
                <a:solidFill>
                  <a:srgbClr val="1E293B"/>
                </a:solidFill>
                <a:latin typeface="Arial" pitchFamily="34" charset="0"/>
                <a:ea typeface="Arial" pitchFamily="34" charset="-122"/>
                <a:cs typeface="Arial" pitchFamily="34" charset="-120"/>
              </a:rPr>
              <a:t>2  Net profit inflated by a currency-unit ambiguity in a secondary source.</a:t>
            </a:r>
            <a:endParaRPr lang="en-US" sz="1200" dirty="0"/>
          </a:p>
          <a:p>
            <a:pPr indent="0" marL="0">
              <a:spcAft>
                <a:spcPts val="1200"/>
              </a:spcAft>
              <a:buNone/>
            </a:pPr>
            <a:r>
              <a:rPr lang="en-US" sz="1200" dirty="0">
                <a:solidFill>
                  <a:srgbClr val="1E293B"/>
                </a:solidFill>
                <a:latin typeface="Arial" pitchFamily="34" charset="0"/>
                <a:ea typeface="Arial" pitchFamily="34" charset="-122"/>
                <a:cs typeface="Arial" pitchFamily="34" charset="-120"/>
              </a:rPr>
              <a:t>3  EPS based on a wrong share count.</a:t>
            </a:r>
            <a:endParaRPr lang="en-US" sz="1200" dirty="0"/>
          </a:p>
          <a:p>
            <a:pPr indent="0" marL="0">
              <a:spcAft>
                <a:spcPts val="1200"/>
              </a:spcAft>
              <a:buNone/>
            </a:pPr>
            <a:r>
              <a:rPr lang="en-US" sz="1200" i="1" dirty="0">
                <a:solidFill>
                  <a:srgbClr val="64748B"/>
                </a:solidFill>
                <a:latin typeface="Arial" pitchFamily="34" charset="0"/>
                <a:ea typeface="Arial" pitchFamily="34" charset="-122"/>
                <a:cs typeface="Arial" pitchFamily="34" charset="-120"/>
              </a:rPr>
              <a:t>All traced back to the audited (E&amp;Y / PwC) annual reports.</a:t>
            </a:r>
            <a:endParaRPr lang="en-US" sz="1200" dirty="0"/>
          </a:p>
        </p:txBody>
      </p:sp>
      <p:sp>
        <p:nvSpPr>
          <p:cNvPr id="12" name="Text 10"/>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Real limits: paywalls, non-machine-readable PDFs, context windows, and overclaims</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45920"/>
            <a:ext cx="3886200" cy="1188720"/>
          </a:xfrm>
          <a:prstGeom prst="rect">
            <a:avLst/>
          </a:prstGeom>
          <a:solidFill>
            <a:srgbClr val="F8FAFC"/>
          </a:solidFill>
          <a:ln/>
        </p:spPr>
      </p:sp>
      <p:sp>
        <p:nvSpPr>
          <p:cNvPr id="7" name="Shape 5"/>
          <p:cNvSpPr/>
          <p:nvPr/>
        </p:nvSpPr>
        <p:spPr>
          <a:xfrm>
            <a:off x="502920" y="1645920"/>
            <a:ext cx="3886200" cy="54864"/>
          </a:xfrm>
          <a:prstGeom prst="rect">
            <a:avLst/>
          </a:prstGeom>
          <a:solidFill>
            <a:srgbClr val="DC2626"/>
          </a:solidFill>
          <a:ln/>
        </p:spPr>
      </p:sp>
      <p:sp>
        <p:nvSpPr>
          <p:cNvPr id="8" name="Text 6"/>
          <p:cNvSpPr/>
          <p:nvPr/>
        </p:nvSpPr>
        <p:spPr>
          <a:xfrm>
            <a:off x="685800" y="1810512"/>
            <a:ext cx="3520440" cy="32004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Paywalled journals</a:t>
            </a:r>
            <a:endParaRPr lang="en-US" sz="1350" dirty="0"/>
          </a:p>
        </p:txBody>
      </p:sp>
      <p:sp>
        <p:nvSpPr>
          <p:cNvPr id="9" name="Text 7"/>
          <p:cNvSpPr/>
          <p:nvPr/>
        </p:nvSpPr>
        <p:spPr>
          <a:xfrm>
            <a:off x="685800" y="2176272"/>
            <a:ext cx="3520440" cy="594360"/>
          </a:xfrm>
          <a:prstGeom prst="rect">
            <a:avLst/>
          </a:prstGeom>
          <a:noFill/>
          <a:ln/>
        </p:spPr>
        <p:txBody>
          <a:bodyPr wrap="square" rtlCol="0" anchor="t"/>
          <a:lstStyle/>
          <a:p>
            <a:pPr indent="0" marL="0">
              <a:lnSpc>
                <a:spcPct val="95000"/>
              </a:lnSpc>
              <a:buNone/>
            </a:pPr>
            <a:r>
              <a:rPr lang="en-US" sz="1150" dirty="0">
                <a:solidFill>
                  <a:srgbClr val="1E293B"/>
                </a:solidFill>
                <a:latin typeface="Arial" pitchFamily="34" charset="0"/>
                <a:ea typeface="Arial" pitchFamily="34" charset="-122"/>
                <a:cs typeface="Arial" pitchFamily="34" charset="-120"/>
              </a:rPr>
              <a:t>No access to paywalled articles — some literature had to be sourced and read manually.</a:t>
            </a:r>
            <a:endParaRPr lang="en-US" sz="1150" dirty="0"/>
          </a:p>
        </p:txBody>
      </p:sp>
      <p:sp>
        <p:nvSpPr>
          <p:cNvPr id="10" name="Shape 8"/>
          <p:cNvSpPr/>
          <p:nvPr/>
        </p:nvSpPr>
        <p:spPr>
          <a:xfrm>
            <a:off x="4754880" y="1645920"/>
            <a:ext cx="3886200" cy="1188720"/>
          </a:xfrm>
          <a:prstGeom prst="rect">
            <a:avLst/>
          </a:prstGeom>
          <a:solidFill>
            <a:srgbClr val="F8FAFC"/>
          </a:solidFill>
          <a:ln/>
        </p:spPr>
      </p:sp>
      <p:sp>
        <p:nvSpPr>
          <p:cNvPr id="11" name="Shape 9"/>
          <p:cNvSpPr/>
          <p:nvPr/>
        </p:nvSpPr>
        <p:spPr>
          <a:xfrm>
            <a:off x="4754880" y="1645920"/>
            <a:ext cx="3886200" cy="54864"/>
          </a:xfrm>
          <a:prstGeom prst="rect">
            <a:avLst/>
          </a:prstGeom>
          <a:solidFill>
            <a:srgbClr val="DC2626"/>
          </a:solidFill>
          <a:ln/>
        </p:spPr>
      </p:sp>
      <p:sp>
        <p:nvSpPr>
          <p:cNvPr id="12" name="Text 10"/>
          <p:cNvSpPr/>
          <p:nvPr/>
        </p:nvSpPr>
        <p:spPr>
          <a:xfrm>
            <a:off x="4937760" y="1810512"/>
            <a:ext cx="3520440" cy="32004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Unreadable PDFs</a:t>
            </a:r>
            <a:endParaRPr lang="en-US" sz="1350" dirty="0"/>
          </a:p>
        </p:txBody>
      </p:sp>
      <p:sp>
        <p:nvSpPr>
          <p:cNvPr id="13" name="Text 11"/>
          <p:cNvSpPr/>
          <p:nvPr/>
        </p:nvSpPr>
        <p:spPr>
          <a:xfrm>
            <a:off x="4937760" y="2176272"/>
            <a:ext cx="3520440" cy="594360"/>
          </a:xfrm>
          <a:prstGeom prst="rect">
            <a:avLst/>
          </a:prstGeom>
          <a:noFill/>
          <a:ln/>
        </p:spPr>
        <p:txBody>
          <a:bodyPr wrap="square" rtlCol="0" anchor="t"/>
          <a:lstStyle/>
          <a:p>
            <a:pPr indent="0" marL="0">
              <a:lnSpc>
                <a:spcPct val="95000"/>
              </a:lnSpc>
              <a:buNone/>
            </a:pPr>
            <a:r>
              <a:rPr lang="en-US" sz="1150" dirty="0">
                <a:solidFill>
                  <a:srgbClr val="1E293B"/>
                </a:solidFill>
                <a:latin typeface="Arial" pitchFamily="34" charset="0"/>
                <a:ea typeface="Arial" pitchFamily="34" charset="-122"/>
                <a:cs typeface="Arial" pitchFamily="34" charset="-120"/>
              </a:rPr>
              <a:t>Geely's annual-report PDFs were not machine-readable; the Geely case leaned more on web inputs.</a:t>
            </a:r>
            <a:endParaRPr lang="en-US" sz="1150" dirty="0"/>
          </a:p>
        </p:txBody>
      </p:sp>
      <p:sp>
        <p:nvSpPr>
          <p:cNvPr id="14" name="Shape 12"/>
          <p:cNvSpPr/>
          <p:nvPr/>
        </p:nvSpPr>
        <p:spPr>
          <a:xfrm>
            <a:off x="502920" y="3017520"/>
            <a:ext cx="3886200" cy="1188720"/>
          </a:xfrm>
          <a:prstGeom prst="rect">
            <a:avLst/>
          </a:prstGeom>
          <a:solidFill>
            <a:srgbClr val="F8FAFC"/>
          </a:solidFill>
          <a:ln/>
        </p:spPr>
      </p:sp>
      <p:sp>
        <p:nvSpPr>
          <p:cNvPr id="15" name="Shape 13"/>
          <p:cNvSpPr/>
          <p:nvPr/>
        </p:nvSpPr>
        <p:spPr>
          <a:xfrm>
            <a:off x="502920" y="3017520"/>
            <a:ext cx="3886200" cy="54864"/>
          </a:xfrm>
          <a:prstGeom prst="rect">
            <a:avLst/>
          </a:prstGeom>
          <a:solidFill>
            <a:srgbClr val="DC2626"/>
          </a:solidFill>
          <a:ln/>
        </p:spPr>
      </p:sp>
      <p:sp>
        <p:nvSpPr>
          <p:cNvPr id="16" name="Text 14"/>
          <p:cNvSpPr/>
          <p:nvPr/>
        </p:nvSpPr>
        <p:spPr>
          <a:xfrm>
            <a:off x="685800" y="3182112"/>
            <a:ext cx="3520440" cy="32004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Context limits</a:t>
            </a:r>
            <a:endParaRPr lang="en-US" sz="1350" dirty="0"/>
          </a:p>
        </p:txBody>
      </p:sp>
      <p:sp>
        <p:nvSpPr>
          <p:cNvPr id="17" name="Text 15"/>
          <p:cNvSpPr/>
          <p:nvPr/>
        </p:nvSpPr>
        <p:spPr>
          <a:xfrm>
            <a:off x="685800" y="3547872"/>
            <a:ext cx="3520440" cy="594360"/>
          </a:xfrm>
          <a:prstGeom prst="rect">
            <a:avLst/>
          </a:prstGeom>
          <a:noFill/>
          <a:ln/>
        </p:spPr>
        <p:txBody>
          <a:bodyPr wrap="square" rtlCol="0" anchor="t"/>
          <a:lstStyle/>
          <a:p>
            <a:pPr indent="0" marL="0">
              <a:lnSpc>
                <a:spcPct val="95000"/>
              </a:lnSpc>
              <a:buNone/>
            </a:pPr>
            <a:r>
              <a:rPr lang="en-US" sz="1150" dirty="0">
                <a:solidFill>
                  <a:srgbClr val="1E293B"/>
                </a:solidFill>
                <a:latin typeface="Arial" pitchFamily="34" charset="0"/>
                <a:ea typeface="Arial" pitchFamily="34" charset="-122"/>
                <a:cs typeface="Arial" pitchFamily="34" charset="-120"/>
              </a:rPr>
              <a:t>Extended sessions hit context windows — work had to be split across multiple sessions.</a:t>
            </a:r>
            <a:endParaRPr lang="en-US" sz="1150" dirty="0"/>
          </a:p>
        </p:txBody>
      </p:sp>
      <p:sp>
        <p:nvSpPr>
          <p:cNvPr id="18" name="Shape 16"/>
          <p:cNvSpPr/>
          <p:nvPr/>
        </p:nvSpPr>
        <p:spPr>
          <a:xfrm>
            <a:off x="4754880" y="3017520"/>
            <a:ext cx="3886200" cy="1188720"/>
          </a:xfrm>
          <a:prstGeom prst="rect">
            <a:avLst/>
          </a:prstGeom>
          <a:solidFill>
            <a:srgbClr val="F8FAFC"/>
          </a:solidFill>
          <a:ln/>
        </p:spPr>
      </p:sp>
      <p:sp>
        <p:nvSpPr>
          <p:cNvPr id="19" name="Shape 17"/>
          <p:cNvSpPr/>
          <p:nvPr/>
        </p:nvSpPr>
        <p:spPr>
          <a:xfrm>
            <a:off x="4754880" y="3017520"/>
            <a:ext cx="3886200" cy="54864"/>
          </a:xfrm>
          <a:prstGeom prst="rect">
            <a:avLst/>
          </a:prstGeom>
          <a:solidFill>
            <a:srgbClr val="DC2626"/>
          </a:solidFill>
          <a:ln/>
        </p:spPr>
      </p:sp>
      <p:sp>
        <p:nvSpPr>
          <p:cNvPr id="20" name="Text 18"/>
          <p:cNvSpPr/>
          <p:nvPr/>
        </p:nvSpPr>
        <p:spPr>
          <a:xfrm>
            <a:off x="4937760" y="3182112"/>
            <a:ext cx="3520440" cy="32004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Overclaims</a:t>
            </a:r>
            <a:endParaRPr lang="en-US" sz="1350" dirty="0"/>
          </a:p>
        </p:txBody>
      </p:sp>
      <p:sp>
        <p:nvSpPr>
          <p:cNvPr id="21" name="Text 19"/>
          <p:cNvSpPr/>
          <p:nvPr/>
        </p:nvSpPr>
        <p:spPr>
          <a:xfrm>
            <a:off x="4937760" y="3547872"/>
            <a:ext cx="3520440" cy="594360"/>
          </a:xfrm>
          <a:prstGeom prst="rect">
            <a:avLst/>
          </a:prstGeom>
          <a:noFill/>
          <a:ln/>
        </p:spPr>
        <p:txBody>
          <a:bodyPr wrap="square" rtlCol="0" anchor="t"/>
          <a:lstStyle/>
          <a:p>
            <a:pPr indent="0" marL="0">
              <a:lnSpc>
                <a:spcPct val="95000"/>
              </a:lnSpc>
              <a:buNone/>
            </a:pPr>
            <a:r>
              <a:rPr lang="en-US" sz="1150" dirty="0">
                <a:solidFill>
                  <a:srgbClr val="1E293B"/>
                </a:solidFill>
                <a:latin typeface="Arial" pitchFamily="34" charset="0"/>
                <a:ea typeface="Arial" pitchFamily="34" charset="-122"/>
                <a:cs typeface="Arial" pitchFamily="34" charset="-120"/>
              </a:rPr>
              <a:t>AI formulations needed active review; early drafts contained overclaims and framing errors, corrected manually.</a:t>
            </a:r>
            <a:endParaRPr lang="en-US" sz="1150" dirty="0"/>
          </a:p>
        </p:txBody>
      </p:sp>
      <p:sp>
        <p:nvSpPr>
          <p:cNvPr id="22" name="Text 20"/>
          <p:cNvSpPr/>
          <p:nvPr/>
        </p:nvSpPr>
        <p:spPr>
          <a:xfrm>
            <a:off x="502920" y="4572000"/>
            <a:ext cx="8138160" cy="274320"/>
          </a:xfrm>
          <a:prstGeom prst="rect">
            <a:avLst/>
          </a:prstGeom>
          <a:noFill/>
          <a:ln/>
        </p:spPr>
        <p:txBody>
          <a:bodyPr wrap="square" rtlCol="0" anchor="ctr"/>
          <a:lstStyle/>
          <a:p>
            <a:pPr algn="ctr" indent="0" marL="0">
              <a:buNone/>
            </a:pPr>
            <a:r>
              <a:rPr lang="en-US" sz="1150" b="1" dirty="0">
                <a:solidFill>
                  <a:srgbClr val="0F172A"/>
                </a:solidFill>
                <a:latin typeface="Arial" pitchFamily="34" charset="0"/>
                <a:ea typeface="Arial" pitchFamily="34" charset="-122"/>
                <a:cs typeface="Arial" pitchFamily="34" charset="-120"/>
              </a:rPr>
              <a:t>Analytical judgment, argumentation, and all interpretive decisions remained entirely human.</a:t>
            </a:r>
            <a:endParaRPr lang="en-US" sz="1150" dirty="0"/>
          </a:p>
        </p:txBody>
      </p:sp>
      <p:sp>
        <p:nvSpPr>
          <p:cNvPr id="23" name="Text 21"/>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The sharpest output came from framing Claude as a critical reviewer, not a collaborator</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00200"/>
            <a:ext cx="73152" cy="713232"/>
          </a:xfrm>
          <a:prstGeom prst="rect">
            <a:avLst/>
          </a:prstGeom>
          <a:solidFill>
            <a:srgbClr val="2563EB"/>
          </a:solidFill>
          <a:ln/>
        </p:spPr>
      </p:sp>
      <p:sp>
        <p:nvSpPr>
          <p:cNvPr id="7" name="Text 5"/>
          <p:cNvSpPr/>
          <p:nvPr/>
        </p:nvSpPr>
        <p:spPr>
          <a:xfrm>
            <a:off x="731520" y="1618488"/>
            <a:ext cx="2743200" cy="676656"/>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Critical-reviewer framing</a:t>
            </a:r>
            <a:endParaRPr lang="en-US" sz="1250" dirty="0"/>
          </a:p>
        </p:txBody>
      </p:sp>
      <p:sp>
        <p:nvSpPr>
          <p:cNvPr id="8" name="Text 6"/>
          <p:cNvSpPr/>
          <p:nvPr/>
        </p:nvSpPr>
        <p:spPr>
          <a:xfrm>
            <a:off x="3611880" y="1618488"/>
            <a:ext cx="5029200" cy="676656"/>
          </a:xfrm>
          <a:prstGeom prst="rect">
            <a:avLst/>
          </a:prstGeom>
          <a:noFill/>
          <a:ln/>
        </p:spPr>
        <p:txBody>
          <a:bodyPr wrap="square" rtlCol="0" anchor="ctr"/>
          <a:lstStyle/>
          <a:p>
            <a:pPr indent="0" marL="0">
              <a:lnSpc>
                <a:spcPct val="95000"/>
              </a:lnSpc>
              <a:buNone/>
            </a:pPr>
            <a:r>
              <a:rPr lang="en-US" sz="1150" i="1" dirty="0">
                <a:solidFill>
                  <a:srgbClr val="1E293B"/>
                </a:solidFill>
                <a:latin typeface="Arial" pitchFamily="34" charset="0"/>
                <a:ea typeface="Arial" pitchFamily="34" charset="-122"/>
                <a:cs typeface="Arial" pitchFamily="34" charset="-120"/>
              </a:rPr>
              <a:t>“Review this section as a Dozent looking for overclaims, logical gaps, and APA errors” — surfaced issues neutral reviews missed.</a:t>
            </a:r>
            <a:endParaRPr lang="en-US" sz="1150" dirty="0"/>
          </a:p>
        </p:txBody>
      </p:sp>
      <p:sp>
        <p:nvSpPr>
          <p:cNvPr id="9" name="Shape 7"/>
          <p:cNvSpPr/>
          <p:nvPr/>
        </p:nvSpPr>
        <p:spPr>
          <a:xfrm>
            <a:off x="502920" y="2386584"/>
            <a:ext cx="73152" cy="713232"/>
          </a:xfrm>
          <a:prstGeom prst="rect">
            <a:avLst/>
          </a:prstGeom>
          <a:solidFill>
            <a:srgbClr val="2563EB"/>
          </a:solidFill>
          <a:ln/>
        </p:spPr>
      </p:sp>
      <p:sp>
        <p:nvSpPr>
          <p:cNvPr id="10" name="Text 8"/>
          <p:cNvSpPr/>
          <p:nvPr/>
        </p:nvSpPr>
        <p:spPr>
          <a:xfrm>
            <a:off x="731520" y="2404872"/>
            <a:ext cx="2743200" cy="676656"/>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Single-claim verification</a:t>
            </a:r>
            <a:endParaRPr lang="en-US" sz="1250" dirty="0"/>
          </a:p>
        </p:txBody>
      </p:sp>
      <p:sp>
        <p:nvSpPr>
          <p:cNvPr id="11" name="Text 9"/>
          <p:cNvSpPr/>
          <p:nvPr/>
        </p:nvSpPr>
        <p:spPr>
          <a:xfrm>
            <a:off x="3611880" y="2404872"/>
            <a:ext cx="5029200" cy="676656"/>
          </a:xfrm>
          <a:prstGeom prst="rect">
            <a:avLst/>
          </a:prstGeom>
          <a:noFill/>
          <a:ln/>
        </p:spPr>
        <p:txBody>
          <a:bodyPr wrap="square" rtlCol="0" anchor="ctr"/>
          <a:lstStyle/>
          <a:p>
            <a:pPr indent="0" marL="0">
              <a:lnSpc>
                <a:spcPct val="95000"/>
              </a:lnSpc>
              <a:buNone/>
            </a:pPr>
            <a:r>
              <a:rPr lang="en-US" sz="1150" i="1" dirty="0">
                <a:solidFill>
                  <a:srgbClr val="1E293B"/>
                </a:solidFill>
                <a:latin typeface="Arial" pitchFamily="34" charset="0"/>
                <a:ea typeface="Arial" pitchFamily="34" charset="-122"/>
                <a:cs typeface="Arial" pitchFamily="34" charset="-120"/>
              </a:rPr>
              <a:t>“Verify this figure against its source and quote the exact passage” — this caught the three data errors.</a:t>
            </a:r>
            <a:endParaRPr lang="en-US" sz="1150" dirty="0"/>
          </a:p>
        </p:txBody>
      </p:sp>
      <p:sp>
        <p:nvSpPr>
          <p:cNvPr id="12" name="Shape 10"/>
          <p:cNvSpPr/>
          <p:nvPr/>
        </p:nvSpPr>
        <p:spPr>
          <a:xfrm>
            <a:off x="502920" y="3172968"/>
            <a:ext cx="73152" cy="713232"/>
          </a:xfrm>
          <a:prstGeom prst="rect">
            <a:avLst/>
          </a:prstGeom>
          <a:solidFill>
            <a:srgbClr val="2563EB"/>
          </a:solidFill>
          <a:ln/>
        </p:spPr>
      </p:sp>
      <p:sp>
        <p:nvSpPr>
          <p:cNvPr id="13" name="Text 11"/>
          <p:cNvSpPr/>
          <p:nvPr/>
        </p:nvSpPr>
        <p:spPr>
          <a:xfrm>
            <a:off x="731520" y="3191256"/>
            <a:ext cx="2743200" cy="676656"/>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Shorten without loss</a:t>
            </a:r>
            <a:endParaRPr lang="en-US" sz="1250" dirty="0"/>
          </a:p>
        </p:txBody>
      </p:sp>
      <p:sp>
        <p:nvSpPr>
          <p:cNvPr id="14" name="Text 12"/>
          <p:cNvSpPr/>
          <p:nvPr/>
        </p:nvSpPr>
        <p:spPr>
          <a:xfrm>
            <a:off x="3611880" y="3191256"/>
            <a:ext cx="5029200" cy="676656"/>
          </a:xfrm>
          <a:prstGeom prst="rect">
            <a:avLst/>
          </a:prstGeom>
          <a:noFill/>
          <a:ln/>
        </p:spPr>
        <p:txBody>
          <a:bodyPr wrap="square" rtlCol="0" anchor="ctr"/>
          <a:lstStyle/>
          <a:p>
            <a:pPr indent="0" marL="0">
              <a:lnSpc>
                <a:spcPct val="95000"/>
              </a:lnSpc>
              <a:buNone/>
            </a:pPr>
            <a:r>
              <a:rPr lang="en-US" sz="1150" i="1" dirty="0">
                <a:solidFill>
                  <a:srgbClr val="1E293B"/>
                </a:solidFill>
                <a:latin typeface="Arial" pitchFamily="34" charset="0"/>
                <a:ea typeface="Arial" pitchFamily="34" charset="-122"/>
                <a:cs typeface="Arial" pitchFamily="34" charset="-120"/>
              </a:rPr>
              <a:t>“Shorten to ~X words without changing the argument or removing any citations.”</a:t>
            </a:r>
            <a:endParaRPr lang="en-US" sz="1150" dirty="0"/>
          </a:p>
        </p:txBody>
      </p:sp>
      <p:sp>
        <p:nvSpPr>
          <p:cNvPr id="15" name="Shape 13"/>
          <p:cNvSpPr/>
          <p:nvPr/>
        </p:nvSpPr>
        <p:spPr>
          <a:xfrm>
            <a:off x="502920" y="3959352"/>
            <a:ext cx="73152" cy="713232"/>
          </a:xfrm>
          <a:prstGeom prst="rect">
            <a:avLst/>
          </a:prstGeom>
          <a:solidFill>
            <a:srgbClr val="2563EB"/>
          </a:solidFill>
          <a:ln/>
        </p:spPr>
      </p:sp>
      <p:sp>
        <p:nvSpPr>
          <p:cNvPr id="16" name="Text 14"/>
          <p:cNvSpPr/>
          <p:nvPr/>
        </p:nvSpPr>
        <p:spPr>
          <a:xfrm>
            <a:off x="731520" y="3977640"/>
            <a:ext cx="2743200" cy="676656"/>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Evidence-bounded comparison</a:t>
            </a:r>
            <a:endParaRPr lang="en-US" sz="1250" dirty="0"/>
          </a:p>
        </p:txBody>
      </p:sp>
      <p:sp>
        <p:nvSpPr>
          <p:cNvPr id="17" name="Text 15"/>
          <p:cNvSpPr/>
          <p:nvPr/>
        </p:nvSpPr>
        <p:spPr>
          <a:xfrm>
            <a:off x="3611880" y="3977640"/>
            <a:ext cx="5029200" cy="676656"/>
          </a:xfrm>
          <a:prstGeom prst="rect">
            <a:avLst/>
          </a:prstGeom>
          <a:noFill/>
          <a:ln/>
        </p:spPr>
        <p:txBody>
          <a:bodyPr wrap="square" rtlCol="0" anchor="ctr"/>
          <a:lstStyle/>
          <a:p>
            <a:pPr indent="0" marL="0">
              <a:lnSpc>
                <a:spcPct val="95000"/>
              </a:lnSpc>
              <a:buNone/>
            </a:pPr>
            <a:r>
              <a:rPr lang="en-US" sz="1150" i="1" dirty="0">
                <a:solidFill>
                  <a:srgbClr val="1E293B"/>
                </a:solidFill>
                <a:latin typeface="Arial" pitchFamily="34" charset="0"/>
                <a:ea typeface="Arial" pitchFamily="34" charset="-122"/>
                <a:cs typeface="Arial" pitchFamily="34" charset="-120"/>
              </a:rPr>
              <a:t>“Compare X across SAIC, BYD, Geely using only verified wiki data” — more reliable than free reasoning.</a:t>
            </a:r>
            <a:endParaRPr lang="en-US" sz="1150" dirty="0"/>
          </a:p>
        </p:txBody>
      </p:sp>
      <p:sp>
        <p:nvSpPr>
          <p:cNvPr id="18" name="Text 16"/>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indent="0" marL="0">
              <a:buNone/>
            </a:pPr>
            <a:r>
              <a:rPr lang="en-US" sz="1050" b="1" spc="300" kern="0" dirty="0">
                <a:solidFill>
                  <a:srgbClr val="06B6D4"/>
                </a:solidFill>
                <a:latin typeface="Arial" pitchFamily="34" charset="0"/>
                <a:ea typeface="Arial" pitchFamily="34" charset="-122"/>
                <a:cs typeface="Arial" pitchFamily="34" charset="-120"/>
              </a:rPr>
              <a:t>AI REFLECTION</a:t>
            </a:r>
            <a:endParaRPr lang="en-US" sz="1050" dirty="0"/>
          </a:p>
        </p:txBody>
      </p:sp>
      <p:sp>
        <p:nvSpPr>
          <p:cNvPr id="3" name="Text 1"/>
          <p:cNvSpPr/>
          <p:nvPr/>
        </p:nvSpPr>
        <p:spPr>
          <a:xfrm>
            <a:off x="502920" y="457200"/>
            <a:ext cx="8138160" cy="786384"/>
          </a:xfrm>
          <a:prstGeom prst="rect">
            <a:avLst/>
          </a:prstGeom>
          <a:noFill/>
          <a:ln/>
        </p:spPr>
        <p:txBody>
          <a:bodyPr wrap="square" rtlCol="0" anchor="t"/>
          <a:lstStyle/>
          <a:p>
            <a:pPr indent="0" marL="0">
              <a:lnSpc>
                <a:spcPct val="98000"/>
              </a:lnSpc>
              <a:buNone/>
            </a:pPr>
            <a:r>
              <a:rPr lang="en-US" sz="1900" b="1" dirty="0">
                <a:solidFill>
                  <a:srgbClr val="0F172A"/>
                </a:solidFill>
                <a:latin typeface="Arial" pitchFamily="34" charset="0"/>
                <a:ea typeface="Arial" pitchFamily="34" charset="-122"/>
                <a:cs typeface="Arial" pitchFamily="34" charset="-120"/>
              </a:rPr>
              <a:t>Low marginal cost, but a real learning curve before the platform paid off</a:t>
            </a:r>
            <a:endParaRPr lang="en-US" sz="1900" dirty="0"/>
          </a:p>
        </p:txBody>
      </p:sp>
      <p:sp>
        <p:nvSpPr>
          <p:cNvPr id="4" name="Shape 2"/>
          <p:cNvSpPr/>
          <p:nvPr/>
        </p:nvSpPr>
        <p:spPr>
          <a:xfrm>
            <a:off x="502920" y="1316736"/>
            <a:ext cx="822960" cy="41148"/>
          </a:xfrm>
          <a:prstGeom prst="rect">
            <a:avLst/>
          </a:prstGeom>
          <a:solidFill>
            <a:srgbClr val="2563EB"/>
          </a:solidFill>
          <a:ln/>
        </p:spPr>
      </p:sp>
      <p:sp>
        <p:nvSpPr>
          <p:cNvPr id="5" name="Shape 3"/>
          <p:cNvSpPr/>
          <p:nvPr/>
        </p:nvSpPr>
        <p:spPr>
          <a:xfrm>
            <a:off x="1371600" y="1335024"/>
            <a:ext cx="7269480" cy="13716"/>
          </a:xfrm>
          <a:prstGeom prst="rect">
            <a:avLst/>
          </a:prstGeom>
          <a:solidFill>
            <a:srgbClr val="D7DEE8"/>
          </a:solidFill>
          <a:ln/>
        </p:spPr>
      </p:sp>
      <p:sp>
        <p:nvSpPr>
          <p:cNvPr id="6" name="Shape 4"/>
          <p:cNvSpPr/>
          <p:nvPr/>
        </p:nvSpPr>
        <p:spPr>
          <a:xfrm>
            <a:off x="502920" y="1645920"/>
            <a:ext cx="2560320" cy="1143000"/>
          </a:xfrm>
          <a:prstGeom prst="roundRect">
            <a:avLst>
              <a:gd name="adj" fmla="val 6400"/>
            </a:avLst>
          </a:prstGeom>
          <a:solidFill>
            <a:srgbClr val="0F172A"/>
          </a:solidFill>
          <a:ln/>
        </p:spPr>
      </p:sp>
      <p:sp>
        <p:nvSpPr>
          <p:cNvPr id="7" name="Text 5"/>
          <p:cNvSpPr/>
          <p:nvPr/>
        </p:nvSpPr>
        <p:spPr>
          <a:xfrm>
            <a:off x="502920" y="1810512"/>
            <a:ext cx="2560320" cy="548640"/>
          </a:xfrm>
          <a:prstGeom prst="rect">
            <a:avLst/>
          </a:prstGeom>
          <a:noFill/>
          <a:ln/>
        </p:spPr>
        <p:txBody>
          <a:bodyPr wrap="square" rtlCol="0" anchor="ctr"/>
          <a:lstStyle/>
          <a:p>
            <a:pPr algn="ctr" indent="0" marL="0">
              <a:buNone/>
            </a:pPr>
            <a:r>
              <a:rPr lang="en-US" sz="2600" b="1" dirty="0">
                <a:solidFill>
                  <a:srgbClr val="06B6D4"/>
                </a:solidFill>
                <a:latin typeface="Arial" pitchFamily="34" charset="0"/>
                <a:ea typeface="Arial" pitchFamily="34" charset="-122"/>
                <a:cs typeface="Arial" pitchFamily="34" charset="-120"/>
              </a:rPr>
              <a:t>~€21</a:t>
            </a:r>
            <a:endParaRPr lang="en-US" sz="2600" dirty="0"/>
          </a:p>
        </p:txBody>
      </p:sp>
      <p:sp>
        <p:nvSpPr>
          <p:cNvPr id="8" name="Text 6"/>
          <p:cNvSpPr/>
          <p:nvPr/>
        </p:nvSpPr>
        <p:spPr>
          <a:xfrm>
            <a:off x="612648" y="2377440"/>
            <a:ext cx="2340864" cy="365760"/>
          </a:xfrm>
          <a:prstGeom prst="rect">
            <a:avLst/>
          </a:prstGeom>
          <a:noFill/>
          <a:ln/>
        </p:spPr>
        <p:txBody>
          <a:bodyPr wrap="square" rtlCol="0" anchor="t"/>
          <a:lstStyle/>
          <a:p>
            <a:pPr algn="ctr" indent="0" marL="0">
              <a:buNone/>
            </a:pPr>
            <a:r>
              <a:rPr lang="en-US" sz="1050" dirty="0">
                <a:solidFill>
                  <a:srgbClr val="DCE6F7"/>
                </a:solidFill>
                <a:latin typeface="Arial" pitchFamily="34" charset="0"/>
                <a:ea typeface="Arial" pitchFamily="34" charset="-122"/>
                <a:cs typeface="Arial" pitchFamily="34" charset="-120"/>
              </a:rPr>
              <a:t>/ month — Claude Pro per member</a:t>
            </a:r>
            <a:endParaRPr lang="en-US" sz="1050" dirty="0"/>
          </a:p>
        </p:txBody>
      </p:sp>
      <p:sp>
        <p:nvSpPr>
          <p:cNvPr id="9" name="Shape 7"/>
          <p:cNvSpPr/>
          <p:nvPr/>
        </p:nvSpPr>
        <p:spPr>
          <a:xfrm>
            <a:off x="3291840" y="1645920"/>
            <a:ext cx="2560320" cy="1143000"/>
          </a:xfrm>
          <a:prstGeom prst="roundRect">
            <a:avLst>
              <a:gd name="adj" fmla="val 6400"/>
            </a:avLst>
          </a:prstGeom>
          <a:solidFill>
            <a:srgbClr val="0F172A"/>
          </a:solidFill>
          <a:ln/>
        </p:spPr>
      </p:sp>
      <p:sp>
        <p:nvSpPr>
          <p:cNvPr id="10" name="Text 8"/>
          <p:cNvSpPr/>
          <p:nvPr/>
        </p:nvSpPr>
        <p:spPr>
          <a:xfrm>
            <a:off x="3291840" y="1810512"/>
            <a:ext cx="2560320" cy="548640"/>
          </a:xfrm>
          <a:prstGeom prst="rect">
            <a:avLst/>
          </a:prstGeom>
          <a:noFill/>
          <a:ln/>
        </p:spPr>
        <p:txBody>
          <a:bodyPr wrap="square" rtlCol="0" anchor="ctr"/>
          <a:lstStyle/>
          <a:p>
            <a:pPr algn="ctr" indent="0" marL="0">
              <a:buNone/>
            </a:pPr>
            <a:r>
              <a:rPr lang="en-US" sz="2600" b="1" dirty="0">
                <a:solidFill>
                  <a:srgbClr val="06B6D4"/>
                </a:solidFill>
                <a:latin typeface="Arial" pitchFamily="34" charset="0"/>
                <a:ea typeface="Arial" pitchFamily="34" charset="-122"/>
                <a:cs typeface="Arial" pitchFamily="34" charset="-120"/>
              </a:rPr>
              <a:t>€0</a:t>
            </a:r>
            <a:endParaRPr lang="en-US" sz="2600" dirty="0"/>
          </a:p>
        </p:txBody>
      </p:sp>
      <p:sp>
        <p:nvSpPr>
          <p:cNvPr id="11" name="Text 9"/>
          <p:cNvSpPr/>
          <p:nvPr/>
        </p:nvSpPr>
        <p:spPr>
          <a:xfrm>
            <a:off x="3401568" y="2377440"/>
            <a:ext cx="2340864" cy="365760"/>
          </a:xfrm>
          <a:prstGeom prst="rect">
            <a:avLst/>
          </a:prstGeom>
          <a:noFill/>
          <a:ln/>
        </p:spPr>
        <p:txBody>
          <a:bodyPr wrap="square" rtlCol="0" anchor="t"/>
          <a:lstStyle/>
          <a:p>
            <a:pPr algn="ctr" indent="0" marL="0">
              <a:buNone/>
            </a:pPr>
            <a:r>
              <a:rPr lang="en-US" sz="1050" dirty="0">
                <a:solidFill>
                  <a:srgbClr val="DCE6F7"/>
                </a:solidFill>
                <a:latin typeface="Arial" pitchFamily="34" charset="0"/>
                <a:ea typeface="Arial" pitchFamily="34" charset="-122"/>
                <a:cs typeface="Arial" pitchFamily="34" charset="-120"/>
              </a:rPr>
              <a:t>per-query / third-party data fees</a:t>
            </a:r>
            <a:endParaRPr lang="en-US" sz="1050" dirty="0"/>
          </a:p>
        </p:txBody>
      </p:sp>
      <p:sp>
        <p:nvSpPr>
          <p:cNvPr id="12" name="Shape 10"/>
          <p:cNvSpPr/>
          <p:nvPr/>
        </p:nvSpPr>
        <p:spPr>
          <a:xfrm>
            <a:off x="6080760" y="1645920"/>
            <a:ext cx="2560320" cy="1143000"/>
          </a:xfrm>
          <a:prstGeom prst="roundRect">
            <a:avLst>
              <a:gd name="adj" fmla="val 6400"/>
            </a:avLst>
          </a:prstGeom>
          <a:solidFill>
            <a:srgbClr val="0F172A"/>
          </a:solidFill>
          <a:ln/>
        </p:spPr>
      </p:sp>
      <p:sp>
        <p:nvSpPr>
          <p:cNvPr id="13" name="Text 11"/>
          <p:cNvSpPr/>
          <p:nvPr/>
        </p:nvSpPr>
        <p:spPr>
          <a:xfrm>
            <a:off x="6080760" y="1810512"/>
            <a:ext cx="2560320" cy="548640"/>
          </a:xfrm>
          <a:prstGeom prst="rect">
            <a:avLst/>
          </a:prstGeom>
          <a:noFill/>
          <a:ln/>
        </p:spPr>
        <p:txBody>
          <a:bodyPr wrap="square" rtlCol="0" anchor="ctr"/>
          <a:lstStyle/>
          <a:p>
            <a:pPr algn="ctr" indent="0" marL="0">
              <a:buNone/>
            </a:pPr>
            <a:r>
              <a:rPr lang="en-US" sz="2600" b="1" dirty="0">
                <a:solidFill>
                  <a:srgbClr val="06B6D4"/>
                </a:solidFill>
                <a:latin typeface="Arial" pitchFamily="34" charset="0"/>
                <a:ea typeface="Arial" pitchFamily="34" charset="-122"/>
                <a:cs typeface="Arial" pitchFamily="34" charset="-120"/>
              </a:rPr>
              <a:t>1×</a:t>
            </a:r>
            <a:endParaRPr lang="en-US" sz="2600" dirty="0"/>
          </a:p>
        </p:txBody>
      </p:sp>
      <p:sp>
        <p:nvSpPr>
          <p:cNvPr id="14" name="Text 12"/>
          <p:cNvSpPr/>
          <p:nvPr/>
        </p:nvSpPr>
        <p:spPr>
          <a:xfrm>
            <a:off x="6190488" y="2377440"/>
            <a:ext cx="2340864" cy="365760"/>
          </a:xfrm>
          <a:prstGeom prst="rect">
            <a:avLst/>
          </a:prstGeom>
          <a:noFill/>
          <a:ln/>
        </p:spPr>
        <p:txBody>
          <a:bodyPr wrap="square" rtlCol="0" anchor="t"/>
          <a:lstStyle/>
          <a:p>
            <a:pPr algn="ctr" indent="0" marL="0">
              <a:buNone/>
            </a:pPr>
            <a:r>
              <a:rPr lang="en-US" sz="1050" dirty="0">
                <a:solidFill>
                  <a:srgbClr val="DCE6F7"/>
                </a:solidFill>
                <a:latin typeface="Arial" pitchFamily="34" charset="0"/>
                <a:ea typeface="Arial" pitchFamily="34" charset="-122"/>
                <a:cs typeface="Arial" pitchFamily="34" charset="-120"/>
              </a:rPr>
              <a:t>“apm install” deploys agents, skills, MCP</a:t>
            </a:r>
            <a:endParaRPr lang="en-US" sz="1050" dirty="0"/>
          </a:p>
        </p:txBody>
      </p:sp>
      <p:sp>
        <p:nvSpPr>
          <p:cNvPr id="15" name="Text 13"/>
          <p:cNvSpPr/>
          <p:nvPr/>
        </p:nvSpPr>
        <p:spPr>
          <a:xfrm>
            <a:off x="502920" y="3063240"/>
            <a:ext cx="8138160" cy="1463040"/>
          </a:xfrm>
          <a:prstGeom prst="rect">
            <a:avLst/>
          </a:prstGeom>
          <a:noFill/>
          <a:ln/>
        </p:spPr>
        <p:txBody>
          <a:bodyPr wrap="square" rtlCol="0" anchor="t"/>
          <a:lstStyle/>
          <a:p>
            <a:pPr indent="0" marL="0">
              <a:lnSpc>
                <a:spcPct val="100000"/>
              </a:lnSpc>
              <a:spcAft>
                <a:spcPts val="900"/>
              </a:spcAft>
              <a:buNone/>
            </a:pPr>
            <a:r>
              <a:rPr lang="en-US" sz="1250" b="1" dirty="0">
                <a:solidFill>
                  <a:srgbClr val="0F172A"/>
                </a:solidFill>
                <a:latin typeface="Arial" pitchFamily="34" charset="0"/>
                <a:ea typeface="Arial" pitchFamily="34" charset="-122"/>
                <a:cs typeface="Arial" pitchFamily="34" charset="-120"/>
              </a:rPr>
              <a:t>Setup: </a:t>
            </a:r>
            <a:pPr indent="0" marL="0">
              <a:lnSpc>
                <a:spcPct val="100000"/>
              </a:lnSpc>
              <a:spcAft>
                <a:spcPts val="900"/>
              </a:spcAft>
              <a:buNone/>
            </a:pPr>
            <a:r>
              <a:rPr lang="en-US" sz="1250" dirty="0">
                <a:solidFill>
                  <a:srgbClr val="1E293B"/>
                </a:solidFill>
                <a:latin typeface="Arial" pitchFamily="34" charset="0"/>
                <a:ea typeface="Arial" pitchFamily="34" charset="-122"/>
                <a:cs typeface="Arial" pitchFamily="34" charset="-120"/>
              </a:rPr>
              <a:t>Claude Code CLI + git + the apm package manager; technical install done in one session.</a:t>
            </a:r>
            <a:endParaRPr lang="en-US" sz="1250" dirty="0"/>
          </a:p>
          <a:p>
            <a:pPr indent="0" marL="0">
              <a:lnSpc>
                <a:spcPct val="100000"/>
              </a:lnSpc>
              <a:spcAft>
                <a:spcPts val="900"/>
              </a:spcAft>
              <a:buNone/>
            </a:pPr>
            <a:r>
              <a:rPr lang="en-US" sz="1250" b="1" dirty="0">
                <a:solidFill>
                  <a:srgbClr val="0F172A"/>
                </a:solidFill>
                <a:latin typeface="Arial" pitchFamily="34" charset="0"/>
                <a:ea typeface="Arial" pitchFamily="34" charset="-122"/>
                <a:cs typeface="Arial" pitchFamily="34" charset="-120"/>
              </a:rPr>
              <a:t>Learning curve: </a:t>
            </a:r>
            <a:pPr indent="0" marL="0">
              <a:lnSpc>
                <a:spcPct val="100000"/>
              </a:lnSpc>
              <a:spcAft>
                <a:spcPts val="900"/>
              </a:spcAft>
              <a:buNone/>
            </a:pPr>
            <a:r>
              <a:rPr lang="en-US" sz="1250" dirty="0">
                <a:solidFill>
                  <a:srgbClr val="1E293B"/>
                </a:solidFill>
                <a:latin typeface="Arial" pitchFamily="34" charset="0"/>
                <a:ea typeface="Arial" pitchFamily="34" charset="-122"/>
                <a:cs typeface="Arial" pitchFamily="34" charset="-120"/>
              </a:rPr>
              <a:t>with only chat-LLM experience, it took several hours to become productive — the shift was learning to use agents, the wiki, and MCP rather than treating it like a chat tool.</a:t>
            </a:r>
            <a:endParaRPr lang="en-US" sz="1250" dirty="0"/>
          </a:p>
        </p:txBody>
      </p:sp>
      <p:sp>
        <p:nvSpPr>
          <p:cNvPr id="16" name="Text 14"/>
          <p:cNvSpPr/>
          <p:nvPr/>
        </p:nvSpPr>
        <p:spPr>
          <a:xfrm>
            <a:off x="502920" y="4846320"/>
            <a:ext cx="8138160" cy="237744"/>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No paid third-party data services were used.</a:t>
            </a:r>
            <a:endParaRPr lang="en-US" sz="850" dirty="0"/>
          </a:p>
        </p:txBody>
      </p:sp>
      <p:sp>
        <p:nvSpPr>
          <p:cNvPr id="17" name="Text 15"/>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13816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References (selected)</a:t>
            </a:r>
            <a:endParaRPr lang="en-US" sz="2200" dirty="0"/>
          </a:p>
        </p:txBody>
      </p:sp>
      <p:sp>
        <p:nvSpPr>
          <p:cNvPr id="3" name="Shape 1"/>
          <p:cNvSpPr/>
          <p:nvPr/>
        </p:nvSpPr>
        <p:spPr>
          <a:xfrm>
            <a:off x="502920" y="868680"/>
            <a:ext cx="822960" cy="41148"/>
          </a:xfrm>
          <a:prstGeom prst="rect">
            <a:avLst/>
          </a:prstGeom>
          <a:solidFill>
            <a:srgbClr val="2563EB"/>
          </a:solidFill>
          <a:ln/>
        </p:spPr>
      </p:sp>
      <p:sp>
        <p:nvSpPr>
          <p:cNvPr id="4" name="Text 2"/>
          <p:cNvSpPr/>
          <p:nvPr/>
        </p:nvSpPr>
        <p:spPr>
          <a:xfrm>
            <a:off x="502920" y="1051560"/>
            <a:ext cx="4069080" cy="3657600"/>
          </a:xfrm>
          <a:prstGeom prst="rect">
            <a:avLst/>
          </a:prstGeom>
          <a:noFill/>
          <a:ln/>
        </p:spPr>
        <p:txBody>
          <a:bodyPr wrap="square" rtlCol="0" anchor="t"/>
          <a:lstStyle/>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Allen, F., Qian, J., Shan, C., &amp; Zhu, J. L. (2024). Dissecting the long-term performance of the Chinese stock market. Journal of Finance, 79(2), 1121–1171.</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American Economic Review, 115(11), 3825–3852.</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Balcet, G., Wang, H., &amp; Richet, X. (2012). Geely: A trajectory of catching up and asset-seeking multinational growth. Int. J. of Automotive Technology and Management, 12(4), 360–375.</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European Commission. (2024). Commission Implementing Regulation (EU) 2024/2754. Official Journal of the European Union.</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Journal of Financial Economics, 84(2), 330–357.</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Review of Economic Studies, 82(3), 1154–1193.</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Research Policy, 47(8), 1448–1462.</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International Energy Agency. (2026). Global EV Outlook 2026. IEA.</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Jensen, M. C., &amp; Meckling, W. H. (1976). Theory of the firm. Journal of Financial Economics, 3(4), 305–360.</a:t>
            </a:r>
            <a:endParaRPr lang="en-US" sz="870" dirty="0"/>
          </a:p>
        </p:txBody>
      </p:sp>
      <p:sp>
        <p:nvSpPr>
          <p:cNvPr id="5" name="Text 3"/>
          <p:cNvSpPr/>
          <p:nvPr/>
        </p:nvSpPr>
        <p:spPr>
          <a:xfrm>
            <a:off x="4709160" y="1051560"/>
            <a:ext cx="3931920" cy="3657600"/>
          </a:xfrm>
          <a:prstGeom prst="rect">
            <a:avLst/>
          </a:prstGeom>
          <a:noFill/>
          <a:ln/>
        </p:spPr>
        <p:txBody>
          <a:bodyPr wrap="square" rtlCol="0" anchor="t"/>
          <a:lstStyle/>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Asian Journal of Technology Innovation, 31(3).</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Journal of International Business Studies, 38(4), 481–498.</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Journal of Economic Literature, 39(2), 321–389.</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Shleifer, A., &amp; Vishny, R. W. (1994). Politicians and firms. Quarterly Journal of Economics, 109(4), 995–1025.</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Teece, D. J., Pisano, G., &amp; Shuen, A. (1997). Dynamic capabilities and strategic management. Strategic Management Journal, 18(7), 509–533.</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Wang, X., Zhao, W., &amp; Ruet, J. (2022). Specialised vertical integration: EV lithium-ion battery firms in China. Int. J. of Automotive Technology and Management, 22(2), 178–201.</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Progress in Economic Geography, 4, 100054.</a:t>
            </a:r>
            <a:endParaRPr lang="en-US" sz="870" dirty="0"/>
          </a:p>
          <a:p>
            <a:pPr indent="0" marL="0">
              <a:lnSpc>
                <a:spcPct val="95000"/>
              </a:lnSpc>
              <a:spcAft>
                <a:spcPts val="700"/>
              </a:spcAft>
              <a:buNone/>
            </a:pPr>
            <a:r>
              <a:rPr lang="en-US" sz="870" dirty="0">
                <a:solidFill>
                  <a:srgbClr val="1E293B"/>
                </a:solidFill>
                <a:latin typeface="Arial" pitchFamily="34" charset="0"/>
                <a:ea typeface="Arial" pitchFamily="34" charset="-122"/>
                <a:cs typeface="Arial" pitchFamily="34" charset="-120"/>
              </a:rPr>
              <a:t>Annual reports: BYD (2025, 2026); SAIC Motor (2025, 2026); Geely Automobile Holdings (2025, 2026).</a:t>
            </a:r>
            <a:endParaRPr lang="en-US" sz="870" dirty="0"/>
          </a:p>
        </p:txBody>
      </p:sp>
      <p:sp>
        <p:nvSpPr>
          <p:cNvPr id="6" name="Text 4"/>
          <p:cNvSpPr/>
          <p:nvPr/>
        </p:nvSpPr>
        <p:spPr>
          <a:xfrm>
            <a:off x="8641080" y="4828032"/>
            <a:ext cx="411480" cy="237744"/>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Strategies in the Automotive Industry</dc:title>
  <dc:subject>PptxGenJS Presentation</dc:subject>
  <dc:creator>Ort, Maus, Stubner</dc:creator>
  <cp:lastModifiedBy>Ort, Maus, Stubner</cp:lastModifiedBy>
  <cp:revision>1</cp:revision>
  <dcterms:created xsi:type="dcterms:W3CDTF">2026-06-26T16:23:24Z</dcterms:created>
  <dcterms:modified xsi:type="dcterms:W3CDTF">2026-06-26T16:23:24Z</dcterms:modified>
</cp:coreProperties>
</file>