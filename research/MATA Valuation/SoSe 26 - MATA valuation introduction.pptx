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5" r:id="rId1"/>
    <p:sldMasterId id="2147483742" r:id="rId2"/>
    <p:sldMasterId id="2147483755" r:id="rId3"/>
  </p:sldMasterIdLst>
  <p:notesMasterIdLst>
    <p:notesMasterId r:id="rId34"/>
  </p:notesMasterIdLst>
  <p:handoutMasterIdLst>
    <p:handoutMasterId r:id="rId35"/>
  </p:handoutMasterIdLst>
  <p:sldIdLst>
    <p:sldId id="1300" r:id="rId4"/>
    <p:sldId id="1319" r:id="rId5"/>
    <p:sldId id="1320" r:id="rId6"/>
    <p:sldId id="1315" r:id="rId7"/>
    <p:sldId id="1301" r:id="rId8"/>
    <p:sldId id="997" r:id="rId9"/>
    <p:sldId id="1303" r:id="rId10"/>
    <p:sldId id="1305" r:id="rId11"/>
    <p:sldId id="1045" r:id="rId12"/>
    <p:sldId id="1008" r:id="rId13"/>
    <p:sldId id="1307" r:id="rId14"/>
    <p:sldId id="1308" r:id="rId15"/>
    <p:sldId id="1004" r:id="rId16"/>
    <p:sldId id="1005" r:id="rId17"/>
    <p:sldId id="1070" r:id="rId18"/>
    <p:sldId id="1039" r:id="rId19"/>
    <p:sldId id="1056" r:id="rId20"/>
    <p:sldId id="1321" r:id="rId21"/>
    <p:sldId id="1310" r:id="rId22"/>
    <p:sldId id="1316" r:id="rId23"/>
    <p:sldId id="1011" r:id="rId24"/>
    <p:sldId id="1074" r:id="rId25"/>
    <p:sldId id="1028" r:id="rId26"/>
    <p:sldId id="1029" r:id="rId27"/>
    <p:sldId id="1013" r:id="rId28"/>
    <p:sldId id="1012" r:id="rId29"/>
    <p:sldId id="1046" r:id="rId30"/>
    <p:sldId id="1318" r:id="rId31"/>
    <p:sldId id="996" r:id="rId32"/>
    <p:sldId id="1302" r:id="rId33"/>
  </p:sldIdLst>
  <p:sldSz cx="9144000" cy="6858000" type="screen4x3"/>
  <p:notesSz cx="6794500" cy="9918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pos="5520" userDrawn="1">
          <p15:clr>
            <a:srgbClr val="A4A3A4"/>
          </p15:clr>
        </p15:guide>
        <p15:guide id="4" orient="horz" pos="3840" userDrawn="1">
          <p15:clr>
            <a:srgbClr val="A4A3A4"/>
          </p15:clr>
        </p15:guide>
        <p15:guide id="5" orient="horz" pos="576" userDrawn="1">
          <p15:clr>
            <a:srgbClr val="A4A3A4"/>
          </p15:clr>
        </p15:guide>
        <p15:guide id="6" pos="4560" userDrawn="1">
          <p15:clr>
            <a:srgbClr val="A4A3A4"/>
          </p15:clr>
        </p15:guide>
        <p15:guide id="7" pos="2976" userDrawn="1">
          <p15:clr>
            <a:srgbClr val="A4A3A4"/>
          </p15:clr>
        </p15:guide>
        <p15:guide id="8" pos="2928" userDrawn="1">
          <p15:clr>
            <a:srgbClr val="A4A3A4"/>
          </p15:clr>
        </p15:guide>
        <p15:guide id="9" pos="3024" userDrawn="1">
          <p15:clr>
            <a:srgbClr val="A4A3A4"/>
          </p15:clr>
        </p15:guide>
        <p15:guide id="10" orient="horz" pos="2400" userDrawn="1">
          <p15:clr>
            <a:srgbClr val="A4A3A4"/>
          </p15:clr>
        </p15:guide>
        <p15:guide id="11" orient="horz" pos="2352" userDrawn="1">
          <p15:clr>
            <a:srgbClr val="A4A3A4"/>
          </p15:clr>
        </p15:guide>
        <p15:guide id="12" orient="horz" pos="24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hrenburg Mark" initials="WM" lastIdx="1" clrIdx="0">
    <p:extLst>
      <p:ext uri="{19B8F6BF-5375-455C-9EA6-DF929625EA0E}">
        <p15:presenceInfo xmlns:p15="http://schemas.microsoft.com/office/powerpoint/2012/main" userId="Wahrenburg Mar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A9A6F-AE9A-4BEC-A321-EBC408B0F050}" v="6" dt="2026-07-07T15:51:08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7" autoAdjust="0"/>
    <p:restoredTop sz="96378" autoAdjust="0"/>
  </p:normalViewPr>
  <p:slideViewPr>
    <p:cSldViewPr showGuides="1">
      <p:cViewPr>
        <p:scale>
          <a:sx n="70" d="100"/>
          <a:sy n="70" d="100"/>
        </p:scale>
        <p:origin x="1206" y="48"/>
      </p:cViewPr>
      <p:guideLst>
        <p:guide orient="horz" pos="864"/>
        <p:guide pos="384"/>
        <p:guide pos="5520"/>
        <p:guide orient="horz" pos="3840"/>
        <p:guide orient="horz" pos="576"/>
        <p:guide pos="4560"/>
        <p:guide pos="2976"/>
        <p:guide pos="2928"/>
        <p:guide pos="3024"/>
        <p:guide orient="horz" pos="2400"/>
        <p:guide orient="horz" pos="2352"/>
        <p:guide orient="horz" pos="2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1" d="100"/>
        <a:sy n="121" d="100"/>
      </p:scale>
      <p:origin x="0" y="-125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oardo Pilla" userId="8af74c8bac987fa1" providerId="LiveId" clId="{96228300-3C82-4B76-BE9B-D4DF17FD9AEF}"/>
    <pc:docChg chg="undo custSel addSld delSld modSld sldOrd">
      <pc:chgData name="Edoardo Pilla" userId="8af74c8bac987fa1" providerId="LiveId" clId="{96228300-3C82-4B76-BE9B-D4DF17FD9AEF}" dt="2026-07-07T16:00:06.584" v="274" actId="20577"/>
      <pc:docMkLst>
        <pc:docMk/>
      </pc:docMkLst>
      <pc:sldChg chg="modSp mod">
        <pc:chgData name="Edoardo Pilla" userId="8af74c8bac987fa1" providerId="LiveId" clId="{96228300-3C82-4B76-BE9B-D4DF17FD9AEF}" dt="2026-07-07T15:54:30.776" v="234" actId="20577"/>
        <pc:sldMkLst>
          <pc:docMk/>
          <pc:sldMk cId="653819588" sldId="1008"/>
        </pc:sldMkLst>
        <pc:spChg chg="mod">
          <ac:chgData name="Edoardo Pilla" userId="8af74c8bac987fa1" providerId="LiveId" clId="{96228300-3C82-4B76-BE9B-D4DF17FD9AEF}" dt="2026-07-07T15:54:30.776" v="234" actId="20577"/>
          <ac:spMkLst>
            <pc:docMk/>
            <pc:sldMk cId="653819588" sldId="1008"/>
            <ac:spMk id="4" creationId="{80BFEA77-A4EA-4A4C-B3BC-E2F9F1ACC9A1}"/>
          </ac:spMkLst>
        </pc:spChg>
      </pc:sldChg>
      <pc:sldChg chg="modSp mod">
        <pc:chgData name="Edoardo Pilla" userId="8af74c8bac987fa1" providerId="LiveId" clId="{96228300-3C82-4B76-BE9B-D4DF17FD9AEF}" dt="2026-07-07T15:50:48.679" v="227" actId="20577"/>
        <pc:sldMkLst>
          <pc:docMk/>
          <pc:sldMk cId="1202865817" sldId="1039"/>
        </pc:sldMkLst>
        <pc:spChg chg="mod">
          <ac:chgData name="Edoardo Pilla" userId="8af74c8bac987fa1" providerId="LiveId" clId="{96228300-3C82-4B76-BE9B-D4DF17FD9AEF}" dt="2026-07-07T15:50:48.679" v="227" actId="20577"/>
          <ac:spMkLst>
            <pc:docMk/>
            <pc:sldMk cId="1202865817" sldId="1039"/>
            <ac:spMk id="19" creationId="{ECEF9D5B-292C-ED6F-9074-72892FC63EAE}"/>
          </ac:spMkLst>
        </pc:spChg>
      </pc:sldChg>
      <pc:sldChg chg="modSp mod">
        <pc:chgData name="Edoardo Pilla" userId="8af74c8bac987fa1" providerId="LiveId" clId="{96228300-3C82-4B76-BE9B-D4DF17FD9AEF}" dt="2026-07-07T15:58:39.258" v="245" actId="20577"/>
        <pc:sldMkLst>
          <pc:docMk/>
          <pc:sldMk cId="1273173643" sldId="1046"/>
        </pc:sldMkLst>
        <pc:graphicFrameChg chg="modGraphic">
          <ac:chgData name="Edoardo Pilla" userId="8af74c8bac987fa1" providerId="LiveId" clId="{96228300-3C82-4B76-BE9B-D4DF17FD9AEF}" dt="2026-07-07T15:58:39.258" v="245" actId="20577"/>
          <ac:graphicFrameMkLst>
            <pc:docMk/>
            <pc:sldMk cId="1273173643" sldId="1046"/>
            <ac:graphicFrameMk id="6" creationId="{D1AE3585-2F21-4FD3-A6E3-CBF4B2CB4897}"/>
          </ac:graphicFrameMkLst>
        </pc:graphicFrameChg>
      </pc:sldChg>
      <pc:sldChg chg="modSp mod">
        <pc:chgData name="Edoardo Pilla" userId="8af74c8bac987fa1" providerId="LiveId" clId="{96228300-3C82-4B76-BE9B-D4DF17FD9AEF}" dt="2026-07-07T13:29:08.459" v="32" actId="20577"/>
        <pc:sldMkLst>
          <pc:docMk/>
          <pc:sldMk cId="1916452318" sldId="1300"/>
        </pc:sldMkLst>
        <pc:spChg chg="mod">
          <ac:chgData name="Edoardo Pilla" userId="8af74c8bac987fa1" providerId="LiveId" clId="{96228300-3C82-4B76-BE9B-D4DF17FD9AEF}" dt="2026-07-07T13:29:08.459" v="32" actId="20577"/>
          <ac:spMkLst>
            <pc:docMk/>
            <pc:sldMk cId="1916452318" sldId="1300"/>
            <ac:spMk id="158" creationId="{00000000-0000-0000-0000-000000000000}"/>
          </ac:spMkLst>
        </pc:spChg>
      </pc:sldChg>
      <pc:sldChg chg="modSp add mod">
        <pc:chgData name="Edoardo Pilla" userId="8af74c8bac987fa1" providerId="LiveId" clId="{96228300-3C82-4B76-BE9B-D4DF17FD9AEF}" dt="2026-07-07T16:00:06.584" v="274" actId="20577"/>
        <pc:sldMkLst>
          <pc:docMk/>
          <pc:sldMk cId="578491266" sldId="1302"/>
        </pc:sldMkLst>
        <pc:spChg chg="mod">
          <ac:chgData name="Edoardo Pilla" userId="8af74c8bac987fa1" providerId="LiveId" clId="{96228300-3C82-4B76-BE9B-D4DF17FD9AEF}" dt="2026-07-07T16:00:06.584" v="274" actId="20577"/>
          <ac:spMkLst>
            <pc:docMk/>
            <pc:sldMk cId="578491266" sldId="1302"/>
            <ac:spMk id="8" creationId="{238A6A1F-02EE-B3E3-1000-E1F616DE351C}"/>
          </ac:spMkLst>
        </pc:spChg>
      </pc:sldChg>
      <pc:sldChg chg="modSp mod">
        <pc:chgData name="Edoardo Pilla" userId="8af74c8bac987fa1" providerId="LiveId" clId="{96228300-3C82-4B76-BE9B-D4DF17FD9AEF}" dt="2026-07-07T15:55:07.965" v="235" actId="20577"/>
        <pc:sldMkLst>
          <pc:docMk/>
          <pc:sldMk cId="548871449" sldId="1308"/>
        </pc:sldMkLst>
        <pc:spChg chg="mod">
          <ac:chgData name="Edoardo Pilla" userId="8af74c8bac987fa1" providerId="LiveId" clId="{96228300-3C82-4B76-BE9B-D4DF17FD9AEF}" dt="2026-07-07T15:55:07.965" v="235" actId="20577"/>
          <ac:spMkLst>
            <pc:docMk/>
            <pc:sldMk cId="548871449" sldId="1308"/>
            <ac:spMk id="9" creationId="{67991B6E-BEA9-2ACB-90D6-B28157BF0C50}"/>
          </ac:spMkLst>
        </pc:spChg>
      </pc:sldChg>
      <pc:sldChg chg="modSp mod">
        <pc:chgData name="Edoardo Pilla" userId="8af74c8bac987fa1" providerId="LiveId" clId="{96228300-3C82-4B76-BE9B-D4DF17FD9AEF}" dt="2026-07-07T13:32:14.825" v="190" actId="20577"/>
        <pc:sldMkLst>
          <pc:docMk/>
          <pc:sldMk cId="2137287246" sldId="1315"/>
        </pc:sldMkLst>
        <pc:spChg chg="mod">
          <ac:chgData name="Edoardo Pilla" userId="8af74c8bac987fa1" providerId="LiveId" clId="{96228300-3C82-4B76-BE9B-D4DF17FD9AEF}" dt="2026-07-07T13:32:14.825" v="190" actId="20577"/>
          <ac:spMkLst>
            <pc:docMk/>
            <pc:sldMk cId="2137287246" sldId="1315"/>
            <ac:spMk id="6" creationId="{D5BB8ADB-3323-4141-B69D-BED8185AF659}"/>
          </ac:spMkLst>
        </pc:spChg>
      </pc:sldChg>
      <pc:sldChg chg="modSp mod">
        <pc:chgData name="Edoardo Pilla" userId="8af74c8bac987fa1" providerId="LiveId" clId="{96228300-3C82-4B76-BE9B-D4DF17FD9AEF}" dt="2026-07-07T15:59:22.705" v="255" actId="20577"/>
        <pc:sldMkLst>
          <pc:docMk/>
          <pc:sldMk cId="1554670529" sldId="1318"/>
        </pc:sldMkLst>
        <pc:spChg chg="mod">
          <ac:chgData name="Edoardo Pilla" userId="8af74c8bac987fa1" providerId="LiveId" clId="{96228300-3C82-4B76-BE9B-D4DF17FD9AEF}" dt="2026-07-07T15:59:22.705" v="255" actId="20577"/>
          <ac:spMkLst>
            <pc:docMk/>
            <pc:sldMk cId="1554670529" sldId="1318"/>
            <ac:spMk id="8" creationId="{238A6A1F-02EE-B3E3-1000-E1F616DE351C}"/>
          </ac:spMkLst>
        </pc:spChg>
      </pc:sldChg>
      <pc:sldChg chg="add ord">
        <pc:chgData name="Edoardo Pilla" userId="8af74c8bac987fa1" providerId="LiveId" clId="{96228300-3C82-4B76-BE9B-D4DF17FD9AEF}" dt="2026-07-07T13:31:46.902" v="168"/>
        <pc:sldMkLst>
          <pc:docMk/>
          <pc:sldMk cId="4024351231" sldId="1319"/>
        </pc:sldMkLst>
      </pc:sldChg>
      <pc:sldChg chg="add ord">
        <pc:chgData name="Edoardo Pilla" userId="8af74c8bac987fa1" providerId="LiveId" clId="{96228300-3C82-4B76-BE9B-D4DF17FD9AEF}" dt="2026-07-07T13:31:50.243" v="170"/>
        <pc:sldMkLst>
          <pc:docMk/>
          <pc:sldMk cId="3752973783" sldId="1320"/>
        </pc:sldMkLst>
      </pc:sldChg>
      <pc:sldChg chg="modSp mod">
        <pc:chgData name="Edoardo Pilla" userId="8af74c8bac987fa1" providerId="LiveId" clId="{96228300-3C82-4B76-BE9B-D4DF17FD9AEF}" dt="2026-07-07T15:53:16.119" v="228" actId="20577"/>
        <pc:sldMkLst>
          <pc:docMk/>
          <pc:sldMk cId="1195984805" sldId="1321"/>
        </pc:sldMkLst>
        <pc:spChg chg="mod">
          <ac:chgData name="Edoardo Pilla" userId="8af74c8bac987fa1" providerId="LiveId" clId="{96228300-3C82-4B76-BE9B-D4DF17FD9AEF}" dt="2026-07-07T15:53:16.119" v="228" actId="20577"/>
          <ac:spMkLst>
            <pc:docMk/>
            <pc:sldMk cId="1195984805" sldId="1321"/>
            <ac:spMk id="4" creationId="{879E4A6B-D2C4-4C82-B60A-17FD87D6F680}"/>
          </ac:spMkLst>
        </pc:spChg>
      </pc:sldChg>
      <pc:sldChg chg="add del">
        <pc:chgData name="Edoardo Pilla" userId="8af74c8bac987fa1" providerId="LiveId" clId="{96228300-3C82-4B76-BE9B-D4DF17FD9AEF}" dt="2026-07-07T13:29:41.790" v="34"/>
        <pc:sldMkLst>
          <pc:docMk/>
          <pc:sldMk cId="1444406330" sldId="1322"/>
        </pc:sldMkLst>
      </pc:sldChg>
      <pc:sldChg chg="modSp add del mod">
        <pc:chgData name="Edoardo Pilla" userId="8af74c8bac987fa1" providerId="LiveId" clId="{96228300-3C82-4B76-BE9B-D4DF17FD9AEF}" dt="2026-07-07T13:32:18.186" v="191" actId="47"/>
        <pc:sldMkLst>
          <pc:docMk/>
          <pc:sldMk cId="2586115884" sldId="1322"/>
        </pc:sldMkLst>
        <pc:spChg chg="mod">
          <ac:chgData name="Edoardo Pilla" userId="8af74c8bac987fa1" providerId="LiveId" clId="{96228300-3C82-4B76-BE9B-D4DF17FD9AEF}" dt="2026-07-07T13:31:34.545" v="166" actId="20577"/>
          <ac:spMkLst>
            <pc:docMk/>
            <pc:sldMk cId="2586115884" sldId="1322"/>
            <ac:spMk id="158" creationId="{B34A6919-AA8F-07C5-EB86-C61435B531A7}"/>
          </ac:spMkLst>
        </pc:spChg>
      </pc:sldChg>
      <pc:sldChg chg="add del">
        <pc:chgData name="Edoardo Pilla" userId="8af74c8bac987fa1" providerId="LiveId" clId="{96228300-3C82-4B76-BE9B-D4DF17FD9AEF}" dt="2026-07-07T13:29:41.790" v="34"/>
        <pc:sldMkLst>
          <pc:docMk/>
          <pc:sldMk cId="3348219398" sldId="13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3776" cy="498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550" y="1"/>
            <a:ext cx="2944863" cy="498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502E04A-DCB6-4D54-86CB-06B03D03AC97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0448"/>
            <a:ext cx="2943776" cy="4982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550" y="9420448"/>
            <a:ext cx="2944863" cy="4982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BD0B99-473D-486D-B5DE-1C0E5C5D0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9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3776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550" y="1"/>
            <a:ext cx="2944863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57762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668" y="4711384"/>
            <a:ext cx="5435165" cy="4463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0449"/>
            <a:ext cx="2943776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550" y="9420449"/>
            <a:ext cx="2944863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71898B6-A368-415F-8AED-56C1D771F4D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966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5618160" y="6453360"/>
            <a:ext cx="42973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A56D6D8-26A8-42B0-963D-B3C3592C5CB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body"/>
          </p:nvPr>
        </p:nvSpPr>
        <p:spPr>
          <a:xfrm>
            <a:off x="992160" y="3227400"/>
            <a:ext cx="7932600" cy="3055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015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CA1DE3-7444-49F6-937B-D9ADB9B856AD}" type="slidenum">
              <a:rPr lang="en-US" altLang="de-DE">
                <a:latin typeface="Times New Roman" panose="02020603050405020304" pitchFamily="18" charset="0"/>
              </a:rPr>
              <a:t>17</a:t>
            </a:fld>
            <a:endParaRPr lang="en-US" altLang="de-DE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2050" y="679450"/>
            <a:ext cx="4535488" cy="3400425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40984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CA1DE3-7444-49F6-937B-D9ADB9B856AD}" type="slidenum">
              <a:rPr lang="en-US" altLang="de-DE">
                <a:latin typeface="Times New Roman" panose="02020603050405020304" pitchFamily="18" charset="0"/>
              </a:rPr>
              <a:t>18</a:t>
            </a:fld>
            <a:endParaRPr lang="en-US" altLang="de-DE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2050" y="679450"/>
            <a:ext cx="4535488" cy="3400425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0228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23704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6416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7124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7151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60864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52400" y="116632"/>
            <a:ext cx="7239000" cy="492968"/>
          </a:xfrm>
          <a:prstGeom prst="rect">
            <a:avLst/>
          </a:prstGeom>
        </p:spPr>
        <p:txBody>
          <a:bodyPr anchor="b"/>
          <a:lstStyle>
            <a:lvl1pPr>
              <a:defRPr sz="24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8806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0441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7259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1697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0634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491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1913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65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807226CC-4476-41AD-9A1D-6C77F6E9F681}" type="slidenum">
              <a:rPr lang="de-DE" altLang="de-DE" smtClean="0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21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250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911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2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3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96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245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4618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421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773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371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4028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60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391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5232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010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2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601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260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8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094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302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308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870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715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3DC75-FDC0-45AC-BE6D-11BCFBB30138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6507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12CF6-6F5D-46CA-B926-41EEB42AE8D0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6108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D0F64-2753-4F11-84BE-F30A78BA2B86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517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DCB16-F2CE-44E7-A880-890E22F743FC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14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9643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1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11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3.xml"/><Relationship Id="rId7" Type="http://schemas.openxmlformats.org/officeDocument/2006/relationships/image" Target="../media/image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ern.nyu.edu/~adamodar/New_Home_Page/datafile/ctryprem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415800" y="1097160"/>
            <a:ext cx="8532720" cy="1569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dirty="0" err="1"/>
              <a:t>SoSe</a:t>
            </a:r>
            <a:r>
              <a:rPr lang="it-IT" dirty="0"/>
              <a:t> 26 – M&amp;A </a:t>
            </a:r>
            <a:r>
              <a:rPr lang="it-IT" dirty="0" err="1"/>
              <a:t>as</a:t>
            </a:r>
            <a:r>
              <a:rPr lang="it-IT" dirty="0"/>
              <a:t> Transformer of Automotive Industry </a:t>
            </a:r>
            <a:endParaRPr dirty="0"/>
          </a:p>
          <a:p>
            <a:pPr>
              <a:lnSpc>
                <a:spcPct val="100000"/>
              </a:lnSpc>
            </a:pPr>
            <a:r>
              <a:rPr lang="en-US" sz="3500" b="0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Introduction to Valuation – The case of </a:t>
            </a:r>
            <a:r>
              <a:rPr lang="en-US" sz="3500" b="0" strike="noStrike" spc="-1" dirty="0" err="1">
                <a:solidFill>
                  <a:srgbClr val="004F8F"/>
                </a:solidFill>
                <a:latin typeface="Arial Narrow"/>
                <a:ea typeface="Arial Narrow"/>
              </a:rPr>
              <a:t>Traton</a:t>
            </a:r>
            <a:r>
              <a:rPr lang="en-US" sz="3500" b="0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 SE</a:t>
            </a:r>
            <a:endParaRPr lang="en-US" sz="4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Prof. Dr. Mark </a:t>
            </a:r>
            <a:r>
              <a:rPr lang="en-US" sz="2800" b="0" strike="noStrike" spc="-1" dirty="0" err="1">
                <a:solidFill>
                  <a:srgbClr val="004F8F"/>
                </a:solidFill>
                <a:latin typeface="Arial Narrow"/>
                <a:ea typeface="Arial Narrow"/>
              </a:rPr>
              <a:t>Wahrenburg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FA40484E-038F-4A62-A2EA-BEA6C46342C6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1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45231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A00B1-A3B9-41F2-B199-47125CDD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Traton 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7179C2-AEDD-41BF-813D-3810D418E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91264" cy="50684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t>Traton SE is a global commercial vehicle manufacturer and holding company</a:t>
            </a:r>
          </a:p>
          <a:p>
            <a:pPr>
              <a:buFont typeface="Wingdings" panose="05000000000000000000" pitchFamily="2" charset="2"/>
              <a:buChar char="§"/>
            </a:pPr>
            <a:r>
              <a:t>Brands: Scania, MAN, International, and Volkswagen Truck &amp; Bus</a:t>
            </a:r>
            <a:endParaRPr lang="de-DE" sz="2000" dirty="0"/>
          </a:p>
          <a:p>
            <a:pPr>
              <a:buFont typeface="Wingdings" panose="05000000000000000000" pitchFamily="2" charset="2"/>
              <a:buChar char="§"/>
            </a:pPr>
            <a:r>
              <a:t>Founded in 2018 (renaming of Volkswagen Truck &amp; Bus)</a:t>
            </a:r>
          </a:p>
          <a:p>
            <a:pPr>
              <a:buFont typeface="Wingdings" panose="05000000000000000000" pitchFamily="2" charset="2"/>
              <a:buChar char="§"/>
            </a:pPr>
            <a:r>
              <a:t>2019: IPO on Frankfurt and Stockholm stock exchanges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t>2021: Acquisition of Navistar completed (International integration)</a:t>
            </a:r>
          </a:p>
          <a:p>
            <a:pPr>
              <a:buFont typeface="Wingdings" panose="05000000000000000000" pitchFamily="2" charset="2"/>
              <a:buChar char="§"/>
            </a:pPr>
            <a:r>
              <a:t>Focus on trucks, buses, and light-duty commercial vehicles</a:t>
            </a:r>
          </a:p>
          <a:p>
            <a:pPr>
              <a:buFont typeface="Wingdings" panose="05000000000000000000" pitchFamily="2" charset="2"/>
              <a:buChar char="§"/>
            </a:pPr>
            <a:r>
              <a:t>Industrial logic: scale, modular platforms, and global sourcing</a:t>
            </a:r>
          </a:p>
          <a:p>
            <a:pPr>
              <a:buFont typeface="Wingdings" panose="05000000000000000000" pitchFamily="2" charset="2"/>
              <a:buChar char="§"/>
            </a:pPr>
            <a:r>
              <a:t>Large installed base supports parts and services cash flows</a:t>
            </a:r>
            <a:endParaRPr lang="de-DE" sz="2000" dirty="0"/>
          </a:p>
          <a:p>
            <a:pPr>
              <a:buFont typeface="Wingdings" panose="05000000000000000000" pitchFamily="2" charset="2"/>
              <a:buChar char="§"/>
            </a:pPr>
            <a:r>
              <a:t>2025 sales revenue: EUR 44.1 bn (source: Traton factsheet)</a:t>
            </a:r>
            <a:endParaRPr lang="de-DE" sz="2000" dirty="0"/>
          </a:p>
          <a:p>
            <a:pPr>
              <a:buFont typeface="Wingdings" panose="05000000000000000000" pitchFamily="2" charset="2"/>
              <a:buChar char="§"/>
            </a:pPr>
            <a:r>
              <a:t>As of Jun 2026: ~107k employees and market cap ~EUR 16.15 bn</a:t>
            </a:r>
          </a:p>
          <a:p>
            <a:pPr>
              <a:buFont typeface="Wingdings" panose="05000000000000000000" pitchFamily="2" charset="2"/>
              <a:buChar char="§"/>
            </a:pPr>
            <a:r>
              <a:t>Long-term strategy: Transforming Transportation Together</a:t>
            </a:r>
          </a:p>
          <a:p>
            <a:endParaRPr lang="de-DE" sz="2000" dirty="0"/>
          </a:p>
          <a:p>
            <a:endParaRPr lang="de-DE" sz="2000" dirty="0"/>
          </a:p>
          <a:p>
            <a:endParaRPr lang="de-DE" sz="2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3B80C1-BB32-4F14-9780-439A0E570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  <p:pic>
        <p:nvPicPr>
          <p:cNvPr id="1027" name="Picture 1026" descr="trat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61020"/>
            <a:ext cx="47625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5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B40EF-C331-4267-9EB9-4F93C5305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81000"/>
            <a:ext cx="7239000" cy="457200"/>
          </a:xfrm>
        </p:spPr>
        <p:txBody>
          <a:bodyPr/>
          <a:lstStyle/>
          <a:p>
            <a:r>
              <a:rPr dirty="0"/>
              <a:t>Is </a:t>
            </a:r>
            <a:r>
              <a:rPr dirty="0" err="1"/>
              <a:t>Traton</a:t>
            </a:r>
            <a:r>
              <a:rPr dirty="0"/>
              <a:t> correctly valued by the market today?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F95A36D-A434-44EE-B059-F9199F29D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965B77-BA20-42A5-2E96-78CB8F30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404654"/>
            <a:ext cx="8462963" cy="528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7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Introduction to Valuation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4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392400" y="170136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Arial Narrow"/>
              </a:rPr>
              <a:t>DCF Valuation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Arial Narrow"/>
              </a:rPr>
              <a:t>Multiples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Arial Narrow"/>
              </a:rPr>
              <a:t>Football Field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24784C57-83D6-C516-D4E0-1089408A4964}"/>
              </a:ext>
            </a:extLst>
          </p:cNvPr>
          <p:cNvSpPr/>
          <p:nvPr/>
        </p:nvSpPr>
        <p:spPr bwMode="auto">
          <a:xfrm>
            <a:off x="318656" y="1730564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1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B02B50F-EAF8-96DA-61E3-AFFB3129AE80}"/>
              </a:ext>
            </a:extLst>
          </p:cNvPr>
          <p:cNvSpPr/>
          <p:nvPr/>
        </p:nvSpPr>
        <p:spPr bwMode="auto">
          <a:xfrm>
            <a:off x="336232" y="2547152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2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17B496E-122B-91ED-DC05-8CCAC587D9E8}"/>
              </a:ext>
            </a:extLst>
          </p:cNvPr>
          <p:cNvSpPr/>
          <p:nvPr/>
        </p:nvSpPr>
        <p:spPr bwMode="auto">
          <a:xfrm>
            <a:off x="337628" y="3325838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3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28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DCF Valuation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5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392400" y="170136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latin typeface="Arial Narrow"/>
              </a:rPr>
              <a:t>Free Cash Flow to the Firm</a:t>
            </a:r>
            <a:endParaRPr lang="en-US" sz="2600" spc="-1" dirty="0">
              <a:solidFill>
                <a:srgbClr val="000000"/>
              </a:solidFill>
              <a:latin typeface="Arial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Arial Narrow"/>
              </a:rPr>
              <a:t>WACC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latin typeface="Arial Narrow"/>
              </a:rPr>
              <a:t>Equity Bridge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spc="-1" dirty="0" err="1">
                <a:solidFill>
                  <a:srgbClr val="000000"/>
                </a:solidFill>
                <a:latin typeface="Arial Narrow"/>
              </a:rPr>
              <a:t>Sensitivities</a:t>
            </a:r>
            <a:endParaRPr lang="en-US" sz="2600" spc="-1" dirty="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CC23D0B-C086-1D7A-4CD9-8A4F48A7AFF2}"/>
              </a:ext>
            </a:extLst>
          </p:cNvPr>
          <p:cNvSpPr/>
          <p:nvPr/>
        </p:nvSpPr>
        <p:spPr bwMode="auto">
          <a:xfrm>
            <a:off x="176400" y="381000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1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54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88579C3-DB3F-4A1E-8D4D-16E23097B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6</a:t>
            </a:fld>
            <a:endParaRPr lang="de-DE" alt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E8E136E-BCB1-4082-A2FF-EF58C408FF4D}"/>
              </a:ext>
            </a:extLst>
          </p:cNvPr>
          <p:cNvSpPr txBox="1"/>
          <p:nvPr/>
        </p:nvSpPr>
        <p:spPr>
          <a:xfrm>
            <a:off x="977153" y="-17276"/>
            <a:ext cx="81534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de-DE" sz="1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F2D6A99C-ABFC-40A5-B874-7F16EFE375FC}"/>
              </a:ext>
            </a:extLst>
          </p:cNvPr>
          <p:cNvSpPr txBox="1">
            <a:spLocks noChangeArrowheads="1"/>
          </p:cNvSpPr>
          <p:nvPr/>
        </p:nvSpPr>
        <p:spPr>
          <a:xfrm>
            <a:off x="140678" y="60326"/>
            <a:ext cx="8859715" cy="340863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4F8F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en-US" dirty="0"/>
              <a:t>DCF Analysis by Professionals</a:t>
            </a:r>
          </a:p>
        </p:txBody>
      </p:sp>
      <p:grpSp>
        <p:nvGrpSpPr>
          <p:cNvPr id="17" name="Group 60">
            <a:extLst>
              <a:ext uri="{FF2B5EF4-FFF2-40B4-BE49-F238E27FC236}">
                <a16:creationId xmlns:a16="http://schemas.microsoft.com/office/drawing/2014/main" id="{8294D397-2BC5-4939-A95D-2E460802C938}"/>
              </a:ext>
            </a:extLst>
          </p:cNvPr>
          <p:cNvGrpSpPr>
            <a:grpSpLocks/>
          </p:cNvGrpSpPr>
          <p:nvPr/>
        </p:nvGrpSpPr>
        <p:grpSpPr bwMode="auto">
          <a:xfrm>
            <a:off x="139212" y="533400"/>
            <a:ext cx="8862646" cy="486507"/>
            <a:chOff x="95" y="332"/>
            <a:chExt cx="6048" cy="332"/>
          </a:xfrm>
        </p:grpSpPr>
        <p:sp>
          <p:nvSpPr>
            <p:cNvPr id="18" name="MessageBox">
              <a:extLst>
                <a:ext uri="{FF2B5EF4-FFF2-40B4-BE49-F238E27FC236}">
                  <a16:creationId xmlns:a16="http://schemas.microsoft.com/office/drawing/2014/main" id="{597EF887-314F-4EA8-B6D1-977339CB60A1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5" y="332"/>
              <a:ext cx="604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r>
                <a:rPr lang="en-US" sz="1400" dirty="0">
                  <a:solidFill>
                    <a:srgbClr val="00BDF2"/>
                  </a:solidFill>
                  <a:ea typeface="+mj-ea"/>
                </a:rPr>
                <a:t>Fundamental valuation of Continental results in a FV of €46.7bn and an EV of €38.0bn considering a WACC of 10% and a perpetuity growth rate of 3%. Additional upside could be realized if synergies would be considered.</a:t>
              </a:r>
            </a:p>
          </p:txBody>
        </p:sp>
        <p:sp>
          <p:nvSpPr>
            <p:cNvPr id="19" name="MessageLine">
              <a:extLst>
                <a:ext uri="{FF2B5EF4-FFF2-40B4-BE49-F238E27FC236}">
                  <a16:creationId xmlns:a16="http://schemas.microsoft.com/office/drawing/2014/main" id="{B997C8CB-7AC4-4096-BA59-E28CF2B44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" y="664"/>
              <a:ext cx="6048" cy="0"/>
            </a:xfrm>
            <a:prstGeom prst="line">
              <a:avLst/>
            </a:prstGeom>
            <a:noFill/>
            <a:ln w="6350">
              <a:solidFill>
                <a:srgbClr val="97999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400">
                <a:solidFill>
                  <a:srgbClr val="53565A"/>
                </a:solidFill>
                <a:ea typeface="ヒラギノ角ゴ Pro W3" pitchFamily="124" charset="-128"/>
              </a:endParaRPr>
            </a:p>
          </p:txBody>
        </p:sp>
      </p:grpSp>
      <p:sp>
        <p:nvSpPr>
          <p:cNvPr id="20" name="Text Box 6">
            <a:extLst>
              <a:ext uri="{FF2B5EF4-FFF2-40B4-BE49-F238E27FC236}">
                <a16:creationId xmlns:a16="http://schemas.microsoft.com/office/drawing/2014/main" id="{5A6B8782-2323-49C5-88AF-CBA0A5A91B7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44438" y="1066800"/>
            <a:ext cx="3004038" cy="26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2203" rIns="42203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1108" dirty="0">
                <a:solidFill>
                  <a:srgbClr val="002D72"/>
                </a:solidFill>
                <a:latin typeface="Arial"/>
                <a:ea typeface="ヒラギノ角ゴ Pro W3" pitchFamily="124" charset="-128"/>
              </a:rPr>
              <a:t>Financial Summary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E55AAE92-DEFB-48AA-88E1-7A5C09D2C47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63123" y="6279388"/>
            <a:ext cx="8680102" cy="34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/>
            <a:r>
              <a:rPr lang="en-US" sz="646" dirty="0">
                <a:solidFill>
                  <a:srgbClr val="53565A"/>
                </a:solidFill>
              </a:rPr>
              <a:t>Source: </a:t>
            </a:r>
            <a:r>
              <a:rPr lang="de-DE" sz="646" dirty="0">
                <a:solidFill>
                  <a:srgbClr val="53565A"/>
                </a:solidFill>
              </a:rPr>
              <a:t>Company Information, Bloomberg, FactSet </a:t>
            </a:r>
            <a:r>
              <a:rPr lang="de-DE" sz="646" dirty="0" err="1">
                <a:solidFill>
                  <a:srgbClr val="53565A"/>
                </a:solidFill>
              </a:rPr>
              <a:t>as of </a:t>
            </a:r>
            <a:r>
              <a:rPr lang="de-DE" sz="646" dirty="0">
                <a:solidFill>
                  <a:srgbClr val="53565A"/>
                </a:solidFill>
              </a:rPr>
              <a:t>August 26, 2014.</a:t>
            </a:r>
            <a:endParaRPr lang="en-US" sz="646" dirty="0">
              <a:solidFill>
                <a:srgbClr val="53565A"/>
              </a:solidFill>
            </a:endParaRPr>
          </a:p>
        </p:txBody>
      </p:sp>
      <p:pic>
        <p:nvPicPr>
          <p:cNvPr id="23" name="Picture 10">
            <a:extLst>
              <a:ext uri="{FF2B5EF4-FFF2-40B4-BE49-F238E27FC236}">
                <a16:creationId xmlns:a16="http://schemas.microsoft.com/office/drawing/2014/main" id="{D2378815-380A-4E01-B775-75FBBB5FB6D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23" y="1360858"/>
            <a:ext cx="8504640" cy="3006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2FA190DC-E751-4EE5-8AE1-097B4051998C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23" y="4648274"/>
            <a:ext cx="4232293" cy="144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842B3198-8ECE-4AA7-9DD3-835763FB0B62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998" y="4645767"/>
            <a:ext cx="4121500" cy="1440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ectangle 21">
            <a:extLst>
              <a:ext uri="{FF2B5EF4-FFF2-40B4-BE49-F238E27FC236}">
                <a16:creationId xmlns:a16="http://schemas.microsoft.com/office/drawing/2014/main" id="{1731933A-81E5-4919-8AF3-4C2777DC6D20}"/>
              </a:ext>
            </a:extLst>
          </p:cNvPr>
          <p:cNvSpPr/>
          <p:nvPr/>
        </p:nvSpPr>
        <p:spPr bwMode="auto">
          <a:xfrm>
            <a:off x="2328178" y="3935896"/>
            <a:ext cx="5749022" cy="3516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28" name="MessageLine">
            <a:extLst>
              <a:ext uri="{FF2B5EF4-FFF2-40B4-BE49-F238E27FC236}">
                <a16:creationId xmlns:a16="http://schemas.microsoft.com/office/drawing/2014/main" id="{66B4FE6A-0D3C-4C8A-A096-B388666E8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48" y="480392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820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From Revenues </a:t>
            </a:r>
            <a:r>
              <a:rPr lang="en-US" sz="3600" b="1" strike="noStrike" spc="-1" dirty="0" err="1">
                <a:solidFill>
                  <a:srgbClr val="004F8F"/>
                </a:solidFill>
                <a:latin typeface="Arial Narrow"/>
                <a:ea typeface="Arial Narrow"/>
              </a:rPr>
              <a:t>to </a:t>
            </a: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Cash Flow 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7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18D2313A-1895-5832-6241-75B7C620462B}"/>
              </a:ext>
            </a:extLst>
          </p:cNvPr>
          <p:cNvSpPr/>
          <p:nvPr/>
        </p:nvSpPr>
        <p:spPr>
          <a:xfrm>
            <a:off x="392400" y="170136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800">
              <a:buClr>
                <a:srgbClr val="000000"/>
              </a:buClr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647F70BF-8FFF-B3C9-41E3-458A995F0D9C}"/>
              </a:ext>
            </a:extLst>
          </p:cNvPr>
          <p:cNvSpPr/>
          <p:nvPr/>
        </p:nvSpPr>
        <p:spPr bwMode="auto">
          <a:xfrm>
            <a:off x="734160" y="1477474"/>
            <a:ext cx="228715" cy="2782355"/>
          </a:xfrm>
          <a:prstGeom prst="leftBrac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6BA344C-36FF-3741-F063-90FB04BA6021}"/>
              </a:ext>
            </a:extLst>
          </p:cNvPr>
          <p:cNvSpPr/>
          <p:nvPr/>
        </p:nvSpPr>
        <p:spPr bwMode="auto">
          <a:xfrm>
            <a:off x="762000" y="4634229"/>
            <a:ext cx="298075" cy="1918971"/>
          </a:xfrm>
          <a:prstGeom prst="leftBrac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C2809-327F-8DE8-D128-0DA455F8F1D6}"/>
              </a:ext>
            </a:extLst>
          </p:cNvPr>
          <p:cNvSpPr txBox="1"/>
          <p:nvPr/>
        </p:nvSpPr>
        <p:spPr>
          <a:xfrm>
            <a:off x="76200" y="1524000"/>
            <a:ext cx="430887" cy="343716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000000"/>
                </a:solidFill>
                <a:latin typeface="+mn-lt"/>
              </a:rPr>
              <a:t>Income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C29E6C-EB03-B8CD-FF48-1BB3AD3376FE}"/>
              </a:ext>
            </a:extLst>
          </p:cNvPr>
          <p:cNvSpPr txBox="1"/>
          <p:nvPr/>
        </p:nvSpPr>
        <p:spPr>
          <a:xfrm>
            <a:off x="57052" y="4046580"/>
            <a:ext cx="677108" cy="343716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000000"/>
                </a:solidFill>
                <a:latin typeface="+mn-lt"/>
              </a:rPr>
              <a:t>CF Statement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+mn-lt"/>
              </a:rPr>
              <a:t>Cash Adjustments</a:t>
            </a:r>
            <a:endParaRPr lang="en-DE" sz="160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11" name="Inhaltsplatzhalter 6">
            <a:extLst>
              <a:ext uri="{FF2B5EF4-FFF2-40B4-BE49-F238E27FC236}">
                <a16:creationId xmlns:a16="http://schemas.microsoft.com/office/drawing/2014/main" id="{5493E136-A623-48CE-B2F9-783C987E1F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1640230"/>
              </p:ext>
            </p:extLst>
          </p:nvPr>
        </p:nvGraphicFramePr>
        <p:xfrm>
          <a:off x="1447800" y="1752600"/>
          <a:ext cx="1986750" cy="2349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964">
                  <a:extLst>
                    <a:ext uri="{9D8B030D-6E8A-4147-A177-3AD203B41FA5}">
                      <a16:colId xmlns:a16="http://schemas.microsoft.com/office/drawing/2014/main" val="3018862632"/>
                    </a:ext>
                  </a:extLst>
                </a:gridCol>
                <a:gridCol w="1425786">
                  <a:extLst>
                    <a:ext uri="{9D8B030D-6E8A-4147-A177-3AD203B41FA5}">
                      <a16:colId xmlns:a16="http://schemas.microsoft.com/office/drawing/2014/main" val="3593654540"/>
                    </a:ext>
                  </a:extLst>
                </a:gridCol>
              </a:tblGrid>
              <a:tr h="335598">
                <a:tc>
                  <a:txBody>
                    <a:bodyPr/>
                    <a:lstStyle/>
                    <a:p>
                      <a:pPr algn="l" fontAlgn="t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 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GB" sz="190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evenue</a:t>
                      </a:r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s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/>
                </a:tc>
                <a:extLst>
                  <a:ext uri="{0D108BD9-81ED-4DB2-BD59-A6C34878D82A}">
                    <a16:rowId xmlns:a16="http://schemas.microsoft.com/office/drawing/2014/main" val="574133456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-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COGS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/>
                </a:tc>
                <a:extLst>
                  <a:ext uri="{0D108BD9-81ED-4DB2-BD59-A6C34878D82A}">
                    <a16:rowId xmlns:a16="http://schemas.microsoft.com/office/drawing/2014/main" val="947103086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 </a:t>
                      </a:r>
                      <a:endParaRPr lang="de-DE" sz="1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/>
                </a:tc>
                <a:extLst>
                  <a:ext uri="{0D108BD9-81ED-4DB2-BD59-A6C34878D82A}">
                    <a16:rowId xmlns:a16="http://schemas.microsoft.com/office/drawing/2014/main" val="1812111197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-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SG&amp;A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1320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=</a:t>
                      </a:r>
                      <a:endParaRPr lang="de-DE" sz="1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EBIT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3585388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+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Dep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725786"/>
                  </a:ext>
                </a:extLst>
              </a:tr>
              <a:tr h="335598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b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=</a:t>
                      </a:r>
                      <a:endParaRPr lang="de-DE" sz="1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b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EBITDA</a:t>
                      </a:r>
                      <a:endParaRPr lang="de-DE" sz="1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070" marR="8070" marT="807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215406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2ED3A817-0BB5-43C4-B8DE-8F10B19C8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6825"/>
              </p:ext>
            </p:extLst>
          </p:nvPr>
        </p:nvGraphicFramePr>
        <p:xfrm>
          <a:off x="1447800" y="4259829"/>
          <a:ext cx="3076306" cy="17819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8603">
                  <a:extLst>
                    <a:ext uri="{9D8B030D-6E8A-4147-A177-3AD203B41FA5}">
                      <a16:colId xmlns:a16="http://schemas.microsoft.com/office/drawing/2014/main" val="3401221568"/>
                    </a:ext>
                  </a:extLst>
                </a:gridCol>
                <a:gridCol w="2207703">
                  <a:extLst>
                    <a:ext uri="{9D8B030D-6E8A-4147-A177-3AD203B41FA5}">
                      <a16:colId xmlns:a16="http://schemas.microsoft.com/office/drawing/2014/main" val="297548246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-</a:t>
                      </a:r>
                      <a:endParaRPr lang="de-DE" sz="1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90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Taxes    (</a:t>
                      </a:r>
                      <a:r>
                        <a:rPr lang="en-US" sz="190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= </a:t>
                      </a:r>
                      <a:r>
                        <a:rPr lang="de-DE" sz="190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 x EBIT)</a:t>
                      </a:r>
                      <a:endParaRPr lang="en-US" sz="1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3376855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-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∆NWC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/>
                </a:tc>
                <a:extLst>
                  <a:ext uri="{0D108BD9-81ED-4DB2-BD59-A6C34878D82A}">
                    <a16:rowId xmlns:a16="http://schemas.microsoft.com/office/drawing/2014/main" val="170610002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-</a:t>
                      </a:r>
                      <a:endParaRPr lang="de-DE" sz="1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de-DE" sz="1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CAPEX</a:t>
                      </a:r>
                      <a:endParaRPr lang="de-DE" sz="1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/>
                </a:tc>
                <a:extLst>
                  <a:ext uri="{0D108BD9-81ED-4DB2-BD59-A6C34878D82A}">
                    <a16:rowId xmlns:a16="http://schemas.microsoft.com/office/drawing/2014/main" val="405523765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 </a:t>
                      </a:r>
                      <a:endParaRPr lang="de-DE" sz="1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b"/>
                </a:tc>
                <a:extLst>
                  <a:ext uri="{0D108BD9-81ED-4DB2-BD59-A6C34878D82A}">
                    <a16:rowId xmlns:a16="http://schemas.microsoft.com/office/drawing/2014/main" val="29762871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 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 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11381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b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=</a:t>
                      </a:r>
                      <a:endParaRPr lang="de-DE" sz="1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e-DE" sz="1900" b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FCFF</a:t>
                      </a:r>
                      <a:endParaRPr lang="de-DE" sz="1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431" marR="7431" marT="7431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0807873"/>
                  </a:ext>
                </a:extLst>
              </a:tr>
            </a:tbl>
          </a:graphicData>
        </a:graphic>
      </p:graphicFrame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C4B313DD-7BF8-45B3-AAD9-DE15FB2ADF9A}"/>
              </a:ext>
            </a:extLst>
          </p:cNvPr>
          <p:cNvSpPr/>
          <p:nvPr/>
        </p:nvSpPr>
        <p:spPr bwMode="auto">
          <a:xfrm rot="10800000">
            <a:off x="5000894" y="3384393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6B5E6ABA-76AD-4BD5-8E6B-DFE84105551A}"/>
              </a:ext>
            </a:extLst>
          </p:cNvPr>
          <p:cNvSpPr/>
          <p:nvPr/>
        </p:nvSpPr>
        <p:spPr bwMode="auto">
          <a:xfrm rot="10800000">
            <a:off x="5077095" y="4527393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4AB76065-35CF-47AF-9C99-BACABE5A82F4}"/>
              </a:ext>
            </a:extLst>
          </p:cNvPr>
          <p:cNvSpPr/>
          <p:nvPr/>
        </p:nvSpPr>
        <p:spPr bwMode="auto">
          <a:xfrm rot="10800000">
            <a:off x="5077095" y="4832192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27943FC6-D659-4443-B34C-8F162790B2D0}"/>
              </a:ext>
            </a:extLst>
          </p:cNvPr>
          <p:cNvSpPr/>
          <p:nvPr/>
        </p:nvSpPr>
        <p:spPr bwMode="auto">
          <a:xfrm rot="10800000">
            <a:off x="4953000" y="1752600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CCD9C534-87B4-4F70-9D74-2E4019476378}"/>
              </a:ext>
            </a:extLst>
          </p:cNvPr>
          <p:cNvSpPr/>
          <p:nvPr/>
        </p:nvSpPr>
        <p:spPr bwMode="auto">
          <a:xfrm rot="10800000">
            <a:off x="4953000" y="2057399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4C1EAB27-819E-4BD3-8F76-1B97F333ABD5}"/>
              </a:ext>
            </a:extLst>
          </p:cNvPr>
          <p:cNvSpPr/>
          <p:nvPr/>
        </p:nvSpPr>
        <p:spPr bwMode="auto">
          <a:xfrm rot="10800000">
            <a:off x="4953000" y="2743199"/>
            <a:ext cx="609600" cy="304800"/>
          </a:xfrm>
          <a:prstGeom prst="rightArrow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2" name="Geschweifte Klammer rechts 1">
            <a:extLst>
              <a:ext uri="{FF2B5EF4-FFF2-40B4-BE49-F238E27FC236}">
                <a16:creationId xmlns:a16="http://schemas.microsoft.com/office/drawing/2014/main" id="{53A5B289-D1A5-4672-9861-A7B530EA4800}"/>
              </a:ext>
            </a:extLst>
          </p:cNvPr>
          <p:cNvSpPr/>
          <p:nvPr/>
        </p:nvSpPr>
        <p:spPr bwMode="auto">
          <a:xfrm>
            <a:off x="5867400" y="1752598"/>
            <a:ext cx="372283" cy="3404041"/>
          </a:xfrm>
          <a:prstGeom prst="rightBrace">
            <a:avLst>
              <a:gd name="adj1" fmla="val 8333"/>
              <a:gd name="adj2" fmla="val 51378"/>
            </a:avLst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1302C4C-5055-4160-94B8-4DE15C860335}"/>
              </a:ext>
            </a:extLst>
          </p:cNvPr>
          <p:cNvSpPr txBox="1"/>
          <p:nvPr/>
        </p:nvSpPr>
        <p:spPr>
          <a:xfrm>
            <a:off x="6477000" y="3276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+mn-lt"/>
              </a:rPr>
              <a:t>Need </a:t>
            </a:r>
            <a:r>
              <a:rPr lang="de-DE" sz="1800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+mn-lt"/>
              </a:rPr>
              <a:t>forecast</a:t>
            </a:r>
            <a:endParaRPr lang="de-DE" sz="18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9308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76200" y="102960"/>
            <a:ext cx="7696200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004F8F"/>
                </a:solidFill>
                <a:latin typeface="Arial Narrow"/>
                <a:ea typeface="Arial Narrow"/>
              </a:rPr>
              <a:t>Some possible (extremely) s</a:t>
            </a:r>
            <a:r>
              <a:rPr lang="en-US" sz="28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implifying </a:t>
            </a:r>
            <a:r>
              <a:rPr lang="en-US" sz="2800" b="1" spc="-1" dirty="0">
                <a:solidFill>
                  <a:srgbClr val="004F8F"/>
                </a:solidFill>
                <a:latin typeface="Arial Narrow"/>
                <a:ea typeface="Arial Narrow"/>
              </a:rPr>
              <a:t>a</a:t>
            </a:r>
            <a:r>
              <a:rPr lang="en-US" sz="28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ssumptions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8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18D2313A-1895-5832-6241-75B7C620462B}"/>
              </a:ext>
            </a:extLst>
          </p:cNvPr>
          <p:cNvSpPr/>
          <p:nvPr/>
        </p:nvSpPr>
        <p:spPr>
          <a:xfrm>
            <a:off x="392400" y="1701360"/>
            <a:ext cx="703728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Revenues: </a:t>
            </a:r>
            <a:r>
              <a:rPr lang="en-US" sz="2000" spc="-1" dirty="0" err="1">
                <a:solidFill>
                  <a:srgbClr val="000000"/>
                </a:solidFill>
                <a:latin typeface="Arial Narrow"/>
              </a:rPr>
              <a:t>Assume growth of </a:t>
            </a: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a% (</a:t>
            </a:r>
            <a:r>
              <a:rPr lang="en-US" sz="2000" spc="-1" dirty="0" err="1">
                <a:solidFill>
                  <a:srgbClr val="000000"/>
                </a:solidFill>
                <a:latin typeface="Arial Narrow"/>
              </a:rPr>
              <a:t>based </a:t>
            </a: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on </a:t>
            </a:r>
            <a:r>
              <a:rPr lang="en-US" sz="2000" spc="-1" dirty="0" err="1">
                <a:solidFill>
                  <a:srgbClr val="000000"/>
                </a:solidFill>
                <a:latin typeface="Arial Narrow"/>
              </a:rPr>
              <a:t>historical </a:t>
            </a: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revenues </a:t>
            </a:r>
            <a:r>
              <a:rPr lang="en-US" sz="2000" spc="-1" dirty="0" err="1">
                <a:solidFill>
                  <a:srgbClr val="000000"/>
                </a:solidFill>
                <a:latin typeface="Arial Narrow"/>
              </a:rPr>
              <a:t>or </a:t>
            </a: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analyst forecasts). </a:t>
            </a:r>
            <a:r>
              <a:rPr lang="de-DE" sz="2000" spc="-1" dirty="0">
                <a:solidFill>
                  <a:srgbClr val="000000"/>
                </a:solidFill>
                <a:latin typeface="Arial Narrow"/>
              </a:rPr>
              <a:t>Is a% growth realistic forever? Convergence?</a:t>
            </a:r>
            <a:endParaRPr lang="en-GB" sz="2000" spc="-1" dirty="0">
              <a:solidFill>
                <a:srgbClr val="000000"/>
              </a:solidFill>
              <a:latin typeface="Arial Narrow"/>
            </a:endParaRP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endParaRPr lang="en-GB" sz="2000" spc="-1" dirty="0">
              <a:solidFill>
                <a:srgbClr val="000000"/>
              </a:solidFill>
              <a:latin typeface="Arial Narrow"/>
            </a:endParaRP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r>
              <a:rPr lang="en-GB" sz="2000" spc="-1" dirty="0">
                <a:solidFill>
                  <a:srgbClr val="000000"/>
                </a:solidFill>
                <a:latin typeface="Arial Narrow"/>
              </a:rPr>
              <a:t>COGS &amp; SGA: b% of revenues</a:t>
            </a: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endParaRPr lang="en-GB" sz="2000" spc="-1" dirty="0">
              <a:solidFill>
                <a:srgbClr val="000000"/>
              </a:solidFill>
              <a:latin typeface="Arial Narrow"/>
            </a:endParaRP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r>
              <a:rPr lang="en-GB" sz="2000" spc="-1" dirty="0">
                <a:solidFill>
                  <a:srgbClr val="000000"/>
                </a:solidFill>
                <a:latin typeface="Arial Narrow"/>
              </a:rPr>
              <a:t>Net working capital: c% of revenues</a:t>
            </a: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endParaRPr lang="en-GB" sz="2000" spc="-1" dirty="0">
              <a:solidFill>
                <a:srgbClr val="000000"/>
              </a:solidFill>
              <a:latin typeface="Arial Narrow"/>
            </a:endParaRP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r>
              <a:rPr lang="en-GB" sz="2000" spc="-1" dirty="0" err="1">
                <a:solidFill>
                  <a:srgbClr val="000000"/>
                </a:solidFill>
                <a:latin typeface="Arial Narrow"/>
              </a:rPr>
              <a:t>CapEx</a:t>
            </a:r>
            <a:r>
              <a:rPr lang="en-GB" sz="2000" spc="-1" dirty="0">
                <a:solidFill>
                  <a:srgbClr val="000000"/>
                </a:solidFill>
                <a:latin typeface="Arial Narrow"/>
              </a:rPr>
              <a:t>: d% of revenues</a:t>
            </a: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endParaRPr lang="en-GB" sz="2000" spc="-1" dirty="0">
              <a:solidFill>
                <a:srgbClr val="000000"/>
              </a:solidFill>
              <a:latin typeface="Arial Narrow"/>
            </a:endParaRP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r>
              <a:rPr lang="en-GB" sz="2000" spc="-1" dirty="0">
                <a:solidFill>
                  <a:srgbClr val="000000"/>
                </a:solidFill>
                <a:latin typeface="Arial Narrow"/>
              </a:rPr>
              <a:t>Depreciation: e% of revenues / e% of capex (the latter should converge to 1 for TV)</a:t>
            </a:r>
          </a:p>
          <a:p>
            <a:pPr marL="516150" indent="-514350">
              <a:buClr>
                <a:srgbClr val="000000"/>
              </a:buClr>
              <a:buFont typeface="+mj-lt"/>
              <a:buAutoNum type="arabicPeriod"/>
            </a:pPr>
            <a:endParaRPr lang="en-GB" sz="2000" spc="-1" dirty="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CB1BF224-A43B-70CB-D06D-F6C567E754A8}"/>
              </a:ext>
            </a:extLst>
          </p:cNvPr>
          <p:cNvSpPr/>
          <p:nvPr/>
        </p:nvSpPr>
        <p:spPr bwMode="auto">
          <a:xfrm>
            <a:off x="7239000" y="1752601"/>
            <a:ext cx="304800" cy="3505200"/>
          </a:xfrm>
          <a:prstGeom prst="rightBrac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defTabSz="844083" eaLnBrk="1" hangingPunct="1"/>
            <a:endParaRPr lang="de-DE">
              <a:solidFill>
                <a:srgbClr val="000000"/>
              </a:solidFill>
              <a:latin typeface="+mj-lt"/>
              <a:sym typeface="Trebuchet MS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0920AA0-63CE-A6F7-0143-C12E8123684F}"/>
              </a:ext>
            </a:extLst>
          </p:cNvPr>
          <p:cNvSpPr txBox="1"/>
          <p:nvPr/>
        </p:nvSpPr>
        <p:spPr>
          <a:xfrm>
            <a:off x="7620000" y="2628038"/>
            <a:ext cx="144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292929"/>
                </a:solidFill>
                <a:latin typeface="+mj-lt"/>
                <a:cs typeface="Arial" pitchFamily="34" charset="0"/>
              </a:rPr>
              <a:t>Constant </a:t>
            </a:r>
            <a:r>
              <a:rPr lang="en-GB" dirty="0">
                <a:solidFill>
                  <a:srgbClr val="292929"/>
                </a:solidFill>
                <a:latin typeface="+mj-lt"/>
                <a:cs typeface="Arial" pitchFamily="34" charset="0"/>
              </a:rPr>
              <a:t>rate </a:t>
            </a:r>
            <a:r>
              <a:rPr lang="en-GB" dirty="0" err="1">
                <a:solidFill>
                  <a:srgbClr val="292929"/>
                </a:solidFill>
                <a:latin typeface="+mj-lt"/>
                <a:cs typeface="Arial" pitchFamily="34" charset="0"/>
              </a:rPr>
              <a:t>or increasing/decreasing over </a:t>
            </a:r>
            <a:r>
              <a:rPr lang="en-GB" dirty="0">
                <a:solidFill>
                  <a:srgbClr val="292929"/>
                </a:solidFill>
                <a:latin typeface="+mj-lt"/>
                <a:cs typeface="Arial" pitchFamily="34" charset="0"/>
              </a:rPr>
              <a:t>the </a:t>
            </a:r>
            <a:r>
              <a:rPr lang="en-GB" dirty="0" err="1">
                <a:solidFill>
                  <a:srgbClr val="292929"/>
                </a:solidFill>
                <a:latin typeface="+mj-lt"/>
                <a:cs typeface="Arial" pitchFamily="34" charset="0"/>
              </a:rPr>
              <a:t>planning horizon</a:t>
            </a:r>
            <a:endParaRPr lang="en-GB" dirty="0">
              <a:solidFill>
                <a:srgbClr val="292929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43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49" y="1484784"/>
            <a:ext cx="8139113" cy="4692179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 err="1"/>
              <a:t>Analyze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recognize</a:t>
            </a:r>
            <a:r>
              <a:rPr lang="de-DE" sz="2400" dirty="0"/>
              <a:t> </a:t>
            </a:r>
            <a:r>
              <a:rPr lang="de-DE" sz="2400" dirty="0" err="1"/>
              <a:t>industry</a:t>
            </a:r>
            <a:r>
              <a:rPr lang="de-DE" sz="2400" dirty="0"/>
              <a:t> </a:t>
            </a:r>
            <a:r>
              <a:rPr lang="de-DE" sz="2400" dirty="0" err="1"/>
              <a:t>trends</a:t>
            </a: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Be </a:t>
            </a:r>
            <a:r>
              <a:rPr lang="de-DE" sz="2400" dirty="0" err="1"/>
              <a:t>aware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analyst‘s</a:t>
            </a:r>
            <a:r>
              <a:rPr lang="de-DE" sz="2400" dirty="0"/>
              <a:t> </a:t>
            </a:r>
            <a:r>
              <a:rPr lang="de-DE" sz="2400" dirty="0" err="1"/>
              <a:t>forecasts</a:t>
            </a:r>
            <a:r>
              <a:rPr lang="de-DE" sz="2400" dirty="0"/>
              <a:t> (</a:t>
            </a:r>
            <a:r>
              <a:rPr lang="de-DE" sz="2400" dirty="0" err="1"/>
              <a:t>reveues</a:t>
            </a:r>
            <a:r>
              <a:rPr lang="de-DE" sz="2400" dirty="0"/>
              <a:t>, </a:t>
            </a:r>
            <a:r>
              <a:rPr lang="de-DE" sz="2400" dirty="0" err="1"/>
              <a:t>earnings</a:t>
            </a:r>
            <a:r>
              <a:rPr lang="de-DE" sz="2400" dirty="0"/>
              <a:t>, EBITDA..)</a:t>
            </a:r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 err="1"/>
              <a:t>Remember</a:t>
            </a:r>
            <a:r>
              <a:rPr lang="de-DE" sz="2400" dirty="0"/>
              <a:t>: Management </a:t>
            </a:r>
            <a:r>
              <a:rPr lang="de-DE" sz="2400" dirty="0" err="1"/>
              <a:t>forecasts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likely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biased</a:t>
            </a: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 err="1"/>
              <a:t>Compare</a:t>
            </a:r>
            <a:r>
              <a:rPr lang="de-DE" sz="2400" dirty="0"/>
              <a:t> firm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industry</a:t>
            </a:r>
            <a:r>
              <a:rPr lang="de-DE" sz="2400" dirty="0"/>
              <a:t> </a:t>
            </a:r>
            <a:r>
              <a:rPr lang="de-DE" sz="2400" dirty="0" err="1"/>
              <a:t>averages</a:t>
            </a: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 err="1"/>
              <a:t>Consider</a:t>
            </a:r>
            <a:r>
              <a:rPr lang="de-DE" sz="2400" dirty="0"/>
              <a:t> </a:t>
            </a:r>
            <a:r>
              <a:rPr lang="de-DE" sz="2400" dirty="0" err="1"/>
              <a:t>business</a:t>
            </a:r>
            <a:r>
              <a:rPr lang="de-DE" sz="2400" dirty="0"/>
              <a:t> </a:t>
            </a:r>
            <a:r>
              <a:rPr lang="de-DE" sz="2400" dirty="0" err="1"/>
              <a:t>cycle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current</a:t>
            </a:r>
            <a:r>
              <a:rPr lang="de-DE" sz="2400" dirty="0"/>
              <a:t> </a:t>
            </a:r>
            <a:r>
              <a:rPr lang="de-DE" sz="2400" dirty="0" err="1"/>
              <a:t>business</a:t>
            </a:r>
            <a:r>
              <a:rPr lang="de-DE" sz="2400" dirty="0"/>
              <a:t> </a:t>
            </a:r>
            <a:r>
              <a:rPr lang="de-DE" sz="2400" dirty="0" err="1"/>
              <a:t>cycle</a:t>
            </a:r>
            <a:r>
              <a:rPr lang="de-DE" sz="2400" dirty="0"/>
              <a:t> </a:t>
            </a:r>
            <a:r>
              <a:rPr lang="de-DE" sz="2400" dirty="0" err="1"/>
              <a:t>position</a:t>
            </a:r>
            <a:r>
              <a:rPr lang="de-DE" sz="2400" dirty="0"/>
              <a:t> </a:t>
            </a:r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83896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7400A1-7E69-4814-82E6-697DA8C04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10</a:t>
            </a:fld>
            <a:endParaRPr lang="de-DE" alt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FEA77-A4EA-4A4C-B3BC-E2F9F1ACC9A1}"/>
              </a:ext>
            </a:extLst>
          </p:cNvPr>
          <p:cNvSpPr txBox="1">
            <a:spLocks noChangeArrowheads="1"/>
          </p:cNvSpPr>
          <p:nvPr/>
        </p:nvSpPr>
        <p:spPr>
          <a:xfrm>
            <a:off x="320675" y="1143000"/>
            <a:ext cx="8610600" cy="518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/>
              <a:t>     Marginal tax rates </a:t>
            </a:r>
            <a:r>
              <a:rPr lang="en-US" altLang="en-US" sz="2000" dirty="0"/>
              <a:t>are the statutory tax rates (on profit)</a:t>
            </a:r>
            <a:br>
              <a:rPr lang="en-US" altLang="en-US" sz="2000" dirty="0"/>
            </a:br>
            <a:r>
              <a:rPr lang="en-US" altLang="en-US" sz="2000" dirty="0"/>
              <a:t>or: </a:t>
            </a:r>
            <a:r>
              <a:rPr lang="en-US" altLang="en-US" sz="2000" b="1" dirty="0"/>
              <a:t>Effective tax rates </a:t>
            </a:r>
            <a:r>
              <a:rPr lang="en-US" altLang="en-US" sz="2000" dirty="0"/>
              <a:t>are the tax rates that companies actually pay</a:t>
            </a:r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Effective rates are often significantly lower than marginal rates, as companies use all (legal) possibilities to avoid / postpone tax payments.</a:t>
            </a: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Firms with international operations pay different tax rates in different countries.</a:t>
            </a:r>
            <a:br>
              <a:rPr lang="en-US" altLang="en-US" sz="2000" dirty="0"/>
            </a:b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</a:pPr>
            <a:r>
              <a:rPr lang="en-US" altLang="en-US" sz="2000" b="1" dirty="0" err="1"/>
              <a:t>Which </a:t>
            </a:r>
            <a:r>
              <a:rPr lang="en-US" altLang="en-US" sz="2000" b="1" dirty="0"/>
              <a:t>tax rate to </a:t>
            </a:r>
            <a:r>
              <a:rPr lang="en-US" altLang="en-US" sz="2000" b="1" dirty="0" err="1"/>
              <a:t>use</a:t>
            </a:r>
            <a:r>
              <a:rPr lang="en-US" altLang="en-US" sz="2000" b="1" dirty="0"/>
              <a:t>? Argument:</a:t>
            </a:r>
          </a:p>
          <a:p>
            <a:pPr marL="0" indent="0" eaLnBrk="1" hangingPunct="1">
              <a:spcBef>
                <a:spcPts val="0"/>
              </a:spcBef>
            </a:pPr>
            <a:endParaRPr lang="en-US" altLang="en-US" sz="2000" b="1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 err="1"/>
              <a:t>Tax payments to avoid </a:t>
            </a:r>
            <a:r>
              <a:rPr lang="en-US" altLang="en-US" sz="2000" dirty="0"/>
              <a:t>/ </a:t>
            </a:r>
            <a:r>
              <a:rPr lang="en-US" altLang="en-US" sz="2000" dirty="0" err="1"/>
              <a:t>postpone does not work forever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en-US" altLang="en-US" sz="2000" dirty="0"/>
              <a:t>Marginal rates </a:t>
            </a:r>
            <a:r>
              <a:rPr lang="en-US" altLang="en-US" sz="2000" dirty="0" err="1"/>
              <a:t>preferable</a:t>
            </a: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Use for our case: </a:t>
            </a:r>
            <a:r>
              <a:rPr lang="en-US" altLang="en-US" sz="2000" b="1" dirty="0"/>
              <a:t>30% </a:t>
            </a:r>
            <a:r>
              <a:rPr lang="en-US" altLang="en-US" sz="2000" dirty="0"/>
              <a:t>(data source: </a:t>
            </a:r>
            <a:r>
              <a:rPr lang="en-US" altLang="en-US" sz="2000" b="1" dirty="0"/>
              <a:t>KPMG corporate tax rate table for GER</a:t>
            </a:r>
            <a:r>
              <a:rPr lang="en-US" altLang="en-US" sz="2000" dirty="0"/>
              <a:t>)</a:t>
            </a:r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For </a:t>
            </a:r>
            <a:r>
              <a:rPr lang="en-US" altLang="en-US" sz="2000" dirty="0" err="1"/>
              <a:t>international companies, </a:t>
            </a:r>
            <a:r>
              <a:rPr lang="en-US" altLang="en-US" sz="2000" dirty="0"/>
              <a:t>the </a:t>
            </a:r>
            <a:r>
              <a:rPr lang="en-US" altLang="en-US" sz="2000" dirty="0" err="1"/>
              <a:t>tax rate of </a:t>
            </a:r>
            <a:r>
              <a:rPr lang="en-US" altLang="en-US" sz="2000" dirty="0"/>
              <a:t>the </a:t>
            </a:r>
            <a:r>
              <a:rPr lang="en-US" altLang="en-US" sz="2000" dirty="0" err="1"/>
              <a:t>registered office is usually used</a:t>
            </a:r>
            <a:endParaRPr lang="en-US" altLang="en-US" sz="2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de-DE" altLang="en-US" sz="2000" baseline="30000" dirty="0"/>
          </a:p>
          <a:p>
            <a:pPr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de-DE" altLang="en-US" sz="2000" baseline="30000" dirty="0"/>
          </a:p>
          <a:p>
            <a:pPr marL="0" indent="0" eaLnBrk="1" hangingPunct="1">
              <a:spcBef>
                <a:spcPts val="0"/>
              </a:spcBef>
            </a:pPr>
            <a:endParaRPr lang="en-US" altLang="en-US" sz="2000" baseline="30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4D8ED4-0962-49A5-B058-688BD7B35E22}"/>
              </a:ext>
            </a:extLst>
          </p:cNvPr>
          <p:cNvSpPr txBox="1"/>
          <p:nvPr/>
        </p:nvSpPr>
        <p:spPr>
          <a:xfrm>
            <a:off x="228600" y="6477814"/>
            <a:ext cx="8721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+mn-lt"/>
              </a:rPr>
              <a:t>see </a:t>
            </a:r>
            <a:r>
              <a:rPr lang="en-GB" sz="1200" dirty="0" err="1">
                <a:solidFill>
                  <a:srgbClr val="000000"/>
                </a:solidFill>
                <a:latin typeface="+mn-lt"/>
              </a:rPr>
              <a:t>DePamphilis </a:t>
            </a:r>
            <a:r>
              <a:rPr lang="en-GB" sz="1200" dirty="0">
                <a:solidFill>
                  <a:srgbClr val="000000"/>
                </a:solidFill>
                <a:latin typeface="+mn-lt"/>
              </a:rPr>
              <a:t>(2014): Mergers, Acquisitions, and Other Restructurings Activities, Chapter 7.</a:t>
            </a: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8A1C1CB5-E337-418F-8299-0B08C3FE68A5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Choice of the Tax </a:t>
            </a:r>
            <a:r>
              <a:rPr lang="en-US" sz="3600" b="1" spc="-1" dirty="0">
                <a:solidFill>
                  <a:srgbClr val="004F8F"/>
                </a:solidFill>
                <a:latin typeface="Arial Narrow"/>
                <a:ea typeface="Arial Narrow"/>
              </a:rPr>
              <a:t>R</a:t>
            </a: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ate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381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Present Value of the FCFF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11</a:t>
            </a:fld>
            <a:endParaRPr lang="en-US" sz="1000" b="0" strike="noStrike" spc="-1">
              <a:latin typeface="Arial"/>
            </a:endParaRPr>
          </a:p>
        </p:txBody>
      </p:sp>
      <p:cxnSp>
        <p:nvCxnSpPr>
          <p:cNvPr id="8" name="Gerade Verbindung 8">
            <a:extLst>
              <a:ext uri="{FF2B5EF4-FFF2-40B4-BE49-F238E27FC236}">
                <a16:creationId xmlns:a16="http://schemas.microsoft.com/office/drawing/2014/main" id="{FB912FF0-3515-16E2-FEF7-F8E754C1B74A}"/>
              </a:ext>
            </a:extLst>
          </p:cNvPr>
          <p:cNvCxnSpPr/>
          <p:nvPr/>
        </p:nvCxnSpPr>
        <p:spPr bwMode="auto">
          <a:xfrm>
            <a:off x="3874658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" name="Gerade Verbindung 10">
            <a:extLst>
              <a:ext uri="{FF2B5EF4-FFF2-40B4-BE49-F238E27FC236}">
                <a16:creationId xmlns:a16="http://schemas.microsoft.com/office/drawing/2014/main" id="{BDC2E26F-72DD-BB52-3B4A-3FC4CF00293B}"/>
              </a:ext>
            </a:extLst>
          </p:cNvPr>
          <p:cNvCxnSpPr/>
          <p:nvPr/>
        </p:nvCxnSpPr>
        <p:spPr bwMode="auto">
          <a:xfrm>
            <a:off x="551213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" name="Gerade Verbindung 11">
            <a:extLst>
              <a:ext uri="{FF2B5EF4-FFF2-40B4-BE49-F238E27FC236}">
                <a16:creationId xmlns:a16="http://schemas.microsoft.com/office/drawing/2014/main" id="{A67B418A-D670-71A6-C80C-FE68638A9C6B}"/>
              </a:ext>
            </a:extLst>
          </p:cNvPr>
          <p:cNvCxnSpPr/>
          <p:nvPr/>
        </p:nvCxnSpPr>
        <p:spPr bwMode="auto">
          <a:xfrm>
            <a:off x="1215902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" name="Gerade Verbindung 12">
            <a:extLst>
              <a:ext uri="{FF2B5EF4-FFF2-40B4-BE49-F238E27FC236}">
                <a16:creationId xmlns:a16="http://schemas.microsoft.com/office/drawing/2014/main" id="{9FBF7F8D-AF4A-9BB7-27C2-3E077DFDF68C}"/>
              </a:ext>
            </a:extLst>
          </p:cNvPr>
          <p:cNvCxnSpPr/>
          <p:nvPr/>
        </p:nvCxnSpPr>
        <p:spPr bwMode="auto">
          <a:xfrm>
            <a:off x="1880591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3" name="Gerade Verbindung 13">
            <a:extLst>
              <a:ext uri="{FF2B5EF4-FFF2-40B4-BE49-F238E27FC236}">
                <a16:creationId xmlns:a16="http://schemas.microsoft.com/office/drawing/2014/main" id="{06A04E2D-E252-DFEA-9A98-39DFF5F3BBBB}"/>
              </a:ext>
            </a:extLst>
          </p:cNvPr>
          <p:cNvCxnSpPr/>
          <p:nvPr/>
        </p:nvCxnSpPr>
        <p:spPr bwMode="auto">
          <a:xfrm>
            <a:off x="2545280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4" name="Gerade Verbindung 14">
            <a:extLst>
              <a:ext uri="{FF2B5EF4-FFF2-40B4-BE49-F238E27FC236}">
                <a16:creationId xmlns:a16="http://schemas.microsoft.com/office/drawing/2014/main" id="{30EAD91B-B880-76F5-BAAA-36ED6FB4DE7D}"/>
              </a:ext>
            </a:extLst>
          </p:cNvPr>
          <p:cNvCxnSpPr/>
          <p:nvPr/>
        </p:nvCxnSpPr>
        <p:spPr bwMode="auto">
          <a:xfrm>
            <a:off x="3209969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5" name="Textfeld 15">
            <a:extLst>
              <a:ext uri="{FF2B5EF4-FFF2-40B4-BE49-F238E27FC236}">
                <a16:creationId xmlns:a16="http://schemas.microsoft.com/office/drawing/2014/main" id="{7A4852CE-EB12-1216-15D9-35EB267F49E2}"/>
              </a:ext>
            </a:extLst>
          </p:cNvPr>
          <p:cNvSpPr txBox="1"/>
          <p:nvPr/>
        </p:nvSpPr>
        <p:spPr>
          <a:xfrm>
            <a:off x="351807" y="2030673"/>
            <a:ext cx="7360238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de-DE" sz="221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de-DE" sz="2215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      </a:t>
            </a:r>
            <a:r>
              <a:rPr lang="de-DE" sz="221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de-DE" sz="2215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DE" sz="221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t</a:t>
            </a:r>
            <a:r>
              <a:rPr lang="de-DE" sz="2215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DE" sz="221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</a:t>
            </a:r>
            <a:r>
              <a:rPr lang="de-DE" sz="2215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de-DE" sz="221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... T      T+1 ...........</a:t>
            </a:r>
          </a:p>
        </p:txBody>
      </p:sp>
      <p:cxnSp>
        <p:nvCxnSpPr>
          <p:cNvPr id="16" name="Gerade Verbindung 16">
            <a:extLst>
              <a:ext uri="{FF2B5EF4-FFF2-40B4-BE49-F238E27FC236}">
                <a16:creationId xmlns:a16="http://schemas.microsoft.com/office/drawing/2014/main" id="{5A072EED-39CF-C786-63D4-33E05278B66C}"/>
              </a:ext>
            </a:extLst>
          </p:cNvPr>
          <p:cNvCxnSpPr/>
          <p:nvPr/>
        </p:nvCxnSpPr>
        <p:spPr bwMode="auto">
          <a:xfrm>
            <a:off x="4539349" y="1672499"/>
            <a:ext cx="0" cy="3323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A17B7B68-2888-F23D-B18D-4BC726ECBD3C}"/>
              </a:ext>
            </a:extLst>
          </p:cNvPr>
          <p:cNvSpPr/>
          <p:nvPr/>
        </p:nvSpPr>
        <p:spPr bwMode="auto">
          <a:xfrm rot="5400000">
            <a:off x="1780888" y="962902"/>
            <a:ext cx="332345" cy="3057570"/>
          </a:xfrm>
          <a:prstGeom prst="rightBrac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defTabSz="844083" eaLnBrk="1" hangingPunct="1"/>
            <a:endParaRPr lang="de-DE" sz="1662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Trebuchet MS" pitchFamily="34" charset="0"/>
            </a:endParaRPr>
          </a:p>
        </p:txBody>
      </p:sp>
      <p:sp>
        <p:nvSpPr>
          <p:cNvPr id="18" name="Geschweifte Klammer rechts 17">
            <a:extLst>
              <a:ext uri="{FF2B5EF4-FFF2-40B4-BE49-F238E27FC236}">
                <a16:creationId xmlns:a16="http://schemas.microsoft.com/office/drawing/2014/main" id="{E7A8C262-618A-39FF-C6C6-224C69691674}"/>
              </a:ext>
            </a:extLst>
          </p:cNvPr>
          <p:cNvSpPr/>
          <p:nvPr/>
        </p:nvSpPr>
        <p:spPr bwMode="auto">
          <a:xfrm rot="5400000">
            <a:off x="5138553" y="862214"/>
            <a:ext cx="332345" cy="3258947"/>
          </a:xfrm>
          <a:prstGeom prst="rightBrac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defTabSz="844083" eaLnBrk="1" hangingPunct="1"/>
            <a:endParaRPr lang="de-DE" sz="1662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Trebuchet MS" pitchFamily="34" charset="0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4FF3C47-26EC-06ED-676B-44F19935EB68}"/>
              </a:ext>
            </a:extLst>
          </p:cNvPr>
          <p:cNvCxnSpPr>
            <a:cxnSpLocks/>
          </p:cNvCxnSpPr>
          <p:nvPr/>
        </p:nvCxnSpPr>
        <p:spPr bwMode="auto">
          <a:xfrm>
            <a:off x="304800" y="1834839"/>
            <a:ext cx="6810993" cy="0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B0612AB4-4E9C-BCE7-3B19-C8C334462BD7}"/>
              </a:ext>
            </a:extLst>
          </p:cNvPr>
          <p:cNvSpPr txBox="1"/>
          <p:nvPr/>
        </p:nvSpPr>
        <p:spPr>
          <a:xfrm>
            <a:off x="216445" y="2761833"/>
            <a:ext cx="32569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latin typeface="+mj-lt"/>
                <a:sym typeface="Trebuchet MS" pitchFamily="34" charset="0"/>
              </a:rPr>
              <a:t>For the </a:t>
            </a:r>
            <a:r>
              <a:rPr lang="en-US" sz="1600" kern="0" dirty="0" err="1">
                <a:solidFill>
                  <a:srgbClr val="000000"/>
                </a:solidFill>
                <a:latin typeface="+mj-lt"/>
                <a:sym typeface="Trebuchet MS" pitchFamily="34" charset="0"/>
              </a:rPr>
              <a:t>first </a:t>
            </a:r>
            <a:r>
              <a:rPr lang="en-US" sz="1600" kern="0" dirty="0">
                <a:solidFill>
                  <a:srgbClr val="000000"/>
                </a:solidFill>
                <a:latin typeface="+mj-lt"/>
                <a:sym typeface="Trebuchet MS" pitchFamily="34" charset="0"/>
              </a:rPr>
              <a:t>T years (often 5, 10 </a:t>
            </a:r>
            <a:r>
              <a:rPr lang="en-US" sz="1600" kern="0" dirty="0" err="1">
                <a:solidFill>
                  <a:srgbClr val="000000"/>
                </a:solidFill>
                <a:latin typeface="+mj-lt"/>
                <a:sym typeface="Trebuchet MS" pitchFamily="34" charset="0"/>
              </a:rPr>
              <a:t>or </a:t>
            </a:r>
            <a:r>
              <a:rPr lang="en-US" sz="1600" kern="0" dirty="0">
                <a:solidFill>
                  <a:srgbClr val="000000"/>
                </a:solidFill>
                <a:latin typeface="+mj-lt"/>
                <a:sym typeface="Trebuchet MS" pitchFamily="34" charset="0"/>
              </a:rPr>
              <a:t>15) cash flows </a:t>
            </a:r>
            <a:r>
              <a:rPr lang="en-US" sz="1600" kern="0" dirty="0" err="1">
                <a:solidFill>
                  <a:srgbClr val="000000"/>
                </a:solidFill>
                <a:latin typeface="+mj-lt"/>
                <a:sym typeface="Trebuchet MS" pitchFamily="34" charset="0"/>
              </a:rPr>
              <a:t>are projected based </a:t>
            </a:r>
            <a:r>
              <a:rPr lang="en-US" sz="1600" kern="0" dirty="0">
                <a:solidFill>
                  <a:srgbClr val="000000"/>
                </a:solidFill>
                <a:latin typeface="+mj-lt"/>
                <a:sym typeface="Trebuchet MS" pitchFamily="34" charset="0"/>
              </a:rPr>
              <a:t>on </a:t>
            </a:r>
            <a:r>
              <a:rPr lang="en-US" sz="1600" kern="0" dirty="0" err="1">
                <a:solidFill>
                  <a:srgbClr val="000000"/>
                </a:solidFill>
                <a:latin typeface="+mj-lt"/>
                <a:sym typeface="Trebuchet MS" pitchFamily="34" charset="0"/>
              </a:rPr>
              <a:t>detailed </a:t>
            </a:r>
            <a:r>
              <a:rPr lang="en-US" sz="1600" kern="0" dirty="0">
                <a:solidFill>
                  <a:srgbClr val="000000"/>
                </a:solidFill>
                <a:latin typeface="+mj-lt"/>
                <a:sym typeface="Trebuchet MS" pitchFamily="34" charset="0"/>
              </a:rPr>
              <a:t>forecasts.</a:t>
            </a: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  <a:p>
            <a:endParaRPr lang="en-US" sz="1600" kern="0" dirty="0">
              <a:solidFill>
                <a:srgbClr val="000000"/>
              </a:solidFill>
              <a:latin typeface="+mj-lt"/>
              <a:sym typeface="Trebuchet MS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E7FAFACD-5F99-E051-E1A2-9C5FD3909E91}"/>
                  </a:ext>
                </a:extLst>
              </p:cNvPr>
              <p:cNvSpPr txBox="1"/>
              <p:nvPr/>
            </p:nvSpPr>
            <p:spPr>
              <a:xfrm>
                <a:off x="6372093" y="3926798"/>
                <a:ext cx="1877052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𝑷𝑽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𝑻</m:t>
                          </m:r>
                        </m:sub>
                      </m:sSub>
                      <m:r>
                        <a:rPr lang="de-DE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</m:ctrlPr>
                            </m:sSubPr>
                            <m:e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𝑭𝑪𝑭𝑭</m:t>
                              </m:r>
                            </m:e>
                            <m:sub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𝑻</m:t>
                              </m:r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+</m:t>
                              </m:r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de-DE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𝑾𝑨𝑪𝑪</m:t>
                          </m:r>
                          <m:r>
                            <a:rPr lang="de-DE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den>
                      </m:f>
                    </m:oMath>
                  </m:oMathPara>
                </a14:m>
                <a:endParaRPr lang="en-GB" sz="1800" b="1" dirty="0">
                  <a:solidFill>
                    <a:srgbClr val="00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E7FAFACD-5F99-E051-E1A2-9C5FD390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093" y="3926798"/>
                <a:ext cx="1877052" cy="5690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C9F338DB-C015-31A2-7B0E-2B47A9481740}"/>
                  </a:ext>
                </a:extLst>
              </p:cNvPr>
              <p:cNvSpPr/>
              <p:nvPr/>
            </p:nvSpPr>
            <p:spPr>
              <a:xfrm>
                <a:off x="3276600" y="5680860"/>
                <a:ext cx="4435445" cy="876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</m:ctrlPr>
                        </m:sSubPr>
                        <m:e>
                          <m:r>
                            <a:rPr lang="de-D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𝑷𝑽</m:t>
                          </m:r>
                        </m:e>
                        <m:sub>
                          <m: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𝟎</m:t>
                          </m:r>
                        </m:sub>
                      </m:sSub>
                      <m:r>
                        <a:rPr lang="de-DE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Trebuchet MS" pitchFamily="34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de-D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𝒕</m:t>
                          </m:r>
                          <m:r>
                            <a:rPr lang="de-D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=</m:t>
                          </m:r>
                          <m: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  <m:t>𝟎</m:t>
                          </m:r>
                        </m:sub>
                        <m:sup>
                          <m: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Trebuchet MS" pitchFamily="34" charset="0"/>
                            </a:rPr>
                            <m:t>𝑻</m:t>
                          </m:r>
                        </m:sup>
                        <m:e>
                          <m:f>
                            <m:fPr>
                              <m:ctrlP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𝑭𝑪𝑭𝑭</m:t>
                                  </m:r>
                                </m:e>
                                <m:sub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(</m:t>
                                  </m:r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𝟏</m:t>
                                  </m:r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+</m:t>
                                  </m:r>
                                  <m:r>
                                    <a:rPr lang="de-DE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𝑾𝑨𝑪𝑪</m:t>
                                  </m:r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de-D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Trebuchet MS" pitchFamily="34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de-DE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Trebuchet MS" pitchFamily="34" charset="0"/>
                        </a:rPr>
                        <m:t>+ </m:t>
                      </m:r>
                      <m:f>
                        <m:fPr>
                          <m:ctrlPr>
                            <a:rPr lang="de-D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Trebuchet MS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𝑷</m:t>
                              </m:r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𝑻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</m:ctrlPr>
                            </m:sSupPr>
                            <m:e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(</m:t>
                              </m:r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𝟏</m:t>
                              </m:r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+</m:t>
                              </m:r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𝑾𝑨𝑪𝑪</m:t>
                              </m:r>
                              <m:r>
                                <a:rPr lang="de-D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Trebuchet MS" pitchFamily="34" charset="0"/>
                                </a:rPr>
                                <m:t>𝑻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b="1" dirty="0">
                  <a:sym typeface="Trebuchet MS" pitchFamily="34" charset="0"/>
                </a:endParaRPr>
              </a:p>
            </p:txBody>
          </p:sp>
        </mc:Choice>
        <mc:Fallback xmlns="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C9F338DB-C015-31A2-7B0E-2B47A9481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680860"/>
                <a:ext cx="4435445" cy="876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hteck 24">
            <a:extLst>
              <a:ext uri="{FF2B5EF4-FFF2-40B4-BE49-F238E27FC236}">
                <a16:creationId xmlns:a16="http://schemas.microsoft.com/office/drawing/2014/main" id="{FBE1BEB5-0441-D7DA-06E4-3B16DAC1F30E}"/>
              </a:ext>
            </a:extLst>
          </p:cNvPr>
          <p:cNvSpPr/>
          <p:nvPr/>
        </p:nvSpPr>
        <p:spPr>
          <a:xfrm>
            <a:off x="1066800" y="5934551"/>
            <a:ext cx="1975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dirty="0">
                <a:solidFill>
                  <a:srgbClr val="000000"/>
                </a:solidFill>
                <a:sym typeface="Trebuchet MS" pitchFamily="34" charset="0"/>
              </a:rPr>
              <a:t>Firm value in t</a:t>
            </a:r>
            <a:r>
              <a:rPr lang="en-US" b="1" kern="0" baseline="-25000" dirty="0">
                <a:solidFill>
                  <a:srgbClr val="000000"/>
                </a:solidFill>
                <a:sym typeface="Trebuchet MS" pitchFamily="34" charset="0"/>
              </a:rPr>
              <a:t>0</a:t>
            </a:r>
            <a:r>
              <a:rPr lang="en-US" b="1" kern="0" dirty="0">
                <a:solidFill>
                  <a:srgbClr val="000000"/>
                </a:solidFill>
                <a:sym typeface="Trebuchet MS" pitchFamily="34" charset="0"/>
              </a:rPr>
              <a:t>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2CEA1-24B9-DEB1-BF86-BD2FB3EC56CB}"/>
              </a:ext>
            </a:extLst>
          </p:cNvPr>
          <p:cNvSpPr/>
          <p:nvPr/>
        </p:nvSpPr>
        <p:spPr bwMode="auto">
          <a:xfrm>
            <a:off x="216445" y="3841967"/>
            <a:ext cx="2990760" cy="73866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0000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sz="1400" dirty="0">
                <a:solidFill>
                  <a:srgbClr val="C00000"/>
                </a:solidFill>
                <a:latin typeface="+mn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“The average terminal growth rate for corporations should be similar to the long run average GDP growth rate (1%-3%)”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98BF3A2-B280-47E3-A311-4637FCC27B6B}"/>
                  </a:ext>
                </a:extLst>
              </p:cNvPr>
              <p:cNvSpPr txBox="1"/>
              <p:nvPr/>
            </p:nvSpPr>
            <p:spPr>
              <a:xfrm>
                <a:off x="3725209" y="2838033"/>
                <a:ext cx="5342591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kern="0" dirty="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All Cash Flows after T are summarized in a „residual value (RV)“ to be realized in a hypothetical sale in T, based on three options:</a:t>
                </a:r>
              </a:p>
              <a:p>
                <a:endParaRPr lang="de-DE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endParaRPr lang="en-US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pPr marL="457200" indent="-457200">
                  <a:buAutoNum type="arabicParenR"/>
                </a:pPr>
                <a:endParaRPr lang="en-US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pPr marL="457200" indent="-457200">
                  <a:buAutoNum type="arabicParenR"/>
                </a:pPr>
                <a:r>
                  <a:rPr lang="en-US" sz="1600" kern="0" dirty="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Gordon Growth model</a:t>
                </a:r>
              </a:p>
              <a:p>
                <a:pPr marL="457200" indent="-457200">
                  <a:buAutoNum type="arabicParenR"/>
                </a:pPr>
                <a:endParaRPr lang="en-US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pPr marL="457200" indent="-457200">
                  <a:buAutoNum type="arabicParenR"/>
                </a:pPr>
                <a:endParaRPr lang="en-US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pPr marL="457200" indent="-457200">
                  <a:buAutoNum type="arabicParenR"/>
                </a:pPr>
                <a:r>
                  <a:rPr lang="en-US" sz="1600" kern="0" dirty="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Exit Multiple, e.g.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Trebuchet MS" pitchFamily="34" charset="0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Trebuchet MS" pitchFamily="34" charset="0"/>
                          </a:rPr>
                          <m:t>𝑃𝑉</m:t>
                        </m:r>
                      </m:e>
                      <m:sub>
                        <m:r>
                          <a:rPr lang="de-D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Trebuchet MS" pitchFamily="3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de-DE" sz="1600" i="1" dirty="0">
                    <a:solidFill>
                      <a:srgbClr val="000000"/>
                    </a:solidFill>
                  </a:rPr>
                  <a:t> = EBITDA</a:t>
                </a:r>
                <a:r>
                  <a:rPr lang="en-US" altLang="de-DE" sz="1600" i="1" baseline="-25000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de-DE" sz="1600" i="1" dirty="0">
                    <a:solidFill>
                      <a:srgbClr val="000000"/>
                    </a:solidFill>
                  </a:rPr>
                  <a:t> * EBITDA-Multiple</a:t>
                </a:r>
                <a:endParaRPr lang="en-US" sz="1600" i="1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pPr marL="457200" indent="-457200">
                  <a:buAutoNum type="arabicParenR"/>
                </a:pPr>
                <a:endParaRPr lang="en-US" sz="1600" kern="0" dirty="0">
                  <a:solidFill>
                    <a:srgbClr val="000000"/>
                  </a:solidFill>
                  <a:latin typeface="+mj-lt"/>
                  <a:cs typeface="Arial" pitchFamily="34" charset="0"/>
                </a:endParaRPr>
              </a:p>
              <a:p>
                <a:r>
                  <a:rPr lang="en-US" sz="1600" kern="0" dirty="0">
                    <a:solidFill>
                      <a:srgbClr val="000000"/>
                    </a:solidFill>
                    <a:latin typeface="+mj-lt"/>
                    <a:cs typeface="Arial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98BF3A2-B280-47E3-A311-4637FCC27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209" y="2838033"/>
                <a:ext cx="5342591" cy="2800767"/>
              </a:xfrm>
              <a:prstGeom prst="rect">
                <a:avLst/>
              </a:prstGeom>
              <a:blipFill>
                <a:blip r:embed="rId4"/>
                <a:stretch>
                  <a:fillRect l="-570" t="-436" r="-14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966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2">
            <a:extLst>
              <a:ext uri="{FF2B5EF4-FFF2-40B4-BE49-F238E27FC236}">
                <a16:creationId xmlns:a16="http://schemas.microsoft.com/office/drawing/2014/main" id="{67991B6E-BEA9-2ACB-90D6-B28157BF0C50}"/>
              </a:ext>
            </a:extLst>
          </p:cNvPr>
          <p:cNvSpPr/>
          <p:nvPr/>
        </p:nvSpPr>
        <p:spPr>
          <a:xfrm>
            <a:off x="392400" y="1701360"/>
            <a:ext cx="82182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800">
              <a:buClr>
                <a:srgbClr val="000000"/>
              </a:buClr>
            </a:pPr>
            <a:endParaRPr lang="de-DE" sz="2600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endParaRPr lang="de-DE" sz="2600" spc="-1" dirty="0">
              <a:solidFill>
                <a:srgbClr val="000000"/>
              </a:solidFill>
              <a:latin typeface="Arial Narrow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solidFill>
                <a:srgbClr val="000000"/>
              </a:solidFill>
              <a:latin typeface="+mj-lt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solidFill>
                <a:srgbClr val="000000"/>
              </a:solidFill>
              <a:latin typeface="+mj-lt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E = </a:t>
            </a:r>
            <a:r>
              <a:rPr lang="en-US" altLang="en-US" sz="2000" b="1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Market value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of equity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D = </a:t>
            </a:r>
            <a:r>
              <a:rPr lang="en-US" altLang="en-US" sz="2000" b="1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Market value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of debt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 Usually, b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ook value is taken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r</a:t>
            </a:r>
            <a:r>
              <a:rPr lang="en-US" altLang="en-US" sz="2000" baseline="-25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E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 = </a:t>
            </a:r>
            <a:r>
              <a:rPr lang="en-US" altLang="en-US" sz="2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Cost of equity</a:t>
            </a:r>
            <a:endParaRPr lang="en-US" altLang="en-US" sz="2000" dirty="0">
              <a:solidFill>
                <a:srgbClr val="000000"/>
              </a:solidFill>
              <a:latin typeface="+mj-lt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000000"/>
                </a:solidFill>
                <a:cs typeface="Tahoma" panose="020B0604030504040204" pitchFamily="34" charset="0"/>
              </a:rPr>
              <a:t>r</a:t>
            </a:r>
            <a:r>
              <a:rPr lang="en-US" altLang="en-US" sz="2000" baseline="-25000" dirty="0" err="1">
                <a:solidFill>
                  <a:srgbClr val="000000"/>
                </a:solidFill>
                <a:cs typeface="Tahoma" panose="020B0604030504040204" pitchFamily="34" charset="0"/>
              </a:rPr>
              <a:t>D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 = </a:t>
            </a:r>
            <a:r>
              <a:rPr lang="en-US" altLang="en-US" sz="2000" b="1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Cost of debt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Cost of debt outstanding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no historical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  <a:sym typeface="Wingdings" panose="05000000000000000000" pitchFamily="2" charset="2"/>
              </a:rPr>
              <a:t>cost </a:t>
            </a:r>
            <a:endParaRPr lang="en-US" altLang="en-US" sz="2000" dirty="0">
              <a:solidFill>
                <a:srgbClr val="000000"/>
              </a:solidFill>
              <a:latin typeface="+mj-lt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t = </a:t>
            </a:r>
            <a:r>
              <a:rPr lang="en-US" altLang="en-US" sz="2000" dirty="0" err="1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Statutory tax </a:t>
            </a:r>
            <a:r>
              <a:rPr lang="en-US" altLang="en-US" sz="2000" dirty="0">
                <a:solidFill>
                  <a:srgbClr val="000000"/>
                </a:solidFill>
                <a:latin typeface="+mj-lt"/>
                <a:cs typeface="Tahoma" panose="020B0604030504040204" pitchFamily="34" charset="0"/>
              </a:rPr>
              <a:t>rate  </a:t>
            </a:r>
          </a:p>
          <a:p>
            <a:pPr marL="1800">
              <a:buClr>
                <a:srgbClr val="000000"/>
              </a:buClr>
            </a:pPr>
            <a:endParaRPr lang="de-DE" sz="2600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endParaRPr lang="de-DE" sz="2600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Important: E is the market value of equity, not book value (“Circularity problem”)</a:t>
            </a:r>
          </a:p>
          <a:p>
            <a:pPr marL="1800">
              <a:buClr>
                <a:srgbClr val="000000"/>
              </a:buClr>
            </a:pPr>
            <a:endParaRPr lang="en-US" sz="2000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r>
              <a:rPr lang="en-US" sz="2000" spc="-1" dirty="0">
                <a:solidFill>
                  <a:srgbClr val="000000"/>
                </a:solidFill>
                <a:latin typeface="Arial Narrow"/>
              </a:rPr>
              <a:t>Important: E/(E+D) is the target (future) capital structure</a:t>
            </a: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 err="1">
                <a:solidFill>
                  <a:srgbClr val="004F8F"/>
                </a:solidFill>
                <a:latin typeface="Arial Narrow"/>
                <a:ea typeface="Arial Narrow"/>
              </a:rPr>
              <a:t>Determine </a:t>
            </a: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the WACC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12</a:t>
            </a:fld>
            <a:endParaRPr lang="en-US" sz="1000" b="0" strike="noStrike" spc="-1"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3">
                <a:extLst>
                  <a:ext uri="{FF2B5EF4-FFF2-40B4-BE49-F238E27FC236}">
                    <a16:creationId xmlns:a16="http://schemas.microsoft.com/office/drawing/2014/main" id="{D194E736-C36A-3C2F-3ABA-18F7AF607E4D}"/>
                  </a:ext>
                </a:extLst>
              </p:cNvPr>
              <p:cNvSpPr txBox="1"/>
              <p:nvPr/>
            </p:nvSpPr>
            <p:spPr>
              <a:xfrm>
                <a:off x="1828800" y="1880619"/>
                <a:ext cx="4762458" cy="557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𝑊𝐴𝐶𝐶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de-DE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d>
                            <m:dPr>
                              <m:ctrlPr>
                                <a:rPr lang="de-DE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de-DE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de-DE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de-D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de-D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de-D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Arial Narrow"/>
                </a:endParaRPr>
              </a:p>
            </p:txBody>
          </p:sp>
        </mc:Choice>
        <mc:Fallback xmlns="">
          <p:sp>
            <p:nvSpPr>
              <p:cNvPr id="27" name="TextBox 3">
                <a:extLst>
                  <a:ext uri="{FF2B5EF4-FFF2-40B4-BE49-F238E27FC236}">
                    <a16:creationId xmlns:a16="http://schemas.microsoft.com/office/drawing/2014/main" id="{D194E736-C36A-3C2F-3ABA-18F7AF607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880619"/>
                <a:ext cx="4762458" cy="5577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87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0C9343-4032-4025-816A-EEE95EF16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13</a:t>
            </a:fld>
            <a:endParaRPr lang="de-DE" alt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5324C-1F48-4663-AB77-BCD89D721C17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371600"/>
            <a:ext cx="8158163" cy="5105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Capital Asset Pricing Model: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altLang="en-US" sz="2400" b="1" i="1" dirty="0" err="1"/>
              <a:t>r</a:t>
            </a:r>
            <a:r>
              <a:rPr lang="en-US" altLang="en-US" sz="2400" b="1" i="1" baseline="-25000" dirty="0" err="1"/>
              <a:t>E</a:t>
            </a:r>
            <a:r>
              <a:rPr lang="en-US" altLang="en-US" sz="2400" b="1" i="1" baseline="-25000" dirty="0"/>
              <a:t>  </a:t>
            </a:r>
            <a:r>
              <a:rPr lang="en-US" altLang="en-US" sz="2400" b="1" i="1" dirty="0"/>
              <a:t> = </a:t>
            </a:r>
            <a:r>
              <a:rPr lang="en-US" altLang="en-US" sz="2400" b="1" i="1" dirty="0" err="1"/>
              <a:t>r</a:t>
            </a:r>
            <a:r>
              <a:rPr lang="en-US" altLang="en-US" sz="2400" b="1" i="1" baseline="-25000" dirty="0" err="1"/>
              <a:t>F</a:t>
            </a:r>
            <a:r>
              <a:rPr lang="en-US" altLang="en-US" sz="2400" b="1" i="1" dirty="0"/>
              <a:t> +</a:t>
            </a:r>
            <a:r>
              <a:rPr lang="en-US" altLang="en-US" sz="2400" b="1" i="1" dirty="0">
                <a:cs typeface="Tahoma" panose="020B0604030504040204" pitchFamily="34" charset="0"/>
              </a:rPr>
              <a:t> ß </a:t>
            </a:r>
            <a:r>
              <a:rPr lang="en-US" altLang="en-US" sz="2400" b="1" i="1" dirty="0"/>
              <a:t>(E(r</a:t>
            </a:r>
            <a:r>
              <a:rPr lang="en-US" altLang="en-US" sz="2400" b="1" i="1" baseline="-25000" dirty="0"/>
              <a:t>m</a:t>
            </a:r>
            <a:r>
              <a:rPr lang="en-US" altLang="en-US" sz="2400" b="1" i="1" dirty="0"/>
              <a:t> ) - </a:t>
            </a:r>
            <a:r>
              <a:rPr lang="en-US" altLang="en-US" sz="2400" b="1" i="1" dirty="0" err="1"/>
              <a:t>r</a:t>
            </a:r>
            <a:r>
              <a:rPr lang="en-US" altLang="en-US" sz="2400" b="1" i="1" baseline="-25000" dirty="0" err="1"/>
              <a:t>F</a:t>
            </a:r>
            <a:r>
              <a:rPr lang="en-US" altLang="en-US" sz="2400" b="1" i="1" dirty="0"/>
              <a:t> )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/>
              <a:t>r</a:t>
            </a:r>
            <a:r>
              <a:rPr lang="en-US" altLang="en-US" sz="2000" baseline="-25000" dirty="0" err="1"/>
              <a:t>F</a:t>
            </a:r>
            <a:r>
              <a:rPr lang="en-US" altLang="en-US" sz="2000" baseline="-25000" dirty="0"/>
              <a:t>		</a:t>
            </a:r>
            <a:r>
              <a:rPr lang="en-US" altLang="en-US" sz="2000" dirty="0"/>
              <a:t> = Risk free rate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Tahoma" panose="020B0604030504040204" pitchFamily="34" charset="0"/>
              </a:rPr>
              <a:t>ß = Beta (the </a:t>
            </a:r>
            <a:r>
              <a:rPr lang="en-US" altLang="en-US" sz="2000" dirty="0" err="1">
                <a:cs typeface="Tahoma" panose="020B0604030504040204" pitchFamily="34" charset="0"/>
              </a:rPr>
              <a:t>systematic </a:t>
            </a:r>
            <a:r>
              <a:rPr lang="en-US" altLang="en-US" sz="2000" dirty="0">
                <a:cs typeface="Tahoma" panose="020B0604030504040204" pitchFamily="34" charset="0"/>
              </a:rPr>
              <a:t>/ </a:t>
            </a:r>
            <a:r>
              <a:rPr lang="en-US" altLang="en-US" sz="2000" dirty="0" err="1">
                <a:cs typeface="Tahoma" panose="020B0604030504040204" pitchFamily="34" charset="0"/>
              </a:rPr>
              <a:t>non-diversifiable risk of </a:t>
            </a:r>
            <a:r>
              <a:rPr lang="en-US" altLang="en-US" sz="2000" dirty="0">
                <a:cs typeface="Tahoma" panose="020B0604030504040204" pitchFamily="34" charset="0"/>
              </a:rPr>
              <a:t>the </a:t>
            </a:r>
            <a:r>
              <a:rPr lang="en-US" altLang="en-US" sz="2000" dirty="0" err="1">
                <a:cs typeface="Tahoma" panose="020B0604030504040204" pitchFamily="34" charset="0"/>
              </a:rPr>
              <a:t>company</a:t>
            </a:r>
            <a:r>
              <a:rPr lang="en-US" altLang="en-US" sz="2000" dirty="0">
                <a:cs typeface="Tahoma" panose="020B0604030504040204" pitchFamily="34" charset="0"/>
              </a:rPr>
              <a:t>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(E(r</a:t>
            </a:r>
            <a:r>
              <a:rPr lang="en-US" altLang="en-US" sz="2000" baseline="-25000" dirty="0"/>
              <a:t>m</a:t>
            </a:r>
            <a:r>
              <a:rPr lang="en-US" altLang="en-US" sz="2000" dirty="0"/>
              <a:t> ) - </a:t>
            </a:r>
            <a:r>
              <a:rPr lang="en-US" altLang="en-US" sz="2000" dirty="0" err="1"/>
              <a:t>r</a:t>
            </a:r>
            <a:r>
              <a:rPr lang="en-US" altLang="en-US" sz="2000" baseline="-25000" dirty="0" err="1"/>
              <a:t>F</a:t>
            </a:r>
            <a:r>
              <a:rPr lang="en-US" altLang="en-US" sz="2000" dirty="0"/>
              <a:t> ) = Market risk premium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8B8533-1DE9-4D92-BF3E-66253F09750C}"/>
              </a:ext>
            </a:extLst>
          </p:cNvPr>
          <p:cNvSpPr txBox="1"/>
          <p:nvPr/>
        </p:nvSpPr>
        <p:spPr>
          <a:xfrm>
            <a:off x="228600" y="6477814"/>
            <a:ext cx="8721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+mn-lt"/>
              </a:rPr>
              <a:t>see </a:t>
            </a:r>
            <a:r>
              <a:rPr lang="en-GB" sz="1200" dirty="0" err="1">
                <a:solidFill>
                  <a:srgbClr val="000000"/>
                </a:solidFill>
                <a:latin typeface="+mn-lt"/>
              </a:rPr>
              <a:t>DePamphilis </a:t>
            </a:r>
            <a:r>
              <a:rPr lang="en-GB" sz="1200" dirty="0">
                <a:solidFill>
                  <a:srgbClr val="000000"/>
                </a:solidFill>
                <a:latin typeface="+mn-lt"/>
              </a:rPr>
              <a:t>(2014): Mergers, Acquisitions, and Other Restructurings Activities, Chapter 7.</a:t>
            </a: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C8E282DE-8EAF-1552-7692-524689C7BEFA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Determine Cost of Equity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9800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ED993FC-8C0A-4A1E-8688-D67D3B0A5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14</a:t>
            </a:fld>
            <a:endParaRPr lang="de-DE" altLang="de-DE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81EF33D-1366-4AD8-9D5E-F0136A2C3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657600"/>
            <a:ext cx="4275999" cy="29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ustomShape 1">
            <a:extLst>
              <a:ext uri="{FF2B5EF4-FFF2-40B4-BE49-F238E27FC236}">
                <a16:creationId xmlns:a16="http://schemas.microsoft.com/office/drawing/2014/main" id="{183767CD-5915-8DCF-15FB-798338610641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latin typeface="Arial"/>
              </a:rPr>
              <a:t>Equity Beta</a:t>
            </a:r>
          </a:p>
        </p:txBody>
      </p:sp>
      <p:sp>
        <p:nvSpPr>
          <p:cNvPr id="3" name="Textfeld 6">
            <a:extLst>
              <a:ext uri="{FF2B5EF4-FFF2-40B4-BE49-F238E27FC236}">
                <a16:creationId xmlns:a16="http://schemas.microsoft.com/office/drawing/2014/main" id="{44292B6C-F7A3-D677-2B91-678043D8B703}"/>
              </a:ext>
            </a:extLst>
          </p:cNvPr>
          <p:cNvSpPr txBox="1"/>
          <p:nvPr/>
        </p:nvSpPr>
        <p:spPr>
          <a:xfrm>
            <a:off x="304799" y="1219200"/>
            <a:ext cx="8462963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>
              <a:solidFill>
                <a:srgbClr val="292929"/>
              </a:solidFill>
              <a:latin typeface="+mj-lt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u="sng" dirty="0">
                <a:solidFill>
                  <a:srgbClr val="292929"/>
                </a:solidFill>
                <a:latin typeface="+mj-lt"/>
                <a:cs typeface="Arial" pitchFamily="34" charset="0"/>
              </a:rPr>
              <a:t>Beta</a:t>
            </a:r>
            <a:r>
              <a:rPr lang="en-US" sz="1900" dirty="0">
                <a:solidFill>
                  <a:srgbClr val="292929"/>
                </a:solidFill>
                <a:latin typeface="+mj-lt"/>
                <a:cs typeface="Arial" pitchFamily="34" charset="0"/>
              </a:rPr>
              <a:t> is usually calculated by regressing the stock returns on the market index return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rgbClr val="292929"/>
                </a:solidFill>
                <a:latin typeface="+mj-lt"/>
                <a:cs typeface="Arial" pitchFamily="34" charset="0"/>
              </a:rPr>
              <a:t>Needs a sufficient stock history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rgbClr val="292929"/>
                </a:solidFill>
                <a:latin typeface="+mj-lt"/>
                <a:cs typeface="Arial" pitchFamily="34" charset="0"/>
              </a:rPr>
              <a:t>Available also online (e.g. yahoo finance)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rgbClr val="292929"/>
                </a:solidFill>
                <a:latin typeface="+mj-lt"/>
                <a:cs typeface="Arial" pitchFamily="34" charset="0"/>
                <a:sym typeface="Wingdings" panose="05000000000000000000" pitchFamily="2" charset="2"/>
              </a:rPr>
              <a:t>Choice of a market index required</a:t>
            </a:r>
            <a:r>
              <a:rPr lang="en-US" sz="1900" dirty="0">
                <a:solidFill>
                  <a:srgbClr val="292929"/>
                </a:solidFill>
                <a:latin typeface="+mj-lt"/>
                <a:cs typeface="Arial" pitchFamily="34" charset="0"/>
              </a:rPr>
              <a:t> </a:t>
            </a:r>
          </a:p>
          <a:p>
            <a:endParaRPr lang="en-US" sz="1900" dirty="0">
              <a:solidFill>
                <a:srgbClr val="292929"/>
              </a:solidFill>
              <a:latin typeface="+mj-lt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1900" dirty="0">
              <a:solidFill>
                <a:srgbClr val="292929"/>
              </a:solidFill>
              <a:latin typeface="+mj-lt"/>
              <a:cs typeface="Arial" pitchFamily="34" charset="0"/>
            </a:endParaRPr>
          </a:p>
          <a:p>
            <a:endParaRPr lang="en-US" sz="1900" dirty="0">
              <a:solidFill>
                <a:srgbClr val="292929"/>
              </a:solidFill>
              <a:latin typeface="+mj-lt"/>
              <a:cs typeface="Arial" pitchFamily="34" charset="0"/>
            </a:endParaRPr>
          </a:p>
          <a:p>
            <a:pPr algn="ctr"/>
            <a:endParaRPr lang="en-US" sz="1900" dirty="0">
              <a:solidFill>
                <a:srgbClr val="292929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0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6B08CD-5035-459B-BA12-E9D3798C6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15</a:t>
            </a:fld>
            <a:endParaRPr lang="de-DE" alt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46E56D-F080-4F1F-A10B-76CB2AFC4B3A}"/>
              </a:ext>
            </a:extLst>
          </p:cNvPr>
          <p:cNvSpPr txBox="1">
            <a:spLocks noChangeArrowheads="1"/>
          </p:cNvSpPr>
          <p:nvPr/>
        </p:nvSpPr>
        <p:spPr>
          <a:xfrm>
            <a:off x="512762" y="2209800"/>
            <a:ext cx="4690800" cy="34499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lnSpc>
                <a:spcPct val="95000"/>
              </a:lnSpc>
              <a:buAutoNum type="arabicPeriod"/>
            </a:pPr>
            <a:r>
              <a:rPr lang="en-US" altLang="en-US" sz="2400" dirty="0" err="1"/>
              <a:t>Unlever</a:t>
            </a:r>
            <a:r>
              <a:rPr lang="en-US" altLang="en-US" sz="2400" dirty="0"/>
              <a:t> beta of peers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 </a:t>
            </a:r>
            <a:r>
              <a:rPr lang="en-US" altLang="en-US" sz="2400" dirty="0"/>
              <a:t>find </a:t>
            </a:r>
            <a:r>
              <a:rPr lang="en-US" altLang="en-US" sz="2400" dirty="0" err="1"/>
              <a:t>ß</a:t>
            </a:r>
            <a:r>
              <a:rPr lang="en-US" altLang="en-US" sz="2400" baseline="-25000" dirty="0" err="1"/>
              <a:t>U</a:t>
            </a:r>
            <a:br>
              <a:rPr lang="en-US" altLang="en-US" sz="2400" dirty="0"/>
            </a:br>
            <a:endParaRPr lang="en-US" altLang="en-US" sz="2400" dirty="0"/>
          </a:p>
          <a:p>
            <a:pPr marL="514350" indent="-514350" eaLnBrk="1" hangingPunct="1">
              <a:lnSpc>
                <a:spcPct val="95000"/>
              </a:lnSpc>
              <a:buAutoNum type="arabicPeriod"/>
            </a:pPr>
            <a:r>
              <a:rPr lang="en-US" altLang="en-US" sz="2400" dirty="0" err="1"/>
              <a:t>Determine average ß</a:t>
            </a:r>
            <a:r>
              <a:rPr lang="en-US" altLang="en-US" sz="2400" baseline="-25000" dirty="0" err="1"/>
              <a:t>U</a:t>
            </a:r>
            <a:r>
              <a:rPr lang="en-US" altLang="en-US" sz="2400" baseline="-25000" dirty="0"/>
              <a:t> </a:t>
            </a:r>
            <a:r>
              <a:rPr lang="en-US" altLang="en-US" sz="2400" dirty="0"/>
              <a:t> of </a:t>
            </a:r>
            <a:r>
              <a:rPr lang="en-US" altLang="en-US" sz="2400" dirty="0" err="1"/>
              <a:t>relevant </a:t>
            </a:r>
            <a:r>
              <a:rPr lang="en-US" altLang="en-US" sz="2400" dirty="0"/>
              <a:t>peers</a:t>
            </a:r>
          </a:p>
          <a:p>
            <a:pPr marL="514350" indent="-514350" eaLnBrk="1" hangingPunct="1">
              <a:lnSpc>
                <a:spcPct val="95000"/>
              </a:lnSpc>
              <a:buAutoNum type="arabicPeriod"/>
            </a:pPr>
            <a:endParaRPr lang="en-US" altLang="en-US" sz="2400" dirty="0"/>
          </a:p>
          <a:p>
            <a:pPr marL="514350" indent="-514350" eaLnBrk="1" hangingPunct="1">
              <a:lnSpc>
                <a:spcPct val="95000"/>
              </a:lnSpc>
              <a:buAutoNum type="arabicPeriod"/>
            </a:pPr>
            <a:r>
              <a:rPr lang="en-US" altLang="en-US" sz="2400" dirty="0" err="1"/>
              <a:t>Relever</a:t>
            </a:r>
            <a:r>
              <a:rPr lang="en-US" altLang="en-US" sz="2400" dirty="0"/>
              <a:t> to target leverage ratio of the company being valued.</a:t>
            </a:r>
            <a:br>
              <a:rPr lang="en-US" altLang="en-US" sz="2400" dirty="0"/>
            </a:br>
            <a:r>
              <a:rPr lang="en-US" altLang="en-US" sz="2400" dirty="0">
                <a:sym typeface="Wingdings" panose="05000000000000000000" pitchFamily="2" charset="2"/>
              </a:rPr>
              <a:t> find</a:t>
            </a:r>
            <a:r>
              <a:rPr lang="en-US" altLang="en-US" sz="2400" dirty="0" err="1"/>
              <a:t> ß</a:t>
            </a:r>
            <a:r>
              <a:rPr lang="en-US" altLang="en-US" sz="2400" baseline="-25000" dirty="0" err="1"/>
              <a:t>E</a:t>
            </a:r>
            <a:endParaRPr lang="en-US" altLang="en-US" sz="2400" dirty="0"/>
          </a:p>
          <a:p>
            <a:pPr eaLnBrk="1" hangingPunct="1">
              <a:lnSpc>
                <a:spcPct val="95000"/>
              </a:lnSpc>
            </a:pPr>
            <a:r>
              <a:rPr lang="en-US" altLang="en-US" sz="2400" dirty="0">
                <a:cs typeface="Tahoma" panose="020B0604030504040204" pitchFamily="34" charset="0"/>
              </a:rPr>
              <a:t>					  </a:t>
            </a:r>
            <a:endParaRPr lang="en-US" altLang="en-US" dirty="0">
              <a:cs typeface="Tahoma" panose="020B0604030504040204" pitchFamily="34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en-US" dirty="0">
              <a:cs typeface="Tahoma" panose="020B0604030504040204" pitchFamily="34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en-US" dirty="0"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D77917B5-477B-4397-B4B9-C42CB6050101}"/>
                  </a:ext>
                </a:extLst>
              </p:cNvPr>
              <p:cNvSpPr txBox="1"/>
              <p:nvPr/>
            </p:nvSpPr>
            <p:spPr>
              <a:xfrm>
                <a:off x="5203562" y="4724400"/>
                <a:ext cx="3940438" cy="687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de-DE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de-DE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ctrlP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f>
                          <m:fPr>
                            <m:ctrlP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</m:e>
                    </m:d>
                  </m:oMath>
                </a14:m>
                <a:endParaRPr lang="en-GB" sz="3000" dirty="0">
                  <a:solidFill>
                    <a:srgbClr val="000000"/>
                  </a:solidFill>
                  <a:latin typeface="+mn-lt"/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D77917B5-477B-4397-B4B9-C42CB6050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562" y="4724400"/>
                <a:ext cx="3940438" cy="6875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415ECD0-D65D-4533-A6CD-C63431B73770}"/>
                  </a:ext>
                </a:extLst>
              </p:cNvPr>
              <p:cNvSpPr txBox="1"/>
              <p:nvPr/>
            </p:nvSpPr>
            <p:spPr>
              <a:xfrm>
                <a:off x="5203562" y="1995057"/>
                <a:ext cx="2680548" cy="869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de-DE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de-DE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de-DE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ctrlP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f>
                          <m:fPr>
                            <m:ctrlP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de-DE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</m:den>
                    </m:f>
                  </m:oMath>
                </a14:m>
                <a:endParaRPr lang="en-GB" sz="3000" dirty="0">
                  <a:solidFill>
                    <a:srgbClr val="000000"/>
                  </a:solidFill>
                  <a:latin typeface="+mn-lt"/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415ECD0-D65D-4533-A6CD-C63431B73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562" y="1995057"/>
                <a:ext cx="2680548" cy="8696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stomShape 1">
            <a:extLst>
              <a:ext uri="{FF2B5EF4-FFF2-40B4-BE49-F238E27FC236}">
                <a16:creationId xmlns:a16="http://schemas.microsoft.com/office/drawing/2014/main" id="{36CAA1F9-2707-73AB-5BB7-CCFC1DACB09A}"/>
              </a:ext>
            </a:extLst>
          </p:cNvPr>
          <p:cNvSpPr/>
          <p:nvPr/>
        </p:nvSpPr>
        <p:spPr>
          <a:xfrm>
            <a:off x="0" y="-22860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004F8F"/>
                </a:solidFill>
                <a:latin typeface="Arial Narrow"/>
                <a:ea typeface="Arial Narrow"/>
              </a:rPr>
              <a:t>Alternative: Estimate Beta from peer firms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3EBB2B2-4FB8-9A2E-1728-04ADBEBFFC08}"/>
              </a:ext>
            </a:extLst>
          </p:cNvPr>
          <p:cNvSpPr txBox="1"/>
          <p:nvPr/>
        </p:nvSpPr>
        <p:spPr>
          <a:xfrm>
            <a:off x="462367" y="5937912"/>
            <a:ext cx="611663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5000"/>
              </a:lnSpc>
            </a:pPr>
            <a:r>
              <a:rPr lang="en-US" altLang="en-US" sz="1200" dirty="0" err="1">
                <a:solidFill>
                  <a:srgbClr val="000000"/>
                </a:solidFill>
                <a:cs typeface="Tahoma" panose="020B0604030504040204" pitchFamily="34" charset="0"/>
              </a:rPr>
              <a:t>ß</a:t>
            </a:r>
            <a:r>
              <a:rPr lang="en-US" altLang="en-US" sz="1200" baseline="-25000" dirty="0" err="1">
                <a:solidFill>
                  <a:srgbClr val="000000"/>
                </a:solidFill>
                <a:cs typeface="Tahoma" panose="020B0604030504040204" pitchFamily="34" charset="0"/>
              </a:rPr>
              <a:t>U</a:t>
            </a:r>
            <a:r>
              <a:rPr lang="en-US" altLang="en-US" sz="1200" dirty="0">
                <a:solidFill>
                  <a:srgbClr val="000000"/>
                </a:solidFill>
                <a:cs typeface="Tahoma" panose="020B0604030504040204" pitchFamily="34" charset="0"/>
              </a:rPr>
              <a:t> = unlevered beta,</a:t>
            </a:r>
            <a:r>
              <a:rPr lang="en-US" altLang="en-US" sz="1200" dirty="0" err="1">
                <a:solidFill>
                  <a:srgbClr val="000000"/>
                </a:solidFill>
                <a:cs typeface="Tahoma" panose="020B0604030504040204" pitchFamily="34" charset="0"/>
              </a:rPr>
              <a:t> ß</a:t>
            </a:r>
            <a:r>
              <a:rPr lang="en-US" altLang="en-US" sz="1200" baseline="-25000" dirty="0" err="1">
                <a:solidFill>
                  <a:srgbClr val="000000"/>
                </a:solidFill>
                <a:cs typeface="Tahoma" panose="020B0604030504040204" pitchFamily="34" charset="0"/>
              </a:rPr>
              <a:t>E</a:t>
            </a:r>
            <a:r>
              <a:rPr lang="en-US" altLang="en-US" sz="1200" dirty="0">
                <a:solidFill>
                  <a:srgbClr val="000000"/>
                </a:solidFill>
                <a:cs typeface="Tahoma" panose="020B0604030504040204" pitchFamily="34" charset="0"/>
              </a:rPr>
              <a:t> = levered beta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 sz="1200" dirty="0">
                <a:solidFill>
                  <a:srgbClr val="000000"/>
                </a:solidFill>
                <a:cs typeface="Tahoma" panose="020B0604030504040204" pitchFamily="34" charset="0"/>
              </a:rPr>
              <a:t>t, D, and E: tax rate, debt and equity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A9B736-729A-9B78-6D31-6AEFD01B185D}"/>
              </a:ext>
            </a:extLst>
          </p:cNvPr>
          <p:cNvSpPr txBox="1">
            <a:spLocks noChangeArrowheads="1"/>
          </p:cNvSpPr>
          <p:nvPr/>
        </p:nvSpPr>
        <p:spPr>
          <a:xfrm>
            <a:off x="482414" y="1399920"/>
            <a:ext cx="8051986" cy="962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5000"/>
              </a:lnSpc>
            </a:pPr>
            <a:r>
              <a:rPr lang="en-US" altLang="en-US" sz="2400" b="1" dirty="0"/>
              <a:t>Problem: </a:t>
            </a:r>
            <a:r>
              <a:rPr lang="en-US" altLang="en-US" sz="2400" dirty="0"/>
              <a:t>Beta depends on </a:t>
            </a:r>
            <a:r>
              <a:rPr lang="en-US" altLang="en-US" sz="2400" dirty="0" err="1"/>
              <a:t>debt level of </a:t>
            </a:r>
            <a:r>
              <a:rPr lang="en-US" altLang="en-US" sz="2400" dirty="0"/>
              <a:t>the </a:t>
            </a:r>
            <a:r>
              <a:rPr lang="en-US" altLang="en-US" sz="2400" dirty="0" err="1"/>
              <a:t>company. </a:t>
            </a:r>
          </a:p>
          <a:p>
            <a:pPr marL="0" indent="0" eaLnBrk="1" hangingPunct="1">
              <a:lnSpc>
                <a:spcPct val="95000"/>
              </a:lnSpc>
            </a:pPr>
            <a:r>
              <a:rPr lang="en-US" altLang="en-US" sz="2400" b="1" dirty="0" err="1"/>
              <a:t>Solution</a:t>
            </a:r>
            <a:r>
              <a:rPr lang="en-US" altLang="en-US" sz="2400" b="1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06064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16</a:t>
            </a:fld>
            <a:endParaRPr lang="de-DE" altLang="de-DE" dirty="0"/>
          </a:p>
        </p:txBody>
      </p:sp>
      <p:sp>
        <p:nvSpPr>
          <p:cNvPr id="12" name="CustomShape 1">
            <a:extLst>
              <a:ext uri="{FF2B5EF4-FFF2-40B4-BE49-F238E27FC236}">
                <a16:creationId xmlns:a16="http://schemas.microsoft.com/office/drawing/2014/main" id="{ABC84AA7-9BF0-DD50-1EFD-8EC90B2D6626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Market Risk </a:t>
            </a:r>
            <a:r>
              <a:rPr lang="en-US" sz="3600" b="1" spc="-1" dirty="0">
                <a:solidFill>
                  <a:srgbClr val="004F8F"/>
                </a:solidFill>
                <a:latin typeface="Arial Narrow"/>
                <a:ea typeface="Arial Narrow"/>
              </a:rPr>
              <a:t>P</a:t>
            </a: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remium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0E09C05F-8E47-A999-3F64-64A79F8C7235}"/>
              </a:ext>
            </a:extLst>
          </p:cNvPr>
          <p:cNvSpPr/>
          <p:nvPr/>
        </p:nvSpPr>
        <p:spPr>
          <a:xfrm>
            <a:off x="315406" y="1752600"/>
            <a:ext cx="8557925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The </a:t>
            </a:r>
            <a:r>
              <a:rPr lang="en-US" sz="2400" spc="-1" dirty="0" err="1">
                <a:solidFill>
                  <a:srgbClr val="000000"/>
                </a:solidFill>
                <a:latin typeface="Arial Narrow"/>
              </a:rPr>
              <a:t>market risk premium is usually estimated based </a:t>
            </a: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on </a:t>
            </a:r>
            <a:r>
              <a:rPr lang="en-US" sz="2400" spc="-1" dirty="0" err="1">
                <a:solidFill>
                  <a:srgbClr val="000000"/>
                </a:solidFill>
                <a:latin typeface="Arial Narrow"/>
              </a:rPr>
              <a:t>long-term historical data</a:t>
            </a: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.</a:t>
            </a:r>
          </a:p>
          <a:p>
            <a:pPr marL="1800"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solidFill>
                  <a:srgbClr val="000000"/>
                </a:solidFill>
                <a:latin typeface="Arial Narrow"/>
              </a:rPr>
              <a:t>Country-specific data is often used</a:t>
            </a: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. For our case, the premium is already specified in the template: 4.23%.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Source: </a:t>
            </a:r>
            <a:r>
              <a:rPr lang="en-US" sz="2400" b="1" spc="-1" dirty="0">
                <a:solidFill>
                  <a:srgbClr val="000000"/>
                </a:solidFill>
              </a:rPr>
              <a:t>Damodaran Country Default Spreads and Risk Premiums</a:t>
            </a:r>
            <a:endParaRPr lang="en-US" sz="2400" b="1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9A2072E-B351-BA2A-35A4-049D529B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4583020"/>
            <a:ext cx="7696200" cy="113198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ECEF9D5B-292C-ED6F-9074-72892FC63EAE}"/>
              </a:ext>
            </a:extLst>
          </p:cNvPr>
          <p:cNvSpPr txBox="1"/>
          <p:nvPr/>
        </p:nvSpPr>
        <p:spPr>
          <a:xfrm>
            <a:off x="233363" y="6477814"/>
            <a:ext cx="2410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+mn-lt"/>
              </a:rPr>
              <a:t>Source: </a:t>
            </a:r>
            <a:r>
              <a:rPr lang="de-DE" sz="1200" dirty="0">
                <a:solidFill>
                  <a:srgbClr val="000000"/>
                </a:solidFill>
                <a:latin typeface="+mn-lt"/>
                <a:hlinkClick r:id="rId3"/>
              </a:rPr>
              <a:t>Damodaran, 2026</a:t>
            </a:r>
            <a:endParaRPr lang="en-DE" sz="12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2865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3581400"/>
            <a:ext cx="25146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de-DE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de-DE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de-DE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de-DE" sz="2400" dirty="0"/>
          </a:p>
        </p:txBody>
      </p:sp>
      <p:cxnSp>
        <p:nvCxnSpPr>
          <p:cNvPr id="3" name="Gerader Verbinder 2"/>
          <p:cNvCxnSpPr/>
          <p:nvPr/>
        </p:nvCxnSpPr>
        <p:spPr bwMode="auto">
          <a:xfrm>
            <a:off x="662968" y="2133600"/>
            <a:ext cx="5966432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Gerader Verbinder 4"/>
          <p:cNvCxnSpPr/>
          <p:nvPr/>
        </p:nvCxnSpPr>
        <p:spPr bwMode="auto">
          <a:xfrm>
            <a:off x="3733800" y="2133600"/>
            <a:ext cx="0" cy="411480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r Verbinder 7"/>
          <p:cNvCxnSpPr/>
          <p:nvPr/>
        </p:nvCxnSpPr>
        <p:spPr bwMode="auto">
          <a:xfrm>
            <a:off x="662968" y="6248400"/>
            <a:ext cx="5867400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hteck 5"/>
          <p:cNvSpPr/>
          <p:nvPr/>
        </p:nvSpPr>
        <p:spPr>
          <a:xfrm>
            <a:off x="3909088" y="2584493"/>
            <a:ext cx="973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de-DE" sz="2000" dirty="0"/>
              <a:t>PV</a:t>
            </a:r>
            <a:r>
              <a:rPr lang="en-US" altLang="de-DE" sz="2000" baseline="-25000" dirty="0"/>
              <a:t>FCFE</a:t>
            </a:r>
            <a:endParaRPr lang="en-US" altLang="de-DE" sz="2000" dirty="0"/>
          </a:p>
        </p:txBody>
      </p:sp>
      <p:sp>
        <p:nvSpPr>
          <p:cNvPr id="7" name="Rechteck 6"/>
          <p:cNvSpPr/>
          <p:nvPr/>
        </p:nvSpPr>
        <p:spPr>
          <a:xfrm>
            <a:off x="595866" y="2427922"/>
            <a:ext cx="29718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de-DE" sz="2000" dirty="0"/>
              <a:t>PV</a:t>
            </a:r>
            <a:r>
              <a:rPr lang="en-US" altLang="de-DE" sz="2000" baseline="-25000" dirty="0"/>
              <a:t>FCFF</a:t>
            </a:r>
            <a:br>
              <a:rPr lang="en-US" altLang="de-DE" sz="2000" baseline="-25000" dirty="0"/>
            </a:br>
            <a:endParaRPr lang="en-US" altLang="de-DE" sz="2000" dirty="0"/>
          </a:p>
          <a:p>
            <a:pPr eaLnBrk="1" hangingPunct="1">
              <a:lnSpc>
                <a:spcPct val="90000"/>
              </a:lnSpc>
            </a:pPr>
            <a:r>
              <a:rPr lang="en-US" altLang="de-DE" sz="2000" dirty="0"/>
              <a:t>"The PV of the operating assets which generate the forecasted FCF" </a:t>
            </a:r>
          </a:p>
        </p:txBody>
      </p:sp>
      <p:sp>
        <p:nvSpPr>
          <p:cNvPr id="9" name="Rechteck 8"/>
          <p:cNvSpPr/>
          <p:nvPr/>
        </p:nvSpPr>
        <p:spPr>
          <a:xfrm>
            <a:off x="3909088" y="3542456"/>
            <a:ext cx="18261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de-DE" sz="2000" dirty="0"/>
              <a:t>Financial Debt</a:t>
            </a:r>
            <a:endParaRPr lang="de-DE" sz="2000" dirty="0"/>
          </a:p>
        </p:txBody>
      </p:sp>
      <p:sp>
        <p:nvSpPr>
          <p:cNvPr id="10" name="Rechteck 9"/>
          <p:cNvSpPr/>
          <p:nvPr/>
        </p:nvSpPr>
        <p:spPr>
          <a:xfrm>
            <a:off x="546984" y="4729799"/>
            <a:ext cx="3192503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de-DE" dirty="0"/>
              <a:t>Non operating assets (NOA)</a:t>
            </a:r>
            <a:br>
              <a:rPr lang="en-US" altLang="de-DE" dirty="0"/>
            </a:br>
            <a:r>
              <a:rPr lang="en-US" altLang="de-DE" dirty="0"/>
              <a:t>- cash &amp; securities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de-DE" dirty="0"/>
              <a:t>- minority stakes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de-DE" dirty="0"/>
              <a:t>(“Investment in associates”)</a:t>
            </a:r>
            <a:endParaRPr lang="en-US" altLang="de-DE" baseline="-25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de-DE" baseline="-25000" dirty="0"/>
          </a:p>
        </p:txBody>
      </p:sp>
      <p:sp>
        <p:nvSpPr>
          <p:cNvPr id="11" name="Rechteck 10"/>
          <p:cNvSpPr/>
          <p:nvPr/>
        </p:nvSpPr>
        <p:spPr>
          <a:xfrm>
            <a:off x="3810000" y="5493615"/>
            <a:ext cx="30251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de-DE" sz="2000" dirty="0"/>
              <a:t>Non operating liabilities </a:t>
            </a:r>
            <a:br>
              <a:rPr lang="en-US" altLang="de-DE" sz="2000" dirty="0"/>
            </a:br>
            <a:r>
              <a:rPr lang="en-US" altLang="de-DE" sz="2000" dirty="0"/>
              <a:t>(e.g. pension liabilities)</a:t>
            </a:r>
            <a:endParaRPr lang="en-US" altLang="de-DE" sz="2000" baseline="-25000" dirty="0"/>
          </a:p>
        </p:txBody>
      </p:sp>
      <p:cxnSp>
        <p:nvCxnSpPr>
          <p:cNvPr id="14" name="Gerader Verbinder 13"/>
          <p:cNvCxnSpPr/>
          <p:nvPr/>
        </p:nvCxnSpPr>
        <p:spPr bwMode="auto">
          <a:xfrm>
            <a:off x="762000" y="4495800"/>
            <a:ext cx="2971800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r Verbinder 15"/>
          <p:cNvCxnSpPr/>
          <p:nvPr/>
        </p:nvCxnSpPr>
        <p:spPr bwMode="auto">
          <a:xfrm>
            <a:off x="3733800" y="5410200"/>
            <a:ext cx="2859864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Gerader Verbinder 16"/>
          <p:cNvCxnSpPr/>
          <p:nvPr/>
        </p:nvCxnSpPr>
        <p:spPr bwMode="auto">
          <a:xfrm>
            <a:off x="3769536" y="3352800"/>
            <a:ext cx="2859864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hteck 17"/>
          <p:cNvSpPr/>
          <p:nvPr/>
        </p:nvSpPr>
        <p:spPr>
          <a:xfrm>
            <a:off x="3909088" y="4285655"/>
            <a:ext cx="200567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de-DE" sz="2000" dirty="0"/>
              <a:t>Minority Interest</a:t>
            </a:r>
          </a:p>
          <a:p>
            <a:endParaRPr lang="en-US" altLang="de-DE" sz="2000" dirty="0"/>
          </a:p>
          <a:p>
            <a:r>
              <a:rPr lang="en-US" altLang="de-DE" sz="2000" dirty="0"/>
              <a:t>Preferred Stock</a:t>
            </a:r>
            <a:endParaRPr lang="de-DE" sz="2000" dirty="0"/>
          </a:p>
        </p:txBody>
      </p:sp>
      <p:cxnSp>
        <p:nvCxnSpPr>
          <p:cNvPr id="19" name="Gerader Verbinder 18"/>
          <p:cNvCxnSpPr/>
          <p:nvPr/>
        </p:nvCxnSpPr>
        <p:spPr bwMode="auto">
          <a:xfrm>
            <a:off x="3733800" y="4165273"/>
            <a:ext cx="2859864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CustomShape 1">
            <a:extLst>
              <a:ext uri="{FF2B5EF4-FFF2-40B4-BE49-F238E27FC236}">
                <a16:creationId xmlns:a16="http://schemas.microsoft.com/office/drawing/2014/main" id="{4731C605-5FAC-EB96-462D-891748393EAF}"/>
              </a:ext>
            </a:extLst>
          </p:cNvPr>
          <p:cNvSpPr/>
          <p:nvPr/>
        </p:nvSpPr>
        <p:spPr>
          <a:xfrm>
            <a:off x="228600" y="-150719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Equity Bridge - Overview</a:t>
            </a:r>
            <a:endParaRPr lang="en-US" sz="2800" b="0" strike="noStrike" spc="-1" dirty="0">
              <a:latin typeface="Arial"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0B108D6-F2C3-4F72-8739-912D4DD20192}"/>
              </a:ext>
            </a:extLst>
          </p:cNvPr>
          <p:cNvCxnSpPr/>
          <p:nvPr/>
        </p:nvCxnSpPr>
        <p:spPr bwMode="auto">
          <a:xfrm>
            <a:off x="3733800" y="4800600"/>
            <a:ext cx="2859864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2F91F43E-6A60-4856-A26B-5DA243845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176309"/>
              </p:ext>
            </p:extLst>
          </p:nvPr>
        </p:nvGraphicFramePr>
        <p:xfrm>
          <a:off x="4679950" y="-13009"/>
          <a:ext cx="4454525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685800" progId="Equation.DSMT4">
                  <p:embed/>
                </p:oleObj>
              </mc:Choice>
              <mc:Fallback>
                <p:oleObj name="Equation" r:id="rId3" imgW="2527200" imgH="685800" progId="Equation.DSMT4">
                  <p:embed/>
                  <p:pic>
                    <p:nvPicPr>
                      <p:cNvPr id="23" name="Object 5">
                        <a:extLst>
                          <a:ext uri="{FF2B5EF4-FFF2-40B4-BE49-F238E27FC236}">
                            <a16:creationId xmlns:a16="http://schemas.microsoft.com/office/drawing/2014/main" id="{2F91F43E-6A60-4856-A26B-5DA243845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-13009"/>
                        <a:ext cx="4454525" cy="1214438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9858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>
            <a:extLst>
              <a:ext uri="{FF2B5EF4-FFF2-40B4-BE49-F238E27FC236}">
                <a16:creationId xmlns:a16="http://schemas.microsoft.com/office/drawing/2014/main" id="{4731C605-5FAC-EB96-462D-891748393EAF}"/>
              </a:ext>
            </a:extLst>
          </p:cNvPr>
          <p:cNvSpPr/>
          <p:nvPr/>
        </p:nvSpPr>
        <p:spPr>
          <a:xfrm>
            <a:off x="228600" y="-150719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Equity Bridge - Overview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2F91F43E-6A60-4856-A26B-5DA24384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9950" y="-13009"/>
          <a:ext cx="4454525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685800" progId="Equation.DSMT4">
                  <p:embed/>
                </p:oleObj>
              </mc:Choice>
              <mc:Fallback>
                <p:oleObj name="Equation" r:id="rId3" imgW="2527200" imgH="685800" progId="Equation.DSMT4">
                  <p:embed/>
                  <p:pic>
                    <p:nvPicPr>
                      <p:cNvPr id="23" name="Object 5">
                        <a:extLst>
                          <a:ext uri="{FF2B5EF4-FFF2-40B4-BE49-F238E27FC236}">
                            <a16:creationId xmlns:a16="http://schemas.microsoft.com/office/drawing/2014/main" id="{2F91F43E-6A60-4856-A26B-5DA243845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-13009"/>
                        <a:ext cx="4454525" cy="1214438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9E4A6B-D2C4-4C82-B60A-17FD87D6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43" y="2133600"/>
            <a:ext cx="8119814" cy="4191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de-DE" sz="2000" dirty="0"/>
              <a:t>The Cash Flows </a:t>
            </a:r>
            <a:r>
              <a:rPr lang="de-DE" sz="2000" dirty="0" err="1"/>
              <a:t>forecasted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cash </a:t>
            </a:r>
            <a:r>
              <a:rPr lang="de-DE" sz="2000" dirty="0" err="1"/>
              <a:t>flows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</a:t>
            </a:r>
            <a:r>
              <a:rPr lang="de-DE" sz="2000" dirty="0" err="1"/>
              <a:t>operating</a:t>
            </a:r>
            <a:r>
              <a:rPr lang="de-DE" sz="2000" dirty="0"/>
              <a:t> </a:t>
            </a:r>
            <a:r>
              <a:rPr lang="de-DE" sz="2000" dirty="0" err="1"/>
              <a:t>assets</a:t>
            </a:r>
            <a:r>
              <a:rPr lang="de-DE" sz="2000" dirty="0"/>
              <a:t> &amp; </a:t>
            </a:r>
            <a:r>
              <a:rPr lang="de-DE" sz="2000" dirty="0" err="1"/>
              <a:t>liabilites</a:t>
            </a:r>
            <a:r>
              <a:rPr lang="de-DE" sz="2000" dirty="0"/>
              <a:t> </a:t>
            </a:r>
            <a:r>
              <a:rPr lang="de-DE" sz="2000" dirty="0" err="1"/>
              <a:t>only</a:t>
            </a:r>
            <a:r>
              <a:rPr lang="de-DE" sz="2000" dirty="0"/>
              <a:t>.</a:t>
            </a:r>
          </a:p>
          <a:p>
            <a:endParaRPr lang="de-DE" sz="2000" dirty="0"/>
          </a:p>
          <a:p>
            <a:r>
              <a:rPr lang="de-DE" sz="2000" dirty="0"/>
              <a:t>All </a:t>
            </a:r>
            <a:r>
              <a:rPr lang="de-DE" sz="2000" dirty="0" err="1"/>
              <a:t>other</a:t>
            </a:r>
            <a:r>
              <a:rPr lang="de-DE" sz="2000" dirty="0"/>
              <a:t> </a:t>
            </a:r>
            <a:r>
              <a:rPr lang="de-DE" sz="2000" dirty="0" err="1"/>
              <a:t>assets</a:t>
            </a:r>
            <a:r>
              <a:rPr lang="de-DE" sz="2000" dirty="0"/>
              <a:t> and </a:t>
            </a:r>
            <a:r>
              <a:rPr lang="de-DE" sz="2000" dirty="0" err="1"/>
              <a:t>liabilities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added</a:t>
            </a:r>
            <a:r>
              <a:rPr lang="de-DE" sz="2000" dirty="0"/>
              <a:t> / </a:t>
            </a:r>
            <a:r>
              <a:rPr lang="de-DE" sz="2000" dirty="0" err="1"/>
              <a:t>subtracted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„</a:t>
            </a:r>
            <a:r>
              <a:rPr lang="de-DE" sz="2000" dirty="0" err="1"/>
              <a:t>equity</a:t>
            </a:r>
            <a:r>
              <a:rPr lang="de-DE" sz="2000" dirty="0"/>
              <a:t> </a:t>
            </a:r>
            <a:r>
              <a:rPr lang="de-DE" sz="2000" dirty="0" err="1"/>
              <a:t>bridge</a:t>
            </a:r>
            <a:r>
              <a:rPr lang="de-DE" sz="2000" dirty="0"/>
              <a:t>“</a:t>
            </a:r>
          </a:p>
          <a:p>
            <a:endParaRPr lang="de-DE" sz="2000" dirty="0"/>
          </a:p>
          <a:p>
            <a:pPr>
              <a:buFont typeface="Wingdings" panose="05000000000000000000" pitchFamily="2" charset="2"/>
              <a:buChar char="à"/>
            </a:pPr>
            <a:endParaRPr lang="de-DE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de-DE" sz="2000" dirty="0" err="1">
                <a:sym typeface="Wingdings" panose="05000000000000000000" pitchFamily="2" charset="2"/>
              </a:rPr>
              <a:t>How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can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operating</a:t>
            </a:r>
            <a:r>
              <a:rPr lang="de-DE" sz="2000" dirty="0">
                <a:sym typeface="Wingdings" panose="05000000000000000000" pitchFamily="2" charset="2"/>
              </a:rPr>
              <a:t> and non </a:t>
            </a:r>
            <a:r>
              <a:rPr lang="de-DE" sz="2000" dirty="0" err="1">
                <a:sym typeface="Wingdings" panose="05000000000000000000" pitchFamily="2" charset="2"/>
              </a:rPr>
              <a:t>operating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assets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be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separated</a:t>
            </a:r>
            <a:r>
              <a:rPr lang="de-DE" sz="2000" dirty="0">
                <a:sym typeface="Wingdings" panose="05000000000000000000" pitchFamily="2" charset="2"/>
              </a:rPr>
              <a:t>? </a:t>
            </a:r>
            <a:br>
              <a:rPr lang="de-DE" sz="2000" dirty="0">
                <a:sym typeface="Wingdings" panose="05000000000000000000" pitchFamily="2" charset="2"/>
              </a:rPr>
            </a:br>
            <a:r>
              <a:rPr lang="de-DE" sz="2000" dirty="0">
                <a:sym typeface="Wingdings" panose="05000000000000000000" pitchFamily="2" charset="2"/>
              </a:rPr>
              <a:t>(</a:t>
            </a:r>
            <a:r>
              <a:rPr lang="de-DE" sz="2000" dirty="0" err="1">
                <a:sym typeface="Wingdings" panose="05000000000000000000" pitchFamily="2" charset="2"/>
              </a:rPr>
              <a:t>look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carefully</a:t>
            </a:r>
            <a:r>
              <a:rPr lang="de-DE" sz="2000" dirty="0">
                <a:sym typeface="Wingdings" panose="05000000000000000000" pitchFamily="2" charset="2"/>
              </a:rPr>
              <a:t> at </a:t>
            </a:r>
            <a:r>
              <a:rPr lang="de-DE" sz="2000" dirty="0" err="1">
                <a:sym typeface="Wingdings" panose="05000000000000000000" pitchFamily="2" charset="2"/>
              </a:rPr>
              <a:t>the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financial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statement</a:t>
            </a:r>
            <a:r>
              <a:rPr lang="de-DE" sz="2000" dirty="0">
                <a:sym typeface="Wingdings" panose="05000000000000000000" pitchFamily="2" charset="2"/>
              </a:rPr>
              <a:t>: </a:t>
            </a:r>
            <a:r>
              <a:rPr lang="de-DE" sz="2000" dirty="0" err="1">
                <a:sym typeface="Wingdings" panose="05000000000000000000" pitchFamily="2" charset="2"/>
              </a:rPr>
              <a:t>are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the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revenues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from</a:t>
            </a:r>
            <a:r>
              <a:rPr lang="de-DE" sz="2000" dirty="0">
                <a:sym typeface="Wingdings" panose="05000000000000000000" pitchFamily="2" charset="2"/>
              </a:rPr>
              <a:t> normal </a:t>
            </a:r>
            <a:r>
              <a:rPr lang="de-DE" sz="2000" dirty="0" err="1">
                <a:sym typeface="Wingdings" panose="05000000000000000000" pitchFamily="2" charset="2"/>
              </a:rPr>
              <a:t>operations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or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from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holding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securities</a:t>
            </a:r>
            <a:r>
              <a:rPr lang="de-DE" sz="2000" dirty="0">
                <a:sym typeface="Wingdings" panose="05000000000000000000" pitchFamily="2" charset="2"/>
              </a:rPr>
              <a:t>? Are </a:t>
            </a:r>
            <a:r>
              <a:rPr lang="de-DE" sz="2000" dirty="0" err="1">
                <a:sym typeface="Wingdings" panose="05000000000000000000" pitchFamily="2" charset="2"/>
              </a:rPr>
              <a:t>costs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related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to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operations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or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are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they</a:t>
            </a:r>
            <a:r>
              <a:rPr lang="de-DE" sz="2000" dirty="0">
                <a:sym typeface="Wingdings" panose="05000000000000000000" pitchFamily="2" charset="2"/>
              </a:rPr>
              <a:t> (non </a:t>
            </a:r>
            <a:r>
              <a:rPr lang="de-DE" sz="2000" dirty="0" err="1">
                <a:sym typeface="Wingdings" panose="05000000000000000000" pitchFamily="2" charset="2"/>
              </a:rPr>
              <a:t>operating</a:t>
            </a:r>
            <a:r>
              <a:rPr lang="de-DE" sz="2000" dirty="0">
                <a:sym typeface="Wingdings" panose="05000000000000000000" pitchFamily="2" charset="2"/>
              </a:rPr>
              <a:t>) </a:t>
            </a:r>
            <a:r>
              <a:rPr lang="de-DE" sz="2000" dirty="0" err="1">
                <a:sym typeface="Wingdings" panose="05000000000000000000" pitchFamily="2" charset="2"/>
              </a:rPr>
              <a:t>pension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payments</a:t>
            </a:r>
            <a:r>
              <a:rPr lang="de-DE" sz="2000" dirty="0">
                <a:sym typeface="Wingdings" panose="05000000000000000000" pitchFamily="2" charset="2"/>
              </a:rPr>
              <a:t>?</a:t>
            </a:r>
            <a:br>
              <a:rPr lang="de-DE" sz="2000" dirty="0">
                <a:sym typeface="Wingdings" panose="05000000000000000000" pitchFamily="2" charset="2"/>
              </a:rPr>
            </a:br>
            <a:endParaRPr lang="de-DE" sz="2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de-DE" sz="2000" dirty="0" err="1">
                <a:sym typeface="Wingdings" panose="05000000000000000000" pitchFamily="2" charset="2"/>
              </a:rPr>
              <a:t>What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is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the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appropriate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value</a:t>
            </a:r>
            <a:r>
              <a:rPr lang="de-DE" sz="2000" dirty="0">
                <a:sym typeface="Wingdings" panose="05000000000000000000" pitchFamily="2" charset="2"/>
              </a:rPr>
              <a:t>?</a:t>
            </a:r>
            <a:br>
              <a:rPr lang="de-DE" sz="2000" dirty="0">
                <a:sym typeface="Wingdings" panose="05000000000000000000" pitchFamily="2" charset="2"/>
              </a:rPr>
            </a:br>
            <a:r>
              <a:rPr lang="de-DE" sz="2000" dirty="0">
                <a:sym typeface="Wingdings" panose="05000000000000000000" pitchFamily="2" charset="2"/>
              </a:rPr>
              <a:t>(Book </a:t>
            </a:r>
            <a:r>
              <a:rPr lang="de-DE" sz="2000" dirty="0" err="1">
                <a:sym typeface="Wingdings" panose="05000000000000000000" pitchFamily="2" charset="2"/>
              </a:rPr>
              <a:t>value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of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pension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liabilities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often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smaller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than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market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value</a:t>
            </a:r>
            <a:r>
              <a:rPr lang="de-DE" sz="2000" dirty="0">
                <a:sym typeface="Wingdings" panose="05000000000000000000" pitchFamily="2" charset="2"/>
              </a:rPr>
              <a:t>…)</a:t>
            </a:r>
          </a:p>
          <a:p>
            <a:pPr>
              <a:buFont typeface="Wingdings" panose="05000000000000000000" pitchFamily="2" charset="2"/>
              <a:buChar char="à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19598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 err="1">
                <a:solidFill>
                  <a:srgbClr val="004F8F"/>
                </a:solidFill>
                <a:latin typeface="Arial Narrow"/>
                <a:ea typeface="Arial Narrow"/>
              </a:rPr>
              <a:t>Sensitivities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19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501000" y="2743200"/>
            <a:ext cx="8142000" cy="2337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The result of the DCF model varies greatly with its assumptions, in particular WACC and terminal growth rate 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Question: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How does the valuation change when these are adjusted?</a:t>
            </a:r>
          </a:p>
        </p:txBody>
      </p:sp>
    </p:spTree>
    <p:extLst>
      <p:ext uri="{BB962C8B-B14F-4D97-AF65-F5344CB8AC3E}">
        <p14:creationId xmlns:p14="http://schemas.microsoft.com/office/powerpoint/2010/main" val="760649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Multiples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20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392400" y="170136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800">
              <a:buClr>
                <a:srgbClr val="000000"/>
              </a:buClr>
            </a:pPr>
            <a:endParaRPr lang="en-US" sz="2600" b="0" strike="noStrike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b="0" strike="noStrike" spc="-1" dirty="0" err="1">
                <a:solidFill>
                  <a:srgbClr val="000000"/>
                </a:solidFill>
                <a:latin typeface="Arial Narrow"/>
              </a:rPr>
              <a:t>Example</a:t>
            </a:r>
            <a:endParaRPr lang="en-US" sz="2600" b="0" strike="noStrike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00" b="0" strike="noStrike" spc="-1" dirty="0" err="1">
                <a:solidFill>
                  <a:srgbClr val="000000"/>
                </a:solidFill>
                <a:latin typeface="Arial Narrow"/>
              </a:rPr>
              <a:t>Selection of </a:t>
            </a:r>
            <a:r>
              <a:rPr lang="en-US" sz="2600" b="0" strike="noStrike" spc="-1" dirty="0">
                <a:solidFill>
                  <a:srgbClr val="000000"/>
                </a:solidFill>
                <a:latin typeface="Arial Narrow"/>
              </a:rPr>
              <a:t>multiples and peers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BF53FED-6EB9-0F2B-2AFD-8D4EB7DA51D2}"/>
              </a:ext>
            </a:extLst>
          </p:cNvPr>
          <p:cNvSpPr/>
          <p:nvPr/>
        </p:nvSpPr>
        <p:spPr bwMode="auto">
          <a:xfrm>
            <a:off x="176400" y="381000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2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04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5">
            <a:extLst>
              <a:ext uri="{FF2B5EF4-FFF2-40B4-BE49-F238E27FC236}">
                <a16:creationId xmlns:a16="http://schemas.microsoft.com/office/drawing/2014/main" id="{B71B37C1-8EF8-43A9-B146-E85B55C39BF4}"/>
              </a:ext>
            </a:extLst>
          </p:cNvPr>
          <p:cNvSpPr txBox="1">
            <a:spLocks noChangeArrowheads="1"/>
          </p:cNvSpPr>
          <p:nvPr/>
        </p:nvSpPr>
        <p:spPr>
          <a:xfrm>
            <a:off x="140678" y="60326"/>
            <a:ext cx="8859715" cy="340863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4F8F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en-US" dirty="0"/>
              <a:t>Comparable Companies analysis by professionals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A32F1FE-3D28-49B2-AA5B-EF7C37EB7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21</a:t>
            </a:fld>
            <a:endParaRPr lang="de-DE" alt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65C8511-0BB4-43E1-B0DB-57BE5643995C}"/>
              </a:ext>
            </a:extLst>
          </p:cNvPr>
          <p:cNvSpPr txBox="1"/>
          <p:nvPr/>
        </p:nvSpPr>
        <p:spPr>
          <a:xfrm>
            <a:off x="6553200" y="0"/>
            <a:ext cx="2397125" cy="1174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de-DE" sz="1800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20" name="Group 60">
            <a:extLst>
              <a:ext uri="{FF2B5EF4-FFF2-40B4-BE49-F238E27FC236}">
                <a16:creationId xmlns:a16="http://schemas.microsoft.com/office/drawing/2014/main" id="{EF2F1E04-32FD-46DB-AA63-7C1614A03F3A}"/>
              </a:ext>
            </a:extLst>
          </p:cNvPr>
          <p:cNvGrpSpPr>
            <a:grpSpLocks/>
          </p:cNvGrpSpPr>
          <p:nvPr/>
        </p:nvGrpSpPr>
        <p:grpSpPr bwMode="auto">
          <a:xfrm>
            <a:off x="139212" y="609600"/>
            <a:ext cx="8862646" cy="593859"/>
            <a:chOff x="95" y="664"/>
            <a:chExt cx="6048" cy="242"/>
          </a:xfrm>
        </p:grpSpPr>
        <p:sp>
          <p:nvSpPr>
            <p:cNvPr id="21" name="MessageBox">
              <a:extLst>
                <a:ext uri="{FF2B5EF4-FFF2-40B4-BE49-F238E27FC236}">
                  <a16:creationId xmlns:a16="http://schemas.microsoft.com/office/drawing/2014/main" id="{44BB74F4-794D-4BDE-8EEC-1E648EDF900E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2" y="675"/>
              <a:ext cx="59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eaLnBrk="1" hangingPunct="1"/>
              <a:r>
                <a:rPr lang="en-US" sz="1100" dirty="0">
                  <a:solidFill>
                    <a:srgbClr val="00BDF2"/>
                  </a:solidFill>
                  <a:ea typeface="+mj-ea"/>
                </a:rPr>
                <a:t>Continental currently trades at a FV/EBITDA 2014E multiple of 7.9x and a P/E 2014 multiple of 12.1x, with FV/EBITDA slightly above peers and P/E below peers.</a:t>
              </a:r>
            </a:p>
          </p:txBody>
        </p:sp>
        <p:sp>
          <p:nvSpPr>
            <p:cNvPr id="22" name="MessageLine">
              <a:extLst>
                <a:ext uri="{FF2B5EF4-FFF2-40B4-BE49-F238E27FC236}">
                  <a16:creationId xmlns:a16="http://schemas.microsoft.com/office/drawing/2014/main" id="{9A6B3567-FD1F-411F-A2BC-664EDC079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" y="664"/>
              <a:ext cx="6048" cy="0"/>
            </a:xfrm>
            <a:prstGeom prst="line">
              <a:avLst/>
            </a:prstGeom>
            <a:noFill/>
            <a:ln w="6350">
              <a:solidFill>
                <a:srgbClr val="97999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400">
                <a:solidFill>
                  <a:srgbClr val="53565A"/>
                </a:solidFill>
                <a:ea typeface="ヒラギノ角ゴ Pro W3" pitchFamily="124" charset="-128"/>
              </a:endParaRPr>
            </a:p>
          </p:txBody>
        </p:sp>
      </p:grpSp>
      <p:sp>
        <p:nvSpPr>
          <p:cNvPr id="23" name="Text Box 6">
            <a:extLst>
              <a:ext uri="{FF2B5EF4-FFF2-40B4-BE49-F238E27FC236}">
                <a16:creationId xmlns:a16="http://schemas.microsoft.com/office/drawing/2014/main" id="{4414CD4A-86EB-43F5-A354-6F0730CDC97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1546" y="1447800"/>
            <a:ext cx="3824654" cy="26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2203" rIns="42203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1108" dirty="0">
                <a:solidFill>
                  <a:srgbClr val="002D72"/>
                </a:solidFill>
                <a:latin typeface="Arial"/>
                <a:ea typeface="ヒラギノ角ゴ Pro W3" pitchFamily="124" charset="-128"/>
              </a:rPr>
              <a:t>Trading Multiples for Automotive Suppliers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C8481D7-3520-4B34-9A28-DC740B47F423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3" y="1828800"/>
            <a:ext cx="8965222" cy="418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 Box 4">
            <a:extLst>
              <a:ext uri="{FF2B5EF4-FFF2-40B4-BE49-F238E27FC236}">
                <a16:creationId xmlns:a16="http://schemas.microsoft.com/office/drawing/2014/main" id="{B9B6E9B4-8055-406B-BD40-F45DF2AC17E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40678" y="6179332"/>
            <a:ext cx="8680102" cy="34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/>
            <a:r>
              <a:rPr lang="en-US" sz="646" dirty="0">
                <a:solidFill>
                  <a:srgbClr val="53565A"/>
                </a:solidFill>
              </a:rPr>
              <a:t>Source: Company Information, Broker Research, Factset as of August 26</a:t>
            </a:r>
            <a:r>
              <a:rPr lang="en-US" sz="646" baseline="30000" dirty="0">
                <a:solidFill>
                  <a:srgbClr val="53565A"/>
                </a:solidFill>
              </a:rPr>
              <a:t>th</a:t>
            </a:r>
            <a:r>
              <a:rPr lang="en-US" sz="646" dirty="0">
                <a:solidFill>
                  <a:srgbClr val="53565A"/>
                </a:solidFill>
              </a:rPr>
              <a:t> ,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88E4CC-105F-489F-B977-2511E280045A}"/>
              </a:ext>
            </a:extLst>
          </p:cNvPr>
          <p:cNvSpPr/>
          <p:nvPr/>
        </p:nvSpPr>
        <p:spPr bwMode="auto">
          <a:xfrm>
            <a:off x="4921240" y="2236304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C8205D64-93C4-49F6-9E2D-DC17571CEDD6}"/>
              </a:ext>
            </a:extLst>
          </p:cNvPr>
          <p:cNvSpPr/>
          <p:nvPr/>
        </p:nvSpPr>
        <p:spPr bwMode="auto">
          <a:xfrm>
            <a:off x="7948246" y="2247050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94E82DDB-1812-4EC4-A2F5-2E7E7B26D2BE}"/>
              </a:ext>
            </a:extLst>
          </p:cNvPr>
          <p:cNvSpPr/>
          <p:nvPr/>
        </p:nvSpPr>
        <p:spPr bwMode="auto">
          <a:xfrm>
            <a:off x="4903654" y="5713174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A2C2DBBE-8047-481E-A8D8-29487CB23067}"/>
              </a:ext>
            </a:extLst>
          </p:cNvPr>
          <p:cNvSpPr/>
          <p:nvPr/>
        </p:nvSpPr>
        <p:spPr bwMode="auto">
          <a:xfrm>
            <a:off x="7904284" y="5704382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35" name="MessageLine">
            <a:extLst>
              <a:ext uri="{FF2B5EF4-FFF2-40B4-BE49-F238E27FC236}">
                <a16:creationId xmlns:a16="http://schemas.microsoft.com/office/drawing/2014/main" id="{8E2DE392-798B-45DD-8392-3926B9082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48" y="1219200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6143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A32F1FE-3D28-49B2-AA5B-EF7C37EB7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22</a:t>
            </a:fld>
            <a:endParaRPr lang="de-DE" alt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65C8511-0BB4-43E1-B0DB-57BE5643995C}"/>
              </a:ext>
            </a:extLst>
          </p:cNvPr>
          <p:cNvSpPr txBox="1"/>
          <p:nvPr/>
        </p:nvSpPr>
        <p:spPr>
          <a:xfrm>
            <a:off x="6553200" y="0"/>
            <a:ext cx="2397125" cy="1174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de-DE" sz="1800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20" name="Group 60">
            <a:extLst>
              <a:ext uri="{FF2B5EF4-FFF2-40B4-BE49-F238E27FC236}">
                <a16:creationId xmlns:a16="http://schemas.microsoft.com/office/drawing/2014/main" id="{EF2F1E04-32FD-46DB-AA63-7C1614A03F3A}"/>
              </a:ext>
            </a:extLst>
          </p:cNvPr>
          <p:cNvGrpSpPr>
            <a:grpSpLocks/>
          </p:cNvGrpSpPr>
          <p:nvPr/>
        </p:nvGrpSpPr>
        <p:grpSpPr bwMode="auto">
          <a:xfrm>
            <a:off x="139212" y="609600"/>
            <a:ext cx="8862646" cy="593859"/>
            <a:chOff x="95" y="664"/>
            <a:chExt cx="6048" cy="242"/>
          </a:xfrm>
        </p:grpSpPr>
        <p:sp>
          <p:nvSpPr>
            <p:cNvPr id="21" name="MessageBox">
              <a:extLst>
                <a:ext uri="{FF2B5EF4-FFF2-40B4-BE49-F238E27FC236}">
                  <a16:creationId xmlns:a16="http://schemas.microsoft.com/office/drawing/2014/main" id="{44BB74F4-794D-4BDE-8EEC-1E648EDF900E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2" y="675"/>
              <a:ext cx="59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eaLnBrk="1" hangingPunct="1"/>
              <a:r>
                <a:rPr lang="en-US" sz="1100" dirty="0">
                  <a:solidFill>
                    <a:srgbClr val="00BDF2"/>
                  </a:solidFill>
                  <a:ea typeface="+mj-ea"/>
                </a:rPr>
                <a:t>Continental currently trades at a FV/EBITDA 2014E multiple of 7.9x and a P/E 2014 multiple of 12.1x, with FV/EBITDA slightly above peers and P/E below peers.</a:t>
              </a:r>
            </a:p>
          </p:txBody>
        </p:sp>
        <p:sp>
          <p:nvSpPr>
            <p:cNvPr id="22" name="MessageLine">
              <a:extLst>
                <a:ext uri="{FF2B5EF4-FFF2-40B4-BE49-F238E27FC236}">
                  <a16:creationId xmlns:a16="http://schemas.microsoft.com/office/drawing/2014/main" id="{9A6B3567-FD1F-411F-A2BC-664EDC079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" y="664"/>
              <a:ext cx="6048" cy="0"/>
            </a:xfrm>
            <a:prstGeom prst="line">
              <a:avLst/>
            </a:prstGeom>
            <a:noFill/>
            <a:ln w="6350">
              <a:solidFill>
                <a:srgbClr val="97999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400">
                <a:solidFill>
                  <a:srgbClr val="53565A"/>
                </a:solidFill>
                <a:ea typeface="ヒラギノ角ゴ Pro W3" pitchFamily="124" charset="-128"/>
              </a:endParaRPr>
            </a:p>
          </p:txBody>
        </p:sp>
      </p:grpSp>
      <p:sp>
        <p:nvSpPr>
          <p:cNvPr id="23" name="Text Box 6">
            <a:extLst>
              <a:ext uri="{FF2B5EF4-FFF2-40B4-BE49-F238E27FC236}">
                <a16:creationId xmlns:a16="http://schemas.microsoft.com/office/drawing/2014/main" id="{4414CD4A-86EB-43F5-A354-6F0730CDC97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1546" y="1447800"/>
            <a:ext cx="3824654" cy="26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2203" rIns="42203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1108" dirty="0">
                <a:solidFill>
                  <a:srgbClr val="002D72"/>
                </a:solidFill>
                <a:latin typeface="Arial"/>
                <a:ea typeface="ヒラギノ角ゴ Pro W3" pitchFamily="124" charset="-128"/>
              </a:rPr>
              <a:t>Trading Multiples for Automotive Suppliers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C8481D7-3520-4B34-9A28-DC740B47F423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3" y="1828800"/>
            <a:ext cx="8965222" cy="418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 Box 4">
            <a:extLst>
              <a:ext uri="{FF2B5EF4-FFF2-40B4-BE49-F238E27FC236}">
                <a16:creationId xmlns:a16="http://schemas.microsoft.com/office/drawing/2014/main" id="{B9B6E9B4-8055-406B-BD40-F45DF2AC17E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40678" y="6179332"/>
            <a:ext cx="8680102" cy="34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/>
            <a:r>
              <a:rPr lang="en-US" sz="646" dirty="0">
                <a:solidFill>
                  <a:srgbClr val="53565A"/>
                </a:solidFill>
              </a:rPr>
              <a:t>Source: Company Information, Broker Research, Factset as of August 26</a:t>
            </a:r>
            <a:r>
              <a:rPr lang="en-US" sz="646" baseline="30000" dirty="0">
                <a:solidFill>
                  <a:srgbClr val="53565A"/>
                </a:solidFill>
              </a:rPr>
              <a:t>th</a:t>
            </a:r>
            <a:r>
              <a:rPr lang="en-US" sz="646" dirty="0">
                <a:solidFill>
                  <a:srgbClr val="53565A"/>
                </a:solidFill>
              </a:rPr>
              <a:t> ,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88E4CC-105F-489F-B977-2511E280045A}"/>
              </a:ext>
            </a:extLst>
          </p:cNvPr>
          <p:cNvSpPr/>
          <p:nvPr/>
        </p:nvSpPr>
        <p:spPr bwMode="auto">
          <a:xfrm>
            <a:off x="4921240" y="2236304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C8205D64-93C4-49F6-9E2D-DC17571CEDD6}"/>
              </a:ext>
            </a:extLst>
          </p:cNvPr>
          <p:cNvSpPr/>
          <p:nvPr/>
        </p:nvSpPr>
        <p:spPr bwMode="auto">
          <a:xfrm>
            <a:off x="7948246" y="2247050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94E82DDB-1812-4EC4-A2F5-2E7E7B26D2BE}"/>
              </a:ext>
            </a:extLst>
          </p:cNvPr>
          <p:cNvSpPr/>
          <p:nvPr/>
        </p:nvSpPr>
        <p:spPr bwMode="auto">
          <a:xfrm>
            <a:off x="4903654" y="5713174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A2C2DBBE-8047-481E-A8D8-29487CB23067}"/>
              </a:ext>
            </a:extLst>
          </p:cNvPr>
          <p:cNvSpPr/>
          <p:nvPr/>
        </p:nvSpPr>
        <p:spPr bwMode="auto">
          <a:xfrm>
            <a:off x="7904284" y="5704382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35" name="MessageLine">
            <a:extLst>
              <a:ext uri="{FF2B5EF4-FFF2-40B4-BE49-F238E27FC236}">
                <a16:creationId xmlns:a16="http://schemas.microsoft.com/office/drawing/2014/main" id="{8E2DE392-798B-45DD-8392-3926B9082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48" y="1219200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9C8041-AAB4-4B7F-A462-641253EA0133}"/>
              </a:ext>
            </a:extLst>
          </p:cNvPr>
          <p:cNvSpPr/>
          <p:nvPr/>
        </p:nvSpPr>
        <p:spPr bwMode="auto">
          <a:xfrm>
            <a:off x="3733800" y="2905388"/>
            <a:ext cx="4724400" cy="230832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Which multiples are relevant?</a:t>
            </a:r>
          </a:p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2400" dirty="0">
              <a:solidFill>
                <a:srgbClr val="004F8F"/>
              </a:solidFill>
              <a:latin typeface="+mj-lt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One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multiple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for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the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whole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firm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or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two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separate multiples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for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the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2400" dirty="0" err="1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sesgments</a:t>
            </a: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?</a:t>
            </a:r>
            <a:b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</a:br>
            <a:endParaRPr lang="de-DE" sz="2400" dirty="0">
              <a:solidFill>
                <a:srgbClr val="004F8F"/>
              </a:solidFill>
              <a:latin typeface="+mj-lt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2400" dirty="0">
                <a:solidFill>
                  <a:srgbClr val="004F8F"/>
                </a:solidFill>
                <a:latin typeface="+mj-lt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Which peer group fits?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111AC02-A48E-42C1-8A7C-5F3CFF36606C}"/>
              </a:ext>
            </a:extLst>
          </p:cNvPr>
          <p:cNvCxnSpPr/>
          <p:nvPr/>
        </p:nvCxnSpPr>
        <p:spPr bwMode="auto">
          <a:xfrm flipH="1" flipV="1">
            <a:off x="3886200" y="2011682"/>
            <a:ext cx="533400" cy="883918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6DB277D-FC76-443D-BDC8-9DEFC5AE278E}"/>
              </a:ext>
            </a:extLst>
          </p:cNvPr>
          <p:cNvCxnSpPr/>
          <p:nvPr/>
        </p:nvCxnSpPr>
        <p:spPr bwMode="auto">
          <a:xfrm flipV="1">
            <a:off x="4419600" y="2021470"/>
            <a:ext cx="881198" cy="874130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A71FD55-F440-4ADA-9133-C43D7F1FE4E8}"/>
              </a:ext>
            </a:extLst>
          </p:cNvPr>
          <p:cNvCxnSpPr/>
          <p:nvPr/>
        </p:nvCxnSpPr>
        <p:spPr bwMode="auto">
          <a:xfrm flipV="1">
            <a:off x="4419600" y="2037212"/>
            <a:ext cx="2209800" cy="858388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BC06366-4F5A-4E40-A500-1DA2C3FE07FE}"/>
              </a:ext>
            </a:extLst>
          </p:cNvPr>
          <p:cNvCxnSpPr/>
          <p:nvPr/>
        </p:nvCxnSpPr>
        <p:spPr bwMode="auto">
          <a:xfrm flipV="1">
            <a:off x="4419600" y="1946284"/>
            <a:ext cx="3593122" cy="949316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A1A7ADC-8D49-45CB-B6A1-5E4A3728E536}"/>
              </a:ext>
            </a:extLst>
          </p:cNvPr>
          <p:cNvCxnSpPr>
            <a:cxnSpLocks/>
          </p:cNvCxnSpPr>
          <p:nvPr/>
        </p:nvCxnSpPr>
        <p:spPr bwMode="auto">
          <a:xfrm flipH="1">
            <a:off x="457200" y="3919861"/>
            <a:ext cx="3276600" cy="499739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C7DE373-383B-4CE1-9C54-A0597992C0C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66153" y="2583950"/>
            <a:ext cx="2867647" cy="1335911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ectangle 25">
            <a:extLst>
              <a:ext uri="{FF2B5EF4-FFF2-40B4-BE49-F238E27FC236}">
                <a16:creationId xmlns:a16="http://schemas.microsoft.com/office/drawing/2014/main" id="{AA44128E-A91B-7826-5568-FAD901E60499}"/>
              </a:ext>
            </a:extLst>
          </p:cNvPr>
          <p:cNvSpPr txBox="1">
            <a:spLocks noChangeArrowheads="1"/>
          </p:cNvSpPr>
          <p:nvPr/>
        </p:nvSpPr>
        <p:spPr>
          <a:xfrm>
            <a:off x="140678" y="60326"/>
            <a:ext cx="8859715" cy="340863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4F8F"/>
                </a:solidFill>
                <a:latin typeface="+mj-lt"/>
                <a:ea typeface="+mj-ea"/>
                <a:cs typeface="+mj-cs"/>
                <a:sym typeface="Arial Narrow" panose="020B060602020203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5pPr>
            <a:lvl6pPr marL="4572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6pPr>
            <a:lvl7pPr marL="9144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7pPr>
            <a:lvl8pPr marL="13716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8pPr>
            <a:lvl9pPr marL="1828800" algn="l" rtl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4F8F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 Narrow" panose="020B0606020202030204" pitchFamily="34" charset="0"/>
                <a:sym typeface="Arial Narrow" panose="020B0606020202030204" pitchFamily="34" charset="0"/>
              </a:defRPr>
            </a:lvl9pPr>
          </a:lstStyle>
          <a:p>
            <a:r>
              <a:rPr lang="en-US" dirty="0"/>
              <a:t>Comparable Companies analysis by professionals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C1974C45-90AA-4FAA-8DF0-4817EACAEDF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38200" y="3580988"/>
            <a:ext cx="2867647" cy="1335911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A61BC63-E0A2-4A6C-BBAC-A695D0F822D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85800" y="4876800"/>
            <a:ext cx="3020048" cy="57534"/>
          </a:xfrm>
          <a:prstGeom prst="straightConnector1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18408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D157CCC-D915-4B77-899E-F13780E01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23</a:t>
            </a:fld>
            <a:endParaRPr lang="de-DE" altLang="de-DE" dirty="0"/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81561B04-55C0-4EBA-94F9-611F4DCA6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709455"/>
              </p:ext>
            </p:extLst>
          </p:nvPr>
        </p:nvGraphicFramePr>
        <p:xfrm>
          <a:off x="315312" y="4191000"/>
          <a:ext cx="8513375" cy="1483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0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Co. 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Co. 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Co. C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Avg.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(D+E)/EBITDA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(D+E)/Sales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E/Net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ustomShape 1">
            <a:extLst>
              <a:ext uri="{FF2B5EF4-FFF2-40B4-BE49-F238E27FC236}">
                <a16:creationId xmlns:a16="http://schemas.microsoft.com/office/drawing/2014/main" id="{B05E0FD7-12C8-3103-FF06-1D65BB29FA58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Multiples: </a:t>
            </a:r>
            <a:r>
              <a:rPr lang="en-US" sz="3600" b="1" spc="-1" dirty="0" err="1">
                <a:solidFill>
                  <a:srgbClr val="004F8F"/>
                </a:solidFill>
                <a:latin typeface="Arial Narrow"/>
              </a:rPr>
              <a:t>Example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5B97353-1FC6-EF88-C3CF-5DF96F02961C}"/>
              </a:ext>
            </a:extLst>
          </p:cNvPr>
          <p:cNvSpPr/>
          <p:nvPr/>
        </p:nvSpPr>
        <p:spPr>
          <a:xfrm>
            <a:off x="392400" y="170136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sz="2400" spc="-1" dirty="0">
                <a:solidFill>
                  <a:srgbClr val="000000"/>
                </a:solidFill>
                <a:latin typeface="Arial Narrow"/>
              </a:rPr>
              <a:t>Due to the weaknesses of individual valuation methods, a company valuation should never be carried out exclusively using a model.</a:t>
            </a:r>
          </a:p>
          <a:p>
            <a:pPr marL="1800">
              <a:buClr>
                <a:srgbClr val="000000"/>
              </a:buClr>
            </a:pPr>
            <a:endParaRPr lang="de-DE" sz="24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sz="2400" spc="-1" dirty="0">
                <a:solidFill>
                  <a:srgbClr val="000000"/>
                </a:solidFill>
                <a:latin typeface="Arial Narrow"/>
              </a:rPr>
              <a:t>Example: There are 3 competitors A, B and C with the following multiples: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de-DE" sz="2600" b="1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de-DE" sz="2600" b="1" spc="-1" dirty="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628693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7A91585-E552-42D1-83C2-5183D855A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24</a:t>
            </a:fld>
            <a:endParaRPr lang="de-DE" alt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668BAC-3DCF-4583-80D2-C67D4284A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81205"/>
              </p:ext>
            </p:extLst>
          </p:nvPr>
        </p:nvGraphicFramePr>
        <p:xfrm>
          <a:off x="265440" y="1752601"/>
          <a:ext cx="8667545" cy="21234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3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Accounting </a:t>
                      </a:r>
                      <a:r>
                        <a:rPr lang="de-DE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metrics of </a:t>
                      </a:r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Implied Equity Values for Company Z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Avg.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€4,900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€6,340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€10,650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2BE73AF-9BDB-44B1-BA3E-46CB7D22DB28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295400"/>
            <a:ext cx="8686800" cy="23622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endParaRPr lang="en-US" sz="2000" dirty="0">
              <a:ea typeface="Verdana" pitchFamily="34" charset="0"/>
            </a:endParaRPr>
          </a:p>
          <a:p>
            <a:pPr marL="0" lvl="1" indent="0">
              <a:buNone/>
            </a:pPr>
            <a:br>
              <a:rPr lang="en-US" sz="2000" dirty="0">
                <a:ea typeface="Verdana" pitchFamily="34" charset="0"/>
              </a:rPr>
            </a:br>
            <a:endParaRPr lang="de-DE" sz="2000" dirty="0">
              <a:ea typeface="Verdana" pitchFamily="34" charset="0"/>
            </a:endParaRPr>
          </a:p>
          <a:p>
            <a:pPr marL="0" lvl="1" indent="0">
              <a:buFontTx/>
              <a:buNone/>
            </a:pPr>
            <a:endParaRPr lang="en-US" sz="2000" dirty="0">
              <a:ea typeface="Verdana" pitchFamily="34" charset="0"/>
            </a:endParaRPr>
          </a:p>
          <a:p>
            <a:endParaRPr lang="en-US" sz="2000" dirty="0"/>
          </a:p>
          <a:p>
            <a:r>
              <a:rPr lang="en-US" sz="2000" dirty="0"/>
              <a:t>	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9E016C6-89C3-416F-8791-905FFAEBDFE0}"/>
              </a:ext>
            </a:extLst>
          </p:cNvPr>
          <p:cNvSpPr txBox="1"/>
          <p:nvPr/>
        </p:nvSpPr>
        <p:spPr>
          <a:xfrm>
            <a:off x="276449" y="5736918"/>
            <a:ext cx="8645525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ea typeface="Verdana" pitchFamily="34" charset="0"/>
              </a:rPr>
              <a:t>It is not uncommon for a multiples valuation to vary greatly between selected peers and multiples.</a:t>
            </a:r>
            <a:endParaRPr lang="de-DE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F376BB-9202-4337-BFBA-AC3C1FE14102}"/>
              </a:ext>
            </a:extLst>
          </p:cNvPr>
          <p:cNvSpPr/>
          <p:nvPr/>
        </p:nvSpPr>
        <p:spPr>
          <a:xfrm>
            <a:off x="271359" y="1076960"/>
            <a:ext cx="8567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Verdana" pitchFamily="34" charset="0"/>
              </a:rPr>
              <a:t>The </a:t>
            </a:r>
            <a:r>
              <a:rPr lang="en-US" dirty="0" err="1">
                <a:solidFill>
                  <a:srgbClr val="000000"/>
                </a:solidFill>
                <a:ea typeface="Verdana" pitchFamily="34" charset="0"/>
              </a:rPr>
              <a:t>goal is </a:t>
            </a:r>
            <a:r>
              <a:rPr lang="en-US" dirty="0">
                <a:solidFill>
                  <a:srgbClr val="000000"/>
                </a:solidFill>
                <a:ea typeface="Verdana" pitchFamily="34" charset="0"/>
              </a:rPr>
              <a:t>to </a:t>
            </a:r>
            <a:r>
              <a:rPr lang="en-US" dirty="0" err="1">
                <a:solidFill>
                  <a:srgbClr val="000000"/>
                </a:solidFill>
                <a:ea typeface="Verdana" pitchFamily="34" charset="0"/>
              </a:rPr>
              <a:t>value company </a:t>
            </a:r>
            <a:r>
              <a:rPr lang="en-US" dirty="0">
                <a:solidFill>
                  <a:srgbClr val="000000"/>
                </a:solidFill>
                <a:ea typeface="Verdana" pitchFamily="34" charset="0"/>
              </a:rPr>
              <a:t>Z. </a:t>
            </a:r>
            <a:r>
              <a:rPr lang="en-US" dirty="0" err="1">
                <a:solidFill>
                  <a:srgbClr val="000000"/>
                </a:solidFill>
                <a:ea typeface="Verdana" pitchFamily="34" charset="0"/>
              </a:rPr>
              <a:t>Assumption</a:t>
            </a:r>
            <a:r>
              <a:rPr lang="en-US" dirty="0">
                <a:solidFill>
                  <a:srgbClr val="000000"/>
                </a:solidFill>
                <a:ea typeface="Verdana" pitchFamily="34" charset="0"/>
              </a:rPr>
              <a:t>: Debt of Z: € 5,000.</a:t>
            </a: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8ECA014-9ED6-4894-9E52-BEA42596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230" y="4182350"/>
            <a:ext cx="4572098" cy="890296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661C58C-642F-4814-8E33-690317C7A6C4}"/>
              </a:ext>
            </a:extLst>
          </p:cNvPr>
          <p:cNvCxnSpPr/>
          <p:nvPr/>
        </p:nvCxnSpPr>
        <p:spPr bwMode="auto">
          <a:xfrm>
            <a:off x="3352800" y="1752601"/>
            <a:ext cx="0" cy="212344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CustomShape 1">
            <a:extLst>
              <a:ext uri="{FF2B5EF4-FFF2-40B4-BE49-F238E27FC236}">
                <a16:creationId xmlns:a16="http://schemas.microsoft.com/office/drawing/2014/main" id="{3A682572-609D-1D87-6174-65B51C5C116D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Multiples: </a:t>
            </a:r>
            <a:r>
              <a:rPr lang="en-US" sz="3600" b="1" spc="-1" dirty="0" err="1">
                <a:solidFill>
                  <a:srgbClr val="004F8F"/>
                </a:solidFill>
                <a:latin typeface="Arial Narrow"/>
              </a:rPr>
              <a:t>Example </a:t>
            </a: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cont.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1321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0F8FD69-FAD6-419A-B3CE-B5820BF8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25</a:t>
            </a:fld>
            <a:endParaRPr lang="de-DE" alt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0B7A9-23AB-4824-9B45-53A725DB42A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219200"/>
            <a:ext cx="8534400" cy="533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ts val="2031"/>
              </a:lnSpc>
              <a:buFontTx/>
              <a:buAutoNum type="arabicPeriod"/>
            </a:pPr>
            <a:r>
              <a:rPr lang="en-US" sz="2000" b="1" dirty="0" err="1"/>
              <a:t>Select </a:t>
            </a:r>
            <a:r>
              <a:rPr lang="en-US" sz="2000" b="1" dirty="0"/>
              <a:t>multiples</a:t>
            </a:r>
          </a:p>
          <a:p>
            <a:pPr marL="534988" lvl="2" indent="-174625">
              <a:lnSpc>
                <a:spcPts val="2031"/>
              </a:lnSpc>
            </a:pPr>
            <a:r>
              <a:rPr lang="en-US" sz="1800" dirty="0" err="1"/>
              <a:t>What </a:t>
            </a:r>
            <a:r>
              <a:rPr lang="en-US" sz="1800" dirty="0"/>
              <a:t>multiples </a:t>
            </a:r>
            <a:r>
              <a:rPr lang="en-US" sz="1800" dirty="0" err="1"/>
              <a:t>are used </a:t>
            </a:r>
            <a:r>
              <a:rPr lang="en-US" sz="1800" dirty="0"/>
              <a:t>/ </a:t>
            </a:r>
            <a:r>
              <a:rPr lang="en-US" sz="1800" dirty="0" err="1"/>
              <a:t>are useful </a:t>
            </a:r>
            <a:r>
              <a:rPr lang="en-US" sz="1800" dirty="0"/>
              <a:t>for </a:t>
            </a:r>
            <a:r>
              <a:rPr lang="en-US" sz="1800" dirty="0" err="1"/>
              <a:t>this industry</a:t>
            </a:r>
            <a:r>
              <a:rPr lang="en-US" sz="1800" dirty="0"/>
              <a:t>?</a:t>
            </a:r>
          </a:p>
          <a:p>
            <a:pPr marL="534988" lvl="2" indent="-174625">
              <a:lnSpc>
                <a:spcPts val="2031"/>
              </a:lnSpc>
            </a:pPr>
            <a:r>
              <a:rPr lang="en-US" sz="1800" dirty="0"/>
              <a:t>P/E ratio and </a:t>
            </a:r>
            <a:r>
              <a:rPr lang="en-US" sz="1800" dirty="0" err="1"/>
              <a:t>other </a:t>
            </a:r>
            <a:r>
              <a:rPr lang="en-US" sz="1800" dirty="0"/>
              <a:t>equity multiples </a:t>
            </a:r>
            <a:r>
              <a:rPr lang="en-US" sz="1800" dirty="0" err="1"/>
              <a:t>only make </a:t>
            </a:r>
            <a:r>
              <a:rPr lang="en-US" sz="1800" dirty="0"/>
              <a:t>sense </a:t>
            </a:r>
            <a:r>
              <a:rPr lang="en-US" sz="1800" dirty="0" err="1"/>
              <a:t>if </a:t>
            </a:r>
            <a:r>
              <a:rPr lang="en-US" sz="1800" dirty="0"/>
              <a:t>leverage is </a:t>
            </a:r>
            <a:r>
              <a:rPr lang="en-US" sz="1800" dirty="0" err="1"/>
              <a:t>similar.</a:t>
            </a:r>
            <a:br>
              <a:rPr lang="en-US" sz="1800" dirty="0"/>
            </a:br>
            <a:endParaRPr lang="en-US" sz="1800" dirty="0"/>
          </a:p>
          <a:p>
            <a:pPr marL="273050" lvl="1" indent="-273050">
              <a:lnSpc>
                <a:spcPts val="2031"/>
              </a:lnSpc>
              <a:buFont typeface="+mj-lt"/>
              <a:buAutoNum type="arabicPeriod"/>
            </a:pPr>
            <a:r>
              <a:rPr lang="en-US" sz="2000" b="1" dirty="0" err="1"/>
              <a:t>Select </a:t>
            </a:r>
            <a:r>
              <a:rPr lang="en-US" sz="2000" b="1" dirty="0"/>
              <a:t>peers</a:t>
            </a:r>
          </a:p>
          <a:p>
            <a:pPr marL="534988" lvl="2" indent="-265113">
              <a:lnSpc>
                <a:spcPts val="2031"/>
              </a:lnSpc>
            </a:pPr>
            <a:r>
              <a:rPr lang="en-US" sz="1800" dirty="0" err="1"/>
              <a:t>Similar </a:t>
            </a:r>
            <a:r>
              <a:rPr lang="en-US" sz="1800" dirty="0"/>
              <a:t>cash flow </a:t>
            </a:r>
            <a:r>
              <a:rPr lang="en-US" sz="1800" dirty="0" err="1"/>
              <a:t>characteristics</a:t>
            </a:r>
            <a:r>
              <a:rPr lang="en-US" sz="1800" dirty="0"/>
              <a:t>, </a:t>
            </a:r>
            <a:r>
              <a:rPr lang="en-US" sz="1800" dirty="0" err="1"/>
              <a:t>risk</a:t>
            </a:r>
            <a:r>
              <a:rPr lang="en-US" sz="1800" dirty="0"/>
              <a:t>, </a:t>
            </a:r>
            <a:r>
              <a:rPr lang="en-US" sz="1800" dirty="0" err="1"/>
              <a:t>growth rates</a:t>
            </a:r>
            <a:r>
              <a:rPr lang="en-US" sz="1800" dirty="0"/>
              <a:t>, ...</a:t>
            </a:r>
          </a:p>
          <a:p>
            <a:pPr marL="534988" lvl="2" indent="-265113">
              <a:lnSpc>
                <a:spcPts val="2031"/>
              </a:lnSpc>
            </a:pPr>
            <a:r>
              <a:rPr lang="en-US" sz="1800" dirty="0" err="1"/>
              <a:t>Similar </a:t>
            </a:r>
            <a:r>
              <a:rPr lang="en-US" sz="1800" dirty="0"/>
              <a:t>region, </a:t>
            </a:r>
            <a:r>
              <a:rPr lang="en-US" sz="1800" dirty="0" err="1"/>
              <a:t>market</a:t>
            </a:r>
            <a:r>
              <a:rPr lang="en-US" sz="1800" dirty="0"/>
              <a:t>, </a:t>
            </a:r>
            <a:r>
              <a:rPr lang="en-US" sz="1800" dirty="0" err="1"/>
              <a:t>products</a:t>
            </a:r>
            <a:r>
              <a:rPr lang="en-US" sz="1800" dirty="0"/>
              <a:t>, business model, </a:t>
            </a:r>
            <a:r>
              <a:rPr lang="en-US" sz="1800" dirty="0" err="1"/>
              <a:t>cost structure</a:t>
            </a:r>
            <a:r>
              <a:rPr lang="en-US" sz="1800" dirty="0"/>
              <a:t>, </a:t>
            </a:r>
            <a:r>
              <a:rPr lang="en-US" sz="1800" dirty="0" err="1"/>
              <a:t>size</a:t>
            </a:r>
            <a:r>
              <a:rPr lang="en-US" sz="1800" dirty="0"/>
              <a:t>, </a:t>
            </a:r>
            <a:r>
              <a:rPr lang="en-US" sz="1800" dirty="0" err="1"/>
              <a:t>ownership structure</a:t>
            </a:r>
            <a:r>
              <a:rPr lang="en-US" sz="1800" dirty="0"/>
              <a:t>, </a:t>
            </a:r>
            <a:r>
              <a:rPr lang="en-US" sz="1800" dirty="0" err="1"/>
              <a:t>capital structure, accounting standards</a:t>
            </a:r>
            <a:r>
              <a:rPr lang="en-US" sz="1800" dirty="0"/>
              <a:t>, R&amp;D </a:t>
            </a:r>
            <a:r>
              <a:rPr lang="en-US" sz="1800" dirty="0" err="1"/>
              <a:t>intensity, </a:t>
            </a:r>
            <a:r>
              <a:rPr lang="en-US" sz="1800" dirty="0"/>
              <a:t>...</a:t>
            </a:r>
          </a:p>
          <a:p>
            <a:pPr marL="534988" lvl="2" indent="-265113">
              <a:lnSpc>
                <a:spcPts val="2031"/>
              </a:lnSpc>
            </a:pPr>
            <a:r>
              <a:rPr lang="en-US" sz="1800" dirty="0" err="1"/>
              <a:t>At best, no </a:t>
            </a:r>
            <a:r>
              <a:rPr lang="en-US" sz="1800" dirty="0"/>
              <a:t>'special effects' - </a:t>
            </a:r>
            <a:r>
              <a:rPr lang="en-US" sz="1800" dirty="0" err="1"/>
              <a:t>e.g., major litigation</a:t>
            </a:r>
            <a:r>
              <a:rPr lang="en-US" sz="1800" dirty="0"/>
              <a:t>, post-merger integration, </a:t>
            </a:r>
            <a:r>
              <a:rPr lang="en-US" sz="1800" dirty="0" err="1"/>
              <a:t>ongoing acquisition, </a:t>
            </a:r>
            <a:r>
              <a:rPr lang="en-US" sz="1800" dirty="0"/>
              <a:t>...</a:t>
            </a:r>
            <a:br>
              <a:rPr lang="en-US" sz="1800" dirty="0"/>
            </a:br>
            <a:endParaRPr lang="en-US" sz="1800" dirty="0"/>
          </a:p>
          <a:p>
            <a:pPr marL="273050" lvl="1" indent="-273050">
              <a:lnSpc>
                <a:spcPts val="2031"/>
              </a:lnSpc>
              <a:buFont typeface="+mj-lt"/>
              <a:buAutoNum type="arabicPeriod"/>
            </a:pPr>
            <a:r>
              <a:rPr lang="en-US" sz="2000" b="1" dirty="0" err="1"/>
              <a:t>If necessary, standardize </a:t>
            </a:r>
            <a:r>
              <a:rPr lang="en-US" sz="2000" b="1" dirty="0"/>
              <a:t>peer group </a:t>
            </a:r>
            <a:r>
              <a:rPr lang="en-US" sz="2000" b="1" dirty="0" err="1"/>
              <a:t>metrics</a:t>
            </a:r>
            <a:endParaRPr lang="en-US" sz="2000" b="1" dirty="0"/>
          </a:p>
          <a:p>
            <a:pPr marL="555625" lvl="2" indent="-285750">
              <a:lnSpc>
                <a:spcPts val="2031"/>
              </a:lnSpc>
            </a:pPr>
            <a:r>
              <a:rPr lang="en-US" sz="1800" dirty="0" err="1"/>
              <a:t>Unification of </a:t>
            </a:r>
            <a:r>
              <a:rPr lang="en-US" sz="1800" dirty="0"/>
              <a:t>accounting standards</a:t>
            </a:r>
          </a:p>
          <a:p>
            <a:pPr marL="555625" lvl="2" indent="-285750">
              <a:lnSpc>
                <a:spcPts val="2031"/>
              </a:lnSpc>
            </a:pPr>
            <a:r>
              <a:rPr lang="en-US" sz="1800" dirty="0" err="1"/>
              <a:t>Standardization of </a:t>
            </a:r>
            <a:r>
              <a:rPr lang="en-US" sz="1800" dirty="0"/>
              <a:t>reporting standards, </a:t>
            </a:r>
            <a:r>
              <a:rPr lang="en-US" sz="1800" dirty="0" err="1"/>
              <a:t>e.g. </a:t>
            </a:r>
            <a:r>
              <a:rPr lang="en-US" sz="1800" dirty="0"/>
              <a:t>'year ends' etc.</a:t>
            </a:r>
            <a:br>
              <a:rPr lang="en-US" sz="1800" dirty="0"/>
            </a:br>
            <a:endParaRPr lang="en-US" sz="1800" dirty="0"/>
          </a:p>
          <a:p>
            <a:pPr marL="0" indent="0">
              <a:lnSpc>
                <a:spcPts val="2031"/>
              </a:lnSpc>
            </a:pPr>
            <a:endParaRPr lang="en-US" sz="1800" dirty="0"/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5209F8E6-89B6-40CC-4A53-D7DFC29B65D2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Multiples: </a:t>
            </a:r>
            <a:r>
              <a:rPr lang="en-US" sz="3600" b="1" spc="-1" dirty="0" err="1">
                <a:solidFill>
                  <a:srgbClr val="004F8F"/>
                </a:solidFill>
                <a:latin typeface="Arial Narrow"/>
              </a:rPr>
              <a:t>Procedure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2104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2BD9F7B-E33E-4008-951D-38F8A1B2C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26</a:t>
            </a:fld>
            <a:endParaRPr lang="de-DE" altLang="de-DE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FD6B34-12C3-46FB-BFF2-4B7D2C86DB4F}"/>
              </a:ext>
            </a:extLst>
          </p:cNvPr>
          <p:cNvSpPr txBox="1">
            <a:spLocks noChangeArrowheads="1"/>
          </p:cNvSpPr>
          <p:nvPr/>
        </p:nvSpPr>
        <p:spPr>
          <a:xfrm>
            <a:off x="-228600" y="1226694"/>
            <a:ext cx="5105400" cy="29643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30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17513" indent="-236538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687388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955675" indent="-241300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227138" indent="-238125" algn="l" rtl="0" eaLnBrk="0" fontAlgn="base" hangingPunct="0">
              <a:spcBef>
                <a:spcPts val="300"/>
              </a:spcBef>
              <a:spcAft>
                <a:spcPct val="0"/>
              </a:spcAft>
              <a:buSzPct val="100000"/>
              <a:buChar char="–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75" lvl="3" indent="0">
              <a:buNone/>
            </a:pPr>
            <a:r>
              <a:rPr lang="en-US" sz="2000" b="1" u="sng" dirty="0"/>
              <a:t>Equity multiples</a:t>
            </a:r>
          </a:p>
          <a:p>
            <a:pPr lvl="3"/>
            <a:endParaRPr lang="en-US" sz="2000" dirty="0"/>
          </a:p>
          <a:p>
            <a:pPr lvl="3"/>
            <a:r>
              <a:rPr lang="en-US" sz="2000" b="1" dirty="0"/>
              <a:t>Equity Value-to-Net Income</a:t>
            </a:r>
          </a:p>
          <a:p>
            <a:pPr lvl="3"/>
            <a:r>
              <a:rPr lang="en-US" sz="2000" dirty="0"/>
              <a:t>Equity Value-to-equity Cash flows</a:t>
            </a:r>
          </a:p>
          <a:p>
            <a:pPr lvl="3"/>
            <a:r>
              <a:rPr lang="en-US" sz="2000" dirty="0"/>
              <a:t>Equity Value-to-book Value of equity</a:t>
            </a:r>
          </a:p>
          <a:p>
            <a:pPr marL="714375" lvl="3" indent="0">
              <a:buNone/>
            </a:pPr>
            <a:br>
              <a:rPr lang="en-US" sz="2000" dirty="0"/>
            </a:br>
            <a:endParaRPr lang="en-US" sz="2000" dirty="0"/>
          </a:p>
          <a:p>
            <a:pPr lvl="4"/>
            <a:endParaRPr lang="en-US" sz="2000" dirty="0"/>
          </a:p>
        </p:txBody>
      </p:sp>
      <p:sp>
        <p:nvSpPr>
          <p:cNvPr id="5" name="Textfeld 4"/>
          <p:cNvSpPr txBox="1"/>
          <p:nvPr/>
        </p:nvSpPr>
        <p:spPr>
          <a:xfrm>
            <a:off x="381000" y="3886200"/>
            <a:ext cx="8428038" cy="13234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000" dirty="0">
                <a:solidFill>
                  <a:srgbClr val="000000"/>
                </a:solidFill>
                <a:cs typeface="Arial" panose="020B0604020202020204" pitchFamily="34" charset="0"/>
              </a:rPr>
              <a:t>Multiple valuations are based on forecasts for the next 1-2 years, not on historical values</a:t>
            </a:r>
          </a:p>
          <a:p>
            <a:pPr marL="342900" indent="-342900">
              <a:buFontTx/>
              <a:buChar char="-"/>
            </a:pPr>
            <a:r>
              <a:rPr lang="de-DE" sz="2000" dirty="0">
                <a:solidFill>
                  <a:srgbClr val="000000"/>
                </a:solidFill>
                <a:cs typeface="Arial" panose="020B0604020202020204" pitchFamily="34" charset="0"/>
              </a:rPr>
              <a:t>The choice of multiples depends on the industry and company situation </a:t>
            </a:r>
          </a:p>
          <a:p>
            <a:pPr lvl="1"/>
            <a:endParaRPr lang="de-DE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792510" y="1219200"/>
            <a:ext cx="53514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/>
            <a:r>
              <a:rPr lang="en-US" sz="2000" b="1" u="sng" dirty="0">
                <a:solidFill>
                  <a:srgbClr val="000000"/>
                </a:solidFill>
                <a:latin typeface="+mj-lt"/>
              </a:rPr>
              <a:t>Firm value multiples</a:t>
            </a:r>
          </a:p>
          <a:p>
            <a:pPr lvl="3"/>
            <a:endParaRPr lang="en-US" sz="2000" dirty="0">
              <a:solidFill>
                <a:srgbClr val="000000"/>
              </a:solidFill>
              <a:latin typeface="+mj-lt"/>
            </a:endParaRPr>
          </a:p>
          <a:p>
            <a:pPr marL="1714500" lvl="3" indent="-342900">
              <a:buFont typeface="Symbol" panose="05050102010706020507" pitchFamily="18" charset="2"/>
              <a:buChar char="-"/>
            </a:pPr>
            <a:r>
              <a:rPr lang="en-US" sz="2000" b="1" dirty="0">
                <a:solidFill>
                  <a:srgbClr val="000000"/>
                </a:solidFill>
                <a:latin typeface="+mj-lt"/>
              </a:rPr>
              <a:t>Firm Value-to-Sales</a:t>
            </a:r>
          </a:p>
          <a:p>
            <a:pPr marL="1714500" lvl="3" indent="-342900">
              <a:buFont typeface="Symbol" panose="05050102010706020507" pitchFamily="18" charset="2"/>
              <a:buChar char="-"/>
            </a:pPr>
            <a:r>
              <a:rPr lang="en-US" sz="2000" b="1" dirty="0">
                <a:solidFill>
                  <a:srgbClr val="000000"/>
                </a:solidFill>
                <a:latin typeface="+mj-lt"/>
              </a:rPr>
              <a:t>Firm Value-to-EBITDA</a:t>
            </a:r>
          </a:p>
          <a:p>
            <a:pPr marL="1714500" lvl="3" indent="-342900">
              <a:buFont typeface="Symbol" panose="05050102010706020507" pitchFamily="18" charset="2"/>
              <a:buChar char="-"/>
            </a:pPr>
            <a:r>
              <a:rPr lang="en-US" sz="2000" dirty="0">
                <a:solidFill>
                  <a:srgbClr val="000000"/>
                </a:solidFill>
                <a:latin typeface="+mj-lt"/>
              </a:rPr>
              <a:t>Firm Value-to-EBIT</a:t>
            </a:r>
          </a:p>
          <a:p>
            <a:pPr marL="1714500" lvl="3" indent="-342900">
              <a:buFont typeface="Symbol" panose="05050102010706020507" pitchFamily="18" charset="2"/>
              <a:buChar char="-"/>
            </a:pPr>
            <a:r>
              <a:rPr lang="en-US" sz="2000" dirty="0">
                <a:solidFill>
                  <a:srgbClr val="000000"/>
                </a:solidFill>
                <a:latin typeface="+mj-lt"/>
              </a:rPr>
              <a:t>Firm Value-to-Operating Cash Flow</a:t>
            </a:r>
          </a:p>
          <a:p>
            <a:pPr marL="1714500" lvl="3" indent="-342900">
              <a:buFont typeface="Symbol" panose="05050102010706020507" pitchFamily="18" charset="2"/>
              <a:buChar char="-"/>
            </a:pPr>
            <a:r>
              <a:rPr lang="en-US" sz="2000" dirty="0">
                <a:solidFill>
                  <a:srgbClr val="000000"/>
                </a:solidFill>
                <a:latin typeface="+mj-lt"/>
              </a:rPr>
              <a:t>Firm Value-to-Book Value of Assets</a:t>
            </a:r>
            <a:br>
              <a:rPr lang="en-US" sz="2000" dirty="0">
                <a:solidFill>
                  <a:srgbClr val="000000"/>
                </a:solidFill>
                <a:latin typeface="+mj-lt"/>
              </a:rPr>
            </a:br>
            <a:endParaRPr lang="en-US" sz="2000" dirty="0">
              <a:latin typeface="+mj-lt"/>
            </a:endParaRPr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2838ED74-B032-A09F-1AF1-29A084FBE48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Typical multiples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1842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920EE47-4DC4-48FF-BF1C-B49369BFA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27</a:t>
            </a:fld>
            <a:endParaRPr lang="de-DE" alt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819A76F-45A2-4E01-A8DB-36ED8BA66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523488"/>
              </p:ext>
            </p:extLst>
          </p:nvPr>
        </p:nvGraphicFramePr>
        <p:xfrm>
          <a:off x="193675" y="4059679"/>
          <a:ext cx="4272818" cy="230221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14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119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P/E Pro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P/E Con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760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Easy to understand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Not applicable for negative </a:t>
                      </a:r>
                      <a:r>
                        <a:rPr lang="de-DE" sz="16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earnings</a:t>
                      </a:r>
                      <a:endParaRPr lang="de-DE" sz="160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760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Widely used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de-DE" sz="16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Accounting</a:t>
                      </a:r>
                      <a:r>
                        <a:rPr lang="de-DE" sz="16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 standards </a:t>
                      </a:r>
                      <a:r>
                        <a:rPr lang="de-DE" sz="16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and regulation not always the same</a:t>
                      </a:r>
                      <a:endParaRPr lang="de-DE" sz="160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760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Easy to calculate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Depends on capital structure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A71D781-A455-47B5-9DC5-36D1960A6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96174"/>
              </p:ext>
            </p:extLst>
          </p:nvPr>
        </p:nvGraphicFramePr>
        <p:xfrm>
          <a:off x="1342292" y="1168184"/>
          <a:ext cx="6553200" cy="2829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86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EV/Sales Pro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EV/Sales Con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24">
                <a:tc>
                  <a:txBody>
                    <a:bodyPr/>
                    <a:lstStyle/>
                    <a:p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Possibly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only option if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EBITDA &lt; 0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Sales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are a weak indicator of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value /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profitability</a:t>
                      </a:r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82">
                <a:tc>
                  <a:txBody>
                    <a:bodyPr/>
                    <a:lstStyle/>
                    <a:p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Good for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industries where market share plays a major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role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No statement about risk</a:t>
                      </a:r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86">
                <a:tc>
                  <a:txBody>
                    <a:bodyPr/>
                    <a:lstStyle/>
                    <a:p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Easy to calculate</a:t>
                      </a:r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82">
                <a:tc>
                  <a:txBody>
                    <a:bodyPr/>
                    <a:lstStyle/>
                    <a:p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Not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strongly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influenced by accounting standards</a:t>
                      </a:r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D1AE3585-2F21-4FD3-A6E3-CBF4B2CB4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048044"/>
              </p:ext>
            </p:extLst>
          </p:nvPr>
        </p:nvGraphicFramePr>
        <p:xfrm>
          <a:off x="4618892" y="4063898"/>
          <a:ext cx="4395778" cy="248375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19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393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EV/EBITDA Pro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rgbClr val="FFFFFF"/>
                          </a:solidFill>
                          <a:latin typeface="+mj-lt"/>
                          <a:cs typeface="Arial" panose="020B0604020202020204" pitchFamily="34" charset="0"/>
                        </a:rPr>
                        <a:t>EV/EBITDA Con</a:t>
                      </a:r>
                    </a:p>
                  </a:txBody>
                  <a:tcPr marL="84406" marR="84406" marT="42203" marB="42203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57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EBITDA is similar to FCF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Ignores taxes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74"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Nicely comparable between companies with similar capital structure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Ignores depreciation and </a:t>
                      </a:r>
                      <a:r>
                        <a:rPr lang="de-DE" sz="16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CapEx</a:t>
                      </a:r>
                      <a:endParaRPr lang="de-DE" sz="160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178">
                <a:tc>
                  <a:txBody>
                    <a:bodyPr/>
                    <a:lstStyle/>
                    <a:p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Not </a:t>
                      </a:r>
                      <a:r>
                        <a:rPr lang="en-GB" sz="16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strongly </a:t>
                      </a:r>
                      <a:r>
                        <a:rPr lang="en-GB" sz="1600" noProof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influenced by accounting standards</a:t>
                      </a:r>
                      <a:endParaRPr lang="en-GB" sz="16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ustomShape 1">
            <a:extLst>
              <a:ext uri="{FF2B5EF4-FFF2-40B4-BE49-F238E27FC236}">
                <a16:creationId xmlns:a16="http://schemas.microsoft.com/office/drawing/2014/main" id="{25D921D8-EE4F-8BFD-FF32-93D5719CBA93}"/>
              </a:ext>
            </a:extLst>
          </p:cNvPr>
          <p:cNvSpPr/>
          <p:nvPr/>
        </p:nvSpPr>
        <p:spPr>
          <a:xfrm>
            <a:off x="76200" y="102960"/>
            <a:ext cx="8077200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004F8F"/>
                </a:solidFill>
                <a:latin typeface="Arial Narrow"/>
              </a:rPr>
              <a:t>Multiples: </a:t>
            </a:r>
            <a:r>
              <a:rPr lang="en-US" sz="3200" b="1" spc="-1" dirty="0" err="1">
                <a:solidFill>
                  <a:srgbClr val="004F8F"/>
                </a:solidFill>
                <a:latin typeface="Arial Narrow"/>
              </a:rPr>
              <a:t>Advantages </a:t>
            </a:r>
            <a:r>
              <a:rPr lang="en-US" sz="3200" b="1" spc="-1" dirty="0">
                <a:solidFill>
                  <a:srgbClr val="004F8F"/>
                </a:solidFill>
                <a:latin typeface="Arial Narrow"/>
              </a:rPr>
              <a:t>and </a:t>
            </a:r>
            <a:r>
              <a:rPr lang="en-US" sz="3200" b="1" spc="-1" dirty="0" err="1">
                <a:solidFill>
                  <a:srgbClr val="004F8F"/>
                </a:solidFill>
                <a:latin typeface="Arial Narrow"/>
              </a:rPr>
              <a:t>disadvantages</a:t>
            </a:r>
            <a:endParaRPr lang="en-US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3173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DCF &amp; Multiples: key takeaways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28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378727" y="1219200"/>
            <a:ext cx="8142000" cy="46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Arial Narrow"/>
              </a:rPr>
              <a:t>DCF: </a:t>
            </a: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Which B/S, P&amp;L, CFS positions do I need?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How to forecast revenues / costs / earnings?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How to forecast </a:t>
            </a:r>
            <a:r>
              <a:rPr lang="en-US" sz="2400" spc="-1" dirty="0" err="1">
                <a:solidFill>
                  <a:srgbClr val="000000"/>
                </a:solidFill>
                <a:latin typeface="Arial Narrow"/>
              </a:rPr>
              <a:t>CapEx</a:t>
            </a: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 &amp; change in working capital?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is a realistic long-term growth rate?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How do I forecast the revenue?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is the cost of capital?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are important inputs (sensitivities)?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do I need to consider for the equity bridge?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Arial Narrow"/>
              </a:rPr>
              <a:t>Multiples: </a:t>
            </a:r>
            <a:br>
              <a:rPr lang="en-US" sz="2400" b="1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are relevant peers?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What are relevant multiples? </a:t>
            </a:r>
            <a:br>
              <a:rPr lang="en-US" sz="2400" spc="-1" dirty="0">
                <a:solidFill>
                  <a:srgbClr val="000000"/>
                </a:solidFill>
                <a:latin typeface="Arial Narrow"/>
              </a:rPr>
            </a:br>
            <a:r>
              <a:rPr lang="en-US" sz="2400" spc="-1" dirty="0">
                <a:solidFill>
                  <a:srgbClr val="000000"/>
                </a:solidFill>
                <a:latin typeface="Arial Narrow"/>
              </a:rPr>
              <a:t>Which year?</a:t>
            </a:r>
          </a:p>
          <a:p>
            <a:pPr marL="459000" indent="-4572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54670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D2B51D6-44BF-458F-8929-611B01E5D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42BEB3F-08D9-49EF-B61F-64B0AC4A9AB9}" type="slidenum">
              <a:rPr lang="de-DE" altLang="de-DE" smtClean="0"/>
              <a:t>29</a:t>
            </a:fld>
            <a:endParaRPr lang="de-DE" alt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75CC9E-2A5B-4196-9BDC-07065E524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600"/>
            <a:ext cx="4495800" cy="5029784"/>
          </a:xfrm>
          <a:prstGeom prst="rect">
            <a:avLst/>
          </a:prstGeom>
        </p:spPr>
      </p:pic>
      <p:sp>
        <p:nvSpPr>
          <p:cNvPr id="7" name="CustomShape 1">
            <a:extLst>
              <a:ext uri="{FF2B5EF4-FFF2-40B4-BE49-F238E27FC236}">
                <a16:creationId xmlns:a16="http://schemas.microsoft.com/office/drawing/2014/main" id="{120F1EE0-82F2-AA60-F379-B45FE19010F0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>
                <a:solidFill>
                  <a:srgbClr val="004F8F"/>
                </a:solidFill>
                <a:latin typeface="Arial Narrow"/>
              </a:rPr>
              <a:t>"Football Field”: Display your results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9738C-02F2-4C95-515C-8933058EC051}"/>
              </a:ext>
            </a:extLst>
          </p:cNvPr>
          <p:cNvSpPr/>
          <p:nvPr/>
        </p:nvSpPr>
        <p:spPr bwMode="auto">
          <a:xfrm>
            <a:off x="176400" y="381000"/>
            <a:ext cx="432000" cy="432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3</a:t>
            </a:r>
            <a:endParaRPr kumimoji="0" lang="en-DE" sz="2200" b="1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091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637560" y="102960"/>
            <a:ext cx="6825278" cy="96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Assignment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30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238A6A1F-02EE-B3E3-1000-E1F616DE351C}"/>
              </a:ext>
            </a:extLst>
          </p:cNvPr>
          <p:cNvSpPr/>
          <p:nvPr/>
        </p:nvSpPr>
        <p:spPr>
          <a:xfrm>
            <a:off x="392400" y="1701360"/>
            <a:ext cx="8142000" cy="492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800">
              <a:buClr>
                <a:srgbClr val="000000"/>
              </a:buClr>
            </a:pPr>
            <a:r>
              <a:rPr sz="2000" dirty="0"/>
              <a:t>Task: Value </a:t>
            </a:r>
            <a:r>
              <a:rPr sz="2000" dirty="0" err="1"/>
              <a:t>Traton</a:t>
            </a:r>
            <a:r>
              <a:rPr sz="2000" dirty="0"/>
              <a:t> SE for the valuation &amp; reporting date 30/6/2026.</a:t>
            </a:r>
            <a:endParaRPr lang="de-DE" sz="2000" dirty="0"/>
          </a:p>
          <a:p>
            <a:pPr marL="1800">
              <a:buClr>
                <a:srgbClr val="000000"/>
              </a:buClr>
            </a:pPr>
            <a:endParaRPr sz="2000" dirty="0"/>
          </a:p>
          <a:p>
            <a:pPr marL="1800">
              <a:buClr>
                <a:srgbClr val="000000"/>
              </a:buClr>
            </a:pPr>
            <a:r>
              <a:rPr sz="2000" dirty="0"/>
              <a:t>Suppose that you conduct this valuation for June 30, 2026 based on the information available at that time.</a:t>
            </a:r>
            <a:endParaRPr lang="de-DE" sz="2000" dirty="0"/>
          </a:p>
          <a:p>
            <a:pPr marL="1800">
              <a:buClr>
                <a:srgbClr val="000000"/>
              </a:buClr>
            </a:pPr>
            <a:endParaRPr lang="en-US" sz="2800" spc="-1" dirty="0">
              <a:solidFill>
                <a:srgbClr val="000000"/>
              </a:solidFill>
              <a:latin typeface="Arial Narrow"/>
            </a:endParaRPr>
          </a:p>
          <a:p>
            <a:pPr marL="1800">
              <a:buClr>
                <a:srgbClr val="000000"/>
              </a:buClr>
            </a:pPr>
            <a:r>
              <a:rPr sz="2000" dirty="0"/>
              <a:t>You receive a package of relevant data and an assessment template</a:t>
            </a:r>
            <a:r>
              <a:rPr lang="it-IT" sz="2000" dirty="0"/>
              <a:t> on OLAT</a:t>
            </a:r>
            <a:r>
              <a:rPr sz="2000" dirty="0"/>
              <a:t>. Additional web research </a:t>
            </a:r>
            <a:r>
              <a:rPr lang="it-IT" sz="2000" dirty="0"/>
              <a:t>can be</a:t>
            </a:r>
            <a:r>
              <a:rPr sz="2000" dirty="0"/>
              <a:t> ne</a:t>
            </a:r>
            <a:r>
              <a:rPr lang="it-IT" sz="2000" dirty="0" err="1"/>
              <a:t>cessary</a:t>
            </a:r>
            <a:r>
              <a:rPr sz="2000" dirty="0"/>
              <a:t>.</a:t>
            </a:r>
            <a:endParaRPr lang="de-DE" sz="2000" dirty="0"/>
          </a:p>
          <a:p>
            <a:pPr marL="1800">
              <a:buClr>
                <a:srgbClr val="000000"/>
              </a:buClr>
            </a:pPr>
            <a:endParaRPr sz="2000" dirty="0"/>
          </a:p>
          <a:p>
            <a:pPr marL="1800">
              <a:buClr>
                <a:srgbClr val="000000"/>
              </a:buClr>
            </a:pPr>
            <a:r>
              <a:rPr sz="2000" dirty="0"/>
              <a:t>The objective is to perform both a DCF and a multiple valuation and to compare the results with the market valuation.  (All details once again in assignment</a:t>
            </a:r>
            <a:r>
              <a:rPr lang="it-IT" sz="2000" dirty="0"/>
              <a:t> </a:t>
            </a:r>
            <a:r>
              <a:rPr lang="it-IT" sz="2000" dirty="0" err="1"/>
              <a:t>available</a:t>
            </a:r>
            <a:r>
              <a:rPr lang="it-IT" sz="2000" dirty="0"/>
              <a:t> on OLAT</a:t>
            </a:r>
            <a:r>
              <a:rPr sz="2000" dirty="0"/>
              <a:t>)</a:t>
            </a:r>
            <a:endParaRPr lang="en-US" sz="2400" spc="-1" dirty="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78491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DCF_new model_v3.xls&quot; Path=&quot;\\LDNVNASCAO005\ibd_German Best Practice\Intern Files\Lukas Wagner\Case Study\Backups&quot; Landmark=&quot;_bdm.12A3C7940F584D3AAE14A86936008650.edm&quot; LMFriendly=&quot;Auto-generated range name&quot; SheetSlideName=&quot;_bdm.6880F022BD1D41DB9F579E2B7549EEA6.edm&quot; Address=&quot;&amp;apos;DCF&amp;apos;!B6:Q29&quot; AddrAdjusted=&quot;&amp;apos;DCF&amp;apos;!B6:B7&quot; LastUpdate=&quot;2014.08.27:15.15.23&quot; FileDesc=&quot;DCF_new model_v3.xls&quot; Text=&quot;&quot; Value=&quot;&quot; Inst=&quot;0&quot; SBR=&quot;False&quot; SBC=&quot;False&quot; DestType=&quot;1&quot; HeaderRows=&quot;0&quot;/&gt;&#10;&lt;/Data&gt;&#10;"/>
  <p:tag name="STRETCHHEIGHT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DCF_new model_v3.xls&quot; Path=&quot;\\LDNVNASCAO005\ibd_German Best Practice\Intern Files\Lukas Wagner\Case Study\Backups&quot; Landmark=&quot;_bdm.5B36E866B72349F08EC6FE23AEC5C0F6.edm&quot; LMFriendly=&quot;Auto-generated range name&quot; SheetSlideName=&quot;_bdm.6880F022BD1D41DB9F579E2B7549EEA6.edm&quot; Address=&quot;&amp;apos;DCF&amp;apos;!C90:H101&quot; AddrAdjusted=&quot;&amp;apos;DCF&amp;apos;!C90:D90&quot; LastUpdate=&quot;2014.08.27:15.17.16&quot; FileDesc=&quot;DCF_new model_v3.xls&quot; Text=&quot;&quot; Value=&quot;&quot; Inst=&quot;0&quot; SBR=&quot;False&quot; SBC=&quot;False&quot; DestType=&quot;1&quot; HeaderRows=&quot;0&quot;/&gt;&#10;&lt;/Data&gt;&#10;"/>
  <p:tag name="STRETCHHEIGHT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DCF_new model_v3.xls&quot; Path=&quot;\\LDNVNASCAO005\ibd_German Best Practice\Intern Files\Lukas Wagner\Case Study\Backups&quot; Landmark=&quot;_bdm.76F15EBF59C94963A5A403152505B6AE.edm&quot; LMFriendly=&quot;Auto-generated range name&quot; SheetSlideName=&quot;_bdm.6880F022BD1D41DB9F579E2B7549EEA6.edm&quot; Address=&quot;&amp;apos;DCF&amp;apos;!K90:P101&quot; AddrAdjusted=&quot;&amp;apos;DCF&amp;apos;!K90:L90&quot; LastUpdate=&quot;2014.08.27:15.13.21&quot; FileDesc=&quot;DCF_new model_v3.xls&quot; Text=&quot;&quot; Value=&quot;&quot; Inst=&quot;0&quot; SBR=&quot;False&quot; SBC=&quot;False&quot; DestType=&quot;1&quot; HeaderRows=&quot;0&quot;/&gt;&#10;&lt;/Data&gt;&#10;"/>
  <p:tag name="STRETCHHEIGHT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140826_Backup_2.xls&quot; Path=&quot;\\LDNVNASCAO005\ibd_German Best Practice\Intern Files\Lukas Wagner\Case Study\Backups&quot; Landmark=&quot;_bdm.CA0FD0029D97447C99436DE949E3E722.edm&quot; LMFriendly=&quot;Auto-generated range name&quot; SheetSlideName=&quot;_bdm.AE4D3328657B40AF8448F1E55EDFCAFA.edm&quot; Address=&quot;&amp;apos;Comps Slide&amp;apos;!B2:L40&quot; AddrAdjusted=&quot;&amp;apos;Comps Slide&amp;apos;!B2:C3&quot; LastUpdate=&quot;2014.08.27:16.07.59&quot; FileDesc=&quot;140826_Backup_2.xls&quot; Text=&quot;&quot; Value=&quot;&quot; Inst=&quot;0&quot; SBR=&quot;False&quot; SBC=&quot;False&quot; DestType=&quot;1&quot; HeaderRows=&quot;0&quot;/&gt;&#10;&lt;/Data&gt;&#10;"/>
  <p:tag name="STRETCHHEIGHT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140826_Backup_2.xls&quot; Path=&quot;\\LDNVNASCAO005\ibd_German Best Practice\Intern Files\Lukas Wagner\Case Study\Backups&quot; Landmark=&quot;_bdm.CA0FD0029D97447C99436DE949E3E722.edm&quot; LMFriendly=&quot;Auto-generated range name&quot; SheetSlideName=&quot;_bdm.AE4D3328657B40AF8448F1E55EDFCAFA.edm&quot; Address=&quot;&amp;apos;Comps Slide&amp;apos;!B2:L40&quot; AddrAdjusted=&quot;&amp;apos;Comps Slide&amp;apos;!B2:C3&quot; LastUpdate=&quot;2014.08.27:16.07.59&quot; FileDesc=&quot;140826_Backup_2.xls&quot; Text=&quot;&quot; Value=&quot;&quot; Inst=&quot;0&quot; SBR=&quot;False&quot; SBC=&quot;False&quot; DestType=&quot;1&quot; HeaderRows=&quot;0&quot;/&gt;&#10;&lt;/Data&gt;&#10;"/>
  <p:tag name="STRETCHHEIGHT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2068</Words>
  <Application>Microsoft Office PowerPoint</Application>
  <PresentationFormat>On-screen Show (4:3)</PresentationFormat>
  <Paragraphs>383</Paragraphs>
  <Slides>30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Arial</vt:lpstr>
      <vt:lpstr>Arial Narrow</vt:lpstr>
      <vt:lpstr>Cambria Math</vt:lpstr>
      <vt:lpstr>Georgia</vt:lpstr>
      <vt:lpstr>Symbol</vt:lpstr>
      <vt:lpstr>Tahoma</vt:lpstr>
      <vt:lpstr>Times New Roman</vt:lpstr>
      <vt:lpstr>Trebuchet MS</vt:lpstr>
      <vt:lpstr>Verdana</vt:lpstr>
      <vt:lpstr>Wingdings</vt:lpstr>
      <vt:lpstr>ヒラギノ角ゴ Pro W3</vt:lpstr>
      <vt:lpstr>GU Design ohne Fußleist</vt:lpstr>
      <vt:lpstr>1_GU Design ohne Fußleist</vt:lpstr>
      <vt:lpstr>2_GU Design ohne Fußleist</vt:lpstr>
      <vt:lpstr>Equation</vt:lpstr>
      <vt:lpstr>PowerPoint Presentation</vt:lpstr>
      <vt:lpstr>Traton SE</vt:lpstr>
      <vt:lpstr>Is Traton correctly valued by the market today?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Forecasting issues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Mergers, Acquisitions, &amp; Other Restructuring Activities</dc:title>
  <dc:creator>Donald M. DePamphilis</dc:creator>
  <cp:keywords>, docId:ED767829CD7022A3C95F376D36BE6329</cp:keywords>
  <cp:lastModifiedBy>Edoardo Pilla</cp:lastModifiedBy>
  <cp:revision>496</cp:revision>
  <cp:lastPrinted>2015-04-20T13:26:22Z</cp:lastPrinted>
  <dcterms:created xsi:type="dcterms:W3CDTF">2003-04-13T01:28:13Z</dcterms:created>
  <dcterms:modified xsi:type="dcterms:W3CDTF">2026-07-07T16:00:11Z</dcterms:modified>
</cp:coreProperties>
</file>