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ADCFC"/>
                </a:solidFill>
                <a:latin typeface="Arial"/>
              </a:rPr>
              <a:t>M&amp;A as Transformer of the Automotive Industry - SoSe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Valuation of TRATON 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CADCFC"/>
                </a:solidFill>
                <a:latin typeface="Arial"/>
              </a:rPr>
              <a:t>Is Traton correctly valued by the market?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ADCFC"/>
                </a:solidFill>
                <a:latin typeface="Arial"/>
              </a:rPr>
              <a:t>Valuation date: June 30, 2026  |  Data: Bloomberg, LSEG, company disclosures up to Q1 2026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CADCFC"/>
                </a:solidFill>
                <a:latin typeface="Arial"/>
              </a:rPr>
              <a:t>MATA Seminar - Valuation Day  |  Jakob Frank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761"/>
                </a:solidFill>
                <a:latin typeface="Arial"/>
              </a:rPr>
              <a:t>Valuation results -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109728"/>
            <a:ext cx="2971800" cy="868680"/>
          </a:xfrm>
          <a:prstGeom prst="rect">
            <a:avLst/>
          </a:prstGeom>
          <a:solidFill>
            <a:srgbClr val="F0F4FB"/>
          </a:solidFill>
          <a:ln>
            <a:solidFill>
              <a:srgbClr val="B6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/>
            <a:r>
              <a:rPr sz="1000">
                <a:solidFill>
                  <a:srgbClr val="333333"/>
                </a:solidFill>
                <a:latin typeface="Arial"/>
              </a:rPr>
              <a:t>Traton appears substantially undervalued across all methods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651052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2011680" cy="960120"/>
          </a:xfrm>
          <a:prstGeom prst="rect">
            <a:avLst/>
          </a:prstGeom>
          <a:solidFill>
            <a:srgbClr val="F0F4FB"/>
          </a:solidFill>
          <a:ln>
            <a:solidFill>
              <a:srgbClr val="B6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E2761"/>
                </a:solidFill>
                <a:latin typeface="Arial"/>
              </a:rPr>
              <a:t>EUR 33.18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Share price 30/06/2026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234440"/>
            <a:ext cx="2011680" cy="960120"/>
          </a:xfrm>
          <a:prstGeom prst="rect">
            <a:avLst/>
          </a:prstGeom>
          <a:solidFill>
            <a:srgbClr val="F0F4FB"/>
          </a:solidFill>
          <a:ln>
            <a:solidFill>
              <a:srgbClr val="B6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E2761"/>
                </a:solidFill>
                <a:latin typeface="Arial"/>
              </a:rPr>
              <a:t>EUR 45-78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Multiples valuation range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234440"/>
            <a:ext cx="2011680" cy="960120"/>
          </a:xfrm>
          <a:prstGeom prst="rect">
            <a:avLst/>
          </a:prstGeom>
          <a:solidFill>
            <a:srgbClr val="F0F4FB"/>
          </a:solidFill>
          <a:ln>
            <a:solidFill>
              <a:srgbClr val="B6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E2761"/>
                </a:solidFill>
                <a:latin typeface="Arial"/>
              </a:rPr>
              <a:t>EUR 77-111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DCF sensitivity range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234440"/>
            <a:ext cx="2011680" cy="960120"/>
          </a:xfrm>
          <a:prstGeom prst="rect">
            <a:avLst/>
          </a:prstGeom>
          <a:solidFill>
            <a:srgbClr val="F0F4FB"/>
          </a:solidFill>
          <a:ln>
            <a:solidFill>
              <a:srgbClr val="B6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E2761"/>
                </a:solidFill>
                <a:latin typeface="Arial"/>
              </a:rPr>
              <a:t>EUR 34.40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Avg. analyst target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514600"/>
          <a:ext cx="8321038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339"/>
                <a:gridCol w="3085329"/>
                <a:gridCol w="1495917"/>
                <a:gridCol w="841453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T="18000" marB="18000" marL="54000" marR="54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Key result</a:t>
                      </a:r>
                    </a:p>
                  </a:txBody>
                  <a:tcPr marT="18000" marB="18000" marL="54000" marR="54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Implied value / share</a:t>
                      </a:r>
                    </a:p>
                  </a:txBody>
                  <a:tcPr marT="18000" marB="18000" marL="54000" marR="54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vs. price</a:t>
                      </a:r>
                    </a:p>
                  </a:txBody>
                  <a:tcPr marT="18000" marB="18000" marL="54000" marR="54000"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DCF (FCFF, WACC 7.1%, g 1.5%)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Firm value EUR 51.7bn; equity EUR 44.9bn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EUR 89.81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+171%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EV/EBITDA 2026E (peer median 5.1x)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Implied EV EUR 29.3bn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EUR 45.05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+36%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EV/EBITDA 2027E (peer median 4.1x)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Implied EV EUR 27.4bn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EUR 41.11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EV/EBIT 2026E (peer median 8.9x)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Implied EV EUR 27.1bn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EUR 40.62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P/E 2026E (peer median 14.1x, EPS 4.20)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Equity multiple, capital structure differs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EUR 59.24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+79%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Market view (23 analysts)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Targets EUR 23-48; consensus hold/buy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EUR 34.40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+4%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892040"/>
            <a:ext cx="8321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3333"/>
                </a:solidFill>
                <a:latin typeface="Arial"/>
              </a:rPr>
              <a:t>Conclusion: Traton trades at 3.6x EV/EBITDA 2026E versus Daimler Truck at 5.1x and Volvo at 8.0x, despite a comparable margin recovery path. Both intrinsic (DCF) and relative valuation point to undervaluation; the discount is plausibly explained by the 87.5% Volkswagen ownership, a free float of only 12.5%, the loss-making International Motors business in North America, and historically weak FCF conversion (2025 FCF negative).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3333"/>
                </a:solidFill>
                <a:latin typeface="Arial"/>
              </a:rPr>
              <a:t>Verdict: undervalued - with a persistent structural holding discount.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Arial"/>
              </a:rPr>
              <a:t>Source: own analysis based on Bloomberg, LSEG, Traton AR 2025; prices as of 30/06/2026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761"/>
                </a:solidFill>
                <a:latin typeface="Arial"/>
              </a:rPr>
              <a:t>Football field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109728"/>
            <a:ext cx="2971800" cy="868680"/>
          </a:xfrm>
          <a:prstGeom prst="rect">
            <a:avLst/>
          </a:prstGeom>
          <a:solidFill>
            <a:srgbClr val="F0F4FB"/>
          </a:solidFill>
          <a:ln>
            <a:solidFill>
              <a:srgbClr val="B6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/>
            <a:r>
              <a:rPr sz="1000">
                <a:solidFill>
                  <a:srgbClr val="333333"/>
                </a:solidFill>
                <a:latin typeface="Arial"/>
              </a:rPr>
              <a:t>Overview of valuation results; graph replicated in the Excel file (Football-Field sheet)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651052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15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333"/>
                </a:solidFill>
                <a:latin typeface="Arial"/>
              </a:rPr>
              <a:t>The current price sits within the 52-week range and analyst targets, but below every fundamental valuation band. Even the most conservative multiple applied (Daimler Truck EV/EBITDA 2026E of 5.1x) implies ~EUR 45 per share.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Arial"/>
              </a:rPr>
              <a:t>Source: own analysis; Bloomberg tearsheet (52w range, analyst targets)</a:t>
            </a:r>
          </a:p>
        </p:txBody>
      </p:sp>
      <p:pic>
        <p:nvPicPr>
          <p:cNvPr id="8" name="Picture 7" descr="ff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84124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761"/>
                </a:solidFill>
                <a:latin typeface="Arial"/>
              </a:rPr>
              <a:t>Peer 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109728"/>
            <a:ext cx="2971800" cy="868680"/>
          </a:xfrm>
          <a:prstGeom prst="rect">
            <a:avLst/>
          </a:prstGeom>
          <a:solidFill>
            <a:srgbClr val="F0F4FB"/>
          </a:solidFill>
          <a:ln>
            <a:solidFill>
              <a:srgbClr val="B6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/>
            <a:r>
              <a:rPr sz="1000">
                <a:solidFill>
                  <a:srgbClr val="333333"/>
                </a:solidFill>
                <a:latin typeface="Arial"/>
              </a:rPr>
              <a:t>Peers as provided (Volvo, Daimler Truck); further Bloomberg peers reviewed and mostly excluded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651052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3210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Peer</a:t>
                      </a:r>
                    </a:p>
                  </a:txBody>
                  <a:tcPr marT="18000" marB="18000" marL="54000" marR="54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Comparability to Traton SE</a:t>
                      </a:r>
                    </a:p>
                  </a:txBody>
                  <a:tcPr marT="18000" marB="18000" marL="54000" marR="54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Relevance</a:t>
                      </a:r>
                    </a:p>
                  </a:txBody>
                  <a:tcPr marT="18000" marB="18000" marL="54000" marR="54000"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Volvo AB (B)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Global truck &amp; bus OEM (Volvo, Renault, Mack), captive finance arm, similar cyclicality and geographic spread; structurally higher margins (15-16% EBITDA vs. Traton 12-14%), industrial net cash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High - included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Daimler Truck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Closest comparable: German HQ, global truck/bus portfolio incl. large North America exposure (Freightliner vs. International), captive FS, similar revenue base (~EUR 46-49bn)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High - included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Iveco Group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Commercial vehicles, but smaller (EUR 13bn revenue), defence carve-out effects; Bloomberg-adjusted EV distorted by industrial net cash - multiples not meaningful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Shown, excluded from ranges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SAF-Holland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Trailer components supplier, not an OEM - different value chain position and margin profile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Accelleron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Turbocharger specialist, 28% EBITDA margin, trades at 24x EV/EBITDA - no business overlap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 marT="18000" marB="18000" marL="54000" marR="54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(Scania/MAN standalone)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Not listed separately - no market data available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T="18000" marB="18000" marL="54000" marR="54000">
                    <a:solidFill>
                      <a:srgbClr val="F0F4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06440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3333"/>
                </a:solidFill>
                <a:latin typeface="Arial"/>
              </a:rPr>
              <a:t>Selection criteria (per methodology): similar products, region, cyclicality, capital structure incl. captive financial services, accounting (IFRS). Currency: Volvo reported in SEK - converted at EUR/SEK 11.02 for absolute figures; multiples are currency-independent.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Arial"/>
              </a:rPr>
              <a:t>Source: Bloomberg XCVA peer set for 8TRA GY; company disclosures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761"/>
                </a:solidFill>
                <a:latin typeface="Arial"/>
              </a:rPr>
              <a:t>Multiples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109728"/>
            <a:ext cx="2971800" cy="868680"/>
          </a:xfrm>
          <a:prstGeom prst="rect">
            <a:avLst/>
          </a:prstGeom>
          <a:solidFill>
            <a:srgbClr val="F0F4FB"/>
          </a:solidFill>
          <a:ln>
            <a:solidFill>
              <a:srgbClr val="B6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/>
            <a:r>
              <a:rPr sz="1000">
                <a:solidFill>
                  <a:srgbClr val="333333"/>
                </a:solidFill>
                <a:latin typeface="Arial"/>
              </a:rPr>
              <a:t>Trading comps based on Bloomberg-adjusted EVs (captive finance debt excluded)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651052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8321034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227"/>
                <a:gridCol w="866774"/>
                <a:gridCol w="1126807"/>
                <a:gridCol w="780097"/>
                <a:gridCol w="780097"/>
                <a:gridCol w="1040129"/>
                <a:gridCol w="1040129"/>
                <a:gridCol w="866774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Company (EURm)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EV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EV/EBITDA LFY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EV/Sales 2026E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EV/EBIT 2026E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P/E 2026E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Volvo AB (B)*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56,773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8.2x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8.0x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7.1x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1.27x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11.1x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15.4x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Daimler Truck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23,813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5.4x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5.1x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4.1x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0.49x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6.7x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12.8x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Iveco Group**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1,241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0.9x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0.8x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0.7x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0.08x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8.0x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Median (Volvo/DTG)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6.8x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6.5x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5.6x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0.88x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8.9x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14.1x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TRATON SE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20,759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3.5x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3.6x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3.1x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0.45x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6.8x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8.0x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520440"/>
          <a:ext cx="8321038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9713"/>
                <a:gridCol w="1161075"/>
                <a:gridCol w="1451344"/>
                <a:gridCol w="1064319"/>
                <a:gridCol w="1354587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Implied valuation for Traton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Peer multiple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Traton metric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Implied EV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Implied EUR/share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EV/EBITDA 2026E (median incl. Iveco: 5.1x)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5.1x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EBITDA 5,719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29,349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45.05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EV/EBITDA 2027E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4.1x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EBITDA 6,723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27,366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41.11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EV/EBIT 2026E (Volvo/DTG median)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8.9x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EBIT 3,049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27,120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40.62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EV/Sales 2026E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0.49x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Sales 45,897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22,444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31.28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P/E 2026E (equity multiple)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14.1x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EPS 4.20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59.24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32120"/>
            <a:ext cx="8321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33333"/>
                </a:solidFill>
                <a:latin typeface="Arial"/>
              </a:rPr>
              <a:t>* SEK figures converted at EUR/SEK 11.02. ** Iveco distorted by industrial net cash in Bloomberg EV definition - retained in medians only where it does not bias results, excluded from valuation ranges.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333333"/>
                </a:solidFill>
                <a:latin typeface="Arial"/>
              </a:rPr>
              <a:t>All multiples on adjusted (pre-exceptionals) figures. Traton trades 30-60% below peer medians on every firm value multiple, despite consensus expecting EBITDA to grow from EUR 5.7bn (2026E) to 7.5bn (2028E).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Arial"/>
              </a:rPr>
              <a:t>Source: Bloomberg XCVA CompVal &amp; EST reports (03/07/2026); LSEG estimates; own calculations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761"/>
                </a:solidFill>
                <a:latin typeface="Arial"/>
              </a:rPr>
              <a:t>DCF 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109728"/>
            <a:ext cx="2971800" cy="868680"/>
          </a:xfrm>
          <a:prstGeom prst="rect">
            <a:avLst/>
          </a:prstGeom>
          <a:solidFill>
            <a:srgbClr val="F0F4FB"/>
          </a:solidFill>
          <a:ln>
            <a:solidFill>
              <a:srgbClr val="B6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/>
            <a:r>
              <a:rPr sz="1000">
                <a:solidFill>
                  <a:srgbClr val="333333"/>
                </a:solidFill>
                <a:latin typeface="Arial"/>
              </a:rPr>
              <a:t>FCFF discounted at own WACC of 7.1%; half-year treatment of 2026; TV beyond 2032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651052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83210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967"/>
                <a:gridCol w="840509"/>
                <a:gridCol w="840509"/>
                <a:gridCol w="840509"/>
                <a:gridCol w="840509"/>
                <a:gridCol w="840509"/>
                <a:gridCol w="840509"/>
                <a:gridCol w="840509"/>
                <a:gridCol w="840509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EURm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2031E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2032E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TV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45,897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48,970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51,000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52,785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54,369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55,728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56,842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57,695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5,719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6,723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7,486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7,390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7,612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7,802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7,958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8,077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EBIT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3,049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3,986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4,529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4,328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4,458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4,570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4,661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4,731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EBIT margin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8.1%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8.9%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8.2%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8.2%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8.2%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8.2%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8.2%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FCFF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1,955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2,553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3,160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2,851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2,962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3,063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3,151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3,226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Arial"/>
                        </a:rPr>
                        <a:t>PV of FCFF (mid-26)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333333"/>
                          </a:solidFill>
                          <a:latin typeface="Arial"/>
                        </a:rPr>
                        <a:t>945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333333"/>
                          </a:solidFill>
                          <a:latin typeface="Arial"/>
                        </a:rPr>
                        <a:t>2,305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333333"/>
                          </a:solidFill>
                          <a:latin typeface="Arial"/>
                        </a:rPr>
                        <a:t>2,665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333333"/>
                          </a:solidFill>
                          <a:latin typeface="Arial"/>
                        </a:rPr>
                        <a:t>2,246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333333"/>
                          </a:solidFill>
                          <a:latin typeface="Arial"/>
                        </a:rPr>
                        <a:t>2,179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333333"/>
                          </a:solidFill>
                          <a:latin typeface="Arial"/>
                        </a:rPr>
                        <a:t>2,105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333333"/>
                          </a:solidFill>
                          <a:latin typeface="Arial"/>
                        </a:rPr>
                        <a:t>2,023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333333"/>
                          </a:solidFill>
                          <a:latin typeface="Arial"/>
                        </a:rPr>
                        <a:t>37,246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dcf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429000"/>
            <a:ext cx="4572000" cy="253288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57800" y="3429000"/>
          <a:ext cx="35204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3435"/>
                <a:gridCol w="1297004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DCF result (EURm)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Sum PV explicit period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14,466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Terminal value (g = 1.5%)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58,030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PV of terminal value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37,246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Firm value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51,712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Equity value (after bridge)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44,903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Implied value per share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EUR 89.81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257800" y="548640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Arial"/>
              </a:rPr>
              <a:t>2026 FCFF weighted 50% (valuation date 30/06); cash flows discounted at year-end (t = 0.5 ... 6.5).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44768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33333"/>
                </a:solidFill>
                <a:latin typeface="Arial"/>
              </a:rPr>
              <a:t>Consensus-anchored forecast 2026-28 (Bloomberg/LSEG), growth fading to 1.5% LT; margins held below management target of 9-11% adj. RoS by 2029.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Arial"/>
              </a:rPr>
              <a:t>Source: own DCF model (Excel: FCFF &amp; DCF sheet); consensus per Bloomberg/LSEG 03/07/2026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761"/>
                </a:solidFill>
                <a:latin typeface="Arial"/>
              </a:rPr>
              <a:t>Equity bridge &amp; sensitivities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109728"/>
            <a:ext cx="2971800" cy="868680"/>
          </a:xfrm>
          <a:prstGeom prst="rect">
            <a:avLst/>
          </a:prstGeom>
          <a:solidFill>
            <a:srgbClr val="F0F4FB"/>
          </a:solidFill>
          <a:ln>
            <a:solidFill>
              <a:srgbClr val="B6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/>
            <a:r>
              <a:rPr sz="1000">
                <a:solidFill>
                  <a:srgbClr val="333333"/>
                </a:solidFill>
                <a:latin typeface="Arial"/>
              </a:rPr>
              <a:t>Captive finance treated as operating: only industrial net debt deducted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651052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pic>
        <p:nvPicPr>
          <p:cNvPr id="5" name="Picture 4" descr="bridg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486400" cy="25603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234440"/>
          <a:ext cx="27432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2296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Bridge item (EURm)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Firm value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51,712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+ Cash &amp; securities (Ops &amp; Corp.)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2,277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 Financial debt (Ops &amp; Corp.)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-7,439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 Pension provisions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-1,644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 Minority interest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Equity value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44,903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/ 500m shares = EUR/share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89.81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vs. price 30/06/2026: 33.18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+171%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7763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33333"/>
                </a:solidFill>
                <a:latin typeface="Arial"/>
              </a:rPr>
              <a:t>Financial Services debt of EUR 19.9bn is NOT deducted - it funds EUR 17.9bn of customer finance receivables and is serviced from FS income (already in FCFF). Deducting group net debt of EUR 24.5bn instead would still imply ~EUR 52/share (+56%).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029200"/>
          <a:ext cx="5120638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38"/>
                <a:gridCol w="744820"/>
                <a:gridCol w="744820"/>
                <a:gridCol w="744820"/>
                <a:gridCol w="744820"/>
                <a:gridCol w="74482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Implied EUR/share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 0.5%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 1.0%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 1.5%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 2.0%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 2.5%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WACC 6.0%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97.3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105.1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114.6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126.4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141.7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WACC 6.5%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87.8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94.1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101.6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110.7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122.2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WACC 7.0%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79.8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84.9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91.0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98.2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107.1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WACC 7.5%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72.9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77.2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82.1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87.9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94.9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WACC 8.0%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67.0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70.5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74.6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79.4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85.0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06440" y="502920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33333"/>
                </a:solidFill>
                <a:latin typeface="Arial"/>
              </a:rPr>
              <a:t>Even at WACC 8.0% and g 0.5% the DCF implies EUR 67 per share. The market price of EUR 33 corresponds to an implied WACC of &gt;11% - i.e. the market applies a substantial conglomerate/free-float discount.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Arial"/>
              </a:rPr>
              <a:t>Source: Traton AR 2025 p.62/65 (net liquidity table, balance sheet); own calculations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761"/>
                </a:solidFill>
                <a:latin typeface="Arial"/>
              </a:rPr>
              <a:t>DCF assumptions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109728"/>
            <a:ext cx="2971800" cy="868680"/>
          </a:xfrm>
          <a:prstGeom prst="rect">
            <a:avLst/>
          </a:prstGeom>
          <a:solidFill>
            <a:srgbClr val="F0F4FB"/>
          </a:solidFill>
          <a:ln>
            <a:solidFill>
              <a:srgbClr val="B6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/>
            <a:r>
              <a:rPr sz="1000">
                <a:solidFill>
                  <a:srgbClr val="333333"/>
                </a:solidFill>
                <a:latin typeface="Arial"/>
              </a:rPr>
              <a:t>Additional slide: all assumptions, their sources and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651052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832104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63040"/>
                <a:gridCol w="4754880"/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Source / reasoning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Revenue 2026-28E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45.9 / 49.0 / 51.0bn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Bloomberg &amp; LSEG consensus; both agree within 0.6%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Revenue growth 2029-32E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3.5% fading to 2.0%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Convergence towards LT growth; truck cycle recovery flattens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LT growth (TV)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1.5%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Long-run GDP growth band 1-3% (methodology deck), chosen conservatively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Gross margin 2029ff.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21.5%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Consensus 2028 level (21.6%) held; 5Y hist. avg 19.0%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SG&amp;A &amp; other opex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7.5% of revenue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Implied by consensus GP-EBITDA gap 2028 (7.6%)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D&amp;A / CapEx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5.8% of revenue each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LSEG capex consensus 26-28 (~EUR 2.7bn p.a.); D/CapEx converges to 1 in TV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delta NWC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10% of revenue change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Simplification; historical NWC volatile and negative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Tax rate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30% of EBIT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German statutory rate (KPMG), per template; LSEG effective ~27%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Risk-free rate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2.9%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10Y Bund yield as of 30/06/2026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Market risk premium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4.23%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Given in template (Damodaran 2026, Germany)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Beta (relevered)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1.31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Unlevered peer avg 1.07 (Volvo 0.97, DTG 1.17; raw betas Yahoo 5Y monthly, Blume-adjusted), relevered at industrial D/E 0.31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Cost of debt (after tax)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2.7%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Bund 2.9% + Traton 5Y CDS 95bp, taxed at 30%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WACC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7.1%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Weights at market values: E 76% / D 24% (industrial net debt 5.2bn)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Valuation-date handling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t = 0.5 ... 6.5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Arial"/>
                        </a:rPr>
                        <a:t>30/06/2026 reference date: 50% of 2026 FCFF, year-end discounting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280"/>
                </a:solidFill>
                <a:latin typeface="Arial"/>
              </a:rPr>
              <a:t>All inputs documented with source comments in the Excel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761"/>
                </a:solidFill>
                <a:latin typeface="Arial"/>
              </a:rPr>
              <a:t>Additional questions A.1 - A.3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109728"/>
            <a:ext cx="2971800" cy="868680"/>
          </a:xfrm>
          <a:prstGeom prst="rect">
            <a:avLst/>
          </a:prstGeom>
          <a:solidFill>
            <a:srgbClr val="F0F4FB"/>
          </a:solidFill>
          <a:ln>
            <a:solidFill>
              <a:srgbClr val="B6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/>
            <a:r>
              <a:rPr sz="1000">
                <a:solidFill>
                  <a:srgbClr val="333333"/>
                </a:solidFill>
                <a:latin typeface="Arial"/>
              </a:rPr>
              <a:t>Supplementary analysis; detail tables in Excel sheet "Data Notes (A1-A3)"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651052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761"/>
                </a:solidFill>
                <a:latin typeface="Arial"/>
              </a:rPr>
              <a:t>A.1  How does the degree and structure of debt across peers influence relative valuation?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33333"/>
                </a:solidFill>
                <a:latin typeface="Arial"/>
              </a:rPr>
              <a:t>All three OEMs run captive finance units, but only Traton carries industrial net debt (EUR ~5bn, legacy of the debt-financed Navistar acquisition); Volvo (SEK 44bn) and Daimler Truck (EUR 9bn) hold industrial net cash. Using unadjusted group debt would inflate Traton EV by ~EUR 22bn and make EV multiples incomparable. On Bloomberg-adjusted EVs Traton still trades cheapest - so leverage explains part, but not all, of the discount. Higher leverage also raises Traton relevered beta (1.31) and its equity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761"/>
                </a:solidFill>
                <a:latin typeface="Arial"/>
              </a:rPr>
              <a:t>A.2  Do synergies exist between the business lines of Traton Operations?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35808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33333"/>
                </a:solidFill>
                <a:latin typeface="Arial"/>
              </a:rPr>
              <a:t>Yes, and they are central to the equity story: the TRATON Modular System (common base engine, shared powertrains from Scania to MAN and International), the centralized R&amp;D organization since 2025 (segment figures restated accordingly), joint procurement and one group-wide financial services captive. The margin spread - Scania 10.7% adj. RoS vs. International Motors 0.1% (FY25) - shows the synergy potential is not yet realized; capturing it underpins the 9-11% group RoS target for 2029 and our margin recovery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2452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761"/>
                </a:solidFill>
                <a:latin typeface="Arial"/>
              </a:rPr>
              <a:t>A.3  Are there differences between Bloomberg and LSEG data - do they matter?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62856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33333"/>
                </a:solidFill>
                <a:latin typeface="Arial"/>
              </a:rPr>
              <a:t>P&amp;L consensus differs only marginally (revenue 2026E -0.3%, EBITDA 2026E +1.4%, EPS +0.5%) - different contributor panels and adjustment logic; impact on multiples &lt; 2%, immaterial. The decisive difference is in balance-sheet definitions: LSEG reports 2026E net debt of EUR 15.6bn (group definition) vs. Bloomberg EV-adjusted industrial net debt of EUR 4.0bn. The choice moves implied equity value by &gt;EUR 10 per share - the analytical treatment of the captive, not the data vendor, drives the valuation.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806440"/>
            <a:ext cx="8321040" cy="566928"/>
          </a:xfrm>
          <a:prstGeom prst="rect">
            <a:avLst/>
          </a:prstGeom>
          <a:solidFill>
            <a:srgbClr val="F0F4FB"/>
          </a:solidFill>
          <a:ln>
            <a:solidFill>
              <a:srgbClr val="B6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E2761"/>
                </a:solidFill>
                <a:latin typeface="Arial"/>
              </a:rPr>
              <a:t>Common thread: how one treats TRATON Financial Services (debt, receivables, earnings) is the single most value-relevant analytical choice in this case.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761"/>
                </a:solidFill>
                <a:latin typeface="Arial"/>
              </a:rPr>
              <a:t>Appendix: AI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109728"/>
            <a:ext cx="2971800" cy="868680"/>
          </a:xfrm>
          <a:prstGeom prst="rect">
            <a:avLst/>
          </a:prstGeom>
          <a:solidFill>
            <a:srgbClr val="F0F4FB"/>
          </a:solidFill>
          <a:ln>
            <a:solidFill>
              <a:srgbClr val="B6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/>
            <a:r>
              <a:rPr sz="1000">
                <a:solidFill>
                  <a:srgbClr val="333333"/>
                </a:solidFill>
                <a:latin typeface="Arial"/>
              </a:rPr>
              <a:t>Transparency on how AI (Claude) was employed in this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651052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3210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749040"/>
                <a:gridCol w="320040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AI contribution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Human control points</a:t>
                      </a:r>
                    </a:p>
                  </a:txBody>
                  <a:tcPr marT="16000" marB="16000" marL="50000" marR="50000"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Data extraction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Parsed Bloomberg hardcopies (XCSF/XCVA), LSEG exports, AR 2025 and factsheet; reconciled definitions across sources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Cross-checked totals against source PDFs (e.g. EV composition, net liquidity table)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Model build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Filled the provided Excel template with live formulas, source comments and sensitivity grids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Assumptions reviewed against methodology deck; template structure kept 1:1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External data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Retrieved 10Y Bund yield, EUR/SEK and peer betas via web research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Values documented with source and date in the model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Judgment calls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Proposed captive-finance treatment, half-year discounting, peer selection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Discussed alternatives (group vs. industrial net debt) and quantified their impact</a:t>
                      </a:r>
                    </a:p>
                  </a:txBody>
                  <a:tcPr marT="16000" marB="16000" marL="50000" marR="50000">
                    <a:solidFill>
                      <a:srgbClr val="F0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Generated this deck and the football field / bridge charts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Verified zero formula errors; recalculated workbook before submission</a:t>
                      </a:r>
                    </a:p>
                  </a:txBody>
                  <a:tcPr marT="16000" marB="16000" marL="50000" marR="5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8321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3333"/>
                </a:solidFill>
                <a:latin typeface="Arial"/>
              </a:rPr>
              <a:t>Experience: AI was most valuable for fast, source-referenced data extraction from heterogeneous files and for surfacing the Financial Services debt issue early. Limits: consensus data can be silently mixed across vendors - every hardcoded number therefore carries a source comment in Excel so results remain auditable and reproducible by teammates.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