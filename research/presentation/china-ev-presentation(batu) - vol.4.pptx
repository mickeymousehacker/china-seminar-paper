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76" r:id="rId2"/>
    <p:sldId id="282" r:id="rId3"/>
    <p:sldId id="258" r:id="rId4"/>
    <p:sldId id="278" r:id="rId5"/>
    <p:sldId id="260" r:id="rId6"/>
    <p:sldId id="279" r:id="rId7"/>
    <p:sldId id="262" r:id="rId8"/>
    <p:sldId id="281" r:id="rId9"/>
    <p:sldId id="280" r:id="rId10"/>
    <p:sldId id="283" r:id="rId11"/>
    <p:sldId id="284" r:id="rId12"/>
    <p:sldId id="285" r:id="rId13"/>
    <p:sldId id="286" r:id="rId14"/>
    <p:sldId id="287" r:id="rId15"/>
    <p:sldId id="288" r:id="rId16"/>
    <p:sldId id="271" r:id="rId17"/>
    <p:sldId id="289" r:id="rId18"/>
    <p:sldId id="290" r:id="rId19"/>
    <p:sldId id="291" r:id="rId20"/>
    <p:sldId id="293" r:id="rId21"/>
    <p:sldId id="295" r:id="rId22"/>
    <p:sldId id="275"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63EB"/>
    <a:srgbClr val="DC26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500" autoAdjust="0"/>
    <p:restoredTop sz="84206" autoAdjust="0"/>
  </p:normalViewPr>
  <p:slideViewPr>
    <p:cSldViewPr snapToGrid="0" snapToObjects="1">
      <p:cViewPr varScale="1">
        <p:scale>
          <a:sx n="67" d="100"/>
          <a:sy n="67" d="100"/>
        </p:scale>
        <p:origin x="62" y="46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1891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Welcome. Our paper asks one question: how do you build a car company in China that creates lasting value for its owners? We study three real firms with three different models - SAIC, BYD, and Geely. I will show the framework, compare them across four dimensions, give our verdict, and end with how we used AI. Let's start with why this matters now.</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thirty years there was one way to build cars at scale in China: foreign technology for market access, with a state firm as partner. That model is now breaking apart. EVs are already 55% of China's market, Chinese makers sell about 60% of the world's EVs, and the EU even taxes the three firms differently - 35.3% for SAIC against 17% for BYD. So our question is simple: which ownership and financing model builds lasting value? Next, what the theory predicts.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question is simple to say but hard to answer: which structure builds the most</a:t>
            </a:r>
          </a:p>
          <a:p>
            <a:r>
              <a:t>shareholder value over time. We compare three firms that each picked a different path — joint</a:t>
            </a:r>
          </a:p>
          <a:p>
            <a:r>
              <a:t>ventures, building in-house, and buying companies. We look at each one through four lenses:</a:t>
            </a:r>
          </a:p>
          <a:p>
            <a:r>
              <a:t>governance, financing, capability building, and long-term survival. The same four lenses are</a:t>
            </a:r>
          </a:p>
          <a:p>
            <a:r>
              <a:t>used for all three firms, so the comparison is fair. Our thesis is that structure beats starting</a:t>
            </a:r>
          </a:p>
          <a:p>
            <a:r>
              <a:t>technology. Now the theory behind these lenses.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Three lines of theory all point the same way. Agency theory says a founder-owner removes the conflict between owners and managers. Shleifer and </a:t>
            </a:r>
            <a:r>
              <a:rPr lang="en-GB" dirty="0" err="1"/>
              <a:t>Vishny</a:t>
            </a:r>
            <a:r>
              <a:rPr lang="en-GB" dirty="0"/>
              <a:t> say that in state firms, control pushes money toward political goals, not shareholders. And the data - including Allen et al. on China - show state firms do worse over time. So even before the cases, the prediction is clear: concentrated, commercial control should win. Let's test it, starting with governance.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matrix is the map for the whole talk. The rows are the three firms. The columns</a:t>
            </a:r>
          </a:p>
          <a:p>
            <a:r>
              <a:t>are the four lenses. Read across a row and you see one firm's full profile; read down a column</a:t>
            </a:r>
          </a:p>
          <a:p>
            <a:r>
              <a:t>and you compare the firms on one topic. The key point is that the columns are linked. The firm</a:t>
            </a:r>
          </a:p>
          <a:p>
            <a:r>
              <a:t>that is slow to decide is also the one most at risk in the EV shift. The next eight slides walk</a:t>
            </a:r>
          </a:p>
          <a:p>
            <a:r>
              <a:t>through the four columns, two slides each. We start with governance.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Governance is about who holds control and what they want. SAIC is state-led: SASAC owns about 73%, the Party mandate is in the charter, and 50/50 JV boards need both sides to agree - so it moves slowly. BYD's founder and team hold over a third of the votes, so he could exit petrol cars alone in 2022. Geely's founder controls the top and is fast on deals, but pays a cost for managing many brands. The pattern: commercial founder control acts fastest. Next, how each firm pays for growth.</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outside proof that governance matters. The EU studied state support and set</a:t>
            </a:r>
          </a:p>
          <a:p>
            <a:r>
              <a:t>duties: 35.3 percent for SAIC, 17 for BYD, 18.8 for Geely. That gap of about 18 points is not</a:t>
            </a:r>
          </a:p>
          <a:p>
            <a:r>
              <a:t>about car quality — it is about ownership. The more a firm depends on the state, the higher the</a:t>
            </a:r>
          </a:p>
          <a:p>
            <a:r>
              <a:t>tariff. This lines up with our theory: control split across political and JV partners adapts</a:t>
            </a:r>
          </a:p>
          <a:p>
            <a:r>
              <a:t>slower than founder control. Governance is now a direct cost, not paperwork. Next we follow the</a:t>
            </a:r>
          </a:p>
          <a:p>
            <a:r>
              <a:t>money: how each firm pays for growth.</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the money story in one number: return on equity in 2024. SAIC is almost flat at 0.58%, BYD is 21.7%, Geely 19.2%. This gap is structural, not luck. SAIC's trouble began when SAIC-GM sales fell 56% - that triggered write-downs and an 88% profit drop, and without one-off items the result was still negative. To be honest, BYD's return fell to 13% in 2025 under the price war, but it stays self-funded. Next, who carries the risk.</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Same goal - fund growth - but the risk lands on different people. SAIC pushed the risk onto its 50/50 JV partners; that felt safe until sales fell and it had to absorb losses it could not fix - a capital trap. BYD funds itself from its own cash and spends more on R&amp;D than it earns, so it needs no lenders. Geely borrows to buy capability fast, which works while profits hold. The EU even put the highest tariff on SAIC, 35.3%, partly because the group held back its financing data. Next, how each firm builds technology.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There are three ways to build capability, each with a different staying power. SAIC took technology through joint ventures - fast for quality, but the easy money killed its own innovation, so it had no EV platform ready. Geely bought Volvo and turned it into real shared engineering. BYD built everything itself over decades, from battery cells to software - slow, but very hard to copy. The way you build it decides how long the advantage lasts. Next, the EV transition as the real test.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EV shift tested every past choice. SAIC is most exposed - its JV plants run at just 14 to 37% - but its own brand shows real progress: EV sales up 33% with no direct subsidies, and a new platform with Huawei. So SAIC's future is a race between falling JV income and a thin own-brand margin, and its state structure decides how fast it can move. BYD is strongest: no petrol cars since 2022, and the world's top EV maker for four years. Geely is the adaptive middle - strong sales, but levered and dependent on partners. Next, the lessons we draw.</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From the three cases we draw three lessons that travel beyond cars. One: how you build capability decides how long it lasts when technology changes. Two: governance sets the speed of change - when technology moves faster than your decisions, governance becomes the limit. Three: your capital structure decides if you survive a downturn - self-financing trades speed for safety, debt does the opposite. These hold in any fast, uncertain market. Now our verdict.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Our answer: BYD is most likely to create lasting shareholder value. It has the highest return, four years as the top EV maker, and a 5.6-billion-dollar raise that sovereign funds joined. But the point is not that building everything yourself is magic. BYD wins because it combines commercial founder control with a self-funded balance sheet that stays strong in a downturn. Next, our conclusion.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433EA-C7D6-FD95-61B4-6DD200105D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BA5F47-56C8-9387-57F2-0BF1B8433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E9704-4CEC-396C-4B8C-6AF538AF2693}"/>
              </a:ext>
            </a:extLst>
          </p:cNvPr>
          <p:cNvSpPr>
            <a:spLocks noGrp="1"/>
          </p:cNvSpPr>
          <p:nvPr>
            <p:ph type="body" idx="1"/>
          </p:nvPr>
        </p:nvSpPr>
        <p:spPr/>
        <p:txBody>
          <a:bodyPr/>
          <a:lstStyle/>
          <a:p>
            <a:r>
              <a:rPr lang="en-GB" dirty="0"/>
              <a:t>This slide is our verdict — and the numbers speak clearly. SAIC, the state-controlled JV, earns just 0.58% return on equity. BYD and Geely both sit above 19%. That gap is not a coincidence — it's structural. The EU tariff makes the same point from the outside. SAIC got hit with 35.3% — more than double BYD and Geely. Brussels essentially confirmed what the financials already show. One thing to note: BYD's profit declined slightly — but that's aggressive pricing in a competitive market, not a governance problem.</a:t>
            </a:r>
          </a:p>
          <a:p>
            <a:r>
              <a:rPr lang="en-GB" dirty="0"/>
              <a:t>The takeaway is simple: across every metric on this slide, private founder control wins.</a:t>
            </a:r>
          </a:p>
        </p:txBody>
      </p:sp>
      <p:sp>
        <p:nvSpPr>
          <p:cNvPr id="4" name="Slide Number Placeholder 3">
            <a:extLst>
              <a:ext uri="{FF2B5EF4-FFF2-40B4-BE49-F238E27FC236}">
                <a16:creationId xmlns:a16="http://schemas.microsoft.com/office/drawing/2014/main" id="{FFF1B766-FDBA-CCCD-1876-6746E8287C0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64668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the deeper point. Governance is not something you adjust after picking a strategy - it is what lets any strategy happen at all. The old JV model did not lose to a better battery; it lost to a better way of sharing control and capital. And to be fair: BYD's lead depends on the same discipline that built it, now under price-war pressure. The 2020 to 2025 transition is a natural experiment, and it shows governance - more than technology - decides who wins. Now, briefly, how we used AI.</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short word on limits, since questions will follow. We study three firms in one</a:t>
            </a:r>
          </a:p>
          <a:p>
            <a:r>
              <a:t>industry and one country, so we cannot claim a statistical law. The EV shift is still young, so</a:t>
            </a:r>
          </a:p>
          <a:p>
            <a:r>
              <a:t>today's ranking may move. We rely on reported numbers, and the reports mix currencies, which we</a:t>
            </a:r>
          </a:p>
          <a:p>
            <a:r>
              <a:t>had to reconcile. NIO would add a fourth model but was out of scope. Future work could add NIO,</a:t>
            </a:r>
          </a:p>
          <a:p>
            <a:r>
              <a:t>follow the firms over a longer period, and build a formal governance score. Now a brief, honest</a:t>
            </a:r>
          </a:p>
          <a:p>
            <a:r>
              <a:t>look at how we used AI in this project.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did not use a simple chatbot. We ran Claude Code as a layered system: a main model for most work and a stronger one for the hard analysis. Five small agents each did one job - ingest sources, search them, check links, verify claims, and find references. Everything sat in one shared git wiki we could read across all three cases at once. Next, how we kept the evidence disciplined.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covers how we managed our data across the three cases. We used a shared git repository with one folder per company — SAIC, BYD, and Geely — plus a shared folder for common data like EU regulations and IEA figures. The rule was simple: pull before you start, push when you're done. That kept everyone in sync without any manual file sharing. Claude Code could read all three wikis at the same time — which made cross-case comparisons much easier. No copying, no emailing files around. We had one merge conflict during the project. We resolved it with git stash — straightforward, no data lost.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4F7B1-F3F5-DF65-9661-D150D5FE7D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E4C74-1A03-E1CE-3467-D7DC733150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49DB0B-1081-9A65-F89A-5E9580A08BF2}"/>
              </a:ext>
            </a:extLst>
          </p:cNvPr>
          <p:cNvSpPr>
            <a:spLocks noGrp="1"/>
          </p:cNvSpPr>
          <p:nvPr>
            <p:ph type="body" idx="1"/>
          </p:nvPr>
        </p:nvSpPr>
        <p:spPr/>
        <p:txBody>
          <a:bodyPr/>
          <a:lstStyle/>
          <a:p>
            <a:r>
              <a:rPr lang="en-GB" dirty="0"/>
              <a:t>We rated every source on two things: how strong the journal is, and how close it is to our case. We built arguments only on the top tiers. We also kept a short writing guide per case with the verified numbers and citations, so all three of us stayed consistent. This stopped weak sources from supporting strong claims. Next, the most useful part.</a:t>
            </a:r>
          </a:p>
        </p:txBody>
      </p:sp>
      <p:sp>
        <p:nvSpPr>
          <p:cNvPr id="4" name="Slide Number Placeholder 3">
            <a:extLst>
              <a:ext uri="{FF2B5EF4-FFF2-40B4-BE49-F238E27FC236}">
                <a16:creationId xmlns:a16="http://schemas.microsoft.com/office/drawing/2014/main" id="{8864648C-333B-CC11-B0F7-4D5E6DA6000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04045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looks at where AI actually added value in our research process. The biggest win was handling the sheer volume of sources. Across three companies, that's a lot of annual reports, regulatory filings, and data points — more than you'd want to cross-check by hand. AI also helped as a critical reviewer. It flagged when a claim wasn't fully backed by the data — which kept our analysis honest.</a:t>
            </a:r>
          </a:p>
          <a:p>
            <a:r>
              <a:rPr lang="en-GB" dirty="0"/>
              <a:t>And it caught three concrete errors before we submitted. A wrong EU tariff figure, a net profit inflated by a currency mislabel, and an EPS based on the wrong share count. All three were traced back and corrected using the audited annual reports from E&amp;Y and PwC.</a:t>
            </a:r>
          </a:p>
          <a:p>
            <a:r>
              <a:rPr lang="en-GB" dirty="0"/>
              <a:t>Those aren't small things — any one of them could have undermined our numbers.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AI wasn't perfect — and this slide is honest about that. Four limitations came up during our work. First, consistency. When we referenced the same data point multiple times across a long session, small variations crept in — like BYD's ROE showing as 22% in one place and 21.7% in another. Always worth double-checking. Second, token limits. In high-performance modes like Opus, we hit the limit faster than expected — which interrupted longer analysis sessions. Third, context limits. In extended sessions, AI would sometimes repeat arguments it had already made — a sign it was losing track of earlier parts of the conversation. And fourth, wordiness. AI tends to over-explain. Every output needed a review pass to cut it down to what actually mattered.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These are our main sources, in APA style. The theory comes from Shleifer and </a:t>
            </a:r>
            <a:r>
              <a:rPr lang="en-GB" dirty="0" err="1"/>
              <a:t>Vishny</a:t>
            </a:r>
            <a:r>
              <a:rPr lang="en-GB" dirty="0"/>
              <a:t>, Jensen and Meckling, and Teece; the China evidence from Bai, Howell, and Holmes. Company figures come from the audited annual reports of all three firms, plus the EU regulation and the IEA. </a:t>
            </a:r>
            <a:r>
              <a:rPr lang="en-GB"/>
              <a:t>Thank you - we are happy to take your questions.</a:t>
            </a:r>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655837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502920" y="960120"/>
            <a:ext cx="502920" cy="6400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069848" y="960120"/>
            <a:ext cx="502920" cy="64008"/>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636776" y="960120"/>
            <a:ext cx="274320" cy="64008"/>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2920" y="118872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dirty="0">
                <a:ln>
                  <a:noFill/>
                </a:ln>
                <a:solidFill>
                  <a:srgbClr val="06B6D4"/>
                </a:solidFill>
                <a:effectLst/>
                <a:uLnTx/>
                <a:uFillTx/>
                <a:latin typeface="Arial" pitchFamily="34" charset="0"/>
                <a:ea typeface="Arial" pitchFamily="34" charset="-122"/>
                <a:cs typeface="Arial" pitchFamily="34" charset="-120"/>
              </a:rPr>
              <a:t>SEMINAR PAPER  ·  M&amp;A AS TRANSFORMER OF THE AUTOMOTIVE INDUSTRY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02920" y="1554480"/>
            <a:ext cx="8138160" cy="1371600"/>
          </a:xfrm>
          <a:prstGeom prst="rect">
            <a:avLst/>
          </a:prstGeom>
          <a:noFill/>
          <a:ln/>
        </p:spPr>
        <p:txBody>
          <a:bodyPr wrap="square" rtlCol="0" anchor="ctr"/>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China Strategies in the</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Automotive Industry</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02920" y="2971800"/>
            <a:ext cx="813816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A8C2EE"/>
                </a:solidFill>
                <a:effectLst/>
                <a:uLnTx/>
                <a:uFillTx/>
                <a:latin typeface="Arial" pitchFamily="34" charset="0"/>
                <a:ea typeface="Arial" pitchFamily="34" charset="-122"/>
                <a:cs typeface="Arial" pitchFamily="34" charset="-120"/>
              </a:rPr>
              <a:t>Which governance and financing model builds lasting shareholder value?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02920" y="3703320"/>
            <a:ext cx="2011680" cy="27432"/>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502920" y="3840480"/>
            <a:ext cx="8138160" cy="310896"/>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Julia Ort  ·  Batughan Maus  ·  Chiara Stubner</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2920" y="4187952"/>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8FA6CC"/>
                </a:solidFill>
                <a:effectLst/>
                <a:uLnTx/>
                <a:uFillTx/>
                <a:latin typeface="Arial" pitchFamily="34" charset="0"/>
                <a:ea typeface="Arial" pitchFamily="34" charset="-122"/>
                <a:cs typeface="Arial" pitchFamily="34" charset="-120"/>
              </a:rPr>
              <a:t>Goethe University Frankfurt  ·  Chair of Banking and Finance  ·  29 June 2026</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502920" y="461772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400" normalizeH="0" baseline="0" noProof="0" dirty="0">
                <a:ln>
                  <a:noFill/>
                </a:ln>
                <a:solidFill>
                  <a:srgbClr val="06B6D4"/>
                </a:solidFill>
                <a:effectLst/>
                <a:uLnTx/>
                <a:uFillTx/>
                <a:latin typeface="Arial" pitchFamily="34" charset="0"/>
                <a:ea typeface="Arial" pitchFamily="34" charset="-122"/>
                <a:cs typeface="Arial" pitchFamily="34" charset="-120"/>
              </a:rPr>
              <a:t>SAIC  ·  BYD  ·  GEELY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INTRODUCTION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The joint-venture model that built China's auto industry for three decades is unravelling</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IEA (2026); Holmes et al. (2015); European Commission (2024).</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15">
            <a:extLst>
              <a:ext uri="{FF2B5EF4-FFF2-40B4-BE49-F238E27FC236}">
                <a16:creationId xmlns:a16="http://schemas.microsoft.com/office/drawing/2014/main" id="{4D649DC7-D895-3BB8-DE81-9BD6B5789592}"/>
              </a:ext>
            </a:extLst>
          </p:cNvPr>
          <p:cNvSpPr/>
          <p:nvPr/>
        </p:nvSpPr>
        <p:spPr>
          <a:xfrm>
            <a:off x="502920" y="1463040"/>
            <a:ext cx="2880360" cy="3154680"/>
          </a:xfrm>
          <a:prstGeom prst="roundRect">
            <a:avLst>
              <a:gd name="adj" fmla="val 2540"/>
            </a:avLst>
          </a:prstGeom>
          <a:solidFill>
            <a:srgbClr val="0F172A"/>
          </a:solidFill>
          <a:ln/>
        </p:spPr>
        <p:txBody>
          <a:bodyPr/>
          <a:lstStyle/>
          <a:p>
            <a:endParaRPr lang="en-US"/>
          </a:p>
        </p:txBody>
      </p:sp>
      <p:sp>
        <p:nvSpPr>
          <p:cNvPr id="53" name="Shape 16">
            <a:extLst>
              <a:ext uri="{FF2B5EF4-FFF2-40B4-BE49-F238E27FC236}">
                <a16:creationId xmlns:a16="http://schemas.microsoft.com/office/drawing/2014/main" id="{8DE8C0C2-F763-4780-F49E-1D99DF74F63C}"/>
              </a:ext>
            </a:extLst>
          </p:cNvPr>
          <p:cNvSpPr/>
          <p:nvPr/>
        </p:nvSpPr>
        <p:spPr>
          <a:xfrm>
            <a:off x="502920" y="1463040"/>
            <a:ext cx="82296" cy="3154680"/>
          </a:xfrm>
          <a:prstGeom prst="rect">
            <a:avLst/>
          </a:prstGeom>
          <a:solidFill>
            <a:srgbClr val="06B6D4"/>
          </a:solidFill>
          <a:ln/>
        </p:spPr>
        <p:txBody>
          <a:bodyPr/>
          <a:lstStyle/>
          <a:p>
            <a:endParaRPr lang="en-US"/>
          </a:p>
        </p:txBody>
      </p:sp>
      <p:sp>
        <p:nvSpPr>
          <p:cNvPr id="55" name="Text 17">
            <a:extLst>
              <a:ext uri="{FF2B5EF4-FFF2-40B4-BE49-F238E27FC236}">
                <a16:creationId xmlns:a16="http://schemas.microsoft.com/office/drawing/2014/main" id="{3FC7D69F-9E3D-698B-2868-AA1DB1998E9B}"/>
              </a:ext>
            </a:extLst>
          </p:cNvPr>
          <p:cNvSpPr/>
          <p:nvPr/>
        </p:nvSpPr>
        <p:spPr>
          <a:xfrm>
            <a:off x="731520" y="1664208"/>
            <a:ext cx="2560320" cy="274320"/>
          </a:xfrm>
          <a:prstGeom prst="rect">
            <a:avLst/>
          </a:prstGeom>
          <a:noFill/>
          <a:ln/>
        </p:spPr>
        <p:txBody>
          <a:bodyPr wrap="square" rtlCol="0" anchor="ctr"/>
          <a:lstStyle/>
          <a:p>
            <a:pPr marL="0" indent="0">
              <a:buNone/>
            </a:pPr>
            <a:r>
              <a:rPr lang="en-US" sz="1100" b="1" kern="0" spc="200" dirty="0">
                <a:solidFill>
                  <a:srgbClr val="06B6D4"/>
                </a:solidFill>
                <a:latin typeface="Arial" pitchFamily="34" charset="0"/>
                <a:ea typeface="Arial" pitchFamily="34" charset="-122"/>
                <a:cs typeface="Arial" pitchFamily="34" charset="-120"/>
              </a:rPr>
              <a:t>CENTRAL QUESTION</a:t>
            </a:r>
            <a:endParaRPr lang="en-US" sz="1100" dirty="0"/>
          </a:p>
        </p:txBody>
      </p:sp>
      <p:sp>
        <p:nvSpPr>
          <p:cNvPr id="57" name="Text 18">
            <a:extLst>
              <a:ext uri="{FF2B5EF4-FFF2-40B4-BE49-F238E27FC236}">
                <a16:creationId xmlns:a16="http://schemas.microsoft.com/office/drawing/2014/main" id="{563AE3AB-0452-DA79-493C-F900DFD5542D}"/>
              </a:ext>
            </a:extLst>
          </p:cNvPr>
          <p:cNvSpPr/>
          <p:nvPr/>
        </p:nvSpPr>
        <p:spPr>
          <a:xfrm>
            <a:off x="731520" y="2029968"/>
            <a:ext cx="2514600" cy="1828800"/>
          </a:xfrm>
          <a:prstGeom prst="rect">
            <a:avLst/>
          </a:prstGeom>
          <a:noFill/>
          <a:ln/>
        </p:spPr>
        <p:txBody>
          <a:bodyPr wrap="square" rtlCol="0" anchor="t"/>
          <a:lstStyle/>
          <a:p>
            <a:pPr marL="0" indent="0">
              <a:lnSpc>
                <a:spcPct val="105000"/>
              </a:lnSpc>
              <a:buNone/>
            </a:pPr>
            <a:r>
              <a:rPr lang="en-US" sz="1500" dirty="0">
                <a:solidFill>
                  <a:srgbClr val="FFFFFF"/>
                </a:solidFill>
                <a:latin typeface="Arial" pitchFamily="34" charset="0"/>
                <a:ea typeface="Arial" pitchFamily="34" charset="-122"/>
                <a:cs typeface="Arial" pitchFamily="34" charset="-120"/>
              </a:rPr>
              <a:t>Which governance and financing structure is most likely to create long-term shareholder value in a technology-intensive, high-growth market?</a:t>
            </a:r>
            <a:endParaRPr lang="en-US" sz="1500" dirty="0"/>
          </a:p>
        </p:txBody>
      </p:sp>
      <p:sp>
        <p:nvSpPr>
          <p:cNvPr id="59" name="Text 19">
            <a:extLst>
              <a:ext uri="{FF2B5EF4-FFF2-40B4-BE49-F238E27FC236}">
                <a16:creationId xmlns:a16="http://schemas.microsoft.com/office/drawing/2014/main" id="{40C19865-9BA8-3CB7-F56D-7141F027A866}"/>
              </a:ext>
            </a:extLst>
          </p:cNvPr>
          <p:cNvSpPr/>
          <p:nvPr/>
        </p:nvSpPr>
        <p:spPr>
          <a:xfrm>
            <a:off x="731520" y="4023360"/>
            <a:ext cx="2514600" cy="502920"/>
          </a:xfrm>
          <a:prstGeom prst="rect">
            <a:avLst/>
          </a:prstGeom>
          <a:noFill/>
          <a:ln/>
        </p:spPr>
        <p:txBody>
          <a:bodyPr wrap="square" rtlCol="0" anchor="ctr"/>
          <a:lstStyle/>
          <a:p>
            <a:pPr marL="0" indent="0">
              <a:buNone/>
            </a:pPr>
            <a:r>
              <a:rPr lang="en-US" sz="1050" i="1" dirty="0">
                <a:solidFill>
                  <a:srgbClr val="A8C2EE"/>
                </a:solidFill>
                <a:latin typeface="Arial" pitchFamily="34" charset="0"/>
                <a:ea typeface="Arial" pitchFamily="34" charset="-122"/>
                <a:cs typeface="Arial" pitchFamily="34" charset="-120"/>
              </a:rPr>
              <a:t>Objective: compare three ownership models, not describe three firms.</a:t>
            </a:r>
            <a:endParaRPr lang="en-US" sz="1050" dirty="0"/>
          </a:p>
        </p:txBody>
      </p:sp>
      <p:sp>
        <p:nvSpPr>
          <p:cNvPr id="61" name="Text 3">
            <a:extLst>
              <a:ext uri="{FF2B5EF4-FFF2-40B4-BE49-F238E27FC236}">
                <a16:creationId xmlns:a16="http://schemas.microsoft.com/office/drawing/2014/main" id="{5FB4F56D-F328-8890-FDF4-788E547B5E4A}"/>
              </a:ext>
            </a:extLst>
          </p:cNvPr>
          <p:cNvSpPr/>
          <p:nvPr/>
        </p:nvSpPr>
        <p:spPr>
          <a:xfrm>
            <a:off x="4783686" y="1529947"/>
            <a:ext cx="3276600" cy="858589"/>
          </a:xfrm>
          <a:prstGeom prst="rect">
            <a:avLst/>
          </a:prstGeom>
          <a:solidFill>
            <a:srgbClr val="F8FAFC"/>
          </a:solidFill>
          <a:ln/>
        </p:spPr>
        <p:txBody>
          <a:bodyPr wrap="square" rtlCol="0" anchor="ctr"/>
          <a:lstStyle/>
          <a:p>
            <a:pPr marL="0" indent="0">
              <a:buNone/>
            </a:pPr>
            <a:endParaRPr lang="en-US" dirty="0"/>
          </a:p>
        </p:txBody>
      </p:sp>
      <p:sp>
        <p:nvSpPr>
          <p:cNvPr id="63" name="Shape 4">
            <a:extLst>
              <a:ext uri="{FF2B5EF4-FFF2-40B4-BE49-F238E27FC236}">
                <a16:creationId xmlns:a16="http://schemas.microsoft.com/office/drawing/2014/main" id="{DBABFA17-4ECA-1AAE-D15D-C37B067D8BDE}"/>
              </a:ext>
            </a:extLst>
          </p:cNvPr>
          <p:cNvSpPr/>
          <p:nvPr/>
        </p:nvSpPr>
        <p:spPr>
          <a:xfrm>
            <a:off x="4821786" y="1529947"/>
            <a:ext cx="0" cy="858589"/>
          </a:xfrm>
          <a:prstGeom prst="line">
            <a:avLst/>
          </a:prstGeom>
          <a:noFill/>
          <a:ln w="76200">
            <a:solidFill>
              <a:srgbClr val="06B6D4"/>
            </a:solidFill>
            <a:prstDash val="solid"/>
          </a:ln>
        </p:spPr>
        <p:txBody>
          <a:bodyPr/>
          <a:lstStyle/>
          <a:p>
            <a:endParaRPr lang="en-US"/>
          </a:p>
        </p:txBody>
      </p:sp>
      <p:sp>
        <p:nvSpPr>
          <p:cNvPr id="65" name="Text 5">
            <a:extLst>
              <a:ext uri="{FF2B5EF4-FFF2-40B4-BE49-F238E27FC236}">
                <a16:creationId xmlns:a16="http://schemas.microsoft.com/office/drawing/2014/main" id="{0913A858-90F5-C036-90D2-DBD28DE75794}"/>
              </a:ext>
            </a:extLst>
          </p:cNvPr>
          <p:cNvSpPr/>
          <p:nvPr/>
        </p:nvSpPr>
        <p:spPr>
          <a:xfrm>
            <a:off x="5037587" y="1669548"/>
            <a:ext cx="2901898" cy="361950"/>
          </a:xfrm>
          <a:prstGeom prst="rect">
            <a:avLst/>
          </a:prstGeom>
          <a:noFill/>
          <a:ln/>
        </p:spPr>
        <p:txBody>
          <a:bodyPr wrap="square" lIns="0" tIns="0" rIns="0" bIns="0" rtlCol="0" anchor="t"/>
          <a:lstStyle/>
          <a:p>
            <a:pPr marL="0" indent="0" algn="l">
              <a:buNone/>
            </a:pPr>
            <a:r>
              <a:rPr lang="en-US" sz="2500" b="1" dirty="0">
                <a:solidFill>
                  <a:srgbClr val="0F172A"/>
                </a:solidFill>
                <a:latin typeface="Arial" pitchFamily="34" charset="0"/>
                <a:ea typeface="Arial" pitchFamily="34" charset="-122"/>
                <a:cs typeface="Arial" pitchFamily="34" charset="-120"/>
              </a:rPr>
              <a:t>55%</a:t>
            </a:r>
            <a:endParaRPr lang="en-US" sz="2500" dirty="0"/>
          </a:p>
        </p:txBody>
      </p:sp>
      <p:sp>
        <p:nvSpPr>
          <p:cNvPr id="67" name="Text 6">
            <a:extLst>
              <a:ext uri="{FF2B5EF4-FFF2-40B4-BE49-F238E27FC236}">
                <a16:creationId xmlns:a16="http://schemas.microsoft.com/office/drawing/2014/main" id="{500614DD-9B81-751F-032A-F14522B51EAF}"/>
              </a:ext>
            </a:extLst>
          </p:cNvPr>
          <p:cNvSpPr/>
          <p:nvPr/>
        </p:nvSpPr>
        <p:spPr>
          <a:xfrm>
            <a:off x="5037587" y="2082248"/>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EV share of new-car sales in China, 2025</a:t>
            </a:r>
            <a:endParaRPr lang="en-US" sz="1050" dirty="0"/>
          </a:p>
        </p:txBody>
      </p:sp>
      <p:sp>
        <p:nvSpPr>
          <p:cNvPr id="69" name="Text 7">
            <a:extLst>
              <a:ext uri="{FF2B5EF4-FFF2-40B4-BE49-F238E27FC236}">
                <a16:creationId xmlns:a16="http://schemas.microsoft.com/office/drawing/2014/main" id="{4E1D18E5-00B4-96C1-3F06-B9F29B986AFC}"/>
              </a:ext>
            </a:extLst>
          </p:cNvPr>
          <p:cNvSpPr/>
          <p:nvPr/>
        </p:nvSpPr>
        <p:spPr>
          <a:xfrm>
            <a:off x="4783686" y="2622197"/>
            <a:ext cx="3276600" cy="858589"/>
          </a:xfrm>
          <a:prstGeom prst="rect">
            <a:avLst/>
          </a:prstGeom>
          <a:solidFill>
            <a:srgbClr val="F8FAFC"/>
          </a:solidFill>
          <a:ln/>
        </p:spPr>
        <p:txBody>
          <a:bodyPr wrap="square" rtlCol="0" anchor="ctr"/>
          <a:lstStyle/>
          <a:p>
            <a:pPr marL="0" indent="0">
              <a:buNone/>
            </a:pPr>
            <a:endParaRPr lang="en-US" dirty="0"/>
          </a:p>
        </p:txBody>
      </p:sp>
      <p:sp>
        <p:nvSpPr>
          <p:cNvPr id="71" name="Shape 8">
            <a:extLst>
              <a:ext uri="{FF2B5EF4-FFF2-40B4-BE49-F238E27FC236}">
                <a16:creationId xmlns:a16="http://schemas.microsoft.com/office/drawing/2014/main" id="{C7D52C92-9D50-7744-18EE-023696E7FBDE}"/>
              </a:ext>
            </a:extLst>
          </p:cNvPr>
          <p:cNvSpPr/>
          <p:nvPr/>
        </p:nvSpPr>
        <p:spPr>
          <a:xfrm>
            <a:off x="4821786" y="2622197"/>
            <a:ext cx="0" cy="858589"/>
          </a:xfrm>
          <a:prstGeom prst="line">
            <a:avLst/>
          </a:prstGeom>
          <a:noFill/>
          <a:ln w="76200">
            <a:solidFill>
              <a:srgbClr val="2563EB"/>
            </a:solidFill>
            <a:prstDash val="solid"/>
          </a:ln>
        </p:spPr>
        <p:txBody>
          <a:bodyPr/>
          <a:lstStyle/>
          <a:p>
            <a:endParaRPr lang="en-US"/>
          </a:p>
        </p:txBody>
      </p:sp>
      <p:sp>
        <p:nvSpPr>
          <p:cNvPr id="73" name="Text 9">
            <a:extLst>
              <a:ext uri="{FF2B5EF4-FFF2-40B4-BE49-F238E27FC236}">
                <a16:creationId xmlns:a16="http://schemas.microsoft.com/office/drawing/2014/main" id="{01627963-EF5B-5CEF-603B-392C5797A111}"/>
              </a:ext>
            </a:extLst>
          </p:cNvPr>
          <p:cNvSpPr/>
          <p:nvPr/>
        </p:nvSpPr>
        <p:spPr>
          <a:xfrm>
            <a:off x="5037587" y="2761798"/>
            <a:ext cx="2901898" cy="361950"/>
          </a:xfrm>
          <a:prstGeom prst="rect">
            <a:avLst/>
          </a:prstGeom>
          <a:noFill/>
          <a:ln/>
        </p:spPr>
        <p:txBody>
          <a:bodyPr wrap="square" lIns="0" tIns="0" rIns="0" bIns="0" rtlCol="0" anchor="t"/>
          <a:lstStyle/>
          <a:p>
            <a:pPr marL="0" indent="0" algn="l">
              <a:buNone/>
            </a:pPr>
            <a:r>
              <a:rPr lang="en-US" sz="2500" b="1" dirty="0">
                <a:solidFill>
                  <a:srgbClr val="0F172A"/>
                </a:solidFill>
                <a:latin typeface="Arial" pitchFamily="34" charset="0"/>
                <a:ea typeface="Arial" pitchFamily="34" charset="-122"/>
                <a:cs typeface="Arial" pitchFamily="34" charset="-120"/>
              </a:rPr>
              <a:t>~60%</a:t>
            </a:r>
            <a:endParaRPr lang="en-US" sz="2500" dirty="0"/>
          </a:p>
        </p:txBody>
      </p:sp>
      <p:sp>
        <p:nvSpPr>
          <p:cNvPr id="75" name="Text 10">
            <a:extLst>
              <a:ext uri="{FF2B5EF4-FFF2-40B4-BE49-F238E27FC236}">
                <a16:creationId xmlns:a16="http://schemas.microsoft.com/office/drawing/2014/main" id="{10951F27-A2CC-846E-4717-54AB511862E9}"/>
              </a:ext>
            </a:extLst>
          </p:cNvPr>
          <p:cNvSpPr/>
          <p:nvPr/>
        </p:nvSpPr>
        <p:spPr>
          <a:xfrm>
            <a:off x="5037587" y="3174498"/>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of global EV sales supplied by Chinese makers</a:t>
            </a:r>
            <a:endParaRPr lang="en-US" sz="1050" dirty="0"/>
          </a:p>
        </p:txBody>
      </p:sp>
      <p:sp>
        <p:nvSpPr>
          <p:cNvPr id="77" name="Text 11">
            <a:extLst>
              <a:ext uri="{FF2B5EF4-FFF2-40B4-BE49-F238E27FC236}">
                <a16:creationId xmlns:a16="http://schemas.microsoft.com/office/drawing/2014/main" id="{A275DA70-8359-00F5-A9C8-3A85AA82E4A7}"/>
              </a:ext>
            </a:extLst>
          </p:cNvPr>
          <p:cNvSpPr/>
          <p:nvPr/>
        </p:nvSpPr>
        <p:spPr>
          <a:xfrm>
            <a:off x="4783686" y="3714298"/>
            <a:ext cx="3276600" cy="772864"/>
          </a:xfrm>
          <a:prstGeom prst="rect">
            <a:avLst/>
          </a:prstGeom>
          <a:solidFill>
            <a:srgbClr val="F8FAFC"/>
          </a:solidFill>
          <a:ln/>
        </p:spPr>
        <p:txBody>
          <a:bodyPr wrap="square" rtlCol="0" anchor="ctr"/>
          <a:lstStyle/>
          <a:p>
            <a:pPr marL="0" indent="0">
              <a:buNone/>
            </a:pPr>
            <a:endParaRPr lang="en-US" dirty="0"/>
          </a:p>
        </p:txBody>
      </p:sp>
      <p:sp>
        <p:nvSpPr>
          <p:cNvPr id="79" name="Shape 12">
            <a:extLst>
              <a:ext uri="{FF2B5EF4-FFF2-40B4-BE49-F238E27FC236}">
                <a16:creationId xmlns:a16="http://schemas.microsoft.com/office/drawing/2014/main" id="{F719738F-F47F-37C8-7E5A-1BA2B58E028B}"/>
              </a:ext>
            </a:extLst>
          </p:cNvPr>
          <p:cNvSpPr/>
          <p:nvPr/>
        </p:nvSpPr>
        <p:spPr>
          <a:xfrm>
            <a:off x="4821786" y="3714298"/>
            <a:ext cx="0" cy="772864"/>
          </a:xfrm>
          <a:prstGeom prst="line">
            <a:avLst/>
          </a:prstGeom>
          <a:noFill/>
          <a:ln w="76200">
            <a:solidFill>
              <a:srgbClr val="DC2626"/>
            </a:solidFill>
            <a:prstDash val="solid"/>
          </a:ln>
        </p:spPr>
        <p:txBody>
          <a:bodyPr/>
          <a:lstStyle/>
          <a:p>
            <a:endParaRPr lang="en-US"/>
          </a:p>
        </p:txBody>
      </p:sp>
      <p:sp>
        <p:nvSpPr>
          <p:cNvPr id="81" name="Text 13">
            <a:extLst>
              <a:ext uri="{FF2B5EF4-FFF2-40B4-BE49-F238E27FC236}">
                <a16:creationId xmlns:a16="http://schemas.microsoft.com/office/drawing/2014/main" id="{FA1F368F-5F95-3237-C479-708130F95899}"/>
              </a:ext>
            </a:extLst>
          </p:cNvPr>
          <p:cNvSpPr/>
          <p:nvPr/>
        </p:nvSpPr>
        <p:spPr>
          <a:xfrm>
            <a:off x="5037587" y="3853898"/>
            <a:ext cx="2901898" cy="276225"/>
          </a:xfrm>
          <a:prstGeom prst="rect">
            <a:avLst/>
          </a:prstGeom>
          <a:noFill/>
          <a:ln/>
        </p:spPr>
        <p:txBody>
          <a:bodyPr wrap="square" lIns="0" tIns="0" rIns="0" bIns="0" rtlCol="0" anchor="t"/>
          <a:lstStyle/>
          <a:p>
            <a:pPr marL="0" indent="0" algn="l">
              <a:buNone/>
            </a:pPr>
            <a:r>
              <a:rPr lang="en-US" sz="1900" b="1" dirty="0">
                <a:solidFill>
                  <a:srgbClr val="0F172A"/>
                </a:solidFill>
                <a:latin typeface="Arial" pitchFamily="34" charset="0"/>
                <a:ea typeface="Arial" pitchFamily="34" charset="-122"/>
                <a:cs typeface="Arial" pitchFamily="34" charset="-120"/>
              </a:rPr>
              <a:t>35.3% / 17.0% / 18.8%</a:t>
            </a:r>
            <a:endParaRPr lang="en-US" sz="1900" dirty="0"/>
          </a:p>
        </p:txBody>
      </p:sp>
      <p:sp>
        <p:nvSpPr>
          <p:cNvPr id="83" name="Text 14">
            <a:extLst>
              <a:ext uri="{FF2B5EF4-FFF2-40B4-BE49-F238E27FC236}">
                <a16:creationId xmlns:a16="http://schemas.microsoft.com/office/drawing/2014/main" id="{59CB6647-A761-90F3-FBBD-F556A39AC062}"/>
              </a:ext>
            </a:extLst>
          </p:cNvPr>
          <p:cNvSpPr/>
          <p:nvPr/>
        </p:nvSpPr>
        <p:spPr>
          <a:xfrm>
            <a:off x="5037587" y="4180874"/>
            <a:ext cx="2901898" cy="166688"/>
          </a:xfrm>
          <a:prstGeom prst="rect">
            <a:avLst/>
          </a:prstGeom>
          <a:noFill/>
          <a:ln/>
        </p:spPr>
        <p:txBody>
          <a:bodyPr wrap="square" lIns="0" tIns="0" rIns="0" bIns="0" rtlCol="0" anchor="t"/>
          <a:lstStyle/>
          <a:p>
            <a:pPr marL="0" indent="0" algn="l">
              <a:lnSpc>
                <a:spcPts val="1313"/>
              </a:lnSpc>
              <a:spcBef>
                <a:spcPts val="400"/>
              </a:spcBef>
              <a:buNone/>
            </a:pPr>
            <a:r>
              <a:rPr lang="en-US" sz="1050" dirty="0">
                <a:solidFill>
                  <a:srgbClr val="64748B"/>
                </a:solidFill>
                <a:latin typeface="Arial" pitchFamily="34" charset="0"/>
                <a:ea typeface="Arial" pitchFamily="34" charset="-122"/>
                <a:cs typeface="Arial" pitchFamily="34" charset="-120"/>
              </a:rPr>
              <a:t>EU countervailing duty: SAIC / BYD / Geely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TextBox 2"/>
          <p:cNvSpPr txBox="1"/>
          <p:nvPr/>
        </p:nvSpPr>
        <p:spPr>
          <a:xfrm>
            <a:off x="411480" y="288036"/>
            <a:ext cx="8298180" cy="190693"/>
          </a:xfrm>
          <a:prstGeom prst="rect">
            <a:avLst/>
          </a:prstGeom>
          <a:noFill/>
        </p:spPr>
        <p:txBody>
          <a:bodyPr wrap="square" lIns="0" tIns="0" rIns="0" bIns="0" anchor="t">
            <a:spAutoFit/>
          </a:bodyPr>
          <a:lstStyle/>
          <a:p>
            <a:pPr>
              <a:spcAft>
                <a:spcPts val="150"/>
              </a:spcAft>
            </a:pPr>
            <a:r>
              <a:rPr sz="1239" b="1">
                <a:solidFill>
                  <a:srgbClr val="2563EB"/>
                </a:solidFill>
                <a:latin typeface="Calibri"/>
              </a:rPr>
              <a:t>INTRODUCTION · RESEARCH DESIGN</a:t>
            </a:r>
          </a:p>
        </p:txBody>
      </p:sp>
      <p:sp>
        <p:nvSpPr>
          <p:cNvPr id="4" name="TextBox 3"/>
          <p:cNvSpPr txBox="1"/>
          <p:nvPr/>
        </p:nvSpPr>
        <p:spPr>
          <a:xfrm>
            <a:off x="411480" y="493776"/>
            <a:ext cx="8298180" cy="623248"/>
          </a:xfrm>
          <a:prstGeom prst="rect">
            <a:avLst/>
          </a:prstGeom>
          <a:noFill/>
        </p:spPr>
        <p:txBody>
          <a:bodyPr wrap="square" lIns="0" tIns="0" rIns="0" bIns="0" anchor="t">
            <a:spAutoFit/>
          </a:bodyPr>
          <a:lstStyle/>
          <a:p>
            <a:pPr>
              <a:spcAft>
                <a:spcPts val="150"/>
              </a:spcAft>
            </a:pPr>
            <a:r>
              <a:rPr sz="2025" b="1">
                <a:solidFill>
                  <a:srgbClr val="0F172A"/>
                </a:solidFill>
                <a:latin typeface="Cambria"/>
              </a:rPr>
              <a:t>One question, three governance archetypes, four analytical dimensions</a:t>
            </a:r>
          </a:p>
        </p:txBody>
      </p:sp>
      <p:sp>
        <p:nvSpPr>
          <p:cNvPr id="5" name="Rectangle 4"/>
          <p:cNvSpPr/>
          <p:nvPr/>
        </p:nvSpPr>
        <p:spPr>
          <a:xfrm>
            <a:off x="411480" y="1200150"/>
            <a:ext cx="8298180" cy="65151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TextBox 5"/>
          <p:cNvSpPr txBox="1"/>
          <p:nvPr/>
        </p:nvSpPr>
        <p:spPr>
          <a:xfrm>
            <a:off x="548640" y="1305076"/>
            <a:ext cx="8023860" cy="441659"/>
          </a:xfrm>
          <a:prstGeom prst="rect">
            <a:avLst/>
          </a:prstGeom>
          <a:noFill/>
        </p:spPr>
        <p:txBody>
          <a:bodyPr wrap="square" lIns="0" tIns="0" rIns="0" bIns="0" anchor="ctr">
            <a:spAutoFit/>
          </a:bodyPr>
          <a:lstStyle/>
          <a:p>
            <a:pPr>
              <a:lnSpc>
                <a:spcPct val="105000"/>
              </a:lnSpc>
              <a:spcAft>
                <a:spcPts val="150"/>
              </a:spcAft>
            </a:pPr>
            <a:r>
              <a:rPr sz="1416" b="1" i="1">
                <a:solidFill>
                  <a:srgbClr val="FFFFFF"/>
                </a:solidFill>
                <a:latin typeface="Cambria"/>
              </a:rPr>
              <a:t>“Which governance and financing structure is most likely to create long-term shareholder value in a technology-intensive, high-growth market?”</a:t>
            </a:r>
          </a:p>
        </p:txBody>
      </p:sp>
      <p:sp>
        <p:nvSpPr>
          <p:cNvPr id="7" name="Rectangle 6"/>
          <p:cNvSpPr/>
          <p:nvPr/>
        </p:nvSpPr>
        <p:spPr>
          <a:xfrm>
            <a:off x="411480" y="2023110"/>
            <a:ext cx="2695194" cy="92583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Rectangle 7"/>
          <p:cNvSpPr/>
          <p:nvPr/>
        </p:nvSpPr>
        <p:spPr>
          <a:xfrm>
            <a:off x="411480" y="2023110"/>
            <a:ext cx="2695194" cy="6172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9" name="TextBox 8"/>
          <p:cNvSpPr txBox="1"/>
          <p:nvPr/>
        </p:nvSpPr>
        <p:spPr>
          <a:xfrm>
            <a:off x="534924" y="2146554"/>
            <a:ext cx="2448306" cy="217880"/>
          </a:xfrm>
          <a:prstGeom prst="rect">
            <a:avLst/>
          </a:prstGeom>
          <a:noFill/>
        </p:spPr>
        <p:txBody>
          <a:bodyPr wrap="square" lIns="0" tIns="0" rIns="0" bIns="0" anchor="t">
            <a:spAutoFit/>
          </a:bodyPr>
          <a:lstStyle/>
          <a:p>
            <a:pPr>
              <a:spcAft>
                <a:spcPts val="150"/>
              </a:spcAft>
            </a:pPr>
            <a:r>
              <a:rPr sz="1416" b="1">
                <a:solidFill>
                  <a:srgbClr val="DC2626"/>
                </a:solidFill>
                <a:latin typeface="Calibri"/>
              </a:rPr>
              <a:t>SAIC Motor</a:t>
            </a:r>
          </a:p>
        </p:txBody>
      </p:sp>
      <p:sp>
        <p:nvSpPr>
          <p:cNvPr id="10" name="TextBox 9"/>
          <p:cNvSpPr txBox="1"/>
          <p:nvPr/>
        </p:nvSpPr>
        <p:spPr>
          <a:xfrm>
            <a:off x="534924" y="2455164"/>
            <a:ext cx="2448306" cy="404021"/>
          </a:xfrm>
          <a:prstGeom prst="rect">
            <a:avLst/>
          </a:prstGeom>
          <a:noFill/>
        </p:spPr>
        <p:txBody>
          <a:bodyPr wrap="square" lIns="0" tIns="0" rIns="0" bIns="0" anchor="t">
            <a:spAutoFit/>
          </a:bodyPr>
          <a:lstStyle/>
          <a:p>
            <a:pPr>
              <a:lnSpc>
                <a:spcPct val="105000"/>
              </a:lnSpc>
              <a:spcAft>
                <a:spcPts val="150"/>
              </a:spcAft>
            </a:pPr>
            <a:r>
              <a:rPr sz="1195">
                <a:solidFill>
                  <a:srgbClr val="0F172A"/>
                </a:solidFill>
                <a:latin typeface="Calibri"/>
              </a:rPr>
              <a:t>Joint-venture model</a:t>
            </a:r>
          </a:p>
          <a:p>
            <a:pPr>
              <a:lnSpc>
                <a:spcPct val="105000"/>
              </a:lnSpc>
              <a:spcAft>
                <a:spcPts val="150"/>
              </a:spcAft>
            </a:pPr>
            <a:r>
              <a:rPr sz="1195">
                <a:solidFill>
                  <a:srgbClr val="0F172A"/>
                </a:solidFill>
                <a:latin typeface="Calibri"/>
              </a:rPr>
              <a:t>State-owned, SASAC ~73%</a:t>
            </a:r>
          </a:p>
        </p:txBody>
      </p:sp>
      <p:sp>
        <p:nvSpPr>
          <p:cNvPr id="11" name="Rectangle 10"/>
          <p:cNvSpPr/>
          <p:nvPr/>
        </p:nvSpPr>
        <p:spPr>
          <a:xfrm>
            <a:off x="3209544" y="2023110"/>
            <a:ext cx="2695194" cy="92583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Rectangle 11"/>
          <p:cNvSpPr/>
          <p:nvPr/>
        </p:nvSpPr>
        <p:spPr>
          <a:xfrm>
            <a:off x="3209544" y="2023110"/>
            <a:ext cx="2695194" cy="6172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3" name="TextBox 12"/>
          <p:cNvSpPr txBox="1"/>
          <p:nvPr/>
        </p:nvSpPr>
        <p:spPr>
          <a:xfrm>
            <a:off x="3332988" y="2146554"/>
            <a:ext cx="2448306" cy="217880"/>
          </a:xfrm>
          <a:prstGeom prst="rect">
            <a:avLst/>
          </a:prstGeom>
          <a:noFill/>
        </p:spPr>
        <p:txBody>
          <a:bodyPr wrap="square" lIns="0" tIns="0" rIns="0" bIns="0" anchor="t">
            <a:spAutoFit/>
          </a:bodyPr>
          <a:lstStyle/>
          <a:p>
            <a:pPr>
              <a:spcAft>
                <a:spcPts val="150"/>
              </a:spcAft>
            </a:pPr>
            <a:r>
              <a:rPr sz="1416" b="1">
                <a:solidFill>
                  <a:srgbClr val="2563EB"/>
                </a:solidFill>
                <a:latin typeface="Calibri"/>
              </a:rPr>
              <a:t>BYD</a:t>
            </a:r>
          </a:p>
        </p:txBody>
      </p:sp>
      <p:sp>
        <p:nvSpPr>
          <p:cNvPr id="14" name="TextBox 13"/>
          <p:cNvSpPr txBox="1"/>
          <p:nvPr/>
        </p:nvSpPr>
        <p:spPr>
          <a:xfrm>
            <a:off x="3332988" y="2455164"/>
            <a:ext cx="2448306" cy="404021"/>
          </a:xfrm>
          <a:prstGeom prst="rect">
            <a:avLst/>
          </a:prstGeom>
          <a:noFill/>
        </p:spPr>
        <p:txBody>
          <a:bodyPr wrap="square" lIns="0" tIns="0" rIns="0" bIns="0" anchor="t">
            <a:spAutoFit/>
          </a:bodyPr>
          <a:lstStyle/>
          <a:p>
            <a:pPr>
              <a:lnSpc>
                <a:spcPct val="105000"/>
              </a:lnSpc>
              <a:spcAft>
                <a:spcPts val="150"/>
              </a:spcAft>
            </a:pPr>
            <a:r>
              <a:rPr sz="1195">
                <a:solidFill>
                  <a:srgbClr val="0F172A"/>
                </a:solidFill>
                <a:latin typeface="Calibri"/>
              </a:rPr>
              <a:t>Vertical integration</a:t>
            </a:r>
          </a:p>
          <a:p>
            <a:pPr>
              <a:lnSpc>
                <a:spcPct val="105000"/>
              </a:lnSpc>
              <a:spcAft>
                <a:spcPts val="150"/>
              </a:spcAft>
            </a:pPr>
            <a:r>
              <a:rPr sz="1195">
                <a:solidFill>
                  <a:srgbClr val="0F172A"/>
                </a:solidFill>
                <a:latin typeface="Calibri"/>
              </a:rPr>
              <a:t>Founder-led, Wang ~17%</a:t>
            </a:r>
          </a:p>
        </p:txBody>
      </p:sp>
      <p:sp>
        <p:nvSpPr>
          <p:cNvPr id="15" name="Rectangle 14"/>
          <p:cNvSpPr/>
          <p:nvPr/>
        </p:nvSpPr>
        <p:spPr>
          <a:xfrm>
            <a:off x="6007608" y="2023110"/>
            <a:ext cx="2695194" cy="92583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6007608" y="2023110"/>
            <a:ext cx="2695194" cy="6172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TextBox 16"/>
          <p:cNvSpPr txBox="1"/>
          <p:nvPr/>
        </p:nvSpPr>
        <p:spPr>
          <a:xfrm>
            <a:off x="6131052" y="2146554"/>
            <a:ext cx="2448306" cy="217880"/>
          </a:xfrm>
          <a:prstGeom prst="rect">
            <a:avLst/>
          </a:prstGeom>
          <a:noFill/>
        </p:spPr>
        <p:txBody>
          <a:bodyPr wrap="square" lIns="0" tIns="0" rIns="0" bIns="0" anchor="t">
            <a:spAutoFit/>
          </a:bodyPr>
          <a:lstStyle/>
          <a:p>
            <a:pPr>
              <a:spcAft>
                <a:spcPts val="150"/>
              </a:spcAft>
            </a:pPr>
            <a:r>
              <a:rPr sz="1416" b="1">
                <a:solidFill>
                  <a:srgbClr val="06B6D4"/>
                </a:solidFill>
                <a:latin typeface="Calibri"/>
              </a:rPr>
              <a:t>Geely</a:t>
            </a:r>
          </a:p>
        </p:txBody>
      </p:sp>
      <p:sp>
        <p:nvSpPr>
          <p:cNvPr id="18" name="TextBox 17"/>
          <p:cNvSpPr txBox="1"/>
          <p:nvPr/>
        </p:nvSpPr>
        <p:spPr>
          <a:xfrm>
            <a:off x="6131052" y="2455164"/>
            <a:ext cx="2448306" cy="404021"/>
          </a:xfrm>
          <a:prstGeom prst="rect">
            <a:avLst/>
          </a:prstGeom>
          <a:noFill/>
        </p:spPr>
        <p:txBody>
          <a:bodyPr wrap="square" lIns="0" tIns="0" rIns="0" bIns="0" anchor="t">
            <a:spAutoFit/>
          </a:bodyPr>
          <a:lstStyle/>
          <a:p>
            <a:pPr>
              <a:lnSpc>
                <a:spcPct val="105000"/>
              </a:lnSpc>
              <a:spcAft>
                <a:spcPts val="150"/>
              </a:spcAft>
            </a:pPr>
            <a:r>
              <a:rPr sz="1195">
                <a:solidFill>
                  <a:srgbClr val="0F172A"/>
                </a:solidFill>
                <a:latin typeface="Calibri"/>
              </a:rPr>
              <a:t>M&amp;A-driven</a:t>
            </a:r>
          </a:p>
          <a:p>
            <a:pPr>
              <a:lnSpc>
                <a:spcPct val="105000"/>
              </a:lnSpc>
              <a:spcAft>
                <a:spcPts val="150"/>
              </a:spcAft>
            </a:pPr>
            <a:r>
              <a:rPr sz="1195">
                <a:solidFill>
                  <a:srgbClr val="0F172A"/>
                </a:solidFill>
                <a:latin typeface="Calibri"/>
              </a:rPr>
              <a:t>Founder-led, Li ~41% attributable</a:t>
            </a:r>
          </a:p>
        </p:txBody>
      </p:sp>
      <p:sp>
        <p:nvSpPr>
          <p:cNvPr id="19" name="TextBox 18"/>
          <p:cNvSpPr txBox="1"/>
          <p:nvPr/>
        </p:nvSpPr>
        <p:spPr>
          <a:xfrm>
            <a:off x="411480" y="3120390"/>
            <a:ext cx="8298180" cy="177100"/>
          </a:xfrm>
          <a:prstGeom prst="rect">
            <a:avLst/>
          </a:prstGeom>
          <a:noFill/>
        </p:spPr>
        <p:txBody>
          <a:bodyPr wrap="square" lIns="0" tIns="0" rIns="0" bIns="0" anchor="t">
            <a:spAutoFit/>
          </a:bodyPr>
          <a:lstStyle/>
          <a:p>
            <a:pPr>
              <a:spcAft>
                <a:spcPts val="150"/>
              </a:spcAft>
            </a:pPr>
            <a:r>
              <a:rPr sz="1151" b="1">
                <a:solidFill>
                  <a:srgbClr val="2563EB"/>
                </a:solidFill>
                <a:latin typeface="Calibri"/>
              </a:rPr>
              <a:t>FOUR ANALYTICAL DIMENSIONS — APPLIED TO EACH CASE</a:t>
            </a:r>
          </a:p>
        </p:txBody>
      </p:sp>
      <p:sp>
        <p:nvSpPr>
          <p:cNvPr id="20" name="Rectangle 19"/>
          <p:cNvSpPr/>
          <p:nvPr/>
        </p:nvSpPr>
        <p:spPr>
          <a:xfrm>
            <a:off x="411480" y="3394710"/>
            <a:ext cx="1920240" cy="48006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1" name="TextBox 20"/>
          <p:cNvSpPr txBox="1"/>
          <p:nvPr/>
        </p:nvSpPr>
        <p:spPr>
          <a:xfrm>
            <a:off x="480060" y="3542792"/>
            <a:ext cx="1783080" cy="183896"/>
          </a:xfrm>
          <a:prstGeom prst="rect">
            <a:avLst/>
          </a:prstGeom>
          <a:noFill/>
        </p:spPr>
        <p:txBody>
          <a:bodyPr wrap="square" lIns="0" tIns="0" rIns="0" bIns="0" anchor="ctr">
            <a:spAutoFit/>
          </a:bodyPr>
          <a:lstStyle/>
          <a:p>
            <a:pPr algn="ctr">
              <a:spcAft>
                <a:spcPts val="150"/>
              </a:spcAft>
            </a:pPr>
            <a:r>
              <a:rPr sz="1195" b="1">
                <a:solidFill>
                  <a:srgbClr val="FFFFFF"/>
                </a:solidFill>
                <a:latin typeface="Calibri"/>
              </a:rPr>
              <a:t>1  Governance</a:t>
            </a:r>
          </a:p>
        </p:txBody>
      </p:sp>
      <p:sp>
        <p:nvSpPr>
          <p:cNvPr id="22" name="TextBox 21"/>
          <p:cNvSpPr txBox="1"/>
          <p:nvPr/>
        </p:nvSpPr>
        <p:spPr>
          <a:xfrm>
            <a:off x="2331720" y="3512175"/>
            <a:ext cx="137160" cy="245132"/>
          </a:xfrm>
          <a:prstGeom prst="rect">
            <a:avLst/>
          </a:prstGeom>
          <a:noFill/>
        </p:spPr>
        <p:txBody>
          <a:bodyPr wrap="square" lIns="0" tIns="0" rIns="0" bIns="0" anchor="ctr">
            <a:spAutoFit/>
          </a:bodyPr>
          <a:lstStyle/>
          <a:p>
            <a:pPr algn="ctr">
              <a:spcAft>
                <a:spcPts val="150"/>
              </a:spcAft>
            </a:pPr>
            <a:r>
              <a:rPr sz="1593" b="1">
                <a:solidFill>
                  <a:srgbClr val="64748B"/>
                </a:solidFill>
                <a:latin typeface="Calibri"/>
              </a:rPr>
              <a:t>›</a:t>
            </a:r>
          </a:p>
        </p:txBody>
      </p:sp>
      <p:sp>
        <p:nvSpPr>
          <p:cNvPr id="23" name="Rectangle 22"/>
          <p:cNvSpPr/>
          <p:nvPr/>
        </p:nvSpPr>
        <p:spPr>
          <a:xfrm>
            <a:off x="2468880" y="3394710"/>
            <a:ext cx="1920240" cy="48006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2537460" y="3542792"/>
            <a:ext cx="1783080" cy="183896"/>
          </a:xfrm>
          <a:prstGeom prst="rect">
            <a:avLst/>
          </a:prstGeom>
          <a:noFill/>
        </p:spPr>
        <p:txBody>
          <a:bodyPr wrap="square" lIns="0" tIns="0" rIns="0" bIns="0" anchor="ctr">
            <a:spAutoFit/>
          </a:bodyPr>
          <a:lstStyle/>
          <a:p>
            <a:pPr algn="ctr">
              <a:spcAft>
                <a:spcPts val="150"/>
              </a:spcAft>
            </a:pPr>
            <a:r>
              <a:rPr sz="1195" b="1">
                <a:solidFill>
                  <a:srgbClr val="FFFFFF"/>
                </a:solidFill>
                <a:latin typeface="Calibri"/>
              </a:rPr>
              <a:t>2  Financing</a:t>
            </a:r>
          </a:p>
        </p:txBody>
      </p:sp>
      <p:sp>
        <p:nvSpPr>
          <p:cNvPr id="25" name="TextBox 24"/>
          <p:cNvSpPr txBox="1"/>
          <p:nvPr/>
        </p:nvSpPr>
        <p:spPr>
          <a:xfrm>
            <a:off x="4389120" y="3512175"/>
            <a:ext cx="137160" cy="245132"/>
          </a:xfrm>
          <a:prstGeom prst="rect">
            <a:avLst/>
          </a:prstGeom>
          <a:noFill/>
        </p:spPr>
        <p:txBody>
          <a:bodyPr wrap="square" lIns="0" tIns="0" rIns="0" bIns="0" anchor="ctr">
            <a:spAutoFit/>
          </a:bodyPr>
          <a:lstStyle/>
          <a:p>
            <a:pPr algn="ctr">
              <a:spcAft>
                <a:spcPts val="150"/>
              </a:spcAft>
            </a:pPr>
            <a:r>
              <a:rPr sz="1593" b="1">
                <a:solidFill>
                  <a:srgbClr val="64748B"/>
                </a:solidFill>
                <a:latin typeface="Calibri"/>
              </a:rPr>
              <a:t>›</a:t>
            </a:r>
          </a:p>
        </p:txBody>
      </p:sp>
      <p:sp>
        <p:nvSpPr>
          <p:cNvPr id="26" name="Rectangle 25"/>
          <p:cNvSpPr/>
          <p:nvPr/>
        </p:nvSpPr>
        <p:spPr>
          <a:xfrm>
            <a:off x="4526280" y="3394710"/>
            <a:ext cx="1920240" cy="48006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7" name="TextBox 26"/>
          <p:cNvSpPr txBox="1"/>
          <p:nvPr/>
        </p:nvSpPr>
        <p:spPr>
          <a:xfrm>
            <a:off x="4594860" y="3542792"/>
            <a:ext cx="1783080" cy="183896"/>
          </a:xfrm>
          <a:prstGeom prst="rect">
            <a:avLst/>
          </a:prstGeom>
          <a:noFill/>
        </p:spPr>
        <p:txBody>
          <a:bodyPr wrap="square" lIns="0" tIns="0" rIns="0" bIns="0" anchor="ctr">
            <a:spAutoFit/>
          </a:bodyPr>
          <a:lstStyle/>
          <a:p>
            <a:pPr algn="ctr">
              <a:spcAft>
                <a:spcPts val="150"/>
              </a:spcAft>
            </a:pPr>
            <a:r>
              <a:rPr sz="1195" b="1">
                <a:solidFill>
                  <a:srgbClr val="FFFFFF"/>
                </a:solidFill>
                <a:latin typeface="Calibri"/>
              </a:rPr>
              <a:t>3  Capability Building</a:t>
            </a:r>
          </a:p>
        </p:txBody>
      </p:sp>
      <p:sp>
        <p:nvSpPr>
          <p:cNvPr id="28" name="TextBox 27"/>
          <p:cNvSpPr txBox="1"/>
          <p:nvPr/>
        </p:nvSpPr>
        <p:spPr>
          <a:xfrm>
            <a:off x="6446520" y="3512175"/>
            <a:ext cx="137160" cy="245132"/>
          </a:xfrm>
          <a:prstGeom prst="rect">
            <a:avLst/>
          </a:prstGeom>
          <a:noFill/>
        </p:spPr>
        <p:txBody>
          <a:bodyPr wrap="square" lIns="0" tIns="0" rIns="0" bIns="0" anchor="ctr">
            <a:spAutoFit/>
          </a:bodyPr>
          <a:lstStyle/>
          <a:p>
            <a:pPr algn="ctr">
              <a:spcAft>
                <a:spcPts val="150"/>
              </a:spcAft>
            </a:pPr>
            <a:r>
              <a:rPr sz="1593" b="1">
                <a:solidFill>
                  <a:srgbClr val="64748B"/>
                </a:solidFill>
                <a:latin typeface="Calibri"/>
              </a:rPr>
              <a:t>›</a:t>
            </a:r>
          </a:p>
        </p:txBody>
      </p:sp>
      <p:sp>
        <p:nvSpPr>
          <p:cNvPr id="29" name="Rectangle 28"/>
          <p:cNvSpPr/>
          <p:nvPr/>
        </p:nvSpPr>
        <p:spPr>
          <a:xfrm>
            <a:off x="6583680" y="3394710"/>
            <a:ext cx="1920240" cy="48006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0" name="TextBox 29"/>
          <p:cNvSpPr txBox="1"/>
          <p:nvPr/>
        </p:nvSpPr>
        <p:spPr>
          <a:xfrm>
            <a:off x="6652260" y="3542792"/>
            <a:ext cx="1783080" cy="183896"/>
          </a:xfrm>
          <a:prstGeom prst="rect">
            <a:avLst/>
          </a:prstGeom>
          <a:noFill/>
        </p:spPr>
        <p:txBody>
          <a:bodyPr wrap="square" lIns="0" tIns="0" rIns="0" bIns="0" anchor="ctr">
            <a:spAutoFit/>
          </a:bodyPr>
          <a:lstStyle/>
          <a:p>
            <a:pPr algn="ctr">
              <a:spcAft>
                <a:spcPts val="150"/>
              </a:spcAft>
            </a:pPr>
            <a:r>
              <a:rPr sz="1195" b="1">
                <a:solidFill>
                  <a:srgbClr val="FFFFFF"/>
                </a:solidFill>
                <a:latin typeface="Calibri"/>
              </a:rPr>
              <a:t>4  Long-term Viability</a:t>
            </a:r>
          </a:p>
        </p:txBody>
      </p:sp>
      <p:sp>
        <p:nvSpPr>
          <p:cNvPr id="31" name="TextBox 30"/>
          <p:cNvSpPr txBox="1"/>
          <p:nvPr/>
        </p:nvSpPr>
        <p:spPr>
          <a:xfrm>
            <a:off x="411480" y="4080510"/>
            <a:ext cx="8298180" cy="192168"/>
          </a:xfrm>
          <a:prstGeom prst="rect">
            <a:avLst/>
          </a:prstGeom>
          <a:noFill/>
        </p:spPr>
        <p:txBody>
          <a:bodyPr wrap="square" lIns="0" tIns="0" rIns="0" bIns="0" anchor="t">
            <a:spAutoFit/>
          </a:bodyPr>
          <a:lstStyle/>
          <a:p>
            <a:pPr>
              <a:lnSpc>
                <a:spcPct val="105000"/>
              </a:lnSpc>
              <a:spcAft>
                <a:spcPts val="150"/>
              </a:spcAft>
            </a:pPr>
            <a:r>
              <a:rPr sz="1239" b="1">
                <a:solidFill>
                  <a:srgbClr val="0F172A"/>
                </a:solidFill>
                <a:latin typeface="Calibri"/>
              </a:rPr>
              <a:t>Central thesis: governance structure, more than initial technological endowment, determines long-term value creation.</a:t>
            </a:r>
          </a:p>
        </p:txBody>
      </p:sp>
      <p:sp>
        <p:nvSpPr>
          <p:cNvPr id="32" name="TextBox 31"/>
          <p:cNvSpPr txBox="1"/>
          <p:nvPr/>
        </p:nvSpPr>
        <p:spPr>
          <a:xfrm>
            <a:off x="411480" y="4855464"/>
            <a:ext cx="6172200" cy="142988"/>
          </a:xfrm>
          <a:prstGeom prst="rect">
            <a:avLst/>
          </a:prstGeom>
          <a:noFill/>
        </p:spPr>
        <p:txBody>
          <a:bodyPr wrap="square" lIns="0" tIns="0" rIns="0" bIns="0" anchor="t">
            <a:spAutoFit/>
          </a:bodyPr>
          <a:lstStyle/>
          <a:p>
            <a:pPr>
              <a:spcAft>
                <a:spcPts val="150"/>
              </a:spcAft>
            </a:pPr>
            <a:r>
              <a:rPr sz="929">
                <a:solidFill>
                  <a:srgbClr val="64748B"/>
                </a:solidFill>
                <a:latin typeface="Calibri"/>
              </a:rPr>
              <a:t>China Strategies in the Automotive Industry  ·  Session 6</a:t>
            </a:r>
          </a:p>
        </p:txBody>
      </p:sp>
      <p:sp>
        <p:nvSpPr>
          <p:cNvPr id="33" name="TextBox 32"/>
          <p:cNvSpPr txBox="1"/>
          <p:nvPr/>
        </p:nvSpPr>
        <p:spPr>
          <a:xfrm>
            <a:off x="8046491" y="4855464"/>
            <a:ext cx="685800" cy="142988"/>
          </a:xfrm>
          <a:prstGeom prst="rect">
            <a:avLst/>
          </a:prstGeom>
          <a:noFill/>
        </p:spPr>
        <p:txBody>
          <a:bodyPr wrap="square" lIns="0" tIns="0" rIns="0" bIns="0" anchor="t">
            <a:spAutoFit/>
          </a:bodyPr>
          <a:lstStyle/>
          <a:p>
            <a:pPr algn="r">
              <a:spcAft>
                <a:spcPts val="150"/>
              </a:spcAft>
            </a:pPr>
            <a:r>
              <a:rPr sz="929">
                <a:solidFill>
                  <a:srgbClr val="64748B"/>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THEORY &amp; LITERATURE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Governance theory predicts founder-controlled private firms outperform state-controlled peers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00200"/>
            <a:ext cx="109728" cy="86868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612648" y="1600200"/>
            <a:ext cx="8028432" cy="86868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795528" y="1709928"/>
            <a:ext cx="2011680" cy="6400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Agency theory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2834640" y="1709928"/>
            <a:ext cx="4160520" cy="6858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Founder ownership aligns control and cash-flow rights and removes the principal–agent conflict of externally managed firms.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086600" y="1709928"/>
            <a:ext cx="146304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Jensen &amp; Meckling (1976)</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502920" y="2624328"/>
            <a:ext cx="109728" cy="868680"/>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612648" y="2624328"/>
            <a:ext cx="8028432" cy="86868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795528" y="2734056"/>
            <a:ext cx="2011680" cy="6400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Political control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2834640" y="2734056"/>
            <a:ext cx="4160520" cy="6858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Control rights — not cash-flow rights — drive resource allocation; the state pursues objectives beyond shareholder value.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086600" y="2734056"/>
            <a:ext cx="146304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Shleifer &amp; Vishny (1994); Fan et al. (2007)</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02920" y="3648456"/>
            <a:ext cx="109728" cy="868680"/>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612648" y="3648456"/>
            <a:ext cx="8028432" cy="86868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795528" y="3758184"/>
            <a:ext cx="2011680" cy="64008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Empirical verdict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2834640" y="3758184"/>
            <a:ext cx="4160520" cy="6858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State-controlled Chinese listed firms structurally underperform privately governed peers; weak governance is the driver.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7086600" y="3758184"/>
            <a:ext cx="1463040" cy="6858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Megginson &amp; Netter (2001); Allen et al. (2024)</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2920" y="457200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2563EB"/>
                </a:solidFill>
                <a:effectLst/>
                <a:uLnTx/>
                <a:uFillTx/>
                <a:latin typeface="Arial" pitchFamily="34" charset="0"/>
                <a:ea typeface="Arial" pitchFamily="34" charset="-122"/>
                <a:cs typeface="Arial" pitchFamily="34" charset="-120"/>
              </a:rPr>
              <a:t>→ Theory points the same way: concentrated, commercially-oriented control should adapt and create value faster than dispersed or state-directed control.</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TextBox 2"/>
          <p:cNvSpPr txBox="1"/>
          <p:nvPr/>
        </p:nvSpPr>
        <p:spPr>
          <a:xfrm>
            <a:off x="411480" y="288036"/>
            <a:ext cx="8298180" cy="190693"/>
          </a:xfrm>
          <a:prstGeom prst="rect">
            <a:avLst/>
          </a:prstGeom>
          <a:noFill/>
        </p:spPr>
        <p:txBody>
          <a:bodyPr wrap="square" lIns="0" tIns="0" rIns="0" bIns="0" anchor="t">
            <a:spAutoFit/>
          </a:bodyPr>
          <a:lstStyle/>
          <a:p>
            <a:pPr>
              <a:spcAft>
                <a:spcPts val="150"/>
              </a:spcAft>
            </a:pPr>
            <a:r>
              <a:rPr sz="1239" b="1">
                <a:solidFill>
                  <a:srgbClr val="2563EB"/>
                </a:solidFill>
                <a:latin typeface="Calibri"/>
              </a:rPr>
              <a:t>THEORY &amp; LITERATURE · FRAMEWORK</a:t>
            </a:r>
          </a:p>
        </p:txBody>
      </p:sp>
      <p:sp>
        <p:nvSpPr>
          <p:cNvPr id="4" name="TextBox 3"/>
          <p:cNvSpPr txBox="1"/>
          <p:nvPr/>
        </p:nvSpPr>
        <p:spPr>
          <a:xfrm>
            <a:off x="411480" y="493776"/>
            <a:ext cx="8298180" cy="311624"/>
          </a:xfrm>
          <a:prstGeom prst="rect">
            <a:avLst/>
          </a:prstGeom>
          <a:noFill/>
        </p:spPr>
        <p:txBody>
          <a:bodyPr wrap="square" lIns="0" tIns="0" rIns="0" bIns="0" anchor="t">
            <a:spAutoFit/>
          </a:bodyPr>
          <a:lstStyle/>
          <a:p>
            <a:pPr>
              <a:spcAft>
                <a:spcPts val="150"/>
              </a:spcAft>
            </a:pPr>
            <a:r>
              <a:rPr sz="2025" b="1">
                <a:solidFill>
                  <a:srgbClr val="0F172A"/>
                </a:solidFill>
                <a:latin typeface="Cambria"/>
              </a:rPr>
              <a:t>Three models tested against four dimensions — a 3 × 4 matrix</a:t>
            </a:r>
          </a:p>
        </p:txBody>
      </p:sp>
      <p:sp>
        <p:nvSpPr>
          <p:cNvPr id="5" name="Rectangle 4"/>
          <p:cNvSpPr/>
          <p:nvPr/>
        </p:nvSpPr>
        <p:spPr>
          <a:xfrm>
            <a:off x="411480" y="1337310"/>
            <a:ext cx="1165860" cy="630936"/>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TextBox 5"/>
          <p:cNvSpPr txBox="1"/>
          <p:nvPr/>
        </p:nvSpPr>
        <p:spPr>
          <a:xfrm>
            <a:off x="466344" y="1554097"/>
            <a:ext cx="1056132" cy="197362"/>
          </a:xfrm>
          <a:prstGeom prst="rect">
            <a:avLst/>
          </a:prstGeom>
          <a:noFill/>
        </p:spPr>
        <p:txBody>
          <a:bodyPr wrap="square" lIns="0" tIns="0" rIns="0" bIns="0" anchor="ctr">
            <a:spAutoFit/>
          </a:bodyPr>
          <a:lstStyle/>
          <a:p>
            <a:pPr>
              <a:lnSpc>
                <a:spcPct val="95000"/>
              </a:lnSpc>
              <a:spcAft>
                <a:spcPts val="150"/>
              </a:spcAft>
            </a:pPr>
            <a:endParaRPr sz="1350"/>
          </a:p>
        </p:txBody>
      </p:sp>
      <p:sp>
        <p:nvSpPr>
          <p:cNvPr id="7" name="Rectangle 6"/>
          <p:cNvSpPr/>
          <p:nvPr/>
        </p:nvSpPr>
        <p:spPr>
          <a:xfrm>
            <a:off x="1577340" y="1337310"/>
            <a:ext cx="1954530" cy="630936"/>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8" name="TextBox 7"/>
          <p:cNvSpPr txBox="1"/>
          <p:nvPr/>
        </p:nvSpPr>
        <p:spPr>
          <a:xfrm>
            <a:off x="1632204" y="1562209"/>
            <a:ext cx="1844802" cy="181140"/>
          </a:xfrm>
          <a:prstGeom prst="rect">
            <a:avLst/>
          </a:prstGeom>
          <a:noFill/>
        </p:spPr>
        <p:txBody>
          <a:bodyPr wrap="square" lIns="0" tIns="0" rIns="0" bIns="0" anchor="ctr">
            <a:spAutoFit/>
          </a:bodyPr>
          <a:lstStyle/>
          <a:p>
            <a:pPr algn="ctr">
              <a:lnSpc>
                <a:spcPct val="95000"/>
              </a:lnSpc>
              <a:spcAft>
                <a:spcPts val="150"/>
              </a:spcAft>
            </a:pPr>
            <a:r>
              <a:rPr sz="1239" b="1">
                <a:solidFill>
                  <a:srgbClr val="FFFFFF"/>
                </a:solidFill>
                <a:latin typeface="Calibri"/>
              </a:rPr>
              <a:t>Governance</a:t>
            </a:r>
          </a:p>
        </p:txBody>
      </p:sp>
      <p:sp>
        <p:nvSpPr>
          <p:cNvPr id="9" name="Rectangle 8"/>
          <p:cNvSpPr/>
          <p:nvPr/>
        </p:nvSpPr>
        <p:spPr>
          <a:xfrm>
            <a:off x="3531870" y="1337310"/>
            <a:ext cx="1748790" cy="630936"/>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TextBox 9"/>
          <p:cNvSpPr txBox="1"/>
          <p:nvPr/>
        </p:nvSpPr>
        <p:spPr>
          <a:xfrm>
            <a:off x="3586734" y="1562209"/>
            <a:ext cx="1639062" cy="181140"/>
          </a:xfrm>
          <a:prstGeom prst="rect">
            <a:avLst/>
          </a:prstGeom>
          <a:noFill/>
        </p:spPr>
        <p:txBody>
          <a:bodyPr wrap="square" lIns="0" tIns="0" rIns="0" bIns="0" anchor="ctr">
            <a:spAutoFit/>
          </a:bodyPr>
          <a:lstStyle/>
          <a:p>
            <a:pPr algn="ctr">
              <a:lnSpc>
                <a:spcPct val="95000"/>
              </a:lnSpc>
              <a:spcAft>
                <a:spcPts val="150"/>
              </a:spcAft>
            </a:pPr>
            <a:r>
              <a:rPr sz="1239" b="1">
                <a:solidFill>
                  <a:srgbClr val="FFFFFF"/>
                </a:solidFill>
                <a:latin typeface="Calibri"/>
              </a:rPr>
              <a:t>Financing</a:t>
            </a:r>
          </a:p>
        </p:txBody>
      </p:sp>
      <p:sp>
        <p:nvSpPr>
          <p:cNvPr id="11" name="Rectangle 10"/>
          <p:cNvSpPr/>
          <p:nvPr/>
        </p:nvSpPr>
        <p:spPr>
          <a:xfrm>
            <a:off x="5280660" y="1337310"/>
            <a:ext cx="1748790" cy="630936"/>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TextBox 11"/>
          <p:cNvSpPr txBox="1"/>
          <p:nvPr/>
        </p:nvSpPr>
        <p:spPr>
          <a:xfrm>
            <a:off x="5335524" y="1562209"/>
            <a:ext cx="1639062" cy="181140"/>
          </a:xfrm>
          <a:prstGeom prst="rect">
            <a:avLst/>
          </a:prstGeom>
          <a:noFill/>
        </p:spPr>
        <p:txBody>
          <a:bodyPr wrap="square" lIns="0" tIns="0" rIns="0" bIns="0" anchor="ctr">
            <a:spAutoFit/>
          </a:bodyPr>
          <a:lstStyle/>
          <a:p>
            <a:pPr algn="ctr">
              <a:lnSpc>
                <a:spcPct val="95000"/>
              </a:lnSpc>
              <a:spcAft>
                <a:spcPts val="150"/>
              </a:spcAft>
            </a:pPr>
            <a:r>
              <a:rPr sz="1239" b="1">
                <a:solidFill>
                  <a:srgbClr val="FFFFFF"/>
                </a:solidFill>
                <a:latin typeface="Calibri"/>
              </a:rPr>
              <a:t>Capability</a:t>
            </a:r>
          </a:p>
        </p:txBody>
      </p:sp>
      <p:sp>
        <p:nvSpPr>
          <p:cNvPr id="13" name="Rectangle 12"/>
          <p:cNvSpPr/>
          <p:nvPr/>
        </p:nvSpPr>
        <p:spPr>
          <a:xfrm>
            <a:off x="7029450" y="1337310"/>
            <a:ext cx="1680210" cy="630936"/>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4" name="TextBox 13"/>
          <p:cNvSpPr txBox="1"/>
          <p:nvPr/>
        </p:nvSpPr>
        <p:spPr>
          <a:xfrm>
            <a:off x="7084314" y="1562209"/>
            <a:ext cx="1570482" cy="181140"/>
          </a:xfrm>
          <a:prstGeom prst="rect">
            <a:avLst/>
          </a:prstGeom>
          <a:noFill/>
        </p:spPr>
        <p:txBody>
          <a:bodyPr wrap="square" lIns="0" tIns="0" rIns="0" bIns="0" anchor="ctr">
            <a:spAutoFit/>
          </a:bodyPr>
          <a:lstStyle/>
          <a:p>
            <a:pPr algn="ctr">
              <a:lnSpc>
                <a:spcPct val="95000"/>
              </a:lnSpc>
              <a:spcAft>
                <a:spcPts val="150"/>
              </a:spcAft>
            </a:pPr>
            <a:r>
              <a:rPr sz="1239" b="1">
                <a:solidFill>
                  <a:srgbClr val="FFFFFF"/>
                </a:solidFill>
                <a:latin typeface="Calibri"/>
              </a:rPr>
              <a:t>Viability</a:t>
            </a:r>
          </a:p>
        </p:txBody>
      </p:sp>
      <p:sp>
        <p:nvSpPr>
          <p:cNvPr id="15" name="Rectangle 14"/>
          <p:cNvSpPr/>
          <p:nvPr/>
        </p:nvSpPr>
        <p:spPr>
          <a:xfrm>
            <a:off x="411480" y="1968246"/>
            <a:ext cx="1165860" cy="630936"/>
          </a:xfrm>
          <a:prstGeom prst="rect">
            <a:avLst/>
          </a:prstGeom>
          <a:solidFill>
            <a:srgbClr val="DC2626"/>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TextBox 15"/>
          <p:cNvSpPr txBox="1"/>
          <p:nvPr/>
        </p:nvSpPr>
        <p:spPr>
          <a:xfrm>
            <a:off x="466344" y="2185033"/>
            <a:ext cx="1056132" cy="197362"/>
          </a:xfrm>
          <a:prstGeom prst="rect">
            <a:avLst/>
          </a:prstGeom>
          <a:noFill/>
        </p:spPr>
        <p:txBody>
          <a:bodyPr wrap="square" lIns="0" tIns="0" rIns="0" bIns="0" anchor="ctr">
            <a:spAutoFit/>
          </a:bodyPr>
          <a:lstStyle/>
          <a:p>
            <a:pPr>
              <a:lnSpc>
                <a:spcPct val="95000"/>
              </a:lnSpc>
              <a:spcAft>
                <a:spcPts val="150"/>
              </a:spcAft>
            </a:pPr>
            <a:endParaRPr sz="1350"/>
          </a:p>
        </p:txBody>
      </p:sp>
      <p:sp>
        <p:nvSpPr>
          <p:cNvPr id="17" name="Rectangle 16"/>
          <p:cNvSpPr/>
          <p:nvPr/>
        </p:nvSpPr>
        <p:spPr>
          <a:xfrm>
            <a:off x="1577340" y="1968246"/>
            <a:ext cx="1954530" cy="630936"/>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8" name="TextBox 17"/>
          <p:cNvSpPr txBox="1"/>
          <p:nvPr/>
        </p:nvSpPr>
        <p:spPr>
          <a:xfrm>
            <a:off x="1632204" y="2193145"/>
            <a:ext cx="1844802" cy="181140"/>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Calibri"/>
              </a:rPr>
              <a:t>State / SASAC + Party</a:t>
            </a:r>
          </a:p>
        </p:txBody>
      </p:sp>
      <p:sp>
        <p:nvSpPr>
          <p:cNvPr id="19" name="Rectangle 18"/>
          <p:cNvSpPr/>
          <p:nvPr/>
        </p:nvSpPr>
        <p:spPr>
          <a:xfrm>
            <a:off x="3531870" y="1968246"/>
            <a:ext cx="1748790" cy="630936"/>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0" name="TextBox 19"/>
          <p:cNvSpPr txBox="1"/>
          <p:nvPr/>
        </p:nvSpPr>
        <p:spPr>
          <a:xfrm>
            <a:off x="3586734" y="2089751"/>
            <a:ext cx="1639062" cy="387927"/>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Calibri"/>
              </a:rPr>
              <a:t>JV dividends</a:t>
            </a:r>
          </a:p>
          <a:p>
            <a:pPr algn="ctr">
              <a:lnSpc>
                <a:spcPct val="95000"/>
              </a:lnSpc>
              <a:spcAft>
                <a:spcPts val="150"/>
              </a:spcAft>
            </a:pPr>
            <a:r>
              <a:rPr sz="1239">
                <a:solidFill>
                  <a:srgbClr val="0F172A"/>
                </a:solidFill>
                <a:latin typeface="Calibri"/>
              </a:rPr>
              <a:t>(capital-light)</a:t>
            </a:r>
          </a:p>
        </p:txBody>
      </p:sp>
      <p:sp>
        <p:nvSpPr>
          <p:cNvPr id="21" name="Rectangle 20"/>
          <p:cNvSpPr/>
          <p:nvPr/>
        </p:nvSpPr>
        <p:spPr>
          <a:xfrm>
            <a:off x="5280660" y="1968246"/>
            <a:ext cx="1748790" cy="630936"/>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2" name="TextBox 21"/>
          <p:cNvSpPr txBox="1"/>
          <p:nvPr/>
        </p:nvSpPr>
        <p:spPr>
          <a:xfrm>
            <a:off x="5335524" y="2193145"/>
            <a:ext cx="1639062" cy="181140"/>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Calibri"/>
              </a:rPr>
              <a:t>Mandatory transfer</a:t>
            </a:r>
          </a:p>
        </p:txBody>
      </p:sp>
      <p:sp>
        <p:nvSpPr>
          <p:cNvPr id="23" name="Rectangle 22"/>
          <p:cNvSpPr/>
          <p:nvPr/>
        </p:nvSpPr>
        <p:spPr>
          <a:xfrm>
            <a:off x="7029450" y="1968246"/>
            <a:ext cx="1680210" cy="630936"/>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4" name="TextBox 23"/>
          <p:cNvSpPr txBox="1"/>
          <p:nvPr/>
        </p:nvSpPr>
        <p:spPr>
          <a:xfrm>
            <a:off x="7084314" y="2193145"/>
            <a:ext cx="1570482" cy="181140"/>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Calibri"/>
              </a:rPr>
              <a:t>Most exposed</a:t>
            </a:r>
          </a:p>
        </p:txBody>
      </p:sp>
      <p:sp>
        <p:nvSpPr>
          <p:cNvPr id="25" name="Rectangle 24"/>
          <p:cNvSpPr/>
          <p:nvPr/>
        </p:nvSpPr>
        <p:spPr>
          <a:xfrm>
            <a:off x="411480" y="2599182"/>
            <a:ext cx="1165860" cy="630936"/>
          </a:xfrm>
          <a:prstGeom prst="rect">
            <a:avLst/>
          </a:prstGeom>
          <a:solidFill>
            <a:srgbClr val="2563EB"/>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6" name="TextBox 25"/>
          <p:cNvSpPr txBox="1"/>
          <p:nvPr/>
        </p:nvSpPr>
        <p:spPr>
          <a:xfrm>
            <a:off x="466344" y="2815969"/>
            <a:ext cx="1056132" cy="197362"/>
          </a:xfrm>
          <a:prstGeom prst="rect">
            <a:avLst/>
          </a:prstGeom>
          <a:noFill/>
        </p:spPr>
        <p:txBody>
          <a:bodyPr wrap="square" lIns="0" tIns="0" rIns="0" bIns="0" anchor="ctr">
            <a:spAutoFit/>
          </a:bodyPr>
          <a:lstStyle/>
          <a:p>
            <a:pPr>
              <a:lnSpc>
                <a:spcPct val="95000"/>
              </a:lnSpc>
              <a:spcAft>
                <a:spcPts val="150"/>
              </a:spcAft>
            </a:pPr>
            <a:endParaRPr sz="1350"/>
          </a:p>
        </p:txBody>
      </p:sp>
      <p:sp>
        <p:nvSpPr>
          <p:cNvPr id="27" name="Rectangle 26"/>
          <p:cNvSpPr/>
          <p:nvPr/>
        </p:nvSpPr>
        <p:spPr>
          <a:xfrm>
            <a:off x="1577340" y="2599182"/>
            <a:ext cx="1954530" cy="630936"/>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28" name="TextBox 27"/>
          <p:cNvSpPr txBox="1"/>
          <p:nvPr/>
        </p:nvSpPr>
        <p:spPr>
          <a:xfrm>
            <a:off x="1632204" y="2720687"/>
            <a:ext cx="1844802" cy="387927"/>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Calibri"/>
              </a:rPr>
              <a:t>Founder-led</a:t>
            </a:r>
          </a:p>
          <a:p>
            <a:pPr algn="ctr">
              <a:lnSpc>
                <a:spcPct val="95000"/>
              </a:lnSpc>
              <a:spcAft>
                <a:spcPts val="150"/>
              </a:spcAft>
            </a:pPr>
            <a:r>
              <a:rPr sz="1239">
                <a:solidFill>
                  <a:srgbClr val="0F172A"/>
                </a:solidFill>
                <a:latin typeface="Calibri"/>
              </a:rPr>
              <a:t>(Wang ~17%)</a:t>
            </a:r>
          </a:p>
        </p:txBody>
      </p:sp>
      <p:sp>
        <p:nvSpPr>
          <p:cNvPr id="29" name="Rectangle 28"/>
          <p:cNvSpPr/>
          <p:nvPr/>
        </p:nvSpPr>
        <p:spPr>
          <a:xfrm>
            <a:off x="3531870" y="2599182"/>
            <a:ext cx="1748790" cy="630936"/>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0" name="TextBox 29"/>
          <p:cNvSpPr txBox="1"/>
          <p:nvPr/>
        </p:nvSpPr>
        <p:spPr>
          <a:xfrm>
            <a:off x="3586734" y="2720687"/>
            <a:ext cx="1639062" cy="387927"/>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Calibri"/>
              </a:rPr>
              <a:t>Self-financing</a:t>
            </a:r>
          </a:p>
          <a:p>
            <a:pPr algn="ctr">
              <a:lnSpc>
                <a:spcPct val="95000"/>
              </a:lnSpc>
              <a:spcAft>
                <a:spcPts val="150"/>
              </a:spcAft>
            </a:pPr>
            <a:r>
              <a:rPr sz="1239">
                <a:solidFill>
                  <a:srgbClr val="0F172A"/>
                </a:solidFill>
                <a:latin typeface="Calibri"/>
              </a:rPr>
              <a:t>(operating cash)</a:t>
            </a:r>
          </a:p>
        </p:txBody>
      </p:sp>
      <p:sp>
        <p:nvSpPr>
          <p:cNvPr id="31" name="Rectangle 30"/>
          <p:cNvSpPr/>
          <p:nvPr/>
        </p:nvSpPr>
        <p:spPr>
          <a:xfrm>
            <a:off x="5280660" y="2599182"/>
            <a:ext cx="1748790" cy="630936"/>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2" name="TextBox 31"/>
          <p:cNvSpPr txBox="1"/>
          <p:nvPr/>
        </p:nvSpPr>
        <p:spPr>
          <a:xfrm>
            <a:off x="5335524" y="2824081"/>
            <a:ext cx="1639062" cy="181140"/>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Calibri"/>
              </a:rPr>
              <a:t>Organic build</a:t>
            </a:r>
          </a:p>
        </p:txBody>
      </p:sp>
      <p:sp>
        <p:nvSpPr>
          <p:cNvPr id="33" name="Rectangle 32"/>
          <p:cNvSpPr/>
          <p:nvPr/>
        </p:nvSpPr>
        <p:spPr>
          <a:xfrm>
            <a:off x="7029450" y="2599182"/>
            <a:ext cx="1680210" cy="630936"/>
          </a:xfrm>
          <a:prstGeom prst="rect">
            <a:avLst/>
          </a:prstGeom>
          <a:solidFill>
            <a:srgbClr val="EEF2F7"/>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4" name="TextBox 33"/>
          <p:cNvSpPr txBox="1"/>
          <p:nvPr/>
        </p:nvSpPr>
        <p:spPr>
          <a:xfrm>
            <a:off x="7084314" y="2824081"/>
            <a:ext cx="1570482" cy="181140"/>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Calibri"/>
              </a:rPr>
              <a:t>Strongest</a:t>
            </a:r>
          </a:p>
        </p:txBody>
      </p:sp>
      <p:sp>
        <p:nvSpPr>
          <p:cNvPr id="35" name="Rectangle 34"/>
          <p:cNvSpPr/>
          <p:nvPr/>
        </p:nvSpPr>
        <p:spPr>
          <a:xfrm>
            <a:off x="411480" y="3230118"/>
            <a:ext cx="1165860" cy="630936"/>
          </a:xfrm>
          <a:prstGeom prst="rect">
            <a:avLst/>
          </a:prstGeom>
          <a:solidFill>
            <a:srgbClr val="06B6D4"/>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6" name="TextBox 35"/>
          <p:cNvSpPr txBox="1"/>
          <p:nvPr/>
        </p:nvSpPr>
        <p:spPr>
          <a:xfrm>
            <a:off x="466344" y="3446905"/>
            <a:ext cx="1056132" cy="197362"/>
          </a:xfrm>
          <a:prstGeom prst="rect">
            <a:avLst/>
          </a:prstGeom>
          <a:noFill/>
        </p:spPr>
        <p:txBody>
          <a:bodyPr wrap="square" lIns="0" tIns="0" rIns="0" bIns="0" anchor="ctr">
            <a:spAutoFit/>
          </a:bodyPr>
          <a:lstStyle/>
          <a:p>
            <a:pPr>
              <a:lnSpc>
                <a:spcPct val="95000"/>
              </a:lnSpc>
              <a:spcAft>
                <a:spcPts val="150"/>
              </a:spcAft>
            </a:pPr>
            <a:endParaRPr sz="1350"/>
          </a:p>
        </p:txBody>
      </p:sp>
      <p:sp>
        <p:nvSpPr>
          <p:cNvPr id="37" name="Rectangle 36"/>
          <p:cNvSpPr/>
          <p:nvPr/>
        </p:nvSpPr>
        <p:spPr>
          <a:xfrm>
            <a:off x="1577340" y="3230118"/>
            <a:ext cx="1954530" cy="630936"/>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8" name="TextBox 37"/>
          <p:cNvSpPr txBox="1"/>
          <p:nvPr/>
        </p:nvSpPr>
        <p:spPr>
          <a:xfrm>
            <a:off x="1632204" y="3351623"/>
            <a:ext cx="1844802" cy="387927"/>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Calibri"/>
              </a:rPr>
              <a:t>Founder-led</a:t>
            </a:r>
          </a:p>
          <a:p>
            <a:pPr algn="ctr">
              <a:lnSpc>
                <a:spcPct val="95000"/>
              </a:lnSpc>
              <a:spcAft>
                <a:spcPts val="150"/>
              </a:spcAft>
            </a:pPr>
            <a:r>
              <a:rPr sz="1239">
                <a:solidFill>
                  <a:srgbClr val="0F172A"/>
                </a:solidFill>
                <a:latin typeface="Calibri"/>
              </a:rPr>
              <a:t>(Li ~41%)</a:t>
            </a:r>
          </a:p>
        </p:txBody>
      </p:sp>
      <p:sp>
        <p:nvSpPr>
          <p:cNvPr id="39" name="Rectangle 38"/>
          <p:cNvSpPr/>
          <p:nvPr/>
        </p:nvSpPr>
        <p:spPr>
          <a:xfrm>
            <a:off x="3531870" y="3230118"/>
            <a:ext cx="1748790" cy="630936"/>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0" name="TextBox 39"/>
          <p:cNvSpPr txBox="1"/>
          <p:nvPr/>
        </p:nvSpPr>
        <p:spPr>
          <a:xfrm>
            <a:off x="3586734" y="3455017"/>
            <a:ext cx="1639062" cy="181140"/>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Calibri"/>
              </a:rPr>
              <a:t>Leveraged M&amp;A</a:t>
            </a:r>
          </a:p>
        </p:txBody>
      </p:sp>
      <p:sp>
        <p:nvSpPr>
          <p:cNvPr id="41" name="Rectangle 40"/>
          <p:cNvSpPr/>
          <p:nvPr/>
        </p:nvSpPr>
        <p:spPr>
          <a:xfrm>
            <a:off x="5280660" y="3230118"/>
            <a:ext cx="1748790" cy="630936"/>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2" name="TextBox 41"/>
          <p:cNvSpPr txBox="1"/>
          <p:nvPr/>
        </p:nvSpPr>
        <p:spPr>
          <a:xfrm>
            <a:off x="5335524" y="3455017"/>
            <a:ext cx="1639062" cy="181140"/>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Calibri"/>
              </a:rPr>
              <a:t>Acquisition + co-dev</a:t>
            </a:r>
          </a:p>
        </p:txBody>
      </p:sp>
      <p:sp>
        <p:nvSpPr>
          <p:cNvPr id="43" name="Rectangle 42"/>
          <p:cNvSpPr/>
          <p:nvPr/>
        </p:nvSpPr>
        <p:spPr>
          <a:xfrm>
            <a:off x="7029450" y="3230118"/>
            <a:ext cx="1680210" cy="630936"/>
          </a:xfrm>
          <a:prstGeom prst="rect">
            <a:avLst/>
          </a:prstGeom>
          <a:solidFill>
            <a:srgbClr val="FFFFFF"/>
          </a:solidFill>
          <a:ln w="635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44" name="TextBox 43"/>
          <p:cNvSpPr txBox="1"/>
          <p:nvPr/>
        </p:nvSpPr>
        <p:spPr>
          <a:xfrm>
            <a:off x="7084314" y="3455017"/>
            <a:ext cx="1570482" cy="181140"/>
          </a:xfrm>
          <a:prstGeom prst="rect">
            <a:avLst/>
          </a:prstGeom>
          <a:noFill/>
        </p:spPr>
        <p:txBody>
          <a:bodyPr wrap="square" lIns="0" tIns="0" rIns="0" bIns="0" anchor="ctr">
            <a:spAutoFit/>
          </a:bodyPr>
          <a:lstStyle/>
          <a:p>
            <a:pPr algn="ctr">
              <a:lnSpc>
                <a:spcPct val="95000"/>
              </a:lnSpc>
              <a:spcAft>
                <a:spcPts val="150"/>
              </a:spcAft>
            </a:pPr>
            <a:r>
              <a:rPr sz="1239">
                <a:solidFill>
                  <a:srgbClr val="0F172A"/>
                </a:solidFill>
                <a:latin typeface="Calibri"/>
              </a:rPr>
              <a:t>Most asymmetric</a:t>
            </a:r>
          </a:p>
        </p:txBody>
      </p:sp>
      <p:sp>
        <p:nvSpPr>
          <p:cNvPr id="45" name="TextBox 44"/>
          <p:cNvSpPr txBox="1"/>
          <p:nvPr/>
        </p:nvSpPr>
        <p:spPr>
          <a:xfrm>
            <a:off x="411480" y="2188368"/>
            <a:ext cx="1165860" cy="190693"/>
          </a:xfrm>
          <a:prstGeom prst="rect">
            <a:avLst/>
          </a:prstGeom>
          <a:noFill/>
        </p:spPr>
        <p:txBody>
          <a:bodyPr wrap="square" lIns="0" tIns="0" rIns="0" bIns="0" anchor="ctr">
            <a:spAutoFit/>
          </a:bodyPr>
          <a:lstStyle/>
          <a:p>
            <a:pPr algn="ctr">
              <a:spcAft>
                <a:spcPts val="150"/>
              </a:spcAft>
            </a:pPr>
            <a:r>
              <a:rPr sz="1239" b="1">
                <a:solidFill>
                  <a:srgbClr val="FFFFFF"/>
                </a:solidFill>
                <a:latin typeface="Calibri"/>
              </a:rPr>
              <a:t>SAIC</a:t>
            </a:r>
          </a:p>
        </p:txBody>
      </p:sp>
      <p:sp>
        <p:nvSpPr>
          <p:cNvPr id="46" name="TextBox 45"/>
          <p:cNvSpPr txBox="1"/>
          <p:nvPr/>
        </p:nvSpPr>
        <p:spPr>
          <a:xfrm>
            <a:off x="411480" y="2819304"/>
            <a:ext cx="1165860" cy="190693"/>
          </a:xfrm>
          <a:prstGeom prst="rect">
            <a:avLst/>
          </a:prstGeom>
          <a:noFill/>
        </p:spPr>
        <p:txBody>
          <a:bodyPr wrap="square" lIns="0" tIns="0" rIns="0" bIns="0" anchor="ctr">
            <a:spAutoFit/>
          </a:bodyPr>
          <a:lstStyle/>
          <a:p>
            <a:pPr algn="ctr">
              <a:spcAft>
                <a:spcPts val="150"/>
              </a:spcAft>
            </a:pPr>
            <a:r>
              <a:rPr sz="1239" b="1">
                <a:solidFill>
                  <a:srgbClr val="FFFFFF"/>
                </a:solidFill>
                <a:latin typeface="Calibri"/>
              </a:rPr>
              <a:t>BYD</a:t>
            </a:r>
          </a:p>
        </p:txBody>
      </p:sp>
      <p:sp>
        <p:nvSpPr>
          <p:cNvPr id="47" name="TextBox 46"/>
          <p:cNvSpPr txBox="1"/>
          <p:nvPr/>
        </p:nvSpPr>
        <p:spPr>
          <a:xfrm>
            <a:off x="411480" y="3450240"/>
            <a:ext cx="1165860" cy="190693"/>
          </a:xfrm>
          <a:prstGeom prst="rect">
            <a:avLst/>
          </a:prstGeom>
          <a:noFill/>
        </p:spPr>
        <p:txBody>
          <a:bodyPr wrap="square" lIns="0" tIns="0" rIns="0" bIns="0" anchor="ctr">
            <a:spAutoFit/>
          </a:bodyPr>
          <a:lstStyle/>
          <a:p>
            <a:pPr algn="ctr">
              <a:spcAft>
                <a:spcPts val="150"/>
              </a:spcAft>
            </a:pPr>
            <a:r>
              <a:rPr sz="1239" b="1">
                <a:solidFill>
                  <a:srgbClr val="FFFFFF"/>
                </a:solidFill>
                <a:latin typeface="Calibri"/>
              </a:rPr>
              <a:t>Geely</a:t>
            </a:r>
          </a:p>
        </p:txBody>
      </p:sp>
      <p:sp>
        <p:nvSpPr>
          <p:cNvPr id="48" name="TextBox 47"/>
          <p:cNvSpPr txBox="1"/>
          <p:nvPr/>
        </p:nvSpPr>
        <p:spPr>
          <a:xfrm>
            <a:off x="411480" y="4080511"/>
            <a:ext cx="8298180" cy="378373"/>
          </a:xfrm>
          <a:prstGeom prst="rect">
            <a:avLst/>
          </a:prstGeom>
          <a:noFill/>
        </p:spPr>
        <p:txBody>
          <a:bodyPr wrap="square" lIns="0" tIns="0" rIns="0" bIns="0" anchor="t">
            <a:spAutoFit/>
          </a:bodyPr>
          <a:lstStyle/>
          <a:p>
            <a:pPr>
              <a:lnSpc>
                <a:spcPct val="105000"/>
              </a:lnSpc>
              <a:spcAft>
                <a:spcPts val="150"/>
              </a:spcAft>
            </a:pPr>
            <a:r>
              <a:rPr sz="1195" b="1">
                <a:solidFill>
                  <a:srgbClr val="0F172A"/>
                </a:solidFill>
                <a:latin typeface="Calibri"/>
              </a:rPr>
              <a:t>Reading the matrix: the same firm that is least adaptable in governance is also the most exposed in viability — the columns are linked, not independent.</a:t>
            </a:r>
          </a:p>
        </p:txBody>
      </p:sp>
      <p:sp>
        <p:nvSpPr>
          <p:cNvPr id="49" name="TextBox 48"/>
          <p:cNvSpPr txBox="1"/>
          <p:nvPr/>
        </p:nvSpPr>
        <p:spPr>
          <a:xfrm>
            <a:off x="411480" y="4649724"/>
            <a:ext cx="8298180" cy="149721"/>
          </a:xfrm>
          <a:prstGeom prst="rect">
            <a:avLst/>
          </a:prstGeom>
          <a:noFill/>
        </p:spPr>
        <p:txBody>
          <a:bodyPr wrap="square" lIns="0" tIns="0" rIns="0" bIns="0" anchor="t">
            <a:spAutoFit/>
          </a:bodyPr>
          <a:lstStyle/>
          <a:p>
            <a:pPr>
              <a:spcAft>
                <a:spcPts val="150"/>
              </a:spcAft>
            </a:pPr>
            <a:r>
              <a:rPr sz="973" i="1">
                <a:solidFill>
                  <a:srgbClr val="64748B"/>
                </a:solidFill>
                <a:latin typeface="Calibri"/>
              </a:rPr>
              <a:t>Theoretical anchors: Shleifer &amp; Vishny (1994) · Megginson &amp; Netter (2001) · Teece et al. (1997) · Luo &amp; Tung (2007) · Fan et al. (2007)</a:t>
            </a:r>
          </a:p>
        </p:txBody>
      </p:sp>
      <p:sp>
        <p:nvSpPr>
          <p:cNvPr id="50" name="TextBox 49"/>
          <p:cNvSpPr txBox="1"/>
          <p:nvPr/>
        </p:nvSpPr>
        <p:spPr>
          <a:xfrm>
            <a:off x="411480" y="4855464"/>
            <a:ext cx="6172200" cy="142988"/>
          </a:xfrm>
          <a:prstGeom prst="rect">
            <a:avLst/>
          </a:prstGeom>
          <a:noFill/>
        </p:spPr>
        <p:txBody>
          <a:bodyPr wrap="square" lIns="0" tIns="0" rIns="0" bIns="0" anchor="t">
            <a:spAutoFit/>
          </a:bodyPr>
          <a:lstStyle/>
          <a:p>
            <a:pPr>
              <a:spcAft>
                <a:spcPts val="150"/>
              </a:spcAft>
            </a:pPr>
            <a:r>
              <a:rPr sz="929">
                <a:solidFill>
                  <a:srgbClr val="64748B"/>
                </a:solidFill>
                <a:latin typeface="Calibri"/>
              </a:rPr>
              <a:t>China Strategies in the Automotive Industry  ·  Session 6</a:t>
            </a:r>
          </a:p>
        </p:txBody>
      </p:sp>
      <p:sp>
        <p:nvSpPr>
          <p:cNvPr id="51" name="TextBox 50"/>
          <p:cNvSpPr txBox="1"/>
          <p:nvPr/>
        </p:nvSpPr>
        <p:spPr>
          <a:xfrm>
            <a:off x="8046491" y="4855464"/>
            <a:ext cx="685800" cy="142988"/>
          </a:xfrm>
          <a:prstGeom prst="rect">
            <a:avLst/>
          </a:prstGeom>
          <a:noFill/>
        </p:spPr>
        <p:txBody>
          <a:bodyPr wrap="square" lIns="0" tIns="0" rIns="0" bIns="0" anchor="t">
            <a:spAutoFit/>
          </a:bodyPr>
          <a:lstStyle/>
          <a:p>
            <a:pPr algn="r">
              <a:spcAft>
                <a:spcPts val="150"/>
              </a:spcAft>
            </a:pPr>
            <a:r>
              <a:rPr sz="929">
                <a:solidFill>
                  <a:srgbClr val="64748B"/>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GOVERNANCE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Who controls the firm decides what it optimizes — and how fast it can act</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00200"/>
            <a:ext cx="2560320" cy="457200"/>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612648" y="1618488"/>
            <a:ext cx="2340864"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SAIC Motor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12648" y="1847088"/>
            <a:ext cx="2340864"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State / dual principal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502920" y="2057400"/>
            <a:ext cx="2560320" cy="2331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640080" y="2194560"/>
            <a:ext cx="2286000" cy="2103120"/>
          </a:xfrm>
          <a:prstGeom prst="rect">
            <a:avLst/>
          </a:prstGeom>
          <a:noFill/>
          <a:ln/>
        </p:spPr>
        <p:txBody>
          <a:bodyPr wrap="square" rtlCol="0" anchor="t"/>
          <a:lstStyle/>
          <a:p>
            <a:pPr marR="0" lvl="0" algn="l" defTabSz="914400" rtl="0" eaLnBrk="1" fontAlgn="auto" latinLnBrk="0" hangingPunct="1">
              <a:lnSpc>
                <a:spcPct val="100000"/>
              </a:lnSpc>
              <a:spcBef>
                <a:spcPts val="0"/>
              </a:spcBef>
              <a:spcAft>
                <a:spcPts val="900"/>
              </a:spcAft>
              <a:buClrTx/>
              <a:buSzPct val="100000"/>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State share ~73% + CCP “two consistencies” mandate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50/50 JV boards need bilateral consent</a:t>
            </a:r>
          </a:p>
          <a:p>
            <a:pPr>
              <a:spcAft>
                <a:spcPts val="900"/>
              </a:spcAft>
              <a:defRPr/>
            </a:pPr>
            <a:r>
              <a:rPr lang="en-US" sz="1200" dirty="0">
                <a:solidFill>
                  <a:srgbClr val="0F172A"/>
                </a:solidFill>
              </a:rPr>
              <a:t>Cannot exit unprofitable JVs without state sign-off</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Slow capital reallocation → strategic rigidity</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3291840" y="1600200"/>
            <a:ext cx="2560320" cy="45720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3401568" y="1618488"/>
            <a:ext cx="2340864"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BYD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3401568" y="1847088"/>
            <a:ext cx="2340864"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Founder-controlled</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3291840" y="2057400"/>
            <a:ext cx="2560320" cy="2331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3429000" y="2194560"/>
            <a:ext cx="2286000" cy="2103120"/>
          </a:xfrm>
          <a:prstGeom prst="rect">
            <a:avLst/>
          </a:prstGeom>
          <a:noFill/>
          <a:ln/>
        </p:spPr>
        <p:txBody>
          <a:bodyPr wrap="square" rtlCol="0" anchor="t"/>
          <a:lstStyle/>
          <a:p>
            <a:pPr marR="0" lvl="0" algn="l" defTabSz="914400" rtl="0" eaLnBrk="1" fontAlgn="auto" latinLnBrk="0" hangingPunct="1">
              <a:lnSpc>
                <a:spcPct val="100000"/>
              </a:lnSpc>
              <a:spcBef>
                <a:spcPts val="0"/>
              </a:spcBef>
              <a:spcAft>
                <a:spcPts val="900"/>
              </a:spcAft>
              <a:buClrTx/>
              <a:buSzPct val="100000"/>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Wang Chuanfu ~17%; founding team &gt;1/3 votes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One-share-one-vote, no party committee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Unilateral speed: full ICE exit in 2022</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6080760" y="1600200"/>
            <a:ext cx="2560320" cy="457200"/>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6190488" y="1618488"/>
            <a:ext cx="2340864"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Geely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6190488" y="1847088"/>
            <a:ext cx="2340864"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Founder apex (ZGH)</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6080760" y="2057400"/>
            <a:ext cx="2560320" cy="2331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217920" y="2194560"/>
            <a:ext cx="2286000" cy="2103120"/>
          </a:xfrm>
          <a:prstGeom prst="rect">
            <a:avLst/>
          </a:prstGeom>
          <a:noFill/>
          <a:ln/>
        </p:spPr>
        <p:txBody>
          <a:bodyPr wrap="square" rtlCol="0" anchor="t"/>
          <a:lstStyle/>
          <a:p>
            <a:pPr marR="0" lvl="0" algn="l" defTabSz="914400" rtl="0" eaLnBrk="1" fontAlgn="auto" latinLnBrk="0" hangingPunct="1">
              <a:lnSpc>
                <a:spcPct val="100000"/>
              </a:lnSpc>
              <a:spcBef>
                <a:spcPts val="0"/>
              </a:spcBef>
              <a:spcAft>
                <a:spcPts val="900"/>
              </a:spcAft>
              <a:buClrTx/>
              <a:buSzPct val="100000"/>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Li Shufu controls unlisted ZGH apex</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spcAft>
                <a:spcPts val="900"/>
              </a:spcAf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Agile cross-border acquisitions, </a:t>
            </a:r>
            <a:r>
              <a:rPr lang="en-US" sz="1200" dirty="0">
                <a:solidFill>
                  <a:srgbClr val="0F172A"/>
                </a:solidFill>
              </a:rPr>
              <a:t>but coordination cost across brands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90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Cost: multi-brand coordination</a:t>
            </a:r>
          </a:p>
          <a:p>
            <a:pPr>
              <a:spcAft>
                <a:spcPts val="900"/>
              </a:spcAft>
              <a:defRPr/>
            </a:pPr>
            <a:r>
              <a:rPr lang="de-DE" sz="1200" dirty="0">
                <a:solidFill>
                  <a:srgbClr val="0F172A"/>
                </a:solidFill>
              </a:rPr>
              <a:t>Volvo / Polestar / Lotus </a:t>
            </a:r>
            <a:r>
              <a:rPr lang="de-DE" sz="1200" dirty="0" err="1">
                <a:solidFill>
                  <a:srgbClr val="0F172A"/>
                </a:solidFill>
              </a:rPr>
              <a:t>add</a:t>
            </a:r>
            <a:r>
              <a:rPr lang="de-DE" sz="1200" dirty="0">
                <a:solidFill>
                  <a:srgbClr val="0F172A"/>
                </a:solidFill>
              </a:rPr>
              <a:t> </a:t>
            </a:r>
            <a:r>
              <a:rPr lang="de-DE" sz="1200" dirty="0" err="1">
                <a:solidFill>
                  <a:srgbClr val="0F172A"/>
                </a:solidFill>
              </a:rPr>
              <a:t>complexity</a:t>
            </a:r>
            <a:endParaRPr lang="de-DE" sz="1200" dirty="0">
              <a:solidFill>
                <a:srgbClr val="0F172A"/>
              </a:solidFill>
            </a:endParaRPr>
          </a:p>
          <a:p>
            <a:pPr marL="0" marR="0" lvl="0" indent="0" algn="l" defTabSz="914400" rtl="0" eaLnBrk="1" fontAlgn="auto" latinLnBrk="0" hangingPunct="1">
              <a:lnSpc>
                <a:spcPct val="100000"/>
              </a:lnSpc>
              <a:spcBef>
                <a:spcPts val="0"/>
              </a:spcBef>
              <a:spcAft>
                <a:spcPts val="900"/>
              </a:spcAft>
              <a:buClrTx/>
              <a:buSzTx/>
              <a:buFontTx/>
              <a:buNone/>
              <a:tabLst/>
              <a:defRPr/>
            </a:pP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2920" y="4498848"/>
            <a:ext cx="8138160" cy="29260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Founder control concentrates decision rights with a commercial objective; state and JV control disperses them across political and partner consent.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BYD (2025); SAIC Motor (2026); Geely Automobile Holdings (2025); Zhang et al. (2025).</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dirty="0">
                <a:solidFill>
                  <a:srgbClr val="64748B"/>
                </a:solidFill>
                <a:latin typeface="Arial" pitchFamily="34" charset="0"/>
                <a:cs typeface="Arial" pitchFamily="34" charset="-120"/>
              </a:rPr>
              <a:t>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TextBox 2"/>
          <p:cNvSpPr txBox="1"/>
          <p:nvPr/>
        </p:nvSpPr>
        <p:spPr>
          <a:xfrm>
            <a:off x="411480" y="288036"/>
            <a:ext cx="8298180" cy="190693"/>
          </a:xfrm>
          <a:prstGeom prst="rect">
            <a:avLst/>
          </a:prstGeom>
          <a:noFill/>
        </p:spPr>
        <p:txBody>
          <a:bodyPr wrap="square" lIns="0" tIns="0" rIns="0" bIns="0" anchor="t">
            <a:spAutoFit/>
          </a:bodyPr>
          <a:lstStyle/>
          <a:p>
            <a:pPr>
              <a:spcAft>
                <a:spcPts val="150"/>
              </a:spcAft>
            </a:pPr>
            <a:r>
              <a:rPr sz="1239" b="1">
                <a:solidFill>
                  <a:srgbClr val="2563EB"/>
                </a:solidFill>
                <a:latin typeface="Calibri"/>
              </a:rPr>
              <a:t>DIMENSION 1 · GOVERNANCE SYNTHESIS</a:t>
            </a:r>
          </a:p>
        </p:txBody>
      </p:sp>
      <p:sp>
        <p:nvSpPr>
          <p:cNvPr id="4" name="TextBox 3"/>
          <p:cNvSpPr txBox="1"/>
          <p:nvPr/>
        </p:nvSpPr>
        <p:spPr>
          <a:xfrm>
            <a:off x="411480" y="493776"/>
            <a:ext cx="8298180" cy="311624"/>
          </a:xfrm>
          <a:prstGeom prst="rect">
            <a:avLst/>
          </a:prstGeom>
          <a:noFill/>
        </p:spPr>
        <p:txBody>
          <a:bodyPr wrap="square" lIns="0" tIns="0" rIns="0" bIns="0" anchor="t">
            <a:spAutoFit/>
          </a:bodyPr>
          <a:lstStyle/>
          <a:p>
            <a:pPr>
              <a:spcAft>
                <a:spcPts val="150"/>
              </a:spcAft>
            </a:pPr>
            <a:r>
              <a:rPr sz="2025" b="1">
                <a:solidFill>
                  <a:srgbClr val="0F172A"/>
                </a:solidFill>
                <a:latin typeface="Cambria"/>
              </a:rPr>
              <a:t>The EU tariff gap prices governance risk — a third-party validation</a:t>
            </a:r>
          </a:p>
        </p:txBody>
      </p:sp>
      <p:sp>
        <p:nvSpPr>
          <p:cNvPr id="5" name="Rectangle 4"/>
          <p:cNvSpPr/>
          <p:nvPr/>
        </p:nvSpPr>
        <p:spPr>
          <a:xfrm>
            <a:off x="651510" y="1268730"/>
            <a:ext cx="2468880" cy="1508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651510" y="1268730"/>
            <a:ext cx="2468880" cy="6172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TextBox 6"/>
          <p:cNvSpPr txBox="1"/>
          <p:nvPr/>
        </p:nvSpPr>
        <p:spPr>
          <a:xfrm>
            <a:off x="651510" y="1440181"/>
            <a:ext cx="2468880" cy="507831"/>
          </a:xfrm>
          <a:prstGeom prst="rect">
            <a:avLst/>
          </a:prstGeom>
          <a:noFill/>
        </p:spPr>
        <p:txBody>
          <a:bodyPr wrap="square" lIns="0" tIns="0" rIns="0" bIns="0" anchor="t">
            <a:spAutoFit/>
          </a:bodyPr>
          <a:lstStyle/>
          <a:p>
            <a:pPr algn="ctr">
              <a:spcAft>
                <a:spcPts val="150"/>
              </a:spcAft>
            </a:pPr>
            <a:r>
              <a:rPr sz="3300" b="1">
                <a:solidFill>
                  <a:srgbClr val="DC2626"/>
                </a:solidFill>
                <a:latin typeface="Cambria"/>
              </a:rPr>
              <a:t>35.3%</a:t>
            </a:r>
          </a:p>
        </p:txBody>
      </p:sp>
      <p:sp>
        <p:nvSpPr>
          <p:cNvPr id="8" name="TextBox 7"/>
          <p:cNvSpPr txBox="1"/>
          <p:nvPr/>
        </p:nvSpPr>
        <p:spPr>
          <a:xfrm>
            <a:off x="651510" y="2091690"/>
            <a:ext cx="2468880" cy="217880"/>
          </a:xfrm>
          <a:prstGeom prst="rect">
            <a:avLst/>
          </a:prstGeom>
          <a:noFill/>
        </p:spPr>
        <p:txBody>
          <a:bodyPr wrap="square" lIns="0" tIns="0" rIns="0" bIns="0" anchor="t">
            <a:spAutoFit/>
          </a:bodyPr>
          <a:lstStyle/>
          <a:p>
            <a:pPr algn="ctr">
              <a:spcAft>
                <a:spcPts val="150"/>
              </a:spcAft>
            </a:pPr>
            <a:r>
              <a:rPr sz="1416" b="1">
                <a:solidFill>
                  <a:srgbClr val="0F172A"/>
                </a:solidFill>
                <a:latin typeface="Calibri"/>
              </a:rPr>
              <a:t>SAIC</a:t>
            </a:r>
          </a:p>
        </p:txBody>
      </p:sp>
      <p:sp>
        <p:nvSpPr>
          <p:cNvPr id="9" name="TextBox 8"/>
          <p:cNvSpPr txBox="1"/>
          <p:nvPr/>
        </p:nvSpPr>
        <p:spPr>
          <a:xfrm>
            <a:off x="733806" y="2366010"/>
            <a:ext cx="2304288" cy="379848"/>
          </a:xfrm>
          <a:prstGeom prst="rect">
            <a:avLst/>
          </a:prstGeom>
          <a:noFill/>
        </p:spPr>
        <p:txBody>
          <a:bodyPr wrap="square" lIns="0" tIns="0" rIns="0" bIns="0" anchor="t">
            <a:spAutoFit/>
          </a:bodyPr>
          <a:lstStyle/>
          <a:p>
            <a:pPr algn="ctr">
              <a:spcAft>
                <a:spcPts val="150"/>
              </a:spcAft>
            </a:pPr>
            <a:r>
              <a:rPr sz="1151" i="1">
                <a:solidFill>
                  <a:srgbClr val="64748B"/>
                </a:solidFill>
                <a:latin typeface="Calibri"/>
              </a:rPr>
              <a:t>State-owned;</a:t>
            </a:r>
          </a:p>
          <a:p>
            <a:pPr algn="ctr">
              <a:spcAft>
                <a:spcPts val="150"/>
              </a:spcAft>
            </a:pPr>
            <a:r>
              <a:rPr sz="1151" i="1">
                <a:solidFill>
                  <a:srgbClr val="64748B"/>
                </a:solidFill>
                <a:latin typeface="Calibri"/>
              </a:rPr>
              <a:t>highest subsidy finding</a:t>
            </a:r>
          </a:p>
        </p:txBody>
      </p:sp>
      <p:sp>
        <p:nvSpPr>
          <p:cNvPr id="10" name="Rectangle 9"/>
          <p:cNvSpPr/>
          <p:nvPr/>
        </p:nvSpPr>
        <p:spPr>
          <a:xfrm>
            <a:off x="3291840" y="1268730"/>
            <a:ext cx="2468880" cy="1508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Rectangle 10"/>
          <p:cNvSpPr/>
          <p:nvPr/>
        </p:nvSpPr>
        <p:spPr>
          <a:xfrm>
            <a:off x="3291840" y="1268730"/>
            <a:ext cx="2468880" cy="6172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2" name="TextBox 11"/>
          <p:cNvSpPr txBox="1"/>
          <p:nvPr/>
        </p:nvSpPr>
        <p:spPr>
          <a:xfrm>
            <a:off x="3291840" y="1440181"/>
            <a:ext cx="2468880" cy="507831"/>
          </a:xfrm>
          <a:prstGeom prst="rect">
            <a:avLst/>
          </a:prstGeom>
          <a:noFill/>
        </p:spPr>
        <p:txBody>
          <a:bodyPr wrap="square" lIns="0" tIns="0" rIns="0" bIns="0" anchor="t">
            <a:spAutoFit/>
          </a:bodyPr>
          <a:lstStyle/>
          <a:p>
            <a:pPr algn="ctr">
              <a:spcAft>
                <a:spcPts val="150"/>
              </a:spcAft>
            </a:pPr>
            <a:r>
              <a:rPr sz="3300" b="1">
                <a:solidFill>
                  <a:srgbClr val="2563EB"/>
                </a:solidFill>
                <a:latin typeface="Cambria"/>
              </a:rPr>
              <a:t>17.0%</a:t>
            </a:r>
          </a:p>
        </p:txBody>
      </p:sp>
      <p:sp>
        <p:nvSpPr>
          <p:cNvPr id="13" name="TextBox 12"/>
          <p:cNvSpPr txBox="1"/>
          <p:nvPr/>
        </p:nvSpPr>
        <p:spPr>
          <a:xfrm>
            <a:off x="3291840" y="2091690"/>
            <a:ext cx="2468880" cy="217880"/>
          </a:xfrm>
          <a:prstGeom prst="rect">
            <a:avLst/>
          </a:prstGeom>
          <a:noFill/>
        </p:spPr>
        <p:txBody>
          <a:bodyPr wrap="square" lIns="0" tIns="0" rIns="0" bIns="0" anchor="t">
            <a:spAutoFit/>
          </a:bodyPr>
          <a:lstStyle/>
          <a:p>
            <a:pPr algn="ctr">
              <a:spcAft>
                <a:spcPts val="150"/>
              </a:spcAft>
            </a:pPr>
            <a:r>
              <a:rPr sz="1416" b="1">
                <a:solidFill>
                  <a:srgbClr val="0F172A"/>
                </a:solidFill>
                <a:latin typeface="Calibri"/>
              </a:rPr>
              <a:t>BYD</a:t>
            </a:r>
          </a:p>
        </p:txBody>
      </p:sp>
      <p:sp>
        <p:nvSpPr>
          <p:cNvPr id="14" name="TextBox 13"/>
          <p:cNvSpPr txBox="1"/>
          <p:nvPr/>
        </p:nvSpPr>
        <p:spPr>
          <a:xfrm>
            <a:off x="3374136" y="2366010"/>
            <a:ext cx="2304288" cy="379848"/>
          </a:xfrm>
          <a:prstGeom prst="rect">
            <a:avLst/>
          </a:prstGeom>
          <a:noFill/>
        </p:spPr>
        <p:txBody>
          <a:bodyPr wrap="square" lIns="0" tIns="0" rIns="0" bIns="0" anchor="t">
            <a:spAutoFit/>
          </a:bodyPr>
          <a:lstStyle/>
          <a:p>
            <a:pPr algn="ctr">
              <a:spcAft>
                <a:spcPts val="150"/>
              </a:spcAft>
            </a:pPr>
            <a:r>
              <a:rPr sz="1151" i="1">
                <a:solidFill>
                  <a:srgbClr val="64748B"/>
                </a:solidFill>
                <a:latin typeface="Calibri"/>
              </a:rPr>
              <a:t>Founder-led;</a:t>
            </a:r>
          </a:p>
          <a:p>
            <a:pPr algn="ctr">
              <a:spcAft>
                <a:spcPts val="150"/>
              </a:spcAft>
            </a:pPr>
            <a:r>
              <a:rPr sz="1151" i="1">
                <a:solidFill>
                  <a:srgbClr val="64748B"/>
                </a:solidFill>
                <a:latin typeface="Calibri"/>
              </a:rPr>
              <a:t>lowest state finding</a:t>
            </a:r>
          </a:p>
        </p:txBody>
      </p:sp>
      <p:sp>
        <p:nvSpPr>
          <p:cNvPr id="15" name="Rectangle 14"/>
          <p:cNvSpPr/>
          <p:nvPr/>
        </p:nvSpPr>
        <p:spPr>
          <a:xfrm>
            <a:off x="5932170" y="1268730"/>
            <a:ext cx="2468880" cy="150876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6" name="Rectangle 15"/>
          <p:cNvSpPr/>
          <p:nvPr/>
        </p:nvSpPr>
        <p:spPr>
          <a:xfrm>
            <a:off x="5932170" y="1268730"/>
            <a:ext cx="2468880" cy="6172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7" name="TextBox 16"/>
          <p:cNvSpPr txBox="1"/>
          <p:nvPr/>
        </p:nvSpPr>
        <p:spPr>
          <a:xfrm>
            <a:off x="5932170" y="1440181"/>
            <a:ext cx="2468880" cy="507831"/>
          </a:xfrm>
          <a:prstGeom prst="rect">
            <a:avLst/>
          </a:prstGeom>
          <a:noFill/>
        </p:spPr>
        <p:txBody>
          <a:bodyPr wrap="square" lIns="0" tIns="0" rIns="0" bIns="0" anchor="t">
            <a:spAutoFit/>
          </a:bodyPr>
          <a:lstStyle/>
          <a:p>
            <a:pPr algn="ctr">
              <a:spcAft>
                <a:spcPts val="150"/>
              </a:spcAft>
            </a:pPr>
            <a:r>
              <a:rPr sz="3300" b="1">
                <a:solidFill>
                  <a:srgbClr val="06B6D4"/>
                </a:solidFill>
                <a:latin typeface="Cambria"/>
              </a:rPr>
              <a:t>18.8%</a:t>
            </a:r>
          </a:p>
        </p:txBody>
      </p:sp>
      <p:sp>
        <p:nvSpPr>
          <p:cNvPr id="18" name="TextBox 17"/>
          <p:cNvSpPr txBox="1"/>
          <p:nvPr/>
        </p:nvSpPr>
        <p:spPr>
          <a:xfrm>
            <a:off x="5932170" y="2091690"/>
            <a:ext cx="2468880" cy="217880"/>
          </a:xfrm>
          <a:prstGeom prst="rect">
            <a:avLst/>
          </a:prstGeom>
          <a:noFill/>
        </p:spPr>
        <p:txBody>
          <a:bodyPr wrap="square" lIns="0" tIns="0" rIns="0" bIns="0" anchor="t">
            <a:spAutoFit/>
          </a:bodyPr>
          <a:lstStyle/>
          <a:p>
            <a:pPr algn="ctr">
              <a:spcAft>
                <a:spcPts val="150"/>
              </a:spcAft>
            </a:pPr>
            <a:r>
              <a:rPr sz="1416" b="1">
                <a:solidFill>
                  <a:srgbClr val="0F172A"/>
                </a:solidFill>
                <a:latin typeface="Calibri"/>
              </a:rPr>
              <a:t>Geely</a:t>
            </a:r>
          </a:p>
        </p:txBody>
      </p:sp>
      <p:sp>
        <p:nvSpPr>
          <p:cNvPr id="19" name="TextBox 18"/>
          <p:cNvSpPr txBox="1"/>
          <p:nvPr/>
        </p:nvSpPr>
        <p:spPr>
          <a:xfrm>
            <a:off x="6014466" y="2366010"/>
            <a:ext cx="2304288" cy="379848"/>
          </a:xfrm>
          <a:prstGeom prst="rect">
            <a:avLst/>
          </a:prstGeom>
          <a:noFill/>
        </p:spPr>
        <p:txBody>
          <a:bodyPr wrap="square" lIns="0" tIns="0" rIns="0" bIns="0" anchor="t">
            <a:spAutoFit/>
          </a:bodyPr>
          <a:lstStyle/>
          <a:p>
            <a:pPr algn="ctr">
              <a:spcAft>
                <a:spcPts val="150"/>
              </a:spcAft>
            </a:pPr>
            <a:r>
              <a:rPr sz="1151" i="1">
                <a:solidFill>
                  <a:srgbClr val="64748B"/>
                </a:solidFill>
                <a:latin typeface="Calibri"/>
              </a:rPr>
              <a:t>Private;</a:t>
            </a:r>
          </a:p>
          <a:p>
            <a:pPr algn="ctr">
              <a:spcAft>
                <a:spcPts val="150"/>
              </a:spcAft>
            </a:pPr>
            <a:r>
              <a:rPr sz="1151" i="1">
                <a:solidFill>
                  <a:srgbClr val="64748B"/>
                </a:solidFill>
                <a:latin typeface="Calibri"/>
              </a:rPr>
              <a:t>moderate state finding</a:t>
            </a:r>
          </a:p>
        </p:txBody>
      </p:sp>
      <p:sp>
        <p:nvSpPr>
          <p:cNvPr id="20" name="TextBox 19"/>
          <p:cNvSpPr txBox="1"/>
          <p:nvPr/>
        </p:nvSpPr>
        <p:spPr>
          <a:xfrm>
            <a:off x="411480" y="3017520"/>
            <a:ext cx="8298180" cy="1243610"/>
          </a:xfrm>
          <a:prstGeom prst="rect">
            <a:avLst/>
          </a:prstGeom>
          <a:noFill/>
        </p:spPr>
        <p:txBody>
          <a:bodyPr wrap="square" lIns="0" tIns="0" rIns="0" bIns="0">
            <a:spAutoFit/>
          </a:bodyPr>
          <a:lstStyle/>
          <a:p>
            <a:pPr>
              <a:lnSpc>
                <a:spcPct val="105000"/>
              </a:lnSpc>
              <a:spcAft>
                <a:spcPts val="675"/>
              </a:spcAft>
            </a:pPr>
            <a:r>
              <a:rPr sz="1328">
                <a:solidFill>
                  <a:srgbClr val="2563EB"/>
                </a:solidFill>
                <a:latin typeface="Calibri"/>
              </a:rPr>
              <a:t>–  </a:t>
            </a:r>
            <a:r>
              <a:rPr sz="1328">
                <a:solidFill>
                  <a:srgbClr val="0F172A"/>
                </a:solidFill>
                <a:latin typeface="Calibri"/>
              </a:rPr>
              <a:t>An independent regulator — the European Commission — priced SAIC's state dependence at an 18.3 pp premium over BYD.</a:t>
            </a:r>
          </a:p>
          <a:p>
            <a:pPr>
              <a:lnSpc>
                <a:spcPct val="105000"/>
              </a:lnSpc>
              <a:spcAft>
                <a:spcPts val="675"/>
              </a:spcAft>
            </a:pPr>
            <a:r>
              <a:rPr sz="1328">
                <a:solidFill>
                  <a:srgbClr val="2563EB"/>
                </a:solidFill>
                <a:latin typeface="Calibri"/>
              </a:rPr>
              <a:t>–  </a:t>
            </a:r>
            <a:r>
              <a:rPr sz="1328">
                <a:solidFill>
                  <a:srgbClr val="0F172A"/>
                </a:solidFill>
                <a:latin typeface="Calibri"/>
              </a:rPr>
              <a:t>Principal-agent hierarchy: JV boards (bilateral consent) &gt; SOE oversight &gt; founder control — adaptability rises down the chain.</a:t>
            </a:r>
          </a:p>
          <a:p>
            <a:pPr>
              <a:lnSpc>
                <a:spcPct val="105000"/>
              </a:lnSpc>
              <a:spcAft>
                <a:spcPts val="675"/>
              </a:spcAft>
            </a:pPr>
            <a:r>
              <a:rPr sz="1328">
                <a:solidFill>
                  <a:srgbClr val="2563EB"/>
                </a:solidFill>
                <a:latin typeface="Calibri"/>
              </a:rPr>
              <a:t>–  </a:t>
            </a:r>
            <a:r>
              <a:rPr sz="1328">
                <a:solidFill>
                  <a:srgbClr val="0F172A"/>
                </a:solidFill>
                <a:latin typeface="Calibri"/>
              </a:rPr>
              <a:t>Core message: governance is a first-order determinant of strategic adaptability, not an administrative footnote.</a:t>
            </a:r>
          </a:p>
        </p:txBody>
      </p:sp>
      <p:sp>
        <p:nvSpPr>
          <p:cNvPr id="21" name="TextBox 20"/>
          <p:cNvSpPr txBox="1"/>
          <p:nvPr/>
        </p:nvSpPr>
        <p:spPr>
          <a:xfrm>
            <a:off x="411480" y="4649724"/>
            <a:ext cx="8298180" cy="149721"/>
          </a:xfrm>
          <a:prstGeom prst="rect">
            <a:avLst/>
          </a:prstGeom>
          <a:noFill/>
        </p:spPr>
        <p:txBody>
          <a:bodyPr wrap="square" lIns="0" tIns="0" rIns="0" bIns="0" anchor="t">
            <a:spAutoFit/>
          </a:bodyPr>
          <a:lstStyle/>
          <a:p>
            <a:pPr>
              <a:spcAft>
                <a:spcPts val="150"/>
              </a:spcAft>
            </a:pPr>
            <a:r>
              <a:rPr sz="973" i="1">
                <a:solidFill>
                  <a:srgbClr val="64748B"/>
                </a:solidFill>
                <a:latin typeface="Calibri"/>
              </a:rPr>
              <a:t>European Commission (2024), Implementing Regulation (EU) 2024/2754 · Megginson &amp; Netter (2001)</a:t>
            </a:r>
          </a:p>
        </p:txBody>
      </p:sp>
      <p:sp>
        <p:nvSpPr>
          <p:cNvPr id="22" name="TextBox 21"/>
          <p:cNvSpPr txBox="1"/>
          <p:nvPr/>
        </p:nvSpPr>
        <p:spPr>
          <a:xfrm>
            <a:off x="411480" y="4855464"/>
            <a:ext cx="6172200" cy="142988"/>
          </a:xfrm>
          <a:prstGeom prst="rect">
            <a:avLst/>
          </a:prstGeom>
          <a:noFill/>
        </p:spPr>
        <p:txBody>
          <a:bodyPr wrap="square" lIns="0" tIns="0" rIns="0" bIns="0" anchor="t">
            <a:spAutoFit/>
          </a:bodyPr>
          <a:lstStyle/>
          <a:p>
            <a:pPr>
              <a:spcAft>
                <a:spcPts val="150"/>
              </a:spcAft>
            </a:pPr>
            <a:r>
              <a:rPr sz="929">
                <a:solidFill>
                  <a:srgbClr val="64748B"/>
                </a:solidFill>
                <a:latin typeface="Calibri"/>
              </a:rPr>
              <a:t>China Strategies in the Automotive Industry  ·  Session 6</a:t>
            </a:r>
          </a:p>
        </p:txBody>
      </p:sp>
      <p:sp>
        <p:nvSpPr>
          <p:cNvPr id="23" name="TextBox 22"/>
          <p:cNvSpPr txBox="1"/>
          <p:nvPr/>
        </p:nvSpPr>
        <p:spPr>
          <a:xfrm>
            <a:off x="8046491" y="4855464"/>
            <a:ext cx="685800" cy="142988"/>
          </a:xfrm>
          <a:prstGeom prst="rect">
            <a:avLst/>
          </a:prstGeom>
          <a:noFill/>
        </p:spPr>
        <p:txBody>
          <a:bodyPr wrap="square" lIns="0" tIns="0" rIns="0" bIns="0" anchor="t">
            <a:spAutoFit/>
          </a:bodyPr>
          <a:lstStyle/>
          <a:p>
            <a:pPr algn="r">
              <a:spcAft>
                <a:spcPts val="150"/>
              </a:spcAft>
            </a:pPr>
            <a:r>
              <a:rPr sz="929">
                <a:solidFill>
                  <a:srgbClr val="64748B"/>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FINANCING</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BYD self-finances and earns the highest returns; SAIC depends on eroding JV rents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2920" y="1554480"/>
            <a:ext cx="475488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Return on equity, FY2024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4160520"/>
            <a:ext cx="4572000" cy="16459"/>
          </a:xfrm>
          <a:prstGeom prst="rect">
            <a:avLst/>
          </a:prstGeom>
          <a:solidFill>
            <a:srgbClr val="CBD5E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005840" y="4111904"/>
            <a:ext cx="868680" cy="48616"/>
          </a:xfrm>
          <a:prstGeom prst="rect">
            <a:avLst/>
          </a:prstGeom>
          <a:solidFill>
            <a:srgbClr val="FF0000"/>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868680" y="3801008"/>
            <a:ext cx="1143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0.58%</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777240" y="4215384"/>
            <a:ext cx="132588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SAIC</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2377440" y="2341626"/>
            <a:ext cx="868680" cy="181889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2240280" y="2030730"/>
            <a:ext cx="1143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DC2626"/>
                </a:solidFill>
                <a:effectLst/>
                <a:uLnTx/>
                <a:uFillTx/>
                <a:latin typeface="Arial" pitchFamily="34" charset="0"/>
                <a:ea typeface="Arial" pitchFamily="34" charset="-122"/>
                <a:cs typeface="Arial" pitchFamily="34" charset="-120"/>
              </a:rPr>
              <a:t>21.7%</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2148840" y="4215384"/>
            <a:ext cx="132588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BYD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3749040" y="2551176"/>
            <a:ext cx="868680" cy="1609344"/>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3611880" y="2240280"/>
            <a:ext cx="114300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19.2%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3520440" y="4215384"/>
            <a:ext cx="132588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Geely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822960" y="2148840"/>
            <a:ext cx="1325880" cy="310896"/>
          </a:xfrm>
          <a:prstGeom prst="roundRect">
            <a:avLst>
              <a:gd name="adj" fmla="val 14706"/>
            </a:avLst>
          </a:prstGeom>
          <a:solidFill>
            <a:srgbClr val="FEF2F2"/>
          </a:solidFill>
          <a:ln w="12700">
            <a:solidFill>
              <a:srgbClr val="DC262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22960" y="2148840"/>
            <a:ext cx="1325880" cy="31089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DC2626"/>
                </a:solidFill>
                <a:effectLst/>
                <a:uLnTx/>
                <a:uFillTx/>
                <a:latin typeface="Arial" pitchFamily="34" charset="0"/>
                <a:ea typeface="Arial" pitchFamily="34" charset="-122"/>
                <a:cs typeface="Arial" pitchFamily="34" charset="-120"/>
              </a:rPr>
              <a:t>BYD ▲ highest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5577840" y="1554480"/>
            <a:ext cx="306324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What the numbers say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Annual reports SAIC / BYD / Geely 2024–2025</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3">
            <a:extLst>
              <a:ext uri="{FF2B5EF4-FFF2-40B4-BE49-F238E27FC236}">
                <a16:creationId xmlns:a16="http://schemas.microsoft.com/office/drawing/2014/main" id="{0F8B9EAE-181B-5F84-27DA-70B4015C070C}"/>
              </a:ext>
            </a:extLst>
          </p:cNvPr>
          <p:cNvSpPr/>
          <p:nvPr/>
        </p:nvSpPr>
        <p:spPr>
          <a:xfrm>
            <a:off x="5394960" y="2240280"/>
            <a:ext cx="3429000" cy="1819870"/>
          </a:xfrm>
          <a:prstGeom prst="rect">
            <a:avLst/>
          </a:prstGeom>
          <a:noFill/>
          <a:ln/>
        </p:spPr>
        <p:txBody>
          <a:bodyPr wrap="square" lIns="88900" tIns="0" rIns="0" bIns="0" rtlCol="0" anchor="t"/>
          <a:lstStyle/>
          <a:p>
            <a:pPr marL="88900" indent="-88900">
              <a:lnSpc>
                <a:spcPts val="1518"/>
              </a:lnSpc>
              <a:spcAft>
                <a:spcPts val="1100"/>
              </a:spcAft>
              <a:buSzPct val="100000"/>
              <a:buChar char="•"/>
            </a:pPr>
            <a:r>
              <a:rPr lang="en-GB" sz="1150" b="1" dirty="0">
                <a:solidFill>
                  <a:srgbClr val="1E293B"/>
                </a:solidFill>
                <a:latin typeface="Arial" pitchFamily="34" charset="0"/>
                <a:ea typeface="Arial" pitchFamily="34" charset="-122"/>
                <a:cs typeface="Arial" pitchFamily="34" charset="-120"/>
              </a:rPr>
              <a:t>SAIC — capital trap: </a:t>
            </a:r>
            <a:r>
              <a:rPr lang="en-GB" sz="1150" dirty="0">
                <a:solidFill>
                  <a:srgbClr val="1E293B"/>
                </a:solidFill>
                <a:latin typeface="Arial" pitchFamily="34" charset="0"/>
                <a:ea typeface="Arial" pitchFamily="34" charset="-122"/>
                <a:cs typeface="Arial" pitchFamily="34" charset="-120"/>
              </a:rPr>
              <a:t>SAIC-GM sales −56.54% (to 435k units) triggered impairments → 2024 net profit −88%, ROE 0.58%; excluding one-offs still negative (−RMB 5.4 bn), bound to absorb losses it cannot restructure</a:t>
            </a:r>
            <a:r>
              <a:rPr lang="en-GB" sz="1150" b="1" dirty="0">
                <a:solidFill>
                  <a:srgbClr val="1E293B"/>
                </a:solidFill>
                <a:latin typeface="Arial" pitchFamily="34" charset="0"/>
                <a:ea typeface="Arial" pitchFamily="34" charset="-122"/>
                <a:cs typeface="Arial" pitchFamily="34" charset="-120"/>
              </a:rPr>
              <a:t>.</a:t>
            </a:r>
          </a:p>
          <a:p>
            <a:pPr marL="88900" indent="-88900">
              <a:lnSpc>
                <a:spcPts val="1518"/>
              </a:lnSpc>
              <a:spcAft>
                <a:spcPts val="1100"/>
              </a:spcAft>
              <a:buSzPct val="100000"/>
              <a:buChar char="•"/>
            </a:pPr>
            <a:r>
              <a:rPr lang="en-US" sz="1150" b="1" dirty="0">
                <a:solidFill>
                  <a:srgbClr val="1E293B"/>
                </a:solidFill>
                <a:latin typeface="Arial" pitchFamily="34" charset="0"/>
                <a:ea typeface="Arial" pitchFamily="34" charset="-122"/>
                <a:cs typeface="Arial" pitchFamily="34" charset="-120"/>
              </a:rPr>
              <a:t>BYD — self-financed:</a:t>
            </a:r>
            <a:r>
              <a:rPr lang="en-US" sz="1150" dirty="0">
                <a:solidFill>
                  <a:srgbClr val="1E293B"/>
                </a:solidFill>
                <a:latin typeface="Arial" pitchFamily="34" charset="0"/>
                <a:ea typeface="Arial" pitchFamily="34" charset="-122"/>
                <a:cs typeface="Arial" pitchFamily="34" charset="-120"/>
              </a:rPr>
              <a:t> R&amp;D (RMB 54.2 bn) exceeded net profit (40.3 bn); no external debt service.</a:t>
            </a:r>
            <a:endParaRPr lang="en-US" sz="1150" dirty="0"/>
          </a:p>
          <a:p>
            <a:pPr marL="88900" indent="-88900" algn="l">
              <a:lnSpc>
                <a:spcPts val="1518"/>
              </a:lnSpc>
              <a:spcAft>
                <a:spcPts val="1100"/>
              </a:spcAft>
              <a:buSzPct val="100000"/>
              <a:buChar char="•"/>
            </a:pPr>
            <a:r>
              <a:rPr lang="en-US" sz="1150" b="1" dirty="0">
                <a:solidFill>
                  <a:srgbClr val="1E293B"/>
                </a:solidFill>
                <a:latin typeface="Arial" pitchFamily="34" charset="0"/>
                <a:ea typeface="Arial" pitchFamily="34" charset="-122"/>
                <a:cs typeface="Arial" pitchFamily="34" charset="-120"/>
              </a:rPr>
              <a:t>Geely — leverage-for-speed:</a:t>
            </a:r>
            <a:r>
              <a:rPr lang="en-US" sz="1150" dirty="0">
                <a:solidFill>
                  <a:srgbClr val="1E293B"/>
                </a:solidFill>
                <a:latin typeface="Arial" pitchFamily="34" charset="0"/>
                <a:ea typeface="Arial" pitchFamily="34" charset="-122"/>
                <a:cs typeface="Arial" pitchFamily="34" charset="-120"/>
              </a:rPr>
              <a:t> highest strategic return, but gearing rose 8.8% → 19.8%.</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FINANCING</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Each financing model places capital risk on a different bearer</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572768"/>
            <a:ext cx="2560320" cy="42062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7" name="Text 5"/>
          <p:cNvSpPr/>
          <p:nvPr/>
        </p:nvSpPr>
        <p:spPr>
          <a:xfrm>
            <a:off x="502920" y="1572768"/>
            <a:ext cx="2560320"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SAIC</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502920" y="2103120"/>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CAPITAL SOURCE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502920" y="2286000"/>
            <a:ext cx="256032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State equity + JV dividends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02920" y="2743200"/>
            <a:ext cx="2560320" cy="2286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94A3B8"/>
                </a:solidFill>
                <a:effectLst/>
                <a:uLnTx/>
                <a:uFillTx/>
                <a:latin typeface="Arial" pitchFamily="34" charset="0"/>
                <a:ea typeface="Arial" pitchFamily="34" charset="-122"/>
                <a:cs typeface="Arial"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2920" y="2962656"/>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RISK BEARER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594360" y="3154680"/>
            <a:ext cx="2377440" cy="384048"/>
          </a:xfrm>
          <a:prstGeom prst="roundRect">
            <a:avLst>
              <a:gd name="adj" fmla="val 11905"/>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594360" y="3154680"/>
            <a:ext cx="237744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State / JV partners (50/50)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548640" y="3639312"/>
            <a:ext cx="2468880" cy="109728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Capital-light by design — but became a capital trap: bound to absorb losses (net profit −88% in FY2024) without control to restructure.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3291840" y="1572768"/>
            <a:ext cx="2560320" cy="42062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3291840" y="1572768"/>
            <a:ext cx="2560320"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BYD</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3291840" y="2103120"/>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CAPITAL SOURCE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291840" y="2286000"/>
            <a:ext cx="256032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Operating cash flow (retained earnings)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3291840" y="2743200"/>
            <a:ext cx="2560320" cy="2286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563EB"/>
                </a:solidFill>
                <a:effectLst/>
                <a:uLnTx/>
                <a:uFillTx/>
                <a:latin typeface="Arial" pitchFamily="34" charset="0"/>
                <a:ea typeface="Arial" pitchFamily="34" charset="-122"/>
                <a:cs typeface="Arial"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3291840" y="2962656"/>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RISK BEARER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3383280" y="3154680"/>
            <a:ext cx="2377440" cy="384048"/>
          </a:xfrm>
          <a:prstGeom prst="roundRect">
            <a:avLst>
              <a:gd name="adj" fmla="val 11905"/>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3383280" y="3154680"/>
            <a:ext cx="237744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Equity holders (founder-led)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3337560" y="3639312"/>
            <a:ext cx="2468880" cy="109728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Self-funded from operations; net-cash, R&amp;D &gt; net profit. Independence from capital markets enables long-horizon reinvestment.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6080760" y="1572768"/>
            <a:ext cx="2560320" cy="420624"/>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6080760" y="1572768"/>
            <a:ext cx="2560320" cy="42062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Geely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6080760" y="2103120"/>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CAPITAL SOURCE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6080760" y="2286000"/>
            <a:ext cx="256032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Debt (acquisition-financed)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080760" y="2743200"/>
            <a:ext cx="2560320" cy="22860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6080760" y="2962656"/>
            <a:ext cx="2560320" cy="20116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dirty="0">
                <a:ln>
                  <a:noFill/>
                </a:ln>
                <a:solidFill>
                  <a:srgbClr val="64748B"/>
                </a:solidFill>
                <a:effectLst/>
                <a:uLnTx/>
                <a:uFillTx/>
                <a:latin typeface="Arial" pitchFamily="34" charset="0"/>
                <a:ea typeface="Arial" pitchFamily="34" charset="-122"/>
                <a:cs typeface="Arial" pitchFamily="34" charset="-120"/>
              </a:rPr>
              <a:t>RISK BEARER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6172200" y="3154680"/>
            <a:ext cx="2377440" cy="384048"/>
          </a:xfrm>
          <a:prstGeom prst="roundRect">
            <a:avLst>
              <a:gd name="adj" fmla="val 11905"/>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6172200" y="3154680"/>
            <a:ext cx="2377440" cy="384048"/>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Debt providers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6126480" y="3639312"/>
            <a:ext cx="2468880" cy="109728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Leverage-for-speed: Volvo and Lynk &amp; Co financed via debt; highest financing risk, contingent on sustained profitability.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SAIC Motor (2025); BYD (2025); Balcet et al. (2012); Geely Automobile Holdings (2026).</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CAPABILITY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Capability mode trades speed against depth — and against independence</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2">
            <a:extLst>
              <a:ext uri="{FF2B5EF4-FFF2-40B4-BE49-F238E27FC236}">
                <a16:creationId xmlns:a16="http://schemas.microsoft.com/office/drawing/2014/main" id="{C9A1B1FD-AF1E-46CB-3630-2B5732D261B0}"/>
              </a:ext>
            </a:extLst>
          </p:cNvPr>
          <p:cNvSpPr/>
          <p:nvPr/>
        </p:nvSpPr>
        <p:spPr>
          <a:xfrm>
            <a:off x="502920" y="1756268"/>
            <a:ext cx="2603450" cy="1905000"/>
          </a:xfrm>
          <a:prstGeom prst="rect">
            <a:avLst/>
          </a:prstGeom>
          <a:solidFill>
            <a:srgbClr val="FEF2F2"/>
          </a:solidFill>
          <a:ln/>
        </p:spPr>
        <p:txBody>
          <a:bodyPr wrap="square" rtlCol="0" anchor="ctr"/>
          <a:lstStyle/>
          <a:p>
            <a:pPr marL="0" indent="0">
              <a:buNone/>
            </a:pPr>
            <a:endParaRPr lang="en-US" dirty="0"/>
          </a:p>
        </p:txBody>
      </p:sp>
      <p:sp>
        <p:nvSpPr>
          <p:cNvPr id="22" name="Shape 3">
            <a:extLst>
              <a:ext uri="{FF2B5EF4-FFF2-40B4-BE49-F238E27FC236}">
                <a16:creationId xmlns:a16="http://schemas.microsoft.com/office/drawing/2014/main" id="{2A70BEAC-9286-9690-C405-DC64A5979208}"/>
              </a:ext>
            </a:extLst>
          </p:cNvPr>
          <p:cNvSpPr/>
          <p:nvPr/>
        </p:nvSpPr>
        <p:spPr>
          <a:xfrm>
            <a:off x="502920" y="1780080"/>
            <a:ext cx="2603450" cy="0"/>
          </a:xfrm>
          <a:prstGeom prst="line">
            <a:avLst/>
          </a:prstGeom>
          <a:noFill/>
          <a:ln w="47625">
            <a:solidFill>
              <a:srgbClr val="DC2626"/>
            </a:solidFill>
            <a:prstDash val="solid"/>
          </a:ln>
        </p:spPr>
        <p:txBody>
          <a:bodyPr/>
          <a:lstStyle/>
          <a:p>
            <a:endParaRPr lang="en-US"/>
          </a:p>
        </p:txBody>
      </p:sp>
      <p:sp>
        <p:nvSpPr>
          <p:cNvPr id="24" name="Text 4">
            <a:extLst>
              <a:ext uri="{FF2B5EF4-FFF2-40B4-BE49-F238E27FC236}">
                <a16:creationId xmlns:a16="http://schemas.microsoft.com/office/drawing/2014/main" id="{FC0326E4-95FC-75F2-34B3-174650F52263}"/>
              </a:ext>
            </a:extLst>
          </p:cNvPr>
          <p:cNvSpPr/>
          <p:nvPr/>
        </p:nvSpPr>
        <p:spPr>
          <a:xfrm>
            <a:off x="693420" y="1981594"/>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Mandatory transfer</a:t>
            </a:r>
            <a:endParaRPr lang="en-US" sz="1400" dirty="0"/>
          </a:p>
        </p:txBody>
      </p:sp>
      <p:sp>
        <p:nvSpPr>
          <p:cNvPr id="26" name="Text 5">
            <a:extLst>
              <a:ext uri="{FF2B5EF4-FFF2-40B4-BE49-F238E27FC236}">
                <a16:creationId xmlns:a16="http://schemas.microsoft.com/office/drawing/2014/main" id="{D6B30FBC-E315-9178-52BA-6D2B2F069F3C}"/>
              </a:ext>
            </a:extLst>
          </p:cNvPr>
          <p:cNvSpPr/>
          <p:nvPr/>
        </p:nvSpPr>
        <p:spPr>
          <a:xfrm>
            <a:off x="693420" y="2241894"/>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JV / quid pro quo</a:t>
            </a:r>
            <a:endParaRPr lang="en-US" sz="1050" dirty="0"/>
          </a:p>
        </p:txBody>
      </p:sp>
      <p:sp>
        <p:nvSpPr>
          <p:cNvPr id="28" name="Text 6">
            <a:extLst>
              <a:ext uri="{FF2B5EF4-FFF2-40B4-BE49-F238E27FC236}">
                <a16:creationId xmlns:a16="http://schemas.microsoft.com/office/drawing/2014/main" id="{AA02312B-EFFC-D05E-FB42-2134F995FC98}"/>
              </a:ext>
            </a:extLst>
          </p:cNvPr>
          <p:cNvSpPr/>
          <p:nvPr/>
        </p:nvSpPr>
        <p:spPr>
          <a:xfrm>
            <a:off x="693420" y="2495795"/>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Foreign tech for market access; an implicit "technology tax" leads firms to withhold their best capabilities (Holmes et al. 2015).</a:t>
            </a:r>
            <a:endParaRPr lang="en-US" sz="1150" dirty="0"/>
          </a:p>
        </p:txBody>
      </p:sp>
      <p:sp>
        <p:nvSpPr>
          <p:cNvPr id="30" name="Text 7">
            <a:extLst>
              <a:ext uri="{FF2B5EF4-FFF2-40B4-BE49-F238E27FC236}">
                <a16:creationId xmlns:a16="http://schemas.microsoft.com/office/drawing/2014/main" id="{8A8592E2-BB6F-0906-CAC1-E6F8BEF557A2}"/>
              </a:ext>
            </a:extLst>
          </p:cNvPr>
          <p:cNvSpPr/>
          <p:nvPr/>
        </p:nvSpPr>
        <p:spPr>
          <a:xfrm>
            <a:off x="3334971" y="1756268"/>
            <a:ext cx="2603450" cy="1905000"/>
          </a:xfrm>
          <a:prstGeom prst="rect">
            <a:avLst/>
          </a:prstGeom>
          <a:solidFill>
            <a:srgbClr val="EFF6FF"/>
          </a:solidFill>
          <a:ln/>
        </p:spPr>
        <p:txBody>
          <a:bodyPr wrap="square" rtlCol="0" anchor="ctr"/>
          <a:lstStyle/>
          <a:p>
            <a:pPr marL="0" indent="0">
              <a:buNone/>
            </a:pPr>
            <a:endParaRPr lang="en-US" dirty="0"/>
          </a:p>
        </p:txBody>
      </p:sp>
      <p:sp>
        <p:nvSpPr>
          <p:cNvPr id="32" name="Shape 8">
            <a:extLst>
              <a:ext uri="{FF2B5EF4-FFF2-40B4-BE49-F238E27FC236}">
                <a16:creationId xmlns:a16="http://schemas.microsoft.com/office/drawing/2014/main" id="{11087EF8-4C12-1073-FAE6-B1782EBA5FDF}"/>
              </a:ext>
            </a:extLst>
          </p:cNvPr>
          <p:cNvSpPr/>
          <p:nvPr/>
        </p:nvSpPr>
        <p:spPr>
          <a:xfrm>
            <a:off x="3334971" y="1780080"/>
            <a:ext cx="2603450" cy="0"/>
          </a:xfrm>
          <a:prstGeom prst="line">
            <a:avLst/>
          </a:prstGeom>
          <a:noFill/>
          <a:ln w="47625">
            <a:solidFill>
              <a:srgbClr val="2563EB"/>
            </a:solidFill>
            <a:prstDash val="solid"/>
          </a:ln>
        </p:spPr>
        <p:txBody>
          <a:bodyPr/>
          <a:lstStyle/>
          <a:p>
            <a:endParaRPr lang="en-US"/>
          </a:p>
        </p:txBody>
      </p:sp>
      <p:sp>
        <p:nvSpPr>
          <p:cNvPr id="34" name="Text 9">
            <a:extLst>
              <a:ext uri="{FF2B5EF4-FFF2-40B4-BE49-F238E27FC236}">
                <a16:creationId xmlns:a16="http://schemas.microsoft.com/office/drawing/2014/main" id="{97541BEC-1710-7792-27C7-120D6C94CEFB}"/>
              </a:ext>
            </a:extLst>
          </p:cNvPr>
          <p:cNvSpPr/>
          <p:nvPr/>
        </p:nvSpPr>
        <p:spPr>
          <a:xfrm>
            <a:off x="3525471" y="1981594"/>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Organic accumulation</a:t>
            </a:r>
            <a:endParaRPr lang="en-US" sz="1400" dirty="0"/>
          </a:p>
        </p:txBody>
      </p:sp>
      <p:sp>
        <p:nvSpPr>
          <p:cNvPr id="36" name="Text 10">
            <a:extLst>
              <a:ext uri="{FF2B5EF4-FFF2-40B4-BE49-F238E27FC236}">
                <a16:creationId xmlns:a16="http://schemas.microsoft.com/office/drawing/2014/main" id="{F2EF17A3-8D33-2404-8CDF-6D76FC2B6795}"/>
              </a:ext>
            </a:extLst>
          </p:cNvPr>
          <p:cNvSpPr/>
          <p:nvPr/>
        </p:nvSpPr>
        <p:spPr>
          <a:xfrm>
            <a:off x="3525471" y="2241894"/>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Vertical integration</a:t>
            </a:r>
            <a:endParaRPr lang="en-US" sz="1050" dirty="0"/>
          </a:p>
        </p:txBody>
      </p:sp>
      <p:sp>
        <p:nvSpPr>
          <p:cNvPr id="38" name="Text 11">
            <a:extLst>
              <a:ext uri="{FF2B5EF4-FFF2-40B4-BE49-F238E27FC236}">
                <a16:creationId xmlns:a16="http://schemas.microsoft.com/office/drawing/2014/main" id="{D4E34627-FD55-B1F3-0931-E42AB535559E}"/>
              </a:ext>
            </a:extLst>
          </p:cNvPr>
          <p:cNvSpPr/>
          <p:nvPr/>
        </p:nvSpPr>
        <p:spPr>
          <a:xfrm>
            <a:off x="3525471" y="2495795"/>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Path-dependent tacit knowledge in routines that cannot be licensed or hired — structurally non-imitable (Teece et al. 1997).</a:t>
            </a:r>
            <a:endParaRPr lang="en-US" sz="1150" dirty="0"/>
          </a:p>
        </p:txBody>
      </p:sp>
      <p:sp>
        <p:nvSpPr>
          <p:cNvPr id="40" name="Text 12">
            <a:extLst>
              <a:ext uri="{FF2B5EF4-FFF2-40B4-BE49-F238E27FC236}">
                <a16:creationId xmlns:a16="http://schemas.microsoft.com/office/drawing/2014/main" id="{397400C6-2801-7F3F-7AAA-FE5B599C504C}"/>
              </a:ext>
            </a:extLst>
          </p:cNvPr>
          <p:cNvSpPr/>
          <p:nvPr/>
        </p:nvSpPr>
        <p:spPr>
          <a:xfrm>
            <a:off x="6167021" y="1756268"/>
            <a:ext cx="2603450" cy="1905000"/>
          </a:xfrm>
          <a:prstGeom prst="rect">
            <a:avLst/>
          </a:prstGeom>
          <a:solidFill>
            <a:srgbClr val="ECFEFF"/>
          </a:solidFill>
          <a:ln/>
        </p:spPr>
        <p:txBody>
          <a:bodyPr wrap="square" rtlCol="0" anchor="ctr"/>
          <a:lstStyle/>
          <a:p>
            <a:pPr marL="0" indent="0">
              <a:buNone/>
            </a:pPr>
            <a:endParaRPr lang="en-US" dirty="0"/>
          </a:p>
        </p:txBody>
      </p:sp>
      <p:sp>
        <p:nvSpPr>
          <p:cNvPr id="42" name="Shape 13">
            <a:extLst>
              <a:ext uri="{FF2B5EF4-FFF2-40B4-BE49-F238E27FC236}">
                <a16:creationId xmlns:a16="http://schemas.microsoft.com/office/drawing/2014/main" id="{FD92951C-8C3C-8DCB-60E4-2AA5171292A7}"/>
              </a:ext>
            </a:extLst>
          </p:cNvPr>
          <p:cNvSpPr/>
          <p:nvPr/>
        </p:nvSpPr>
        <p:spPr>
          <a:xfrm>
            <a:off x="6167021" y="1780080"/>
            <a:ext cx="2603450" cy="0"/>
          </a:xfrm>
          <a:prstGeom prst="line">
            <a:avLst/>
          </a:prstGeom>
          <a:noFill/>
          <a:ln w="47625">
            <a:solidFill>
              <a:srgbClr val="06B6D4"/>
            </a:solidFill>
            <a:prstDash val="solid"/>
          </a:ln>
        </p:spPr>
        <p:txBody>
          <a:bodyPr/>
          <a:lstStyle/>
          <a:p>
            <a:endParaRPr lang="en-US"/>
          </a:p>
        </p:txBody>
      </p:sp>
      <p:sp>
        <p:nvSpPr>
          <p:cNvPr id="44" name="Text 14">
            <a:extLst>
              <a:ext uri="{FF2B5EF4-FFF2-40B4-BE49-F238E27FC236}">
                <a16:creationId xmlns:a16="http://schemas.microsoft.com/office/drawing/2014/main" id="{EDE0F322-7355-AEA3-2675-1E71FCD48A6D}"/>
              </a:ext>
            </a:extLst>
          </p:cNvPr>
          <p:cNvSpPr/>
          <p:nvPr/>
        </p:nvSpPr>
        <p:spPr>
          <a:xfrm>
            <a:off x="6357521" y="1981594"/>
            <a:ext cx="2266899" cy="209550"/>
          </a:xfrm>
          <a:prstGeom prst="rect">
            <a:avLst/>
          </a:prstGeom>
          <a:noFill/>
          <a:ln/>
        </p:spPr>
        <p:txBody>
          <a:bodyPr wrap="square" lIns="0" tIns="0" rIns="0" bIns="0" rtlCol="0" anchor="t"/>
          <a:lstStyle/>
          <a:p>
            <a:pPr marL="0" indent="0" algn="l">
              <a:spcAft>
                <a:spcPts val="400"/>
              </a:spcAft>
              <a:buNone/>
            </a:pPr>
            <a:r>
              <a:rPr lang="en-US" sz="1400" b="1" dirty="0">
                <a:solidFill>
                  <a:srgbClr val="0F172A"/>
                </a:solidFill>
                <a:latin typeface="Arial" pitchFamily="34" charset="0"/>
                <a:ea typeface="Arial" pitchFamily="34" charset="-122"/>
                <a:cs typeface="Arial" pitchFamily="34" charset="-120"/>
              </a:rPr>
              <a:t>Springboard M&amp;A</a:t>
            </a:r>
            <a:endParaRPr lang="en-US" sz="1400" dirty="0"/>
          </a:p>
        </p:txBody>
      </p:sp>
      <p:sp>
        <p:nvSpPr>
          <p:cNvPr id="46" name="Text 15">
            <a:extLst>
              <a:ext uri="{FF2B5EF4-FFF2-40B4-BE49-F238E27FC236}">
                <a16:creationId xmlns:a16="http://schemas.microsoft.com/office/drawing/2014/main" id="{70762595-51FB-9F05-24C1-49A0CA71E542}"/>
              </a:ext>
            </a:extLst>
          </p:cNvPr>
          <p:cNvSpPr/>
          <p:nvPr/>
        </p:nvSpPr>
        <p:spPr>
          <a:xfrm>
            <a:off x="6357521" y="2241894"/>
            <a:ext cx="2266899" cy="152400"/>
          </a:xfrm>
          <a:prstGeom prst="rect">
            <a:avLst/>
          </a:prstGeom>
          <a:noFill/>
          <a:ln/>
        </p:spPr>
        <p:txBody>
          <a:bodyPr wrap="square" lIns="0" tIns="0" rIns="0" bIns="0" rtlCol="0" anchor="t"/>
          <a:lstStyle/>
          <a:p>
            <a:pPr marL="0" indent="0" algn="l">
              <a:spcAft>
                <a:spcPts val="800"/>
              </a:spcAft>
              <a:buNone/>
            </a:pPr>
            <a:r>
              <a:rPr lang="en-US" sz="1050" b="1" dirty="0">
                <a:solidFill>
                  <a:srgbClr val="64748B"/>
                </a:solidFill>
                <a:latin typeface="Arial" pitchFamily="34" charset="0"/>
                <a:ea typeface="Arial" pitchFamily="34" charset="-122"/>
                <a:cs typeface="Arial" pitchFamily="34" charset="-120"/>
              </a:rPr>
              <a:t>Cross-border acquisition</a:t>
            </a:r>
            <a:endParaRPr lang="en-US" sz="1050" dirty="0"/>
          </a:p>
        </p:txBody>
      </p:sp>
      <p:sp>
        <p:nvSpPr>
          <p:cNvPr id="48" name="Text 16">
            <a:extLst>
              <a:ext uri="{FF2B5EF4-FFF2-40B4-BE49-F238E27FC236}">
                <a16:creationId xmlns:a16="http://schemas.microsoft.com/office/drawing/2014/main" id="{6A1DF971-8490-1E4F-640D-A9AFFF0EB11B}"/>
              </a:ext>
            </a:extLst>
          </p:cNvPr>
          <p:cNvSpPr/>
          <p:nvPr/>
        </p:nvSpPr>
        <p:spPr>
          <a:xfrm>
            <a:off x="6357521" y="2495795"/>
            <a:ext cx="2266899" cy="770334"/>
          </a:xfrm>
          <a:prstGeom prst="rect">
            <a:avLst/>
          </a:prstGeom>
          <a:noFill/>
          <a:ln/>
        </p:spPr>
        <p:txBody>
          <a:bodyPr wrap="square" lIns="0" tIns="0" rIns="0" bIns="0" rtlCol="0" anchor="t"/>
          <a:lstStyle/>
          <a:p>
            <a:pPr marL="0" indent="0" algn="l">
              <a:lnSpc>
                <a:spcPts val="1518"/>
              </a:lnSpc>
              <a:buNone/>
            </a:pPr>
            <a:r>
              <a:rPr lang="en-US" sz="1150" dirty="0">
                <a:solidFill>
                  <a:srgbClr val="1E293B"/>
                </a:solidFill>
                <a:latin typeface="Arial" pitchFamily="34" charset="0"/>
                <a:ea typeface="Arial" pitchFamily="34" charset="-122"/>
                <a:cs typeface="Arial" pitchFamily="34" charset="-120"/>
              </a:rPr>
              <a:t>Acquire developed-market assets to leapfrog latecomer disadvantages in technology and brands (Luo &amp; Tung 2007).</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DISCUSSION · LONG-TERM VIABILITY</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The EV transition acted as a structural audit of each model</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dirty="0">
                <a:solidFill>
                  <a:srgbClr val="64748B"/>
                </a:solidFill>
                <a:latin typeface="Arial" pitchFamily="34" charset="0"/>
                <a:cs typeface="Arial" pitchFamily="34" charset="-120"/>
              </a:rPr>
              <a:t>8</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
            <a:extLst>
              <a:ext uri="{FF2B5EF4-FFF2-40B4-BE49-F238E27FC236}">
                <a16:creationId xmlns:a16="http://schemas.microsoft.com/office/drawing/2014/main" id="{E0EBFDC0-7C3C-1618-2BD1-3F64A9F1ED17}"/>
              </a:ext>
            </a:extLst>
          </p:cNvPr>
          <p:cNvSpPr/>
          <p:nvPr/>
        </p:nvSpPr>
        <p:spPr>
          <a:xfrm>
            <a:off x="502920" y="1460302"/>
            <a:ext cx="8280350" cy="965150"/>
          </a:xfrm>
          <a:prstGeom prst="rect">
            <a:avLst/>
          </a:prstGeom>
          <a:solidFill>
            <a:srgbClr val="F8FAFC"/>
          </a:solidFill>
          <a:ln/>
        </p:spPr>
        <p:txBody>
          <a:bodyPr wrap="square" rtlCol="0" anchor="ctr"/>
          <a:lstStyle/>
          <a:p>
            <a:pPr marL="0" indent="0">
              <a:buNone/>
            </a:pPr>
            <a:endParaRPr lang="en-US" dirty="0"/>
          </a:p>
        </p:txBody>
      </p:sp>
      <p:sp>
        <p:nvSpPr>
          <p:cNvPr id="26" name="Shape 3">
            <a:extLst>
              <a:ext uri="{FF2B5EF4-FFF2-40B4-BE49-F238E27FC236}">
                <a16:creationId xmlns:a16="http://schemas.microsoft.com/office/drawing/2014/main" id="{5D00D097-83E4-809B-8E45-752BE00BBBB5}"/>
              </a:ext>
            </a:extLst>
          </p:cNvPr>
          <p:cNvSpPr/>
          <p:nvPr/>
        </p:nvSpPr>
        <p:spPr>
          <a:xfrm>
            <a:off x="545783" y="1460302"/>
            <a:ext cx="0" cy="965150"/>
          </a:xfrm>
          <a:prstGeom prst="line">
            <a:avLst/>
          </a:prstGeom>
          <a:noFill/>
          <a:ln w="85725">
            <a:solidFill>
              <a:srgbClr val="DC2626"/>
            </a:solidFill>
            <a:prstDash val="solid"/>
          </a:ln>
        </p:spPr>
        <p:txBody>
          <a:bodyPr/>
          <a:lstStyle/>
          <a:p>
            <a:endParaRPr lang="en-US"/>
          </a:p>
        </p:txBody>
      </p:sp>
      <p:sp>
        <p:nvSpPr>
          <p:cNvPr id="28" name="Text 4">
            <a:extLst>
              <a:ext uri="{FF2B5EF4-FFF2-40B4-BE49-F238E27FC236}">
                <a16:creationId xmlns:a16="http://schemas.microsoft.com/office/drawing/2014/main" id="{ED203992-C9AF-CD40-7E54-D4F03CC9AB08}"/>
              </a:ext>
            </a:extLst>
          </p:cNvPr>
          <p:cNvSpPr/>
          <p:nvPr/>
        </p:nvSpPr>
        <p:spPr>
          <a:xfrm>
            <a:off x="817245" y="1517969"/>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DC2626"/>
                </a:solidFill>
                <a:latin typeface="Arial" pitchFamily="34" charset="0"/>
                <a:ea typeface="Arial" pitchFamily="34" charset="-122"/>
                <a:cs typeface="Arial" pitchFamily="34" charset="-120"/>
              </a:rPr>
              <a:t>SAIC — capability dependency has become capability deficit</a:t>
            </a:r>
            <a:endParaRPr lang="en-US" sz="1300" dirty="0"/>
          </a:p>
        </p:txBody>
      </p:sp>
      <p:sp>
        <p:nvSpPr>
          <p:cNvPr id="30" name="Text 5">
            <a:extLst>
              <a:ext uri="{FF2B5EF4-FFF2-40B4-BE49-F238E27FC236}">
                <a16:creationId xmlns:a16="http://schemas.microsoft.com/office/drawing/2014/main" id="{4D6739C7-EE3B-A725-E211-59068DB5FE76}"/>
              </a:ext>
            </a:extLst>
          </p:cNvPr>
          <p:cNvSpPr/>
          <p:nvPr/>
        </p:nvSpPr>
        <p:spPr>
          <a:xfrm>
            <a:off x="817245" y="1706088"/>
            <a:ext cx="7918133" cy="379512"/>
          </a:xfrm>
          <a:prstGeom prst="rect">
            <a:avLst/>
          </a:prstGeom>
          <a:noFill/>
          <a:ln/>
        </p:spPr>
        <p:txBody>
          <a:bodyPr wrap="square" lIns="0" tIns="0" rIns="0" bIns="0" rtlCol="0" anchor="t"/>
          <a:lstStyle/>
          <a:p>
            <a:pPr>
              <a:lnSpc>
                <a:spcPts val="1495"/>
              </a:lnSpc>
            </a:pPr>
            <a:r>
              <a:rPr lang="en-US" sz="1150" dirty="0">
                <a:solidFill>
                  <a:srgbClr val="1E293B"/>
                </a:solidFill>
                <a:latin typeface="Arial" pitchFamily="34" charset="0"/>
                <a:ea typeface="Arial" pitchFamily="34" charset="-122"/>
                <a:cs typeface="Arial" pitchFamily="34" charset="-120"/>
              </a:rPr>
              <a:t>JV plants run at 14–37% capacity — dependency hardened into deficit. Yet own-brand NEV reached 1.643 m units (+33%) with zero direct subsidies; 'JV 2.0' repurposes idle JV plants (SAIC SHANGJIE with Huawei, first mass-market semi-solid battery). Viability is now a race between eroding JV rents and a still-thin own-brand margin — bounded by how fast state governance lets capital move.</a:t>
            </a:r>
            <a:endParaRPr lang="en-US" sz="1150" dirty="0"/>
          </a:p>
        </p:txBody>
      </p:sp>
      <p:sp>
        <p:nvSpPr>
          <p:cNvPr id="32" name="Text 6">
            <a:extLst>
              <a:ext uri="{FF2B5EF4-FFF2-40B4-BE49-F238E27FC236}">
                <a16:creationId xmlns:a16="http://schemas.microsoft.com/office/drawing/2014/main" id="{28B0B2B1-0EF1-2808-AF79-9F3A1AEFC1AF}"/>
              </a:ext>
            </a:extLst>
          </p:cNvPr>
          <p:cNvSpPr/>
          <p:nvPr/>
        </p:nvSpPr>
        <p:spPr>
          <a:xfrm>
            <a:off x="502920" y="2577852"/>
            <a:ext cx="8280350" cy="965150"/>
          </a:xfrm>
          <a:prstGeom prst="rect">
            <a:avLst/>
          </a:prstGeom>
          <a:solidFill>
            <a:srgbClr val="F8FAFC"/>
          </a:solidFill>
          <a:ln/>
        </p:spPr>
        <p:txBody>
          <a:bodyPr wrap="square" rtlCol="0" anchor="ctr"/>
          <a:lstStyle/>
          <a:p>
            <a:pPr marL="0" indent="0">
              <a:buNone/>
            </a:pPr>
            <a:endParaRPr lang="en-US" dirty="0"/>
          </a:p>
        </p:txBody>
      </p:sp>
      <p:sp>
        <p:nvSpPr>
          <p:cNvPr id="34" name="Shape 7">
            <a:extLst>
              <a:ext uri="{FF2B5EF4-FFF2-40B4-BE49-F238E27FC236}">
                <a16:creationId xmlns:a16="http://schemas.microsoft.com/office/drawing/2014/main" id="{B8EF1DD1-11A5-8F38-0D84-073D801184D8}"/>
              </a:ext>
            </a:extLst>
          </p:cNvPr>
          <p:cNvSpPr/>
          <p:nvPr/>
        </p:nvSpPr>
        <p:spPr>
          <a:xfrm>
            <a:off x="545783" y="2577852"/>
            <a:ext cx="0" cy="965150"/>
          </a:xfrm>
          <a:prstGeom prst="line">
            <a:avLst/>
          </a:prstGeom>
          <a:noFill/>
          <a:ln w="85725">
            <a:solidFill>
              <a:srgbClr val="2563EB"/>
            </a:solidFill>
            <a:prstDash val="solid"/>
          </a:ln>
        </p:spPr>
        <p:txBody>
          <a:bodyPr/>
          <a:lstStyle/>
          <a:p>
            <a:endParaRPr lang="en-US"/>
          </a:p>
        </p:txBody>
      </p:sp>
      <p:sp>
        <p:nvSpPr>
          <p:cNvPr id="36" name="Text 8">
            <a:extLst>
              <a:ext uri="{FF2B5EF4-FFF2-40B4-BE49-F238E27FC236}">
                <a16:creationId xmlns:a16="http://schemas.microsoft.com/office/drawing/2014/main" id="{39C5AD7B-60BC-AD39-B5DD-03CE4182E15D}"/>
              </a:ext>
            </a:extLst>
          </p:cNvPr>
          <p:cNvSpPr/>
          <p:nvPr/>
        </p:nvSpPr>
        <p:spPr>
          <a:xfrm>
            <a:off x="817245" y="2717453"/>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2563EB"/>
                </a:solidFill>
                <a:latin typeface="Arial" pitchFamily="34" charset="0"/>
                <a:ea typeface="Arial" pitchFamily="34" charset="-122"/>
                <a:cs typeface="Arial" pitchFamily="34" charset="-120"/>
              </a:rPr>
              <a:t>BYD — strongest structural position</a:t>
            </a:r>
            <a:endParaRPr lang="en-US" sz="1300" dirty="0"/>
          </a:p>
        </p:txBody>
      </p:sp>
      <p:sp>
        <p:nvSpPr>
          <p:cNvPr id="38" name="Text 9">
            <a:extLst>
              <a:ext uri="{FF2B5EF4-FFF2-40B4-BE49-F238E27FC236}">
                <a16:creationId xmlns:a16="http://schemas.microsoft.com/office/drawing/2014/main" id="{79AC9205-D1AB-6FD4-1A49-72B0EF1F5A07}"/>
              </a:ext>
            </a:extLst>
          </p:cNvPr>
          <p:cNvSpPr/>
          <p:nvPr/>
        </p:nvSpPr>
        <p:spPr>
          <a:xfrm>
            <a:off x="817245" y="2968228"/>
            <a:ext cx="7918133" cy="379512"/>
          </a:xfrm>
          <a:prstGeom prst="rect">
            <a:avLst/>
          </a:prstGeom>
          <a:noFill/>
          <a:ln/>
        </p:spPr>
        <p:txBody>
          <a:bodyPr wrap="square" lIns="0" tIns="0" rIns="0" bIns="0" rtlCol="0" anchor="t"/>
          <a:lstStyle/>
          <a:p>
            <a:pPr marL="0" indent="0" algn="l">
              <a:lnSpc>
                <a:spcPts val="1495"/>
              </a:lnSpc>
              <a:buNone/>
            </a:pPr>
            <a:r>
              <a:rPr lang="en-US" sz="1150" dirty="0">
                <a:solidFill>
                  <a:srgbClr val="1E293B"/>
                </a:solidFill>
                <a:latin typeface="Arial" pitchFamily="34" charset="0"/>
                <a:ea typeface="Arial" pitchFamily="34" charset="-122"/>
                <a:cs typeface="Arial" pitchFamily="34" charset="-120"/>
              </a:rPr>
              <a:t>Exited ICE in 2022; &gt;1 million exports in 2025 (+140%), 119 countries, fourth year as global NEV leader, USD 5.6 bn capital raised.</a:t>
            </a:r>
            <a:endParaRPr lang="en-US" sz="1150" dirty="0"/>
          </a:p>
        </p:txBody>
      </p:sp>
      <p:sp>
        <p:nvSpPr>
          <p:cNvPr id="40" name="Text 10">
            <a:extLst>
              <a:ext uri="{FF2B5EF4-FFF2-40B4-BE49-F238E27FC236}">
                <a16:creationId xmlns:a16="http://schemas.microsoft.com/office/drawing/2014/main" id="{C047F875-E7BE-CE4F-1B99-E9F6D2633146}"/>
              </a:ext>
            </a:extLst>
          </p:cNvPr>
          <p:cNvSpPr/>
          <p:nvPr/>
        </p:nvSpPr>
        <p:spPr>
          <a:xfrm>
            <a:off x="502920" y="3695403"/>
            <a:ext cx="8280350" cy="965150"/>
          </a:xfrm>
          <a:prstGeom prst="rect">
            <a:avLst/>
          </a:prstGeom>
          <a:solidFill>
            <a:srgbClr val="F8FAFC"/>
          </a:solidFill>
          <a:ln/>
        </p:spPr>
        <p:txBody>
          <a:bodyPr wrap="square" rtlCol="0" anchor="ctr"/>
          <a:lstStyle/>
          <a:p>
            <a:pPr marL="0" indent="0">
              <a:buNone/>
            </a:pPr>
            <a:endParaRPr lang="en-US" dirty="0"/>
          </a:p>
        </p:txBody>
      </p:sp>
      <p:sp>
        <p:nvSpPr>
          <p:cNvPr id="42" name="Shape 11">
            <a:extLst>
              <a:ext uri="{FF2B5EF4-FFF2-40B4-BE49-F238E27FC236}">
                <a16:creationId xmlns:a16="http://schemas.microsoft.com/office/drawing/2014/main" id="{839F3611-D44D-309F-11DC-EB40E3E2BDE1}"/>
              </a:ext>
            </a:extLst>
          </p:cNvPr>
          <p:cNvSpPr/>
          <p:nvPr/>
        </p:nvSpPr>
        <p:spPr>
          <a:xfrm>
            <a:off x="545783" y="3695403"/>
            <a:ext cx="0" cy="965150"/>
          </a:xfrm>
          <a:prstGeom prst="line">
            <a:avLst/>
          </a:prstGeom>
          <a:noFill/>
          <a:ln w="85725">
            <a:solidFill>
              <a:srgbClr val="06B6D4"/>
            </a:solidFill>
            <a:prstDash val="solid"/>
          </a:ln>
        </p:spPr>
        <p:txBody>
          <a:bodyPr/>
          <a:lstStyle/>
          <a:p>
            <a:endParaRPr lang="en-US"/>
          </a:p>
        </p:txBody>
      </p:sp>
      <p:sp>
        <p:nvSpPr>
          <p:cNvPr id="44" name="Text 12">
            <a:extLst>
              <a:ext uri="{FF2B5EF4-FFF2-40B4-BE49-F238E27FC236}">
                <a16:creationId xmlns:a16="http://schemas.microsoft.com/office/drawing/2014/main" id="{C037385C-27E0-1F8B-D83B-DFA93BC2874F}"/>
              </a:ext>
            </a:extLst>
          </p:cNvPr>
          <p:cNvSpPr/>
          <p:nvPr/>
        </p:nvSpPr>
        <p:spPr>
          <a:xfrm>
            <a:off x="817245" y="3835003"/>
            <a:ext cx="7918133" cy="200025"/>
          </a:xfrm>
          <a:prstGeom prst="rect">
            <a:avLst/>
          </a:prstGeom>
          <a:noFill/>
          <a:ln/>
        </p:spPr>
        <p:txBody>
          <a:bodyPr wrap="square" lIns="0" tIns="0" rIns="0" bIns="0" rtlCol="0" anchor="t"/>
          <a:lstStyle/>
          <a:p>
            <a:pPr marL="0" indent="0" algn="l">
              <a:spcAft>
                <a:spcPts val="400"/>
              </a:spcAft>
              <a:buNone/>
            </a:pPr>
            <a:r>
              <a:rPr lang="en-US" sz="1300" b="1" dirty="0">
                <a:solidFill>
                  <a:srgbClr val="06B6D4"/>
                </a:solidFill>
                <a:latin typeface="Arial" pitchFamily="34" charset="0"/>
                <a:ea typeface="Arial" pitchFamily="34" charset="-122"/>
                <a:cs typeface="Arial" pitchFamily="34" charset="-120"/>
              </a:rPr>
              <a:t>Geely — core executing, risk in the periphery</a:t>
            </a:r>
            <a:endParaRPr lang="en-US" sz="1300" dirty="0"/>
          </a:p>
        </p:txBody>
      </p:sp>
      <p:sp>
        <p:nvSpPr>
          <p:cNvPr id="46" name="Text 13">
            <a:extLst>
              <a:ext uri="{FF2B5EF4-FFF2-40B4-BE49-F238E27FC236}">
                <a16:creationId xmlns:a16="http://schemas.microsoft.com/office/drawing/2014/main" id="{AC044C69-D93A-E006-D3FF-15AA833D66D8}"/>
              </a:ext>
            </a:extLst>
          </p:cNvPr>
          <p:cNvSpPr/>
          <p:nvPr/>
        </p:nvSpPr>
        <p:spPr>
          <a:xfrm>
            <a:off x="817245" y="4085779"/>
            <a:ext cx="7918133" cy="379512"/>
          </a:xfrm>
          <a:prstGeom prst="rect">
            <a:avLst/>
          </a:prstGeom>
          <a:noFill/>
          <a:ln/>
        </p:spPr>
        <p:txBody>
          <a:bodyPr wrap="square" lIns="0" tIns="0" rIns="0" bIns="0" rtlCol="0" anchor="t"/>
          <a:lstStyle/>
          <a:p>
            <a:pPr marL="0" indent="0" algn="l">
              <a:lnSpc>
                <a:spcPts val="1495"/>
              </a:lnSpc>
              <a:buNone/>
            </a:pPr>
            <a:r>
              <a:rPr lang="en-US" sz="1150" dirty="0">
                <a:solidFill>
                  <a:srgbClr val="1E293B"/>
                </a:solidFill>
                <a:latin typeface="Arial" pitchFamily="34" charset="0"/>
                <a:ea typeface="Arial" pitchFamily="34" charset="-122"/>
                <a:cs typeface="Arial" pitchFamily="34" charset="-120"/>
              </a:rPr>
              <a:t>51.5% NEV share in H1 2025 and +102% adjusted profit; contingent liabilities at Polestar and Lotus remain the open question.</a:t>
            </a:r>
            <a:endParaRPr lang="en-US" sz="1150" dirty="0"/>
          </a:p>
        </p:txBody>
      </p:sp>
      <p:sp>
        <p:nvSpPr>
          <p:cNvPr id="48" name="Text 14">
            <a:extLst>
              <a:ext uri="{FF2B5EF4-FFF2-40B4-BE49-F238E27FC236}">
                <a16:creationId xmlns:a16="http://schemas.microsoft.com/office/drawing/2014/main" id="{D57EE362-E38E-2DFA-F432-D86E81DFEC6B}"/>
              </a:ext>
            </a:extLst>
          </p:cNvPr>
          <p:cNvSpPr/>
          <p:nvPr/>
        </p:nvSpPr>
        <p:spPr>
          <a:xfrm>
            <a:off x="502920" y="4838403"/>
            <a:ext cx="2973854"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Source: SAIC Motor (2026); BYD (2026); Geely (2026)</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KEY LESSONS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Three transferable lessons on governance and value creation in high-growth markets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572768"/>
            <a:ext cx="8138160" cy="9601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572768"/>
            <a:ext cx="777240" cy="96012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502920" y="1572768"/>
            <a:ext cx="777240"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1</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1463040" y="1682496"/>
            <a:ext cx="6995160" cy="365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Capability mode determines durability across technology cycles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463040" y="2029968"/>
            <a:ext cx="6995160" cy="4572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Mandatory transfer buys short-run quality but displaces the autonomous innovation the next cycle needs; organic and voluntary modes preserve 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502920" y="2633472"/>
            <a:ext cx="8138160" cy="9601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502920" y="2633472"/>
            <a:ext cx="777240" cy="960120"/>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502920" y="2633472"/>
            <a:ext cx="777240"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2</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1463040" y="2743200"/>
            <a:ext cx="6995160" cy="365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Governance is a first-order determinant of strategic adaptability</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463040" y="3090672"/>
            <a:ext cx="6995160" cy="4572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Control concentrated with commercially-oriented principals adapts faster. When change outpaces the decision cycle, governance is the binding constraint.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02920" y="3694176"/>
            <a:ext cx="8138160" cy="9601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502920" y="3694176"/>
            <a:ext cx="777240" cy="960120"/>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502920" y="3694176"/>
            <a:ext cx="777240" cy="9601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463040" y="3803904"/>
            <a:ext cx="6995160" cy="36576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Capital structure determines resilience when markets contract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1463040" y="4151376"/>
            <a:ext cx="6995160" cy="45720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Risk-sharing captures upside in growth but exposes the firm in downturns; self-financing trades speed for resilience, leverage trades safety for speed.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dirty="0">
                <a:solidFill>
                  <a:srgbClr val="64748B"/>
                </a:solidFill>
                <a:latin typeface="Arial" pitchFamily="34" charset="0"/>
                <a:cs typeface="Arial" pitchFamily="34" charset="-120"/>
              </a:rPr>
              <a:t>9</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VERDICT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BYD's founder-led vertical integration is most likely to create long-term shareholder value</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59436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21.7%</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1264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highest ROE of the three firms (FY2024)</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258318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258318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267462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4 yrs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269290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consecutive global NEV market leader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66344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466344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475488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USD 5.6 bn</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477316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2025 raise incl. sovereign wealth funds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6743700" y="1645920"/>
            <a:ext cx="1897380" cy="1371600"/>
          </a:xfrm>
          <a:prstGeom prst="roundRect">
            <a:avLst>
              <a:gd name="adj" fmla="val 5333"/>
            </a:avLst>
          </a:prstGeom>
          <a:solidFill>
            <a:srgbClr val="0F172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6743700" y="1645920"/>
            <a:ext cx="1897380" cy="54864"/>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6835140" y="1828800"/>
            <a:ext cx="1714500" cy="5486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Private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6853428" y="2395728"/>
            <a:ext cx="1677924" cy="548640"/>
          </a:xfrm>
          <a:prstGeom prst="rect">
            <a:avLst/>
          </a:prstGeom>
          <a:noFill/>
          <a:ln/>
        </p:spPr>
        <p:txBody>
          <a:bodyPr wrap="square" rtlCol="0" anchor="t"/>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DCE6F7"/>
                </a:solidFill>
                <a:effectLst/>
                <a:uLnTx/>
                <a:uFillTx/>
                <a:latin typeface="Arial" pitchFamily="34" charset="0"/>
                <a:ea typeface="Arial" pitchFamily="34" charset="-122"/>
                <a:cs typeface="Arial" pitchFamily="34" charset="-120"/>
              </a:rPr>
              <a:t>governance structurally outperforms state (Allen et al., 2024)</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502920" y="3246120"/>
            <a:ext cx="8138160" cy="1417320"/>
          </a:xfrm>
          <a:prstGeom prst="roundRect">
            <a:avLst>
              <a:gd name="adj" fmla="val 3871"/>
            </a:avLst>
          </a:prstGeom>
          <a:solidFill>
            <a:srgbClr val="EEF2F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502920" y="3246120"/>
            <a:ext cx="82296" cy="1417320"/>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731520" y="3383280"/>
            <a:ext cx="7726680" cy="11887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Why BYD — and why not simply “vertical integration is best”:  </a:t>
            </a:r>
            <a:r>
              <a:rPr kumimoji="0" lang="en-US" sz="12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the model wins because it aligns concentrated, commercially-oriented control with a self-financing structure that stays resilient when markets contract — not because integration is inherently superior. The advantage is governance and capital discipline working together.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502920" y="4846320"/>
            <a:ext cx="8138160" cy="23774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BYD (2026); Allen et al. (2024); Table 1. ROE compressed to 13.2% in FY2025 under price-war margin pressure.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10</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7483AD8-1182-6961-5B2A-22C320BC5AD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AD10C80-AF00-07BE-93A9-29E3E63768BA}"/>
              </a:ext>
            </a:extLst>
          </p:cNvPr>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VERDICT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40CDB0E2-9D28-D079-57C1-E1B9F73926A3}"/>
              </a:ext>
            </a:extLst>
          </p:cNvPr>
          <p:cNvSpPr/>
          <p:nvPr/>
        </p:nvSpPr>
        <p:spPr>
          <a:xfrm>
            <a:off x="502920" y="457200"/>
            <a:ext cx="8138160" cy="786384"/>
          </a:xfrm>
          <a:prstGeom prst="rect">
            <a:avLst/>
          </a:prstGeom>
          <a:noFill/>
          <a:ln/>
        </p:spPr>
        <p:txBody>
          <a:bodyPr wrap="square" rtlCol="0" anchor="t"/>
          <a:lstStyle/>
          <a:p>
            <a:pPr>
              <a:lnSpc>
                <a:spcPts val="2415"/>
              </a:lnSpc>
            </a:pPr>
            <a:r>
              <a:rPr lang="en-US" sz="2000" b="1" dirty="0">
                <a:solidFill>
                  <a:srgbClr val="0F172A"/>
                </a:solidFill>
                <a:latin typeface="Arial" pitchFamily="34" charset="0"/>
                <a:ea typeface="Arial" pitchFamily="34" charset="-122"/>
                <a:cs typeface="Arial" pitchFamily="34" charset="-120"/>
              </a:rPr>
              <a:t>Across all four dimensions, private founder control outperforms state and JV models</a:t>
            </a:r>
            <a:endParaRPr lang="en-US" sz="2000" dirty="0"/>
          </a:p>
        </p:txBody>
      </p:sp>
      <p:sp>
        <p:nvSpPr>
          <p:cNvPr id="4" name="Shape 2">
            <a:extLst>
              <a:ext uri="{FF2B5EF4-FFF2-40B4-BE49-F238E27FC236}">
                <a16:creationId xmlns:a16="http://schemas.microsoft.com/office/drawing/2014/main" id="{8C448FC5-4621-8F13-9F07-0A899274417F}"/>
              </a:ext>
            </a:extLst>
          </p:cNvPr>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7DBF35B9-77B8-3ED9-6BEC-6B4ACF123CEB}"/>
              </a:ext>
            </a:extLst>
          </p:cNvPr>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a:extLst>
              <a:ext uri="{FF2B5EF4-FFF2-40B4-BE49-F238E27FC236}">
                <a16:creationId xmlns:a16="http://schemas.microsoft.com/office/drawing/2014/main" id="{27D91C88-BE0C-3419-63EC-E3D9A019D39E}"/>
              </a:ext>
            </a:extLst>
          </p:cNvPr>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6" name="Grafik 35">
            <a:extLst>
              <a:ext uri="{FF2B5EF4-FFF2-40B4-BE49-F238E27FC236}">
                <a16:creationId xmlns:a16="http://schemas.microsoft.com/office/drawing/2014/main" id="{D0EF95A0-FE44-E97B-FC38-A9A10D4D745F}"/>
              </a:ext>
            </a:extLst>
          </p:cNvPr>
          <p:cNvPicPr>
            <a:picLocks noChangeAspect="1"/>
          </p:cNvPicPr>
          <p:nvPr/>
        </p:nvPicPr>
        <p:blipFill>
          <a:blip r:embed="rId3"/>
          <a:stretch>
            <a:fillRect/>
          </a:stretch>
        </p:blipFill>
        <p:spPr>
          <a:xfrm>
            <a:off x="411480" y="1431036"/>
            <a:ext cx="7980026" cy="3760435"/>
          </a:xfrm>
          <a:prstGeom prst="rect">
            <a:avLst/>
          </a:prstGeom>
        </p:spPr>
      </p:pic>
    </p:spTree>
    <p:extLst>
      <p:ext uri="{BB962C8B-B14F-4D97-AF65-F5344CB8AC3E}">
        <p14:creationId xmlns:p14="http://schemas.microsoft.com/office/powerpoint/2010/main" val="1958610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CONCLUSION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02920" y="838200"/>
            <a:ext cx="8138160" cy="10972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Governance is </a:t>
            </a:r>
            <a:r>
              <a:rPr kumimoji="0" lang="en-US" sz="2400" b="1" i="0" u="sng"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not</a:t>
            </a:r>
            <a:r>
              <a:rPr kumimoji="0" lang="en-US" sz="2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 a variable firms tune after strategy,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it is the STRATEGY</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02920" y="2057400"/>
            <a:ext cx="1828800" cy="27432"/>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2920" y="2299716"/>
            <a:ext cx="5212080" cy="210312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E2E8F0"/>
                </a:solidFill>
                <a:effectLst/>
                <a:uLnTx/>
                <a:uFillTx/>
                <a:latin typeface="Arial" pitchFamily="34" charset="0"/>
                <a:ea typeface="Arial" pitchFamily="34" charset="-122"/>
                <a:cs typeface="Arial" pitchFamily="34" charset="-120"/>
              </a:rPr>
              <a:t>The JV model that organised Chinese automaking for three decades was displaced not by a superior technology, but by a superior way of allocating control and capital.</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5000"/>
              </a:lnSpc>
              <a:spcBef>
                <a:spcPts val="0"/>
              </a:spcBef>
              <a:spcAft>
                <a:spcPts val="600"/>
              </a:spcAft>
              <a:buClrTx/>
              <a:buSzTx/>
              <a:buFontTx/>
              <a:buNone/>
              <a:tabLst/>
              <a:defRPr/>
            </a:pPr>
            <a:r>
              <a:rPr kumimoji="0" lang="en-US" sz="1400" b="0" i="0" u="none" strike="noStrike" kern="1200" cap="none" spc="0" normalizeH="0" baseline="0" noProof="0" dirty="0">
                <a:ln>
                  <a:noFill/>
                </a:ln>
                <a:solidFill>
                  <a:srgbClr val="E2E8F0"/>
                </a:solidFill>
                <a:effectLst/>
                <a:uLnTx/>
                <a:uFillTx/>
                <a:latin typeface="Arial" pitchFamily="34" charset="0"/>
                <a:ea typeface="Arial" pitchFamily="34" charset="-122"/>
                <a:cs typeface="Arial" pitchFamily="34" charset="-120"/>
              </a:rPr>
              <a:t>Whether BYD sustains its lead depends on the same governance discipline that produced it — now tested by a price war its scale can dampen but not escape.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989320" y="2194560"/>
            <a:ext cx="2697480" cy="2057400"/>
          </a:xfrm>
          <a:prstGeom prst="roundRect">
            <a:avLst>
              <a:gd name="adj" fmla="val 3556"/>
            </a:avLst>
          </a:prstGeom>
          <a:solidFill>
            <a:srgbClr val="16223C"/>
          </a:solidFill>
          <a:ln w="12700">
            <a:solidFill>
              <a:srgbClr val="2563E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6172200" y="2260346"/>
            <a:ext cx="2377440" cy="4572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The Chinese auto transition, 2020–2025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172200" y="2717546"/>
            <a:ext cx="2377440" cy="1325880"/>
          </a:xfrm>
          <a:prstGeom prst="rect">
            <a:avLst/>
          </a:prstGeom>
          <a:noFill/>
          <a:ln/>
        </p:spPr>
        <p:txBody>
          <a:bodyPr wrap="square" rtlCol="0" anchor="t"/>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A large-scale natural experiment: under rapid technological change, governance design — more than technological endowment — decides which firms convert disruption into durable value.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502920" y="4617720"/>
            <a:ext cx="813816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100" normalizeH="0" baseline="0" noProof="0" dirty="0">
                <a:ln>
                  <a:noFill/>
                </a:ln>
                <a:solidFill>
                  <a:srgbClr val="8FA6CC"/>
                </a:solidFill>
                <a:effectLst/>
                <a:uLnTx/>
                <a:uFillTx/>
                <a:latin typeface="Arial" pitchFamily="34" charset="0"/>
                <a:ea typeface="Arial" pitchFamily="34" charset="-122"/>
                <a:cs typeface="Arial" pitchFamily="34" charset="-120"/>
              </a:rPr>
              <a:t>SAIC  ·  BYD  ·  GEELY   |   Ort · Maus · Stubner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0"/>
            <a:ext cx="9143771" cy="51435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3" name="TextBox 2"/>
          <p:cNvSpPr txBox="1"/>
          <p:nvPr/>
        </p:nvSpPr>
        <p:spPr>
          <a:xfrm>
            <a:off x="411480" y="288036"/>
            <a:ext cx="8298180" cy="190693"/>
          </a:xfrm>
          <a:prstGeom prst="rect">
            <a:avLst/>
          </a:prstGeom>
          <a:noFill/>
        </p:spPr>
        <p:txBody>
          <a:bodyPr wrap="square" lIns="0" tIns="0" rIns="0" bIns="0" anchor="t">
            <a:spAutoFit/>
          </a:bodyPr>
          <a:lstStyle/>
          <a:p>
            <a:pPr>
              <a:spcAft>
                <a:spcPts val="150"/>
              </a:spcAft>
            </a:pPr>
            <a:r>
              <a:rPr sz="1239" b="1">
                <a:solidFill>
                  <a:srgbClr val="2563EB"/>
                </a:solidFill>
                <a:latin typeface="Calibri"/>
              </a:rPr>
              <a:t>LIMITATIONS &amp; FUTURE RESEARCH</a:t>
            </a:r>
          </a:p>
        </p:txBody>
      </p:sp>
      <p:sp>
        <p:nvSpPr>
          <p:cNvPr id="4" name="TextBox 3"/>
          <p:cNvSpPr txBox="1"/>
          <p:nvPr/>
        </p:nvSpPr>
        <p:spPr>
          <a:xfrm>
            <a:off x="411480" y="493776"/>
            <a:ext cx="8298180" cy="311624"/>
          </a:xfrm>
          <a:prstGeom prst="rect">
            <a:avLst/>
          </a:prstGeom>
          <a:noFill/>
        </p:spPr>
        <p:txBody>
          <a:bodyPr wrap="square" lIns="0" tIns="0" rIns="0" bIns="0" anchor="t">
            <a:spAutoFit/>
          </a:bodyPr>
          <a:lstStyle/>
          <a:p>
            <a:pPr>
              <a:spcAft>
                <a:spcPts val="150"/>
              </a:spcAft>
            </a:pPr>
            <a:r>
              <a:rPr sz="2025" b="1">
                <a:solidFill>
                  <a:srgbClr val="0F172A"/>
                </a:solidFill>
                <a:latin typeface="Cambria"/>
              </a:rPr>
              <a:t>Scope conditions and where the analysis could be extended</a:t>
            </a:r>
          </a:p>
        </p:txBody>
      </p:sp>
      <p:sp>
        <p:nvSpPr>
          <p:cNvPr id="5" name="Rectangle 4"/>
          <p:cNvSpPr/>
          <p:nvPr/>
        </p:nvSpPr>
        <p:spPr>
          <a:xfrm>
            <a:off x="411480" y="1303020"/>
            <a:ext cx="4080510" cy="26746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6" name="Rectangle 5"/>
          <p:cNvSpPr/>
          <p:nvPr/>
        </p:nvSpPr>
        <p:spPr>
          <a:xfrm>
            <a:off x="411480" y="1303020"/>
            <a:ext cx="4080510" cy="61722"/>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7" name="TextBox 6"/>
          <p:cNvSpPr txBox="1"/>
          <p:nvPr/>
        </p:nvSpPr>
        <p:spPr>
          <a:xfrm>
            <a:off x="548640" y="1440180"/>
            <a:ext cx="3806190" cy="217880"/>
          </a:xfrm>
          <a:prstGeom prst="rect">
            <a:avLst/>
          </a:prstGeom>
          <a:noFill/>
        </p:spPr>
        <p:txBody>
          <a:bodyPr wrap="square" lIns="0" tIns="0" rIns="0" bIns="0" anchor="t">
            <a:spAutoFit/>
          </a:bodyPr>
          <a:lstStyle/>
          <a:p>
            <a:pPr>
              <a:spcAft>
                <a:spcPts val="150"/>
              </a:spcAft>
            </a:pPr>
            <a:r>
              <a:rPr sz="1416" b="1">
                <a:solidFill>
                  <a:srgbClr val="D97706"/>
                </a:solidFill>
                <a:latin typeface="Calibri"/>
              </a:rPr>
              <a:t>Limitations</a:t>
            </a:r>
          </a:p>
        </p:txBody>
      </p:sp>
      <p:sp>
        <p:nvSpPr>
          <p:cNvPr id="8" name="TextBox 7"/>
          <p:cNvSpPr txBox="1"/>
          <p:nvPr/>
        </p:nvSpPr>
        <p:spPr>
          <a:xfrm>
            <a:off x="548640" y="1783080"/>
            <a:ext cx="3806190" cy="640047"/>
          </a:xfrm>
          <a:prstGeom prst="rect">
            <a:avLst/>
          </a:prstGeom>
          <a:noFill/>
        </p:spPr>
        <p:txBody>
          <a:bodyPr wrap="square" lIns="0" tIns="0" rIns="0" bIns="0">
            <a:spAutoFit/>
          </a:bodyPr>
          <a:lstStyle/>
          <a:p>
            <a:pPr>
              <a:lnSpc>
                <a:spcPct val="105000"/>
              </a:lnSpc>
              <a:spcAft>
                <a:spcPts val="675"/>
              </a:spcAft>
            </a:pPr>
            <a:r>
              <a:rPr sz="1151" dirty="0">
                <a:solidFill>
                  <a:srgbClr val="D97706"/>
                </a:solidFill>
                <a:latin typeface="Calibri"/>
              </a:rPr>
              <a:t>–  </a:t>
            </a:r>
            <a:r>
              <a:rPr sz="1151" dirty="0">
                <a:solidFill>
                  <a:srgbClr val="0F172A"/>
                </a:solidFill>
                <a:latin typeface="Calibri"/>
              </a:rPr>
              <a:t>Three firms in one industry and one country — limited statistical </a:t>
            </a:r>
            <a:r>
              <a:rPr sz="1151" dirty="0" err="1">
                <a:solidFill>
                  <a:srgbClr val="0F172A"/>
                </a:solidFill>
                <a:latin typeface="Calibri"/>
              </a:rPr>
              <a:t>generalisability</a:t>
            </a:r>
            <a:r>
              <a:rPr sz="1151" dirty="0">
                <a:solidFill>
                  <a:srgbClr val="0F172A"/>
                </a:solidFill>
                <a:latin typeface="Calibri"/>
              </a:rPr>
              <a:t>.</a:t>
            </a:r>
          </a:p>
          <a:p>
            <a:pPr>
              <a:lnSpc>
                <a:spcPct val="105000"/>
              </a:lnSpc>
              <a:spcAft>
                <a:spcPts val="675"/>
              </a:spcAft>
            </a:pPr>
            <a:r>
              <a:rPr sz="1151" dirty="0">
                <a:solidFill>
                  <a:srgbClr val="D97706"/>
                </a:solidFill>
                <a:latin typeface="Calibri"/>
              </a:rPr>
              <a:t>–  </a:t>
            </a:r>
            <a:r>
              <a:rPr sz="1151" dirty="0">
                <a:solidFill>
                  <a:srgbClr val="0F172A"/>
                </a:solidFill>
                <a:latin typeface="Calibri"/>
              </a:rPr>
              <a:t>Short post-EV window; the transition is still unfolding.</a:t>
            </a:r>
          </a:p>
        </p:txBody>
      </p:sp>
      <p:sp>
        <p:nvSpPr>
          <p:cNvPr id="9" name="Rectangle 8"/>
          <p:cNvSpPr/>
          <p:nvPr/>
        </p:nvSpPr>
        <p:spPr>
          <a:xfrm>
            <a:off x="4629150" y="1303020"/>
            <a:ext cx="4080510" cy="2674620"/>
          </a:xfrm>
          <a:prstGeom prst="rect">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0" name="Rectangle 9"/>
          <p:cNvSpPr/>
          <p:nvPr/>
        </p:nvSpPr>
        <p:spPr>
          <a:xfrm>
            <a:off x="4629150" y="1303020"/>
            <a:ext cx="4080510" cy="61722"/>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350"/>
          </a:p>
        </p:txBody>
      </p:sp>
      <p:sp>
        <p:nvSpPr>
          <p:cNvPr id="11" name="TextBox 10"/>
          <p:cNvSpPr txBox="1"/>
          <p:nvPr/>
        </p:nvSpPr>
        <p:spPr>
          <a:xfrm>
            <a:off x="4766310" y="1440180"/>
            <a:ext cx="3806190" cy="217880"/>
          </a:xfrm>
          <a:prstGeom prst="rect">
            <a:avLst/>
          </a:prstGeom>
          <a:noFill/>
        </p:spPr>
        <p:txBody>
          <a:bodyPr wrap="square" lIns="0" tIns="0" rIns="0" bIns="0" anchor="t">
            <a:spAutoFit/>
          </a:bodyPr>
          <a:lstStyle/>
          <a:p>
            <a:pPr>
              <a:spcAft>
                <a:spcPts val="150"/>
              </a:spcAft>
            </a:pPr>
            <a:r>
              <a:rPr sz="1416" b="1">
                <a:solidFill>
                  <a:srgbClr val="2563EB"/>
                </a:solidFill>
                <a:latin typeface="Calibri"/>
              </a:rPr>
              <a:t>Future research</a:t>
            </a:r>
          </a:p>
        </p:txBody>
      </p:sp>
      <p:sp>
        <p:nvSpPr>
          <p:cNvPr id="12" name="TextBox 11"/>
          <p:cNvSpPr txBox="1"/>
          <p:nvPr/>
        </p:nvSpPr>
        <p:spPr>
          <a:xfrm>
            <a:off x="4766310" y="1783080"/>
            <a:ext cx="3806190" cy="1287660"/>
          </a:xfrm>
          <a:prstGeom prst="rect">
            <a:avLst/>
          </a:prstGeom>
          <a:noFill/>
        </p:spPr>
        <p:txBody>
          <a:bodyPr wrap="square" lIns="0" tIns="0" rIns="0" bIns="0">
            <a:spAutoFit/>
          </a:bodyPr>
          <a:lstStyle/>
          <a:p>
            <a:pPr>
              <a:lnSpc>
                <a:spcPct val="105000"/>
              </a:lnSpc>
              <a:spcAft>
                <a:spcPts val="675"/>
              </a:spcAft>
            </a:pPr>
            <a:r>
              <a:rPr sz="1151" dirty="0">
                <a:solidFill>
                  <a:srgbClr val="2563EB"/>
                </a:solidFill>
                <a:latin typeface="Calibri"/>
              </a:rPr>
              <a:t>–  </a:t>
            </a:r>
            <a:r>
              <a:rPr lang="de-DE" sz="1151" dirty="0">
                <a:solidFill>
                  <a:srgbClr val="0F172A"/>
                </a:solidFill>
                <a:latin typeface="Calibri"/>
              </a:rPr>
              <a:t>F</a:t>
            </a:r>
            <a:r>
              <a:rPr sz="1151" dirty="0" err="1">
                <a:solidFill>
                  <a:srgbClr val="0F172A"/>
                </a:solidFill>
                <a:latin typeface="Calibri"/>
              </a:rPr>
              <a:t>ourth</a:t>
            </a:r>
            <a:r>
              <a:rPr sz="1151" dirty="0">
                <a:solidFill>
                  <a:srgbClr val="0F172A"/>
                </a:solidFill>
                <a:latin typeface="Calibri"/>
              </a:rPr>
              <a:t> archetype (NIO, capital-market model) for a fuller typology.</a:t>
            </a:r>
          </a:p>
          <a:p>
            <a:pPr>
              <a:lnSpc>
                <a:spcPct val="105000"/>
              </a:lnSpc>
              <a:spcAft>
                <a:spcPts val="675"/>
              </a:spcAft>
            </a:pPr>
            <a:r>
              <a:rPr sz="1151" dirty="0">
                <a:solidFill>
                  <a:srgbClr val="2563EB"/>
                </a:solidFill>
                <a:latin typeface="Calibri"/>
              </a:rPr>
              <a:t>–  </a:t>
            </a:r>
            <a:r>
              <a:rPr sz="1151" dirty="0">
                <a:solidFill>
                  <a:srgbClr val="0F172A"/>
                </a:solidFill>
                <a:latin typeface="Calibri"/>
              </a:rPr>
              <a:t>Track outcomes over a longer EV cycle to test durability of the ranking.</a:t>
            </a:r>
          </a:p>
          <a:p>
            <a:pPr>
              <a:lnSpc>
                <a:spcPct val="105000"/>
              </a:lnSpc>
              <a:spcAft>
                <a:spcPts val="675"/>
              </a:spcAft>
            </a:pPr>
            <a:r>
              <a:rPr sz="1151" dirty="0">
                <a:solidFill>
                  <a:srgbClr val="2563EB"/>
                </a:solidFill>
                <a:latin typeface="Calibri"/>
              </a:rPr>
              <a:t>–  </a:t>
            </a:r>
            <a:r>
              <a:rPr sz="1151" dirty="0">
                <a:solidFill>
                  <a:srgbClr val="0F172A"/>
                </a:solidFill>
                <a:latin typeface="Calibri"/>
              </a:rPr>
              <a:t>Examine how EU tariffs reshape each model's export strategy.</a:t>
            </a:r>
          </a:p>
        </p:txBody>
      </p:sp>
      <p:sp>
        <p:nvSpPr>
          <p:cNvPr id="13" name="TextBox 12"/>
          <p:cNvSpPr txBox="1"/>
          <p:nvPr/>
        </p:nvSpPr>
        <p:spPr>
          <a:xfrm>
            <a:off x="411480" y="4855464"/>
            <a:ext cx="6172200" cy="142988"/>
          </a:xfrm>
          <a:prstGeom prst="rect">
            <a:avLst/>
          </a:prstGeom>
          <a:noFill/>
        </p:spPr>
        <p:txBody>
          <a:bodyPr wrap="square" lIns="0" tIns="0" rIns="0" bIns="0" anchor="t">
            <a:spAutoFit/>
          </a:bodyPr>
          <a:lstStyle/>
          <a:p>
            <a:pPr>
              <a:spcAft>
                <a:spcPts val="150"/>
              </a:spcAft>
            </a:pPr>
            <a:r>
              <a:rPr sz="929">
                <a:solidFill>
                  <a:srgbClr val="64748B"/>
                </a:solidFill>
                <a:latin typeface="Calibri"/>
              </a:rPr>
              <a:t>China Strategies in the Automotive Industry  ·  Session 6</a:t>
            </a:r>
          </a:p>
        </p:txBody>
      </p:sp>
      <p:sp>
        <p:nvSpPr>
          <p:cNvPr id="14" name="TextBox 13"/>
          <p:cNvSpPr txBox="1"/>
          <p:nvPr/>
        </p:nvSpPr>
        <p:spPr>
          <a:xfrm>
            <a:off x="8046491" y="4855464"/>
            <a:ext cx="685800" cy="142988"/>
          </a:xfrm>
          <a:prstGeom prst="rect">
            <a:avLst/>
          </a:prstGeom>
          <a:noFill/>
        </p:spPr>
        <p:txBody>
          <a:bodyPr wrap="square" lIns="0" tIns="0" rIns="0" bIns="0" anchor="t">
            <a:spAutoFit/>
          </a:bodyPr>
          <a:lstStyle/>
          <a:p>
            <a:pPr algn="r">
              <a:spcAft>
                <a:spcPts val="150"/>
              </a:spcAft>
            </a:pPr>
            <a:r>
              <a:rPr sz="929">
                <a:solidFill>
                  <a:srgbClr val="64748B"/>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Research ran on Claude Code as a layered agent system, not a single chatbot</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2">
            <a:extLst>
              <a:ext uri="{FF2B5EF4-FFF2-40B4-BE49-F238E27FC236}">
                <a16:creationId xmlns:a16="http://schemas.microsoft.com/office/drawing/2014/main" id="{696520CE-FB70-BE8D-44D0-ECF8DA2549FC}"/>
              </a:ext>
            </a:extLst>
          </p:cNvPr>
          <p:cNvSpPr/>
          <p:nvPr/>
        </p:nvSpPr>
        <p:spPr>
          <a:xfrm>
            <a:off x="502920" y="1594097"/>
            <a:ext cx="609344"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MODELS</a:t>
            </a:r>
            <a:endParaRPr lang="en-US" sz="1100" dirty="0"/>
          </a:p>
        </p:txBody>
      </p:sp>
      <p:sp>
        <p:nvSpPr>
          <p:cNvPr id="40" name="Text 3">
            <a:extLst>
              <a:ext uri="{FF2B5EF4-FFF2-40B4-BE49-F238E27FC236}">
                <a16:creationId xmlns:a16="http://schemas.microsoft.com/office/drawing/2014/main" id="{0F786604-A39E-61B8-28B2-75194EF22D56}"/>
              </a:ext>
            </a:extLst>
          </p:cNvPr>
          <p:cNvSpPr/>
          <p:nvPr/>
        </p:nvSpPr>
        <p:spPr>
          <a:xfrm>
            <a:off x="2407920" y="1797247"/>
            <a:ext cx="2920901" cy="563427"/>
          </a:xfrm>
          <a:prstGeom prst="rect">
            <a:avLst/>
          </a:prstGeom>
          <a:solidFill>
            <a:srgbClr val="0F172A"/>
          </a:solidFill>
          <a:ln/>
        </p:spPr>
        <p:txBody>
          <a:bodyPr wrap="square" rtlCol="0" anchor="ctr"/>
          <a:lstStyle/>
          <a:p>
            <a:pPr marL="0" indent="0">
              <a:buNone/>
            </a:pPr>
            <a:endParaRPr lang="en-US" dirty="0"/>
          </a:p>
        </p:txBody>
      </p:sp>
      <p:sp>
        <p:nvSpPr>
          <p:cNvPr id="42" name="Text 4">
            <a:extLst>
              <a:ext uri="{FF2B5EF4-FFF2-40B4-BE49-F238E27FC236}">
                <a16:creationId xmlns:a16="http://schemas.microsoft.com/office/drawing/2014/main" id="{86285ABD-EC4B-55C9-0B44-FC1AEBA6F880}"/>
              </a:ext>
            </a:extLst>
          </p:cNvPr>
          <p:cNvSpPr/>
          <p:nvPr/>
        </p:nvSpPr>
        <p:spPr>
          <a:xfrm>
            <a:off x="2585621" y="1911548"/>
            <a:ext cx="2616809"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claude-sonnet-4-6 · primary</a:t>
            </a:r>
            <a:endParaRPr lang="en-US" sz="1200" dirty="0"/>
          </a:p>
        </p:txBody>
      </p:sp>
      <p:sp>
        <p:nvSpPr>
          <p:cNvPr id="44" name="Text 5">
            <a:extLst>
              <a:ext uri="{FF2B5EF4-FFF2-40B4-BE49-F238E27FC236}">
                <a16:creationId xmlns:a16="http://schemas.microsoft.com/office/drawing/2014/main" id="{233973F6-3E91-363E-3F9C-B589E978F8E7}"/>
              </a:ext>
            </a:extLst>
          </p:cNvPr>
          <p:cNvSpPr/>
          <p:nvPr/>
        </p:nvSpPr>
        <p:spPr>
          <a:xfrm>
            <a:off x="5481221" y="1797248"/>
            <a:ext cx="3429000" cy="571500"/>
          </a:xfrm>
          <a:prstGeom prst="rect">
            <a:avLst/>
          </a:prstGeom>
          <a:solidFill>
            <a:srgbClr val="0F172A"/>
          </a:solidFill>
          <a:ln/>
        </p:spPr>
        <p:txBody>
          <a:bodyPr wrap="square" rtlCol="0" anchor="ctr"/>
          <a:lstStyle/>
          <a:p>
            <a:pPr marL="0" indent="0">
              <a:buNone/>
            </a:pPr>
            <a:endParaRPr lang="en-US" dirty="0"/>
          </a:p>
        </p:txBody>
      </p:sp>
      <p:sp>
        <p:nvSpPr>
          <p:cNvPr id="46" name="Text 6">
            <a:extLst>
              <a:ext uri="{FF2B5EF4-FFF2-40B4-BE49-F238E27FC236}">
                <a16:creationId xmlns:a16="http://schemas.microsoft.com/office/drawing/2014/main" id="{6DEB72C0-61F7-E7BD-4524-C3B1A30D761C}"/>
              </a:ext>
            </a:extLst>
          </p:cNvPr>
          <p:cNvSpPr/>
          <p:nvPr/>
        </p:nvSpPr>
        <p:spPr>
          <a:xfrm>
            <a:off x="5658922" y="1911548"/>
            <a:ext cx="3135070" cy="34290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claude-opus-4 · cross-case &amp; argument logic</a:t>
            </a:r>
            <a:endParaRPr lang="en-US" sz="1200" dirty="0"/>
          </a:p>
        </p:txBody>
      </p:sp>
      <p:sp>
        <p:nvSpPr>
          <p:cNvPr id="48" name="Text 7">
            <a:extLst>
              <a:ext uri="{FF2B5EF4-FFF2-40B4-BE49-F238E27FC236}">
                <a16:creationId xmlns:a16="http://schemas.microsoft.com/office/drawing/2014/main" id="{06FAD3CC-60A4-4792-EDB2-365D12E739FF}"/>
              </a:ext>
            </a:extLst>
          </p:cNvPr>
          <p:cNvSpPr/>
          <p:nvPr/>
        </p:nvSpPr>
        <p:spPr>
          <a:xfrm>
            <a:off x="502920" y="2533947"/>
            <a:ext cx="1569509"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SPECIALIZED AGENTS</a:t>
            </a:r>
            <a:endParaRPr lang="en-US" sz="1100" dirty="0"/>
          </a:p>
        </p:txBody>
      </p:sp>
      <p:sp>
        <p:nvSpPr>
          <p:cNvPr id="50" name="Text 8">
            <a:extLst>
              <a:ext uri="{FF2B5EF4-FFF2-40B4-BE49-F238E27FC236}">
                <a16:creationId xmlns:a16="http://schemas.microsoft.com/office/drawing/2014/main" id="{AE70C53A-C4B9-328F-870D-60D3EF0CBFBF}"/>
              </a:ext>
            </a:extLst>
          </p:cNvPr>
          <p:cNvSpPr/>
          <p:nvPr/>
        </p:nvSpPr>
        <p:spPr>
          <a:xfrm>
            <a:off x="5029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52" name="Shape 9">
            <a:extLst>
              <a:ext uri="{FF2B5EF4-FFF2-40B4-BE49-F238E27FC236}">
                <a16:creationId xmlns:a16="http://schemas.microsoft.com/office/drawing/2014/main" id="{DAE164C2-FA17-8052-2D0B-CCA2CBA2484F}"/>
              </a:ext>
            </a:extLst>
          </p:cNvPr>
          <p:cNvSpPr/>
          <p:nvPr/>
        </p:nvSpPr>
        <p:spPr>
          <a:xfrm>
            <a:off x="502920" y="2756147"/>
            <a:ext cx="1549301" cy="0"/>
          </a:xfrm>
          <a:prstGeom prst="line">
            <a:avLst/>
          </a:prstGeom>
          <a:noFill/>
          <a:ln w="38100">
            <a:solidFill>
              <a:srgbClr val="06B6D4"/>
            </a:solidFill>
            <a:prstDash val="solid"/>
          </a:ln>
        </p:spPr>
        <p:txBody>
          <a:bodyPr/>
          <a:lstStyle/>
          <a:p>
            <a:endParaRPr lang="en-US"/>
          </a:p>
        </p:txBody>
      </p:sp>
      <p:sp>
        <p:nvSpPr>
          <p:cNvPr id="54" name="Text 10">
            <a:extLst>
              <a:ext uri="{FF2B5EF4-FFF2-40B4-BE49-F238E27FC236}">
                <a16:creationId xmlns:a16="http://schemas.microsoft.com/office/drawing/2014/main" id="{E3943E48-807D-B2D4-193C-F60F5EE9B460}"/>
              </a:ext>
            </a:extLst>
          </p:cNvPr>
          <p:cNvSpPr/>
          <p:nvPr/>
        </p:nvSpPr>
        <p:spPr>
          <a:xfrm>
            <a:off x="6044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wiki-ingest</a:t>
            </a:r>
            <a:endParaRPr lang="en-US" sz="1050" dirty="0"/>
          </a:p>
        </p:txBody>
      </p:sp>
      <p:sp>
        <p:nvSpPr>
          <p:cNvPr id="56" name="Text 11">
            <a:extLst>
              <a:ext uri="{FF2B5EF4-FFF2-40B4-BE49-F238E27FC236}">
                <a16:creationId xmlns:a16="http://schemas.microsoft.com/office/drawing/2014/main" id="{AA860A1B-D4B3-58DE-6071-4DE876B595B8}"/>
              </a:ext>
            </a:extLst>
          </p:cNvPr>
          <p:cNvSpPr/>
          <p:nvPr/>
        </p:nvSpPr>
        <p:spPr>
          <a:xfrm>
            <a:off x="6044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structured ingest of PDFs &amp; web</a:t>
            </a:r>
            <a:endParaRPr lang="en-US" sz="900" dirty="0"/>
          </a:p>
        </p:txBody>
      </p:sp>
      <p:sp>
        <p:nvSpPr>
          <p:cNvPr id="58" name="Text 12">
            <a:extLst>
              <a:ext uri="{FF2B5EF4-FFF2-40B4-BE49-F238E27FC236}">
                <a16:creationId xmlns:a16="http://schemas.microsoft.com/office/drawing/2014/main" id="{EAA9FE32-ED7C-6409-4E0F-BB3DDF6AC410}"/>
              </a:ext>
            </a:extLst>
          </p:cNvPr>
          <p:cNvSpPr/>
          <p:nvPr/>
        </p:nvSpPr>
        <p:spPr>
          <a:xfrm>
            <a:off x="21793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60" name="Shape 13">
            <a:extLst>
              <a:ext uri="{FF2B5EF4-FFF2-40B4-BE49-F238E27FC236}">
                <a16:creationId xmlns:a16="http://schemas.microsoft.com/office/drawing/2014/main" id="{612AB1B6-A252-D2B6-2E95-B402B0B05F6F}"/>
              </a:ext>
            </a:extLst>
          </p:cNvPr>
          <p:cNvSpPr/>
          <p:nvPr/>
        </p:nvSpPr>
        <p:spPr>
          <a:xfrm>
            <a:off x="2179320" y="2756147"/>
            <a:ext cx="1549301" cy="0"/>
          </a:xfrm>
          <a:prstGeom prst="line">
            <a:avLst/>
          </a:prstGeom>
          <a:noFill/>
          <a:ln w="38100">
            <a:solidFill>
              <a:srgbClr val="06B6D4"/>
            </a:solidFill>
            <a:prstDash val="solid"/>
          </a:ln>
        </p:spPr>
        <p:txBody>
          <a:bodyPr/>
          <a:lstStyle/>
          <a:p>
            <a:endParaRPr lang="en-US"/>
          </a:p>
        </p:txBody>
      </p:sp>
      <p:sp>
        <p:nvSpPr>
          <p:cNvPr id="62" name="Text 14">
            <a:extLst>
              <a:ext uri="{FF2B5EF4-FFF2-40B4-BE49-F238E27FC236}">
                <a16:creationId xmlns:a16="http://schemas.microsoft.com/office/drawing/2014/main" id="{5626185D-3AE4-F439-2E83-91A7E9CC87E6}"/>
              </a:ext>
            </a:extLst>
          </p:cNvPr>
          <p:cNvSpPr/>
          <p:nvPr/>
        </p:nvSpPr>
        <p:spPr>
          <a:xfrm>
            <a:off x="22808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wiki-query</a:t>
            </a:r>
            <a:endParaRPr lang="en-US" sz="1050" dirty="0"/>
          </a:p>
        </p:txBody>
      </p:sp>
      <p:sp>
        <p:nvSpPr>
          <p:cNvPr id="64" name="Text 15">
            <a:extLst>
              <a:ext uri="{FF2B5EF4-FFF2-40B4-BE49-F238E27FC236}">
                <a16:creationId xmlns:a16="http://schemas.microsoft.com/office/drawing/2014/main" id="{66083118-6877-0C1B-7564-63CA92514184}"/>
              </a:ext>
            </a:extLst>
          </p:cNvPr>
          <p:cNvSpPr/>
          <p:nvPr/>
        </p:nvSpPr>
        <p:spPr>
          <a:xfrm>
            <a:off x="22808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retrieval from the knowledge base</a:t>
            </a:r>
            <a:endParaRPr lang="en-US" sz="900" dirty="0"/>
          </a:p>
        </p:txBody>
      </p:sp>
      <p:sp>
        <p:nvSpPr>
          <p:cNvPr id="66" name="Text 16">
            <a:extLst>
              <a:ext uri="{FF2B5EF4-FFF2-40B4-BE49-F238E27FC236}">
                <a16:creationId xmlns:a16="http://schemas.microsoft.com/office/drawing/2014/main" id="{4B2C7694-1310-1800-1C56-BC2C28CA1200}"/>
              </a:ext>
            </a:extLst>
          </p:cNvPr>
          <p:cNvSpPr/>
          <p:nvPr/>
        </p:nvSpPr>
        <p:spPr>
          <a:xfrm>
            <a:off x="38557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68" name="Shape 17">
            <a:extLst>
              <a:ext uri="{FF2B5EF4-FFF2-40B4-BE49-F238E27FC236}">
                <a16:creationId xmlns:a16="http://schemas.microsoft.com/office/drawing/2014/main" id="{F915DE0E-B567-8C9F-5474-86183DFA4C64}"/>
              </a:ext>
            </a:extLst>
          </p:cNvPr>
          <p:cNvSpPr/>
          <p:nvPr/>
        </p:nvSpPr>
        <p:spPr>
          <a:xfrm>
            <a:off x="3855720" y="2756147"/>
            <a:ext cx="1549301" cy="0"/>
          </a:xfrm>
          <a:prstGeom prst="line">
            <a:avLst/>
          </a:prstGeom>
          <a:noFill/>
          <a:ln w="38100">
            <a:solidFill>
              <a:srgbClr val="06B6D4"/>
            </a:solidFill>
            <a:prstDash val="solid"/>
          </a:ln>
        </p:spPr>
        <p:txBody>
          <a:bodyPr/>
          <a:lstStyle/>
          <a:p>
            <a:endParaRPr lang="en-US"/>
          </a:p>
        </p:txBody>
      </p:sp>
      <p:sp>
        <p:nvSpPr>
          <p:cNvPr id="70" name="Text 18">
            <a:extLst>
              <a:ext uri="{FF2B5EF4-FFF2-40B4-BE49-F238E27FC236}">
                <a16:creationId xmlns:a16="http://schemas.microsoft.com/office/drawing/2014/main" id="{CF9931DE-B995-686C-813D-EEC951E028FC}"/>
              </a:ext>
            </a:extLst>
          </p:cNvPr>
          <p:cNvSpPr/>
          <p:nvPr/>
        </p:nvSpPr>
        <p:spPr>
          <a:xfrm>
            <a:off x="39572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wiki-lint</a:t>
            </a:r>
            <a:endParaRPr lang="en-US" sz="1050" dirty="0"/>
          </a:p>
        </p:txBody>
      </p:sp>
      <p:sp>
        <p:nvSpPr>
          <p:cNvPr id="72" name="Text 19">
            <a:extLst>
              <a:ext uri="{FF2B5EF4-FFF2-40B4-BE49-F238E27FC236}">
                <a16:creationId xmlns:a16="http://schemas.microsoft.com/office/drawing/2014/main" id="{ECDEC350-4F4A-6753-1D7A-E96B56427162}"/>
              </a:ext>
            </a:extLst>
          </p:cNvPr>
          <p:cNvSpPr/>
          <p:nvPr/>
        </p:nvSpPr>
        <p:spPr>
          <a:xfrm>
            <a:off x="39572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broken links, contradictions, stale data</a:t>
            </a:r>
            <a:endParaRPr lang="en-US" sz="900" dirty="0"/>
          </a:p>
        </p:txBody>
      </p:sp>
      <p:sp>
        <p:nvSpPr>
          <p:cNvPr id="74" name="Text 20">
            <a:extLst>
              <a:ext uri="{FF2B5EF4-FFF2-40B4-BE49-F238E27FC236}">
                <a16:creationId xmlns:a16="http://schemas.microsoft.com/office/drawing/2014/main" id="{F589263F-A795-B3EF-E741-7888BA34BDD8}"/>
              </a:ext>
            </a:extLst>
          </p:cNvPr>
          <p:cNvSpPr/>
          <p:nvPr/>
        </p:nvSpPr>
        <p:spPr>
          <a:xfrm>
            <a:off x="55321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76" name="Shape 21">
            <a:extLst>
              <a:ext uri="{FF2B5EF4-FFF2-40B4-BE49-F238E27FC236}">
                <a16:creationId xmlns:a16="http://schemas.microsoft.com/office/drawing/2014/main" id="{B9E8CEC6-CC6F-1F30-6012-485E92E90111}"/>
              </a:ext>
            </a:extLst>
          </p:cNvPr>
          <p:cNvSpPr/>
          <p:nvPr/>
        </p:nvSpPr>
        <p:spPr>
          <a:xfrm>
            <a:off x="5532120" y="2756147"/>
            <a:ext cx="1549301" cy="0"/>
          </a:xfrm>
          <a:prstGeom prst="line">
            <a:avLst/>
          </a:prstGeom>
          <a:noFill/>
          <a:ln w="38100">
            <a:solidFill>
              <a:srgbClr val="06B6D4"/>
            </a:solidFill>
            <a:prstDash val="solid"/>
          </a:ln>
        </p:spPr>
        <p:txBody>
          <a:bodyPr/>
          <a:lstStyle/>
          <a:p>
            <a:endParaRPr lang="en-US"/>
          </a:p>
        </p:txBody>
      </p:sp>
      <p:sp>
        <p:nvSpPr>
          <p:cNvPr id="78" name="Text 22">
            <a:extLst>
              <a:ext uri="{FF2B5EF4-FFF2-40B4-BE49-F238E27FC236}">
                <a16:creationId xmlns:a16="http://schemas.microsoft.com/office/drawing/2014/main" id="{74D9E325-5FA2-EC42-8B35-B79C307F19BD}"/>
              </a:ext>
            </a:extLst>
          </p:cNvPr>
          <p:cNvSpPr/>
          <p:nvPr/>
        </p:nvSpPr>
        <p:spPr>
          <a:xfrm>
            <a:off x="56336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verify-claims</a:t>
            </a:r>
            <a:endParaRPr lang="en-US" sz="1050" dirty="0"/>
          </a:p>
        </p:txBody>
      </p:sp>
      <p:sp>
        <p:nvSpPr>
          <p:cNvPr id="80" name="Text 23">
            <a:extLst>
              <a:ext uri="{FF2B5EF4-FFF2-40B4-BE49-F238E27FC236}">
                <a16:creationId xmlns:a16="http://schemas.microsoft.com/office/drawing/2014/main" id="{B24F67BA-B615-201E-AD52-CE0773553B1C}"/>
              </a:ext>
            </a:extLst>
          </p:cNvPr>
          <p:cNvSpPr/>
          <p:nvPr/>
        </p:nvSpPr>
        <p:spPr>
          <a:xfrm>
            <a:off x="56336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trace claims to primary sources</a:t>
            </a:r>
            <a:endParaRPr lang="en-US" sz="900" dirty="0"/>
          </a:p>
        </p:txBody>
      </p:sp>
      <p:sp>
        <p:nvSpPr>
          <p:cNvPr id="82" name="Text 24">
            <a:extLst>
              <a:ext uri="{FF2B5EF4-FFF2-40B4-BE49-F238E27FC236}">
                <a16:creationId xmlns:a16="http://schemas.microsoft.com/office/drawing/2014/main" id="{77C366FD-6384-04E5-149A-0D45911758BF}"/>
              </a:ext>
            </a:extLst>
          </p:cNvPr>
          <p:cNvSpPr/>
          <p:nvPr/>
        </p:nvSpPr>
        <p:spPr>
          <a:xfrm>
            <a:off x="7208520" y="2737097"/>
            <a:ext cx="1549301" cy="990600"/>
          </a:xfrm>
          <a:prstGeom prst="rect">
            <a:avLst/>
          </a:prstGeom>
          <a:solidFill>
            <a:srgbClr val="EFF6FF"/>
          </a:solidFill>
          <a:ln/>
        </p:spPr>
        <p:txBody>
          <a:bodyPr wrap="square" rtlCol="0" anchor="ctr"/>
          <a:lstStyle/>
          <a:p>
            <a:pPr marL="0" indent="0">
              <a:buNone/>
            </a:pPr>
            <a:endParaRPr lang="en-US" dirty="0"/>
          </a:p>
        </p:txBody>
      </p:sp>
      <p:sp>
        <p:nvSpPr>
          <p:cNvPr id="84" name="Shape 25">
            <a:extLst>
              <a:ext uri="{FF2B5EF4-FFF2-40B4-BE49-F238E27FC236}">
                <a16:creationId xmlns:a16="http://schemas.microsoft.com/office/drawing/2014/main" id="{D82DA2C7-49A8-AE26-FB19-DF5AA3BC73F1}"/>
              </a:ext>
            </a:extLst>
          </p:cNvPr>
          <p:cNvSpPr/>
          <p:nvPr/>
        </p:nvSpPr>
        <p:spPr>
          <a:xfrm>
            <a:off x="7208520" y="2756147"/>
            <a:ext cx="1549301" cy="0"/>
          </a:xfrm>
          <a:prstGeom prst="line">
            <a:avLst/>
          </a:prstGeom>
          <a:noFill/>
          <a:ln w="38100">
            <a:solidFill>
              <a:srgbClr val="06B6D4"/>
            </a:solidFill>
            <a:prstDash val="solid"/>
          </a:ln>
        </p:spPr>
        <p:txBody>
          <a:bodyPr/>
          <a:lstStyle/>
          <a:p>
            <a:endParaRPr lang="en-US"/>
          </a:p>
        </p:txBody>
      </p:sp>
      <p:sp>
        <p:nvSpPr>
          <p:cNvPr id="86" name="Text 26">
            <a:extLst>
              <a:ext uri="{FF2B5EF4-FFF2-40B4-BE49-F238E27FC236}">
                <a16:creationId xmlns:a16="http://schemas.microsoft.com/office/drawing/2014/main" id="{60934362-7243-62B7-685E-F7FFB2BAA1EC}"/>
              </a:ext>
            </a:extLst>
          </p:cNvPr>
          <p:cNvSpPr/>
          <p:nvPr/>
        </p:nvSpPr>
        <p:spPr>
          <a:xfrm>
            <a:off x="7310021" y="2889497"/>
            <a:ext cx="1373225" cy="152400"/>
          </a:xfrm>
          <a:prstGeom prst="rect">
            <a:avLst/>
          </a:prstGeom>
          <a:noFill/>
          <a:ln/>
        </p:spPr>
        <p:txBody>
          <a:bodyPr wrap="square" lIns="0" tIns="0" rIns="0" bIns="0" rtlCol="0" anchor="t"/>
          <a:lstStyle/>
          <a:p>
            <a:pPr marL="0" indent="0" algn="l">
              <a:spcAft>
                <a:spcPts val="300"/>
              </a:spcAft>
              <a:buNone/>
            </a:pPr>
            <a:r>
              <a:rPr lang="en-US" sz="1050" b="1" dirty="0">
                <a:solidFill>
                  <a:srgbClr val="0F172A"/>
                </a:solidFill>
                <a:latin typeface="Arial" pitchFamily="34" charset="0"/>
                <a:ea typeface="Arial" pitchFamily="34" charset="-122"/>
                <a:cs typeface="Arial" pitchFamily="34" charset="-120"/>
              </a:rPr>
              <a:t>find-references</a:t>
            </a:r>
            <a:endParaRPr lang="en-US" sz="1050" dirty="0"/>
          </a:p>
        </p:txBody>
      </p:sp>
      <p:sp>
        <p:nvSpPr>
          <p:cNvPr id="88" name="Text 27">
            <a:extLst>
              <a:ext uri="{FF2B5EF4-FFF2-40B4-BE49-F238E27FC236}">
                <a16:creationId xmlns:a16="http://schemas.microsoft.com/office/drawing/2014/main" id="{603C3DAE-97BA-0820-63A4-8A0A69490352}"/>
              </a:ext>
            </a:extLst>
          </p:cNvPr>
          <p:cNvSpPr/>
          <p:nvPr/>
        </p:nvSpPr>
        <p:spPr>
          <a:xfrm>
            <a:off x="7310021" y="3079997"/>
            <a:ext cx="1373225" cy="274141"/>
          </a:xfrm>
          <a:prstGeom prst="rect">
            <a:avLst/>
          </a:prstGeom>
          <a:noFill/>
          <a:ln/>
        </p:spPr>
        <p:txBody>
          <a:bodyPr wrap="square" lIns="0" tIns="0" rIns="0" bIns="0" rtlCol="0" anchor="t"/>
          <a:lstStyle/>
          <a:p>
            <a:pPr marL="0" indent="0" algn="l">
              <a:lnSpc>
                <a:spcPts val="1080"/>
              </a:lnSpc>
              <a:buNone/>
            </a:pPr>
            <a:r>
              <a:rPr lang="en-US" sz="900" dirty="0">
                <a:solidFill>
                  <a:srgbClr val="64748B"/>
                </a:solidFill>
                <a:latin typeface="Arial" pitchFamily="34" charset="0"/>
                <a:ea typeface="Arial" pitchFamily="34" charset="-122"/>
                <a:cs typeface="Arial" pitchFamily="34" charset="-120"/>
              </a:rPr>
              <a:t>identify supporting literature</a:t>
            </a:r>
            <a:endParaRPr lang="en-US" sz="900" dirty="0"/>
          </a:p>
        </p:txBody>
      </p:sp>
      <p:sp>
        <p:nvSpPr>
          <p:cNvPr id="90" name="Text 28">
            <a:extLst>
              <a:ext uri="{FF2B5EF4-FFF2-40B4-BE49-F238E27FC236}">
                <a16:creationId xmlns:a16="http://schemas.microsoft.com/office/drawing/2014/main" id="{952CD5DA-DBE0-80B6-132C-AD7F7A1E46BB}"/>
              </a:ext>
            </a:extLst>
          </p:cNvPr>
          <p:cNvSpPr/>
          <p:nvPr/>
        </p:nvSpPr>
        <p:spPr>
          <a:xfrm>
            <a:off x="502920" y="4032497"/>
            <a:ext cx="1421955" cy="152400"/>
          </a:xfrm>
          <a:prstGeom prst="rect">
            <a:avLst/>
          </a:prstGeom>
          <a:noFill/>
          <a:ln/>
        </p:spPr>
        <p:txBody>
          <a:bodyPr wrap="square" lIns="0" tIns="0" rIns="0" bIns="0" rtlCol="0" anchor="t"/>
          <a:lstStyle/>
          <a:p>
            <a:pPr marL="0" indent="0" algn="l">
              <a:buNone/>
            </a:pPr>
            <a:r>
              <a:rPr lang="en-US" sz="1100" b="1" dirty="0">
                <a:solidFill>
                  <a:srgbClr val="2563EB"/>
                </a:solidFill>
                <a:latin typeface="Arial" pitchFamily="34" charset="0"/>
                <a:ea typeface="Arial" pitchFamily="34" charset="-122"/>
                <a:cs typeface="Arial" pitchFamily="34" charset="-120"/>
              </a:rPr>
              <a:t>PERSISTENT STORE</a:t>
            </a:r>
            <a:endParaRPr lang="en-US" sz="1100" dirty="0"/>
          </a:p>
        </p:txBody>
      </p:sp>
      <p:sp>
        <p:nvSpPr>
          <p:cNvPr id="92" name="Text 29">
            <a:extLst>
              <a:ext uri="{FF2B5EF4-FFF2-40B4-BE49-F238E27FC236}">
                <a16:creationId xmlns:a16="http://schemas.microsoft.com/office/drawing/2014/main" id="{E7097286-D03D-8536-B827-3E24ECC2E9ED}"/>
              </a:ext>
            </a:extLst>
          </p:cNvPr>
          <p:cNvSpPr/>
          <p:nvPr/>
        </p:nvSpPr>
        <p:spPr>
          <a:xfrm>
            <a:off x="502920" y="4235648"/>
            <a:ext cx="8280350" cy="450652"/>
          </a:xfrm>
          <a:prstGeom prst="rect">
            <a:avLst/>
          </a:prstGeom>
          <a:solidFill>
            <a:srgbClr val="06B6D4"/>
          </a:solidFill>
          <a:ln/>
        </p:spPr>
        <p:txBody>
          <a:bodyPr wrap="square" rtlCol="0" anchor="ctr"/>
          <a:lstStyle/>
          <a:p>
            <a:pPr marL="0" indent="0">
              <a:buNone/>
            </a:pPr>
            <a:endParaRPr lang="en-US" dirty="0"/>
          </a:p>
        </p:txBody>
      </p:sp>
      <p:sp>
        <p:nvSpPr>
          <p:cNvPr id="94" name="Text 30">
            <a:extLst>
              <a:ext uri="{FF2B5EF4-FFF2-40B4-BE49-F238E27FC236}">
                <a16:creationId xmlns:a16="http://schemas.microsoft.com/office/drawing/2014/main" id="{D8D57C81-CB22-54A9-3775-8693B6897D0B}"/>
              </a:ext>
            </a:extLst>
          </p:cNvPr>
          <p:cNvSpPr/>
          <p:nvPr/>
        </p:nvSpPr>
        <p:spPr>
          <a:xfrm>
            <a:off x="706071" y="4375248"/>
            <a:ext cx="8031531" cy="171450"/>
          </a:xfrm>
          <a:prstGeom prst="rect">
            <a:avLst/>
          </a:prstGeom>
          <a:noFill/>
          <a:ln/>
        </p:spPr>
        <p:txBody>
          <a:bodyPr wrap="square" lIns="0" tIns="0" rIns="0" bIns="0" rtlCol="0" anchor="t"/>
          <a:lstStyle/>
          <a:p>
            <a:pPr marL="0" indent="0" algn="l">
              <a:buNone/>
            </a:pPr>
            <a:r>
              <a:rPr lang="en-US" sz="1200" b="1" dirty="0">
                <a:solidFill>
                  <a:srgbClr val="FFFFFF"/>
                </a:solidFill>
                <a:latin typeface="Arial" pitchFamily="34" charset="0"/>
                <a:ea typeface="Arial" pitchFamily="34" charset="-122"/>
                <a:cs typeface="Arial" pitchFamily="34" charset="-120"/>
              </a:rPr>
              <a:t>Shared git wiki knowledge base — read across all three cases simultaneously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a:lnSpc>
                <a:spcPts val="2415"/>
              </a:lnSpc>
            </a:pPr>
            <a:r>
              <a:rPr lang="en-US" sz="2000" b="1" dirty="0">
                <a:solidFill>
                  <a:srgbClr val="0F172A"/>
                </a:solidFill>
                <a:latin typeface="Arial" pitchFamily="34" charset="0"/>
                <a:ea typeface="Arial" pitchFamily="34" charset="-122"/>
                <a:cs typeface="Arial" pitchFamily="34" charset="-120"/>
              </a:rPr>
              <a:t>A shared git wiki let three cases be compared without manual data hand-offs</a:t>
            </a:r>
            <a:endParaRPr lang="en-US" sz="2000" dirty="0"/>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2">
            <a:extLst>
              <a:ext uri="{FF2B5EF4-FFF2-40B4-BE49-F238E27FC236}">
                <a16:creationId xmlns:a16="http://schemas.microsoft.com/office/drawing/2014/main" id="{48035EEB-7F4A-51DA-0FD5-B120A84A2CC2}"/>
              </a:ext>
            </a:extLst>
          </p:cNvPr>
          <p:cNvSpPr/>
          <p:nvPr/>
        </p:nvSpPr>
        <p:spPr>
          <a:xfrm>
            <a:off x="502920" y="1492151"/>
            <a:ext cx="4041648" cy="200025"/>
          </a:xfrm>
          <a:prstGeom prst="rect">
            <a:avLst/>
          </a:prstGeom>
          <a:noFill/>
          <a:ln/>
        </p:spPr>
        <p:txBody>
          <a:bodyPr wrap="square" lIns="0" tIns="0" rIns="0" bIns="0" rtlCol="0" anchor="t"/>
          <a:lstStyle/>
          <a:p>
            <a:pPr marL="0" indent="0" algn="l">
              <a:spcAft>
                <a:spcPts val="1000"/>
              </a:spcAft>
              <a:buNone/>
            </a:pPr>
            <a:r>
              <a:rPr lang="en-US" sz="1300" b="1" dirty="0">
                <a:solidFill>
                  <a:srgbClr val="2563EB"/>
                </a:solidFill>
                <a:latin typeface="Arial" pitchFamily="34" charset="0"/>
                <a:ea typeface="Arial" pitchFamily="34" charset="-122"/>
                <a:cs typeface="Arial" pitchFamily="34" charset="-120"/>
              </a:rPr>
              <a:t>One repository, four layers</a:t>
            </a:r>
            <a:endParaRPr lang="en-US" sz="1300" dirty="0"/>
          </a:p>
        </p:txBody>
      </p:sp>
      <p:sp>
        <p:nvSpPr>
          <p:cNvPr id="52" name="Text 3">
            <a:extLst>
              <a:ext uri="{FF2B5EF4-FFF2-40B4-BE49-F238E27FC236}">
                <a16:creationId xmlns:a16="http://schemas.microsoft.com/office/drawing/2014/main" id="{BA7F00AB-A470-6075-30FF-CC9A52BCBC7C}"/>
              </a:ext>
            </a:extLst>
          </p:cNvPr>
          <p:cNvSpPr/>
          <p:nvPr/>
        </p:nvSpPr>
        <p:spPr>
          <a:xfrm>
            <a:off x="502920" y="1819126"/>
            <a:ext cx="3962400" cy="1529655"/>
          </a:xfrm>
          <a:prstGeom prst="rect">
            <a:avLst/>
          </a:prstGeom>
          <a:solidFill>
            <a:srgbClr val="0F172A"/>
          </a:solidFill>
          <a:ln/>
        </p:spPr>
        <p:txBody>
          <a:bodyPr wrap="square" rtlCol="0" anchor="ctr"/>
          <a:lstStyle/>
          <a:p>
            <a:pPr marL="0" indent="0">
              <a:buNone/>
            </a:pPr>
            <a:endParaRPr lang="en-US" dirty="0"/>
          </a:p>
        </p:txBody>
      </p:sp>
      <p:sp>
        <p:nvSpPr>
          <p:cNvPr id="54" name="Text 4">
            <a:extLst>
              <a:ext uri="{FF2B5EF4-FFF2-40B4-BE49-F238E27FC236}">
                <a16:creationId xmlns:a16="http://schemas.microsoft.com/office/drawing/2014/main" id="{FABC788A-6C31-6A69-10A8-823536026B69}"/>
              </a:ext>
            </a:extLst>
          </p:cNvPr>
          <p:cNvSpPr/>
          <p:nvPr/>
        </p:nvSpPr>
        <p:spPr>
          <a:xfrm>
            <a:off x="706071" y="1996827"/>
            <a:ext cx="3627221" cy="171450"/>
          </a:xfrm>
          <a:prstGeom prst="rect">
            <a:avLst/>
          </a:prstGeom>
          <a:noFill/>
          <a:ln/>
        </p:spPr>
        <p:txBody>
          <a:bodyPr wrap="square" lIns="0" tIns="0" rIns="0" bIns="0" rtlCol="0" anchor="t"/>
          <a:lstStyle/>
          <a:p>
            <a:pPr marL="0" indent="0" algn="l">
              <a:spcAft>
                <a:spcPts val="500"/>
              </a:spcAft>
              <a:buNone/>
            </a:pPr>
            <a:r>
              <a:rPr lang="en-US" sz="1150" b="1" dirty="0">
                <a:solidFill>
                  <a:srgbClr val="06B6D4"/>
                </a:solidFill>
                <a:latin typeface="Courier New" pitchFamily="34" charset="0"/>
                <a:ea typeface="Courier New" pitchFamily="34" charset="-122"/>
                <a:cs typeface="Courier New" pitchFamily="34" charset="-120"/>
              </a:rPr>
              <a:t>research/wiki/</a:t>
            </a:r>
            <a:endParaRPr lang="en-US" sz="1150" dirty="0"/>
          </a:p>
        </p:txBody>
      </p:sp>
      <p:sp>
        <p:nvSpPr>
          <p:cNvPr id="56" name="Text 5">
            <a:extLst>
              <a:ext uri="{FF2B5EF4-FFF2-40B4-BE49-F238E27FC236}">
                <a16:creationId xmlns:a16="http://schemas.microsoft.com/office/drawing/2014/main" id="{A4B00112-FA32-45B8-3E73-79476FA57626}"/>
              </a:ext>
            </a:extLst>
          </p:cNvPr>
          <p:cNvSpPr/>
          <p:nvPr/>
        </p:nvSpPr>
        <p:spPr>
          <a:xfrm>
            <a:off x="706071" y="2231678"/>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saic-motor/</a:t>
            </a:r>
            <a:endParaRPr lang="en-US" sz="1150" dirty="0"/>
          </a:p>
        </p:txBody>
      </p:sp>
      <p:sp>
        <p:nvSpPr>
          <p:cNvPr id="58" name="Text 6">
            <a:extLst>
              <a:ext uri="{FF2B5EF4-FFF2-40B4-BE49-F238E27FC236}">
                <a16:creationId xmlns:a16="http://schemas.microsoft.com/office/drawing/2014/main" id="{C03D925C-56EC-ECE8-959C-91B77229E556}"/>
              </a:ext>
            </a:extLst>
          </p:cNvPr>
          <p:cNvSpPr/>
          <p:nvPr/>
        </p:nvSpPr>
        <p:spPr>
          <a:xfrm>
            <a:off x="706071" y="2466529"/>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byd/</a:t>
            </a:r>
            <a:endParaRPr lang="en-US" sz="1150" dirty="0"/>
          </a:p>
        </p:txBody>
      </p:sp>
      <p:sp>
        <p:nvSpPr>
          <p:cNvPr id="60" name="Text 7">
            <a:extLst>
              <a:ext uri="{FF2B5EF4-FFF2-40B4-BE49-F238E27FC236}">
                <a16:creationId xmlns:a16="http://schemas.microsoft.com/office/drawing/2014/main" id="{2169690D-3584-8825-7DE3-1E112A4EAB15}"/>
              </a:ext>
            </a:extLst>
          </p:cNvPr>
          <p:cNvSpPr/>
          <p:nvPr/>
        </p:nvSpPr>
        <p:spPr>
          <a:xfrm>
            <a:off x="706071" y="2701379"/>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geely/</a:t>
            </a:r>
            <a:endParaRPr lang="en-US" sz="1150" dirty="0"/>
          </a:p>
        </p:txBody>
      </p:sp>
      <p:sp>
        <p:nvSpPr>
          <p:cNvPr id="62" name="Text 8">
            <a:extLst>
              <a:ext uri="{FF2B5EF4-FFF2-40B4-BE49-F238E27FC236}">
                <a16:creationId xmlns:a16="http://schemas.microsoft.com/office/drawing/2014/main" id="{D6A29FC5-DD57-AEA7-EDC6-E93209490C0D}"/>
              </a:ext>
            </a:extLst>
          </p:cNvPr>
          <p:cNvSpPr/>
          <p:nvPr/>
        </p:nvSpPr>
        <p:spPr>
          <a:xfrm>
            <a:off x="706071" y="2936230"/>
            <a:ext cx="3627221" cy="171450"/>
          </a:xfrm>
          <a:prstGeom prst="rect">
            <a:avLst/>
          </a:prstGeom>
          <a:noFill/>
          <a:ln/>
        </p:spPr>
        <p:txBody>
          <a:bodyPr wrap="square" lIns="0" tIns="0" rIns="0" bIns="0" rtlCol="0" anchor="t"/>
          <a:lstStyle/>
          <a:p>
            <a:pPr marL="0" indent="0" algn="l">
              <a:spcAft>
                <a:spcPts val="500"/>
              </a:spcAft>
              <a:buNone/>
            </a:pPr>
            <a:r>
              <a:rPr lang="en-US" sz="1150" dirty="0">
                <a:solidFill>
                  <a:srgbClr val="E2E8F0"/>
                </a:solidFill>
                <a:latin typeface="Courier New" pitchFamily="34" charset="0"/>
                <a:ea typeface="Courier New" pitchFamily="34" charset="-122"/>
                <a:cs typeface="Courier New" pitchFamily="34" charset="-120"/>
              </a:rPr>
              <a:t>shared/  EU reg · IEA data</a:t>
            </a:r>
            <a:endParaRPr lang="en-US" sz="1150" dirty="0"/>
          </a:p>
        </p:txBody>
      </p:sp>
      <p:sp>
        <p:nvSpPr>
          <p:cNvPr id="64" name="Text 9">
            <a:extLst>
              <a:ext uri="{FF2B5EF4-FFF2-40B4-BE49-F238E27FC236}">
                <a16:creationId xmlns:a16="http://schemas.microsoft.com/office/drawing/2014/main" id="{E2B64F65-9694-700D-D183-0D5768BD80AF}"/>
              </a:ext>
            </a:extLst>
          </p:cNvPr>
          <p:cNvSpPr/>
          <p:nvPr/>
        </p:nvSpPr>
        <p:spPr>
          <a:xfrm>
            <a:off x="4871621" y="1492151"/>
            <a:ext cx="3989731" cy="200025"/>
          </a:xfrm>
          <a:prstGeom prst="rect">
            <a:avLst/>
          </a:prstGeom>
          <a:noFill/>
          <a:ln/>
        </p:spPr>
        <p:txBody>
          <a:bodyPr wrap="square" lIns="0" tIns="0" rIns="0" bIns="0" rtlCol="0" anchor="t"/>
          <a:lstStyle/>
          <a:p>
            <a:pPr marL="0" indent="0" algn="l">
              <a:spcAft>
                <a:spcPts val="1000"/>
              </a:spcAft>
              <a:buNone/>
            </a:pPr>
            <a:r>
              <a:rPr lang="en-US" sz="1300" b="1" dirty="0">
                <a:solidFill>
                  <a:srgbClr val="2563EB"/>
                </a:solidFill>
                <a:latin typeface="Arial" pitchFamily="34" charset="0"/>
                <a:ea typeface="Arial" pitchFamily="34" charset="-122"/>
                <a:cs typeface="Arial" pitchFamily="34" charset="-120"/>
              </a:rPr>
              <a:t>Discipline that kept it clean</a:t>
            </a:r>
            <a:endParaRPr lang="en-US" sz="1300" dirty="0"/>
          </a:p>
        </p:txBody>
      </p:sp>
      <p:sp>
        <p:nvSpPr>
          <p:cNvPr id="66" name="Text 10">
            <a:extLst>
              <a:ext uri="{FF2B5EF4-FFF2-40B4-BE49-F238E27FC236}">
                <a16:creationId xmlns:a16="http://schemas.microsoft.com/office/drawing/2014/main" id="{80705E64-932F-F0B2-E249-5D9F34DBCEE2}"/>
              </a:ext>
            </a:extLst>
          </p:cNvPr>
          <p:cNvSpPr/>
          <p:nvPr/>
        </p:nvSpPr>
        <p:spPr>
          <a:xfrm>
            <a:off x="4871621" y="1819126"/>
            <a:ext cx="3911501" cy="1384548"/>
          </a:xfrm>
          <a:prstGeom prst="rect">
            <a:avLst/>
          </a:prstGeom>
          <a:noFill/>
          <a:ln/>
        </p:spPr>
        <p:txBody>
          <a:bodyPr wrap="square" lIns="95250" tIns="0" rIns="0" bIns="0" rtlCol="0" anchor="t"/>
          <a:lstStyle/>
          <a:p>
            <a:pPr marL="95250" indent="-95250" algn="l">
              <a:lnSpc>
                <a:spcPts val="1700"/>
              </a:lnSpc>
              <a:spcAft>
                <a:spcPts val="1200"/>
              </a:spcAft>
              <a:buSzPct val="100000"/>
              <a:buChar char="•"/>
            </a:pPr>
            <a:r>
              <a:rPr lang="en-US" sz="1250" b="1" dirty="0">
                <a:solidFill>
                  <a:srgbClr val="1E293B"/>
                </a:solidFill>
                <a:latin typeface="Arial" pitchFamily="34" charset="0"/>
                <a:ea typeface="Arial" pitchFamily="34" charset="-122"/>
                <a:cs typeface="Arial" pitchFamily="34" charset="-120"/>
              </a:rPr>
              <a:t>Rule:</a:t>
            </a:r>
            <a:r>
              <a:rPr lang="en-US" sz="1250" dirty="0">
                <a:solidFill>
                  <a:srgbClr val="1E293B"/>
                </a:solidFill>
                <a:latin typeface="Arial" pitchFamily="34" charset="0"/>
                <a:ea typeface="Arial" pitchFamily="34" charset="-122"/>
                <a:cs typeface="Arial" pitchFamily="34" charset="-120"/>
              </a:rPr>
              <a:t> git pull before every session, git push after.</a:t>
            </a:r>
            <a:endParaRPr lang="en-US" sz="1250" dirty="0"/>
          </a:p>
          <a:p>
            <a:pPr marL="95250" indent="-95250" algn="l">
              <a:lnSpc>
                <a:spcPts val="1700"/>
              </a:lnSpc>
              <a:spcAft>
                <a:spcPts val="1200"/>
              </a:spcAft>
              <a:buSzPct val="100000"/>
              <a:buChar char="•"/>
            </a:pPr>
            <a:r>
              <a:rPr lang="en-GB" sz="1250" dirty="0">
                <a:solidFill>
                  <a:srgbClr val="1E293B"/>
                </a:solidFill>
                <a:latin typeface="Arial" pitchFamily="34" charset="0"/>
                <a:ea typeface="Arial" pitchFamily="34" charset="-122"/>
                <a:cs typeface="Arial" pitchFamily="34" charset="-120"/>
              </a:rPr>
              <a:t>Claude Code read all three wikis simultaneously, enabling direct cross-case comparison without any manual sharing.</a:t>
            </a:r>
          </a:p>
          <a:p>
            <a:pPr marL="95250" indent="-95250" algn="l">
              <a:lnSpc>
                <a:spcPts val="1700"/>
              </a:lnSpc>
              <a:spcAft>
                <a:spcPts val="1200"/>
              </a:spcAft>
              <a:buSzPct val="100000"/>
              <a:buChar char="•"/>
            </a:pPr>
            <a:r>
              <a:rPr lang="en-US" sz="1250" dirty="0">
                <a:solidFill>
                  <a:srgbClr val="1E293B"/>
                </a:solidFill>
                <a:latin typeface="Arial" pitchFamily="34" charset="0"/>
                <a:ea typeface="Arial" pitchFamily="34" charset="-122"/>
                <a:cs typeface="Arial" pitchFamily="34" charset="-120"/>
              </a:rPr>
              <a:t>One merge conflict resolved with git stash before pulling the remote state.</a:t>
            </a:r>
            <a:endParaRPr lang="en-US" sz="1250" dirty="0"/>
          </a:p>
        </p:txBody>
      </p:sp>
      <p:sp>
        <p:nvSpPr>
          <p:cNvPr id="68" name="Text 11">
            <a:extLst>
              <a:ext uri="{FF2B5EF4-FFF2-40B4-BE49-F238E27FC236}">
                <a16:creationId xmlns:a16="http://schemas.microsoft.com/office/drawing/2014/main" id="{D1DD3D36-E1A6-B14C-4903-59B1A464CEDC}"/>
              </a:ext>
            </a:extLst>
          </p:cNvPr>
          <p:cNvSpPr/>
          <p:nvPr/>
        </p:nvSpPr>
        <p:spPr>
          <a:xfrm>
            <a:off x="502920" y="4870252"/>
            <a:ext cx="4471559"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Three group members, one shared repository; each case in a dedicated subfolder.</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36E76E6-E077-B230-21D2-92CD19E776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4531F59-902C-16C7-635F-7FFBF7D4E0D9}"/>
              </a:ext>
            </a:extLst>
          </p:cNvPr>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C46D1364-D2A1-580F-C341-4FB71ADF8DAD}"/>
              </a:ext>
            </a:extLst>
          </p:cNvPr>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AI served as research infrastructure and a source-quality enforcer</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B0B7464B-A51D-2D12-BA36-7162F294476E}"/>
              </a:ext>
            </a:extLst>
          </p:cNvPr>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B0C1299D-11E8-9D24-E1B7-177D20B64A07}"/>
              </a:ext>
            </a:extLst>
          </p:cNvPr>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32C29422-9938-2672-D4E0-53433FB741D9}"/>
              </a:ext>
            </a:extLst>
          </p:cNvPr>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2">
            <a:extLst>
              <a:ext uri="{FF2B5EF4-FFF2-40B4-BE49-F238E27FC236}">
                <a16:creationId xmlns:a16="http://schemas.microsoft.com/office/drawing/2014/main" id="{FAF3BB9A-4A75-1B5A-C967-D4DEC96C638F}"/>
              </a:ext>
            </a:extLst>
          </p:cNvPr>
          <p:cNvSpPr/>
          <p:nvPr/>
        </p:nvSpPr>
        <p:spPr>
          <a:xfrm>
            <a:off x="496824" y="1504950"/>
            <a:ext cx="3962400" cy="2133600"/>
          </a:xfrm>
          <a:prstGeom prst="rect">
            <a:avLst/>
          </a:prstGeom>
          <a:solidFill>
            <a:srgbClr val="F8FAFC"/>
          </a:solidFill>
          <a:ln/>
        </p:spPr>
        <p:txBody>
          <a:bodyPr wrap="square" rtlCol="0" anchor="ctr"/>
          <a:lstStyle/>
          <a:p>
            <a:pPr marL="0" indent="0">
              <a:buNone/>
            </a:pPr>
            <a:endParaRPr lang="en-US" dirty="0"/>
          </a:p>
        </p:txBody>
      </p:sp>
      <p:sp>
        <p:nvSpPr>
          <p:cNvPr id="10" name="Shape 3">
            <a:extLst>
              <a:ext uri="{FF2B5EF4-FFF2-40B4-BE49-F238E27FC236}">
                <a16:creationId xmlns:a16="http://schemas.microsoft.com/office/drawing/2014/main" id="{1154B2D7-8128-C389-2FBB-1CB30394CAD8}"/>
              </a:ext>
            </a:extLst>
          </p:cNvPr>
          <p:cNvSpPr/>
          <p:nvPr/>
        </p:nvSpPr>
        <p:spPr>
          <a:xfrm>
            <a:off x="496824" y="1528763"/>
            <a:ext cx="3962400" cy="0"/>
          </a:xfrm>
          <a:prstGeom prst="line">
            <a:avLst/>
          </a:prstGeom>
          <a:noFill/>
          <a:ln w="47625">
            <a:solidFill>
              <a:srgbClr val="2563EB"/>
            </a:solidFill>
            <a:prstDash val="solid"/>
          </a:ln>
        </p:spPr>
        <p:txBody>
          <a:bodyPr/>
          <a:lstStyle/>
          <a:p>
            <a:endParaRPr lang="en-US"/>
          </a:p>
        </p:txBody>
      </p:sp>
      <p:sp>
        <p:nvSpPr>
          <p:cNvPr id="12" name="Text 4">
            <a:extLst>
              <a:ext uri="{FF2B5EF4-FFF2-40B4-BE49-F238E27FC236}">
                <a16:creationId xmlns:a16="http://schemas.microsoft.com/office/drawing/2014/main" id="{FBB2C960-2E36-3075-BCFD-E877EE4B2C52}"/>
              </a:ext>
            </a:extLst>
          </p:cNvPr>
          <p:cNvSpPr/>
          <p:nvPr/>
        </p:nvSpPr>
        <p:spPr>
          <a:xfrm>
            <a:off x="699975" y="1730276"/>
            <a:ext cx="3627221" cy="200025"/>
          </a:xfrm>
          <a:prstGeom prst="rect">
            <a:avLst/>
          </a:prstGeom>
          <a:noFill/>
          <a:ln/>
        </p:spPr>
        <p:txBody>
          <a:bodyPr wrap="square" lIns="0" tIns="0" rIns="0" bIns="0" rtlCol="0" anchor="t"/>
          <a:lstStyle/>
          <a:p>
            <a:pPr marL="0" indent="0" algn="l">
              <a:spcAft>
                <a:spcPts val="900"/>
              </a:spcAft>
              <a:buNone/>
            </a:pPr>
            <a:r>
              <a:rPr lang="en-US" sz="1300" b="1" dirty="0">
                <a:solidFill>
                  <a:srgbClr val="0F172A"/>
                </a:solidFill>
                <a:latin typeface="Arial" pitchFamily="34" charset="0"/>
                <a:ea typeface="Arial" pitchFamily="34" charset="-122"/>
                <a:cs typeface="Arial" pitchFamily="34" charset="-120"/>
              </a:rPr>
              <a:t>Journal quality</a:t>
            </a:r>
            <a:endParaRPr lang="en-US" sz="1300" dirty="0"/>
          </a:p>
        </p:txBody>
      </p:sp>
      <p:sp>
        <p:nvSpPr>
          <p:cNvPr id="14" name="Text 5">
            <a:extLst>
              <a:ext uri="{FF2B5EF4-FFF2-40B4-BE49-F238E27FC236}">
                <a16:creationId xmlns:a16="http://schemas.microsoft.com/office/drawing/2014/main" id="{2D53808B-AD78-FF4C-8142-03A47E1BE1C0}"/>
              </a:ext>
            </a:extLst>
          </p:cNvPr>
          <p:cNvSpPr/>
          <p:nvPr/>
        </p:nvSpPr>
        <p:spPr>
          <a:xfrm>
            <a:off x="699975" y="2044601"/>
            <a:ext cx="3556099" cy="987623"/>
          </a:xfrm>
          <a:prstGeom prst="rect">
            <a:avLst/>
          </a:prstGeom>
          <a:noFill/>
          <a:ln/>
        </p:spPr>
        <p:txBody>
          <a:bodyPr wrap="square" lIns="95250" tIns="0" rIns="0" bIns="0" rtlCol="0" anchor="t"/>
          <a:lstStyle/>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Q1</a:t>
            </a:r>
            <a:r>
              <a:rPr lang="en-US" sz="1150" dirty="0">
                <a:solidFill>
                  <a:srgbClr val="1E293B"/>
                </a:solidFill>
                <a:latin typeface="Arial" pitchFamily="34" charset="0"/>
                <a:ea typeface="Arial" pitchFamily="34" charset="-122"/>
                <a:cs typeface="Arial" pitchFamily="34" charset="-120"/>
              </a:rPr>
              <a:t> — ABS A* (AER, QJE, JFE)</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Q2</a:t>
            </a:r>
            <a:r>
              <a:rPr lang="en-US" sz="1150" dirty="0">
                <a:solidFill>
                  <a:srgbClr val="1E293B"/>
                </a:solidFill>
                <a:latin typeface="Arial" pitchFamily="34" charset="0"/>
                <a:ea typeface="Arial" pitchFamily="34" charset="-122"/>
                <a:cs typeface="Arial" pitchFamily="34" charset="-120"/>
              </a:rPr>
              <a:t> — ABS A</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Q3</a:t>
            </a:r>
            <a:r>
              <a:rPr lang="en-US" sz="1150" dirty="0">
                <a:solidFill>
                  <a:srgbClr val="1E293B"/>
                </a:solidFill>
                <a:latin typeface="Arial" pitchFamily="34" charset="0"/>
                <a:ea typeface="Arial" pitchFamily="34" charset="-122"/>
                <a:cs typeface="Arial" pitchFamily="34" charset="-120"/>
              </a:rPr>
              <a:t> — ABS B</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Q4–Q5</a:t>
            </a:r>
            <a:r>
              <a:rPr lang="en-US" sz="1150" dirty="0">
                <a:solidFill>
                  <a:srgbClr val="1E293B"/>
                </a:solidFill>
                <a:latin typeface="Arial" pitchFamily="34" charset="0"/>
                <a:ea typeface="Arial" pitchFamily="34" charset="-122"/>
                <a:cs typeface="Arial" pitchFamily="34" charset="-120"/>
              </a:rPr>
              <a:t> — lower / unreviewed web material</a:t>
            </a:r>
            <a:endParaRPr lang="en-US" sz="1150" dirty="0"/>
          </a:p>
        </p:txBody>
      </p:sp>
      <p:sp>
        <p:nvSpPr>
          <p:cNvPr id="16" name="Text 6">
            <a:extLst>
              <a:ext uri="{FF2B5EF4-FFF2-40B4-BE49-F238E27FC236}">
                <a16:creationId xmlns:a16="http://schemas.microsoft.com/office/drawing/2014/main" id="{59147066-32AB-6101-2851-F91A8F304AC6}"/>
              </a:ext>
            </a:extLst>
          </p:cNvPr>
          <p:cNvSpPr/>
          <p:nvPr/>
        </p:nvSpPr>
        <p:spPr>
          <a:xfrm>
            <a:off x="4814775" y="1504950"/>
            <a:ext cx="3962400" cy="2133600"/>
          </a:xfrm>
          <a:prstGeom prst="rect">
            <a:avLst/>
          </a:prstGeom>
          <a:solidFill>
            <a:srgbClr val="F8FAFC"/>
          </a:solidFill>
          <a:ln/>
        </p:spPr>
        <p:txBody>
          <a:bodyPr wrap="square" rtlCol="0" anchor="ctr"/>
          <a:lstStyle/>
          <a:p>
            <a:pPr marL="0" indent="0">
              <a:buNone/>
            </a:pPr>
            <a:endParaRPr lang="en-US" dirty="0"/>
          </a:p>
        </p:txBody>
      </p:sp>
      <p:sp>
        <p:nvSpPr>
          <p:cNvPr id="18" name="Shape 7">
            <a:extLst>
              <a:ext uri="{FF2B5EF4-FFF2-40B4-BE49-F238E27FC236}">
                <a16:creationId xmlns:a16="http://schemas.microsoft.com/office/drawing/2014/main" id="{574E55C0-74A5-DDC8-4848-B543A9AF0387}"/>
              </a:ext>
            </a:extLst>
          </p:cNvPr>
          <p:cNvSpPr/>
          <p:nvPr/>
        </p:nvSpPr>
        <p:spPr>
          <a:xfrm>
            <a:off x="4814775" y="1528763"/>
            <a:ext cx="3962400" cy="0"/>
          </a:xfrm>
          <a:prstGeom prst="line">
            <a:avLst/>
          </a:prstGeom>
          <a:noFill/>
          <a:ln w="47625">
            <a:solidFill>
              <a:srgbClr val="06B6D4"/>
            </a:solidFill>
            <a:prstDash val="solid"/>
          </a:ln>
        </p:spPr>
        <p:txBody>
          <a:bodyPr/>
          <a:lstStyle/>
          <a:p>
            <a:endParaRPr lang="en-US"/>
          </a:p>
        </p:txBody>
      </p:sp>
      <p:sp>
        <p:nvSpPr>
          <p:cNvPr id="20" name="Text 8">
            <a:extLst>
              <a:ext uri="{FF2B5EF4-FFF2-40B4-BE49-F238E27FC236}">
                <a16:creationId xmlns:a16="http://schemas.microsoft.com/office/drawing/2014/main" id="{249931FB-9D81-94B8-F037-4AC3A8FFF2E8}"/>
              </a:ext>
            </a:extLst>
          </p:cNvPr>
          <p:cNvSpPr/>
          <p:nvPr/>
        </p:nvSpPr>
        <p:spPr>
          <a:xfrm>
            <a:off x="5017925" y="1730276"/>
            <a:ext cx="3627221" cy="200025"/>
          </a:xfrm>
          <a:prstGeom prst="rect">
            <a:avLst/>
          </a:prstGeom>
          <a:noFill/>
          <a:ln/>
        </p:spPr>
        <p:txBody>
          <a:bodyPr wrap="square" lIns="0" tIns="0" rIns="0" bIns="0" rtlCol="0" anchor="t"/>
          <a:lstStyle/>
          <a:p>
            <a:pPr marL="0" indent="0" algn="l">
              <a:spcAft>
                <a:spcPts val="900"/>
              </a:spcAft>
              <a:buNone/>
            </a:pPr>
            <a:r>
              <a:rPr lang="en-US" sz="1300" b="1" dirty="0">
                <a:solidFill>
                  <a:srgbClr val="0F172A"/>
                </a:solidFill>
                <a:latin typeface="Arial" pitchFamily="34" charset="0"/>
                <a:ea typeface="Arial" pitchFamily="34" charset="-122"/>
                <a:cs typeface="Arial" pitchFamily="34" charset="-120"/>
              </a:rPr>
              <a:t>Direct relevance</a:t>
            </a:r>
            <a:endParaRPr lang="en-US" sz="1300" dirty="0"/>
          </a:p>
        </p:txBody>
      </p:sp>
      <p:sp>
        <p:nvSpPr>
          <p:cNvPr id="22" name="Text 9">
            <a:extLst>
              <a:ext uri="{FF2B5EF4-FFF2-40B4-BE49-F238E27FC236}">
                <a16:creationId xmlns:a16="http://schemas.microsoft.com/office/drawing/2014/main" id="{1A370B52-BC9E-7E23-6CAA-C549FE9C5AF7}"/>
              </a:ext>
            </a:extLst>
          </p:cNvPr>
          <p:cNvSpPr/>
          <p:nvPr/>
        </p:nvSpPr>
        <p:spPr>
          <a:xfrm>
            <a:off x="5017925" y="2044601"/>
            <a:ext cx="3556099" cy="987623"/>
          </a:xfrm>
          <a:prstGeom prst="rect">
            <a:avLst/>
          </a:prstGeom>
          <a:noFill/>
          <a:ln/>
        </p:spPr>
        <p:txBody>
          <a:bodyPr wrap="square" lIns="95250" tIns="0" rIns="0" bIns="0" rtlCol="0" anchor="t"/>
          <a:lstStyle/>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R1</a:t>
            </a:r>
            <a:r>
              <a:rPr lang="en-US" sz="1150" dirty="0">
                <a:solidFill>
                  <a:srgbClr val="1E293B"/>
                </a:solidFill>
                <a:latin typeface="Arial" pitchFamily="34" charset="0"/>
                <a:ea typeface="Arial" pitchFamily="34" charset="-122"/>
                <a:cs typeface="Arial" pitchFamily="34" charset="-120"/>
              </a:rPr>
              <a:t> — company named as a case study</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R2</a:t>
            </a:r>
            <a:r>
              <a:rPr lang="en-US" sz="1150" dirty="0">
                <a:solidFill>
                  <a:srgbClr val="1E293B"/>
                </a:solidFill>
                <a:latin typeface="Arial" pitchFamily="34" charset="0"/>
                <a:ea typeface="Arial" pitchFamily="34" charset="-122"/>
                <a:cs typeface="Arial" pitchFamily="34" charset="-120"/>
              </a:rPr>
              <a:t> — Chinese automotive industry</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R3</a:t>
            </a:r>
            <a:r>
              <a:rPr lang="en-US" sz="1150" dirty="0">
                <a:solidFill>
                  <a:srgbClr val="1E293B"/>
                </a:solidFill>
                <a:latin typeface="Arial" pitchFamily="34" charset="0"/>
                <a:ea typeface="Arial" pitchFamily="34" charset="-122"/>
                <a:cs typeface="Arial" pitchFamily="34" charset="-120"/>
              </a:rPr>
              <a:t> — theoretical framework</a:t>
            </a:r>
            <a:endParaRPr lang="en-US" sz="1150" dirty="0"/>
          </a:p>
          <a:p>
            <a:pPr marL="95250" indent="-95250" algn="l">
              <a:lnSpc>
                <a:spcPts val="1495"/>
              </a:lnSpc>
              <a:spcAft>
                <a:spcPts val="600"/>
              </a:spcAft>
              <a:buSzPct val="100000"/>
              <a:buChar char="•"/>
            </a:pPr>
            <a:r>
              <a:rPr lang="en-US" sz="1150" b="1" dirty="0">
                <a:solidFill>
                  <a:srgbClr val="1E293B"/>
                </a:solidFill>
                <a:latin typeface="Arial" pitchFamily="34" charset="0"/>
                <a:ea typeface="Arial" pitchFamily="34" charset="-122"/>
                <a:cs typeface="Arial" pitchFamily="34" charset="-120"/>
              </a:rPr>
              <a:t>R4</a:t>
            </a:r>
            <a:r>
              <a:rPr lang="en-US" sz="1150" dirty="0">
                <a:solidFill>
                  <a:srgbClr val="1E293B"/>
                </a:solidFill>
                <a:latin typeface="Arial" pitchFamily="34" charset="0"/>
                <a:ea typeface="Arial" pitchFamily="34" charset="-122"/>
                <a:cs typeface="Arial" pitchFamily="34" charset="-120"/>
              </a:rPr>
              <a:t> — background context only</a:t>
            </a:r>
            <a:endParaRPr lang="en-US" sz="1150" dirty="0"/>
          </a:p>
        </p:txBody>
      </p:sp>
      <p:sp>
        <p:nvSpPr>
          <p:cNvPr id="24" name="Text 10">
            <a:extLst>
              <a:ext uri="{FF2B5EF4-FFF2-40B4-BE49-F238E27FC236}">
                <a16:creationId xmlns:a16="http://schemas.microsoft.com/office/drawing/2014/main" id="{B37C236F-0F70-C15F-7509-A0471C2B9840}"/>
              </a:ext>
            </a:extLst>
          </p:cNvPr>
          <p:cNvSpPr/>
          <p:nvPr/>
        </p:nvSpPr>
        <p:spPr>
          <a:xfrm>
            <a:off x="496824" y="3790950"/>
            <a:ext cx="8280350" cy="675382"/>
          </a:xfrm>
          <a:prstGeom prst="rect">
            <a:avLst/>
          </a:prstGeom>
          <a:solidFill>
            <a:srgbClr val="0F172A"/>
          </a:solidFill>
          <a:ln/>
        </p:spPr>
        <p:txBody>
          <a:bodyPr wrap="square" rtlCol="0" anchor="ctr"/>
          <a:lstStyle/>
          <a:p>
            <a:pPr marL="0" indent="0">
              <a:buNone/>
            </a:pPr>
            <a:endParaRPr lang="en-US" dirty="0"/>
          </a:p>
        </p:txBody>
      </p:sp>
      <p:sp>
        <p:nvSpPr>
          <p:cNvPr id="26" name="Text 11">
            <a:extLst>
              <a:ext uri="{FF2B5EF4-FFF2-40B4-BE49-F238E27FC236}">
                <a16:creationId xmlns:a16="http://schemas.microsoft.com/office/drawing/2014/main" id="{55E4A876-A22A-5C08-E7D2-AE98CC1C57D1}"/>
              </a:ext>
            </a:extLst>
          </p:cNvPr>
          <p:cNvSpPr/>
          <p:nvPr/>
        </p:nvSpPr>
        <p:spPr>
          <a:xfrm>
            <a:off x="699975" y="3930551"/>
            <a:ext cx="8031531" cy="396180"/>
          </a:xfrm>
          <a:prstGeom prst="rect">
            <a:avLst/>
          </a:prstGeom>
          <a:noFill/>
          <a:ln/>
        </p:spPr>
        <p:txBody>
          <a:bodyPr wrap="square" lIns="0" tIns="0" rIns="0" bIns="0" rtlCol="0" anchor="t"/>
          <a:lstStyle/>
          <a:p>
            <a:pPr marL="0" indent="0" algn="l">
              <a:lnSpc>
                <a:spcPts val="1560"/>
              </a:lnSpc>
              <a:buNone/>
            </a:pPr>
            <a:r>
              <a:rPr lang="en-US" sz="1200" b="1" dirty="0">
                <a:solidFill>
                  <a:srgbClr val="06B6D4"/>
                </a:solidFill>
                <a:latin typeface="Arial" pitchFamily="34" charset="0"/>
                <a:ea typeface="Arial" pitchFamily="34" charset="-122"/>
                <a:cs typeface="Arial" pitchFamily="34" charset="-120"/>
              </a:rPr>
              <a:t>Writing guide:</a:t>
            </a:r>
            <a:r>
              <a:rPr lang="en-US" sz="1200" dirty="0">
                <a:solidFill>
                  <a:srgbClr val="FFFFFF"/>
                </a:solidFill>
                <a:latin typeface="Arial" pitchFamily="34" charset="0"/>
                <a:ea typeface="Arial" pitchFamily="34" charset="-122"/>
                <a:cs typeface="Arial" pitchFamily="34" charset="-120"/>
              </a:rPr>
              <a:t> verified data points, source assignment, and citation conventions consolidated per case — one trusted starting point across sessions and authors.</a:t>
            </a:r>
            <a:endParaRPr lang="en-US" sz="1200" dirty="0"/>
          </a:p>
        </p:txBody>
      </p:sp>
      <p:sp>
        <p:nvSpPr>
          <p:cNvPr id="28" name="Text 12">
            <a:extLst>
              <a:ext uri="{FF2B5EF4-FFF2-40B4-BE49-F238E27FC236}">
                <a16:creationId xmlns:a16="http://schemas.microsoft.com/office/drawing/2014/main" id="{330C203B-A8A0-B41B-8C54-8EEE15A72C18}"/>
              </a:ext>
            </a:extLst>
          </p:cNvPr>
          <p:cNvSpPr/>
          <p:nvPr/>
        </p:nvSpPr>
        <p:spPr>
          <a:xfrm>
            <a:off x="496824" y="4908501"/>
            <a:ext cx="5077411"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Rating consulted at the start of every writing session; arguments built on Q1/Q2 anchors only.</a:t>
            </a:r>
            <a:endParaRPr lang="en-US" sz="950" dirty="0"/>
          </a:p>
        </p:txBody>
      </p:sp>
    </p:spTree>
    <p:extLst>
      <p:ext uri="{BB962C8B-B14F-4D97-AF65-F5344CB8AC3E}">
        <p14:creationId xmlns:p14="http://schemas.microsoft.com/office/powerpoint/2010/main" val="3022239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Text 2">
            <a:extLst>
              <a:ext uri="{FF2B5EF4-FFF2-40B4-BE49-F238E27FC236}">
                <a16:creationId xmlns:a16="http://schemas.microsoft.com/office/drawing/2014/main" id="{A5ACDD48-3E6E-C56F-DFC5-418BCD5EC59E}"/>
              </a:ext>
            </a:extLst>
          </p:cNvPr>
          <p:cNvSpPr/>
          <p:nvPr/>
        </p:nvSpPr>
        <p:spPr>
          <a:xfrm>
            <a:off x="502920" y="1572451"/>
            <a:ext cx="3962400" cy="2107372"/>
          </a:xfrm>
          <a:prstGeom prst="rect">
            <a:avLst/>
          </a:prstGeom>
          <a:solidFill>
            <a:srgbClr val="F8FAFC"/>
          </a:solidFill>
          <a:ln/>
        </p:spPr>
        <p:txBody>
          <a:bodyPr wrap="square" rtlCol="0" anchor="ctr"/>
          <a:lstStyle/>
          <a:p>
            <a:pPr marL="0" indent="0">
              <a:buNone/>
            </a:pPr>
            <a:endParaRPr lang="en-US" dirty="0"/>
          </a:p>
        </p:txBody>
      </p:sp>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48182"/>
            <a:ext cx="8138160" cy="402083"/>
          </a:xfrm>
          <a:prstGeom prst="rect">
            <a:avLst/>
          </a:prstGeom>
          <a:noFill/>
          <a:ln/>
        </p:spPr>
        <p:txBody>
          <a:bodyPr wrap="square" rtlCol="0" anchor="t"/>
          <a:lstStyle/>
          <a:p>
            <a:pPr>
              <a:lnSpc>
                <a:spcPts val="2415"/>
              </a:lnSpc>
            </a:pPr>
            <a:r>
              <a:rPr lang="en-US" b="1" dirty="0">
                <a:solidFill>
                  <a:srgbClr val="0F172A"/>
                </a:solidFill>
                <a:latin typeface="Arial" pitchFamily="34" charset="0"/>
                <a:ea typeface="Arial" pitchFamily="34" charset="-122"/>
                <a:cs typeface="Arial" pitchFamily="34" charset="-120"/>
              </a:rPr>
              <a:t>Benefits</a:t>
            </a:r>
            <a:endParaRPr lang="en-US" dirty="0"/>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509016" y="1640269"/>
            <a:ext cx="4114800" cy="2743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06B6D4"/>
                </a:solidFill>
                <a:effectLst/>
                <a:uLnTx/>
                <a:uFillTx/>
                <a:latin typeface="Arial" pitchFamily="34" charset="0"/>
                <a:ea typeface="Arial" pitchFamily="34" charset="-122"/>
                <a:cs typeface="Arial" pitchFamily="34" charset="-120"/>
              </a:rPr>
              <a:t>Where it helped most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509016" y="1969453"/>
            <a:ext cx="4114800" cy="1582928"/>
          </a:xfrm>
          <a:prstGeom prst="rect">
            <a:avLst/>
          </a:prstGeom>
          <a:noFill/>
          <a:ln/>
        </p:spPr>
        <p:txBody>
          <a:bodyPr wrap="square" rtlCol="0" anchor="t"/>
          <a:lstStyle/>
          <a:p>
            <a:pPr marL="171450" marR="0" lvl="0" indent="-171450" algn="l" defTabSz="914400" rtl="0" eaLnBrk="1" fontAlgn="auto" latinLnBrk="0" hangingPunct="1">
              <a:lnSpc>
                <a:spcPct val="100000"/>
              </a:lnSpc>
              <a:spcBef>
                <a:spcPts val="0"/>
              </a:spcBef>
              <a:spcAft>
                <a:spcPts val="1100"/>
              </a:spcAft>
              <a:buClrTx/>
              <a:buSzPct val="100000"/>
              <a:buFont typeface="Arial" panose="020B0604020202020204" pitchFamily="34" charset="0"/>
              <a:buChar char="•"/>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Ingested &amp; indexed sources across all three cases.</a:t>
            </a:r>
          </a:p>
          <a:p>
            <a:pPr marL="171450" indent="-171450">
              <a:spcAft>
                <a:spcPts val="1100"/>
              </a:spcAft>
              <a:buSzPct val="100000"/>
              <a:buFont typeface="Arial" panose="020B0604020202020204" pitchFamily="34" charset="0"/>
              <a:buChar char="•"/>
              <a:defRPr/>
            </a:pPr>
            <a:r>
              <a:rPr lang="en-US" sz="1200" dirty="0">
                <a:solidFill>
                  <a:srgbClr val="1E293B"/>
                </a:solidFill>
                <a:latin typeface="Arial" pitchFamily="34" charset="0"/>
                <a:cs typeface="Arial" pitchFamily="34" charset="-120"/>
              </a:rPr>
              <a:t>Critical-reviewer framing</a:t>
            </a:r>
          </a:p>
          <a:p>
            <a:pPr marL="171450" indent="-171450">
              <a:spcAft>
                <a:spcPts val="1100"/>
              </a:spcAft>
              <a:buFont typeface="Arial" panose="020B0604020202020204" pitchFamily="34" charset="0"/>
              <a:buChar char="•"/>
            </a:pPr>
            <a:r>
              <a:rPr lang="en-US" sz="1200" dirty="0">
                <a:solidFill>
                  <a:srgbClr val="1E293B"/>
                </a:solidFill>
                <a:latin typeface="Arial" pitchFamily="34" charset="0"/>
                <a:ea typeface="Arial" pitchFamily="34" charset="-122"/>
                <a:cs typeface="Arial" pitchFamily="34" charset="-120"/>
              </a:rPr>
              <a:t>Handled research volume unmanageable by hand</a:t>
            </a:r>
          </a:p>
          <a:p>
            <a:pPr marL="171450" indent="-171450">
              <a:spcAft>
                <a:spcPts val="1100"/>
              </a:spcAft>
              <a:buFont typeface="Arial" panose="020B0604020202020204" pitchFamily="34" charset="0"/>
              <a:buChar char="•"/>
            </a:pPr>
            <a:r>
              <a:rPr lang="en-US" sz="1200" dirty="0">
                <a:solidFill>
                  <a:srgbClr val="1E293B"/>
                </a:solidFill>
                <a:latin typeface="Arial" pitchFamily="34" charset="0"/>
                <a:cs typeface="Arial" pitchFamily="34" charset="-120"/>
              </a:rPr>
              <a:t>Evidence-bounded comparison</a:t>
            </a:r>
          </a:p>
          <a:p>
            <a:pPr marL="171450" indent="-171450">
              <a:spcAft>
                <a:spcPts val="1100"/>
              </a:spcAft>
              <a:buFont typeface="Arial" panose="020B0604020202020204" pitchFamily="34" charset="0"/>
              <a:buChar char="•"/>
            </a:pPr>
            <a:r>
              <a:rPr lang="en-US" sz="1200" dirty="0">
                <a:solidFill>
                  <a:srgbClr val="1E293B"/>
                </a:solidFill>
                <a:latin typeface="Arial" pitchFamily="34" charset="0"/>
                <a:cs typeface="Arial" pitchFamily="34" charset="-120"/>
              </a:rPr>
              <a:t>Single-claim verification</a:t>
            </a:r>
            <a:endParaRPr lang="en-US" sz="1200" dirty="0"/>
          </a:p>
          <a:p>
            <a:pPr marL="171450" marR="0" lvl="0" indent="-171450" algn="l" defTabSz="914400" rtl="0" eaLnBrk="1" fontAlgn="auto" latinLnBrk="0" hangingPunct="1">
              <a:lnSpc>
                <a:spcPct val="100000"/>
              </a:lnSpc>
              <a:spcBef>
                <a:spcPts val="0"/>
              </a:spcBef>
              <a:spcAft>
                <a:spcPts val="11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892040" y="1572768"/>
            <a:ext cx="3749040" cy="2478024"/>
          </a:xfrm>
          <a:prstGeom prst="roundRect">
            <a:avLst>
              <a:gd name="adj" fmla="val 2388"/>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p:cNvSpPr/>
          <p:nvPr/>
        </p:nvSpPr>
        <p:spPr>
          <a:xfrm>
            <a:off x="4892040" y="1572768"/>
            <a:ext cx="3749040" cy="42062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5029200" y="1572768"/>
            <a:ext cx="3474720" cy="42062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FFFFFF"/>
                </a:solidFill>
                <a:effectLst/>
                <a:uLnTx/>
                <a:uFillTx/>
                <a:latin typeface="Arial" pitchFamily="34" charset="0"/>
                <a:ea typeface="Arial" pitchFamily="34" charset="-122"/>
                <a:cs typeface="Arial" pitchFamily="34" charset="-120"/>
              </a:rPr>
              <a:t>3 data errors caught before submission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5074920" y="2148840"/>
            <a:ext cx="3429000" cy="2286000"/>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1  Provisional EU tariff → corrected to the final regulatory figure.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2  Net profit inflated by a currency-unit ambiguity in a secondary source.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3  EPS based on a wrong share count.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200" b="0" i="1"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All traced back to the audited (E&amp;Y / PwC) annual reports.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a:t>
            </a:r>
            <a:r>
              <a:rPr lang="en-US" sz="900" dirty="0">
                <a:solidFill>
                  <a:srgbClr val="64748B"/>
                </a:solidFill>
                <a:latin typeface="Arial" pitchFamily="34" charset="0"/>
                <a:ea typeface="Arial" pitchFamily="34" charset="-122"/>
                <a:cs typeface="Arial" pitchFamily="34" charset="-120"/>
              </a:rPr>
              <a:t>6</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3">
            <a:extLst>
              <a:ext uri="{FF2B5EF4-FFF2-40B4-BE49-F238E27FC236}">
                <a16:creationId xmlns:a16="http://schemas.microsoft.com/office/drawing/2014/main" id="{20C77BFA-E8BD-4948-1C97-350B78E8D1A6}"/>
              </a:ext>
            </a:extLst>
          </p:cNvPr>
          <p:cNvSpPr/>
          <p:nvPr/>
        </p:nvSpPr>
        <p:spPr>
          <a:xfrm>
            <a:off x="502920" y="1596264"/>
            <a:ext cx="3962400" cy="0"/>
          </a:xfrm>
          <a:prstGeom prst="line">
            <a:avLst/>
          </a:prstGeom>
          <a:noFill/>
          <a:ln w="47625">
            <a:solidFill>
              <a:srgbClr val="2563EB"/>
            </a:solidFill>
            <a:prstDash val="solid"/>
          </a:ln>
        </p:spPr>
        <p:txBody>
          <a:bodyPr/>
          <a:lstStyle/>
          <a:p>
            <a:endParaRPr lang="en-US"/>
          </a:p>
        </p:txBody>
      </p:sp>
      <p:sp>
        <p:nvSpPr>
          <p:cNvPr id="14" name="Text 4">
            <a:extLst>
              <a:ext uri="{FF2B5EF4-FFF2-40B4-BE49-F238E27FC236}">
                <a16:creationId xmlns:a16="http://schemas.microsoft.com/office/drawing/2014/main" id="{52B5ADB6-9106-8EFD-1116-2019B18B1DA7}"/>
              </a:ext>
            </a:extLst>
          </p:cNvPr>
          <p:cNvSpPr/>
          <p:nvPr/>
        </p:nvSpPr>
        <p:spPr>
          <a:xfrm>
            <a:off x="502920" y="4905756"/>
            <a:ext cx="6222322" cy="133350"/>
          </a:xfrm>
          <a:prstGeom prst="rect">
            <a:avLst/>
          </a:prstGeom>
          <a:noFill/>
          <a:ln/>
        </p:spPr>
        <p:txBody>
          <a:bodyPr wrap="square" lIns="0" tIns="0" rIns="0" bIns="0" rtlCol="0" anchor="t"/>
          <a:lstStyle/>
          <a:p>
            <a:pPr marL="0" indent="0" algn="l">
              <a:buNone/>
            </a:pPr>
            <a:r>
              <a:rPr lang="en-US" sz="950" dirty="0">
                <a:solidFill>
                  <a:srgbClr val="64748B"/>
                </a:solidFill>
                <a:latin typeface="Arial" pitchFamily="34" charset="0"/>
                <a:ea typeface="Arial" pitchFamily="34" charset="-122"/>
                <a:cs typeface="Arial" pitchFamily="34" charset="-120"/>
              </a:rPr>
              <a:t>Effective prompt patterns: "act as a critical academic reviewer"; "verify this claim against its source before using it".</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56032"/>
          </a:xfrm>
          <a:prstGeom prst="rect">
            <a:avLst/>
          </a:prstGeom>
          <a:noFill/>
          <a:ln/>
        </p:spPr>
        <p:txBody>
          <a:bodyPr wrap="square"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300" normalizeH="0" baseline="0" noProof="0" dirty="0">
                <a:ln>
                  <a:noFill/>
                </a:ln>
                <a:solidFill>
                  <a:srgbClr val="06B6D4"/>
                </a:solidFill>
                <a:effectLst/>
                <a:uLnTx/>
                <a:uFillTx/>
                <a:latin typeface="Arial" pitchFamily="34" charset="0"/>
                <a:ea typeface="Arial" pitchFamily="34" charset="-122"/>
                <a:cs typeface="Arial" pitchFamily="34" charset="-120"/>
              </a:rPr>
              <a:t>AI REFLECTION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502920" y="457200"/>
            <a:ext cx="8138160" cy="786384"/>
          </a:xfrm>
          <a:prstGeom prst="rect">
            <a:avLst/>
          </a:prstGeom>
          <a:noFill/>
          <a:ln/>
        </p:spPr>
        <p:txBody>
          <a:bodyPr wrap="square" rtlCol="0" anchor="t"/>
          <a:lstStyle/>
          <a:p>
            <a:pPr marL="0" marR="0" lvl="0" indent="0" algn="l" defTabSz="914400" rtl="0" eaLnBrk="1" fontAlgn="auto" latinLnBrk="0" hangingPunct="1">
              <a:lnSpc>
                <a:spcPct val="98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Limitations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502920" y="1316736"/>
            <a:ext cx="822960" cy="41148"/>
          </a:xfrm>
          <a:prstGeom prst="rect">
            <a:avLst/>
          </a:prstGeom>
          <a:solidFill>
            <a:srgbClr val="2563E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1371600" y="1335024"/>
            <a:ext cx="7269480" cy="13716"/>
          </a:xfrm>
          <a:prstGeom prst="rect">
            <a:avLst/>
          </a:prstGeom>
          <a:solidFill>
            <a:srgbClr val="D7DEE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502920" y="16459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502920" y="16459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685800" y="18105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b="1" dirty="0">
                <a:solidFill>
                  <a:srgbClr val="0F172A"/>
                </a:solidFill>
                <a:latin typeface="Arial" pitchFamily="34" charset="0"/>
                <a:cs typeface="Arial" pitchFamily="34" charset="-120"/>
              </a:rPr>
              <a:t>Consistency issues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85800" y="2176272"/>
            <a:ext cx="3520440" cy="59436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rPr>
              <a:t>Slight variations in accuracy when referring to the same data multiple times. (ROE for BYD= 22% vs. 21.7%)</a:t>
            </a:r>
          </a:p>
        </p:txBody>
      </p:sp>
      <p:sp>
        <p:nvSpPr>
          <p:cNvPr id="10" name="Shape 8"/>
          <p:cNvSpPr/>
          <p:nvPr/>
        </p:nvSpPr>
        <p:spPr>
          <a:xfrm>
            <a:off x="4754880" y="16459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4754880" y="16459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4937760" y="18105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b="1" dirty="0">
                <a:solidFill>
                  <a:srgbClr val="0F172A"/>
                </a:solidFill>
                <a:latin typeface="Arial" pitchFamily="34" charset="0"/>
                <a:cs typeface="Arial" pitchFamily="34" charset="-120"/>
              </a:rPr>
              <a:t>Token Limit</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4937760" y="2176272"/>
            <a:ext cx="3520440" cy="59436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rPr>
              <a:t>On high-performance modes like Opus token limits were met quickly</a:t>
            </a:r>
          </a:p>
        </p:txBody>
      </p:sp>
      <p:sp>
        <p:nvSpPr>
          <p:cNvPr id="14" name="Shape 12"/>
          <p:cNvSpPr/>
          <p:nvPr/>
        </p:nvSpPr>
        <p:spPr>
          <a:xfrm>
            <a:off x="502920" y="30175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p:cNvSpPr/>
          <p:nvPr/>
        </p:nvSpPr>
        <p:spPr>
          <a:xfrm>
            <a:off x="502920" y="30175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685800" y="31821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Context limits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85800" y="3547872"/>
            <a:ext cx="3520440" cy="594360"/>
          </a:xfrm>
          <a:prstGeom prst="rect">
            <a:avLst/>
          </a:prstGeom>
          <a:noFill/>
          <a:ln/>
        </p:spPr>
        <p:txBody>
          <a:bodyPr wrap="square" rtlCol="0" anchor="t"/>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1E293B"/>
                </a:solidFill>
                <a:effectLst/>
                <a:uLnTx/>
                <a:uFillTx/>
                <a:latin typeface="Arial" pitchFamily="34" charset="0"/>
                <a:ea typeface="Arial" pitchFamily="34" charset="-122"/>
                <a:cs typeface="Arial" pitchFamily="34" charset="-120"/>
              </a:rPr>
              <a:t>Extended sessions hit context windows, often resulting in repetitions of same arguments.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4754880" y="3017520"/>
            <a:ext cx="3886200" cy="1188720"/>
          </a:xfrm>
          <a:prstGeom prst="rect">
            <a:avLst/>
          </a:prstGeom>
          <a:solidFill>
            <a:srgbClr val="F8FAF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4754880" y="3017520"/>
            <a:ext cx="3886200" cy="54864"/>
          </a:xfrm>
          <a:prstGeom prst="rect">
            <a:avLst/>
          </a:prstGeom>
          <a:solidFill>
            <a:srgbClr val="DC262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4937760" y="3182112"/>
            <a:ext cx="352044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b="1" dirty="0">
                <a:solidFill>
                  <a:srgbClr val="0F172A"/>
                </a:solidFill>
                <a:latin typeface="Arial" pitchFamily="34" charset="0"/>
                <a:cs typeface="Arial" pitchFamily="34" charset="-120"/>
              </a:rPr>
              <a:t>Wordiness</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937760" y="3547872"/>
            <a:ext cx="3520440" cy="594360"/>
          </a:xfrm>
          <a:prstGeom prst="rect">
            <a:avLst/>
          </a:prstGeom>
          <a:noFill/>
          <a:ln/>
        </p:spPr>
        <p:txBody>
          <a:bodyPr wrap="square" rtlCol="0" anchor="t"/>
          <a:lstStyle/>
          <a:p>
            <a:pPr lvl="0">
              <a:lnSpc>
                <a:spcPct val="95000"/>
              </a:lnSpc>
            </a:pPr>
            <a:r>
              <a:rPr lang="en-GB" sz="1200" dirty="0"/>
              <a:t>AI tends to be overly verbose. Needing active review and often rephrasing.</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502920" y="4572000"/>
            <a:ext cx="8138160" cy="2743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srgbClr val="0F172A"/>
                </a:solidFill>
                <a:effectLst/>
                <a:uLnTx/>
                <a:uFillTx/>
                <a:latin typeface="Arial" pitchFamily="34" charset="0"/>
                <a:ea typeface="Arial" pitchFamily="34" charset="-122"/>
                <a:cs typeface="Arial" pitchFamily="34" charset="-120"/>
              </a:rPr>
              <a:t>Analytical judgment, argumentation, and all interpretive decisions remained entirely human.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8641080" y="4828032"/>
            <a:ext cx="411480" cy="23774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64748B"/>
                </a:solidFill>
                <a:effectLst/>
                <a:uLnTx/>
                <a:uFillTx/>
                <a:latin typeface="Arial" pitchFamily="34" charset="0"/>
                <a:ea typeface="Arial" pitchFamily="34" charset="-122"/>
                <a:cs typeface="Arial" pitchFamily="34" charset="-120"/>
              </a:rPr>
              <a:t>1</a:t>
            </a:r>
            <a:r>
              <a:rPr lang="en-US" sz="900" dirty="0">
                <a:solidFill>
                  <a:srgbClr val="64748B"/>
                </a:solidFill>
                <a:latin typeface="Arial" pitchFamily="34" charset="0"/>
                <a:ea typeface="Arial" pitchFamily="34" charset="-122"/>
                <a:cs typeface="Arial" pitchFamily="34" charset="-120"/>
              </a:rPr>
              <a:t>7</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Box 11">
            <a:extLst>
              <a:ext uri="{FF2B5EF4-FFF2-40B4-BE49-F238E27FC236}">
                <a16:creationId xmlns:a16="http://schemas.microsoft.com/office/drawing/2014/main" id="{773BA6CB-7EC4-0785-B6CA-F53367BC6D0A}"/>
              </a:ext>
            </a:extLst>
          </p:cNvPr>
          <p:cNvSpPr txBox="1"/>
          <p:nvPr/>
        </p:nvSpPr>
        <p:spPr>
          <a:xfrm>
            <a:off x="6355080" y="2377440"/>
            <a:ext cx="5074920" cy="2651760"/>
          </a:xfrm>
          <a:prstGeom prst="rect">
            <a:avLst/>
          </a:prstGeom>
          <a:noFill/>
        </p:spPr>
        <p:txBody>
          <a:bodyPr wrap="square" lIns="0" tIns="0" rIns="0" bIns="0">
            <a:spAutoFit/>
          </a:bodyPr>
          <a:lstStyle/>
          <a:p>
            <a:pPr>
              <a:lnSpc>
                <a:spcPct val="105000"/>
              </a:lnSpc>
              <a:spcBef>
                <a:spcPts val="0"/>
              </a:spcBef>
              <a:spcAft>
                <a:spcPts val="800"/>
              </a:spcAft>
            </a:pPr>
            <a:r>
              <a:rPr sz="1475" b="0" dirty="0">
                <a:solidFill>
                  <a:srgbClr val="2563EB"/>
                </a:solidFill>
                <a:latin typeface="Calibri"/>
              </a:rPr>
              <a:t>–  </a:t>
            </a:r>
            <a:r>
              <a:rPr sz="1475" dirty="0">
                <a:solidFill>
                  <a:srgbClr val="0F172A"/>
                </a:solidFill>
                <a:latin typeface="Calibri"/>
              </a:rPr>
              <a:t>Learning curve: several hours to use the agent architecture productively, not as a chat tool.</a:t>
            </a:r>
          </a:p>
          <a:p>
            <a:pPr>
              <a:lnSpc>
                <a:spcPct val="105000"/>
              </a:lnSpc>
              <a:spcBef>
                <a:spcPts val="0"/>
              </a:spcBef>
              <a:spcAft>
                <a:spcPts val="800"/>
              </a:spcAft>
            </a:pPr>
            <a:r>
              <a:rPr sz="1475" b="0" dirty="0">
                <a:solidFill>
                  <a:srgbClr val="2563EB"/>
                </a:solidFill>
                <a:latin typeface="Calibri"/>
              </a:rPr>
              <a:t>–  </a:t>
            </a:r>
            <a:r>
              <a:rPr sz="1475" dirty="0">
                <a:solidFill>
                  <a:srgbClr val="0F172A"/>
                </a:solidFill>
                <a:latin typeface="Calibri"/>
              </a:rPr>
              <a:t>AI output always needs critical review — early drafts contained overclaims.</a:t>
            </a:r>
          </a:p>
          <a:p>
            <a:pPr>
              <a:lnSpc>
                <a:spcPct val="105000"/>
              </a:lnSpc>
              <a:spcBef>
                <a:spcPts val="0"/>
              </a:spcBef>
              <a:spcAft>
                <a:spcPts val="800"/>
              </a:spcAft>
            </a:pPr>
            <a:r>
              <a:rPr sz="1475" b="0" dirty="0">
                <a:solidFill>
                  <a:srgbClr val="2563EB"/>
                </a:solidFill>
                <a:latin typeface="Calibri"/>
              </a:rPr>
              <a:t>–  </a:t>
            </a:r>
            <a:r>
              <a:rPr sz="1475" dirty="0">
                <a:solidFill>
                  <a:srgbClr val="0F172A"/>
                </a:solidFill>
                <a:latin typeface="Calibri"/>
              </a:rPr>
              <a:t>All analysis, argument and interpretation stayed fully independent of the platform.</a:t>
            </a:r>
          </a:p>
          <a:p>
            <a:pPr>
              <a:lnSpc>
                <a:spcPct val="105000"/>
              </a:lnSpc>
              <a:spcBef>
                <a:spcPts val="0"/>
              </a:spcBef>
              <a:spcAft>
                <a:spcPts val="800"/>
              </a:spcAft>
            </a:pPr>
            <a:r>
              <a:rPr sz="1475" b="0" dirty="0">
                <a:solidFill>
                  <a:srgbClr val="2563EB"/>
                </a:solidFill>
                <a:latin typeface="Calibri"/>
              </a:rPr>
              <a:t>–  </a:t>
            </a:r>
            <a:r>
              <a:rPr sz="1475" dirty="0">
                <a:solidFill>
                  <a:srgbClr val="0F172A"/>
                </a:solidFill>
                <a:latin typeface="Calibri"/>
              </a:rPr>
              <a:t>Best framing: a source-quality enforcer and critical reviewer, not a writer.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31750" y="330101"/>
            <a:ext cx="8446109" cy="323850"/>
          </a:xfrm>
          <a:prstGeom prst="rect">
            <a:avLst/>
          </a:prstGeom>
          <a:noFill/>
          <a:ln/>
        </p:spPr>
        <p:txBody>
          <a:bodyPr wrap="square" lIns="0" tIns="0" rIns="0" bIns="0" rtlCol="0" anchor="t"/>
          <a:lstStyle/>
          <a:p>
            <a:pPr marL="0" indent="0" algn="l">
              <a:buNone/>
            </a:pPr>
            <a:r>
              <a:rPr lang="en-US" sz="2200" b="1" dirty="0">
                <a:solidFill>
                  <a:srgbClr val="0F172A"/>
                </a:solidFill>
                <a:latin typeface="Arial" pitchFamily="34" charset="0"/>
                <a:ea typeface="Arial" pitchFamily="34" charset="-122"/>
                <a:cs typeface="Arial" pitchFamily="34" charset="-120"/>
              </a:rPr>
              <a:t>References</a:t>
            </a:r>
            <a:endParaRPr lang="en-US" sz="2200" dirty="0"/>
          </a:p>
        </p:txBody>
      </p:sp>
      <p:sp>
        <p:nvSpPr>
          <p:cNvPr id="3" name="Text 1"/>
          <p:cNvSpPr/>
          <p:nvPr/>
        </p:nvSpPr>
        <p:spPr>
          <a:xfrm>
            <a:off x="431750" y="742801"/>
            <a:ext cx="8280499" cy="25301"/>
          </a:xfrm>
          <a:prstGeom prst="rect">
            <a:avLst/>
          </a:prstGeom>
          <a:solidFill>
            <a:srgbClr val="2563EB"/>
          </a:solidFill>
          <a:ln/>
        </p:spPr>
        <p:txBody>
          <a:bodyPr wrap="square" rtlCol="0" anchor="ctr"/>
          <a:lstStyle/>
          <a:p>
            <a:pPr marL="0" indent="0">
              <a:buNone/>
            </a:pPr>
            <a:endParaRPr lang="en-US" dirty="0"/>
          </a:p>
        </p:txBody>
      </p:sp>
      <p:sp>
        <p:nvSpPr>
          <p:cNvPr id="4" name="Text 2"/>
          <p:cNvSpPr/>
          <p:nvPr/>
        </p:nvSpPr>
        <p:spPr>
          <a:xfrm>
            <a:off x="431750" y="1219051"/>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Bai, J., Barwick, P. J., Cao, S., &amp; Li, S. (2025). Quid pro quo, knowledge spillovers, and industrial quality upgrading. </a:t>
            </a:r>
            <a:r>
              <a:rPr lang="en-US" sz="900" i="1" dirty="0">
                <a:solidFill>
                  <a:srgbClr val="1E293B"/>
                </a:solidFill>
                <a:latin typeface="Arial" pitchFamily="34" charset="0"/>
                <a:ea typeface="Arial" pitchFamily="34" charset="-122"/>
                <a:cs typeface="Arial" pitchFamily="34" charset="-120"/>
              </a:rPr>
              <a:t>American Economic Review, 115</a:t>
            </a:r>
            <a:r>
              <a:rPr lang="en-US" sz="900" dirty="0">
                <a:solidFill>
                  <a:srgbClr val="1E293B"/>
                </a:solidFill>
                <a:latin typeface="Arial" pitchFamily="34" charset="0"/>
                <a:ea typeface="Arial" pitchFamily="34" charset="-122"/>
                <a:cs typeface="Arial" pitchFamily="34" charset="-120"/>
              </a:rPr>
              <a:t>(11), 3825–3852.</a:t>
            </a:r>
            <a:endParaRPr lang="en-US" sz="900" dirty="0"/>
          </a:p>
        </p:txBody>
      </p:sp>
      <p:sp>
        <p:nvSpPr>
          <p:cNvPr id="5" name="Text 3"/>
          <p:cNvSpPr/>
          <p:nvPr/>
        </p:nvSpPr>
        <p:spPr>
          <a:xfrm>
            <a:off x="431750" y="1711077"/>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European Commission. (2024). </a:t>
            </a:r>
            <a:r>
              <a:rPr lang="en-US" sz="900" i="1" dirty="0">
                <a:solidFill>
                  <a:srgbClr val="1E293B"/>
                </a:solidFill>
                <a:latin typeface="Arial" pitchFamily="34" charset="0"/>
                <a:ea typeface="Arial" pitchFamily="34" charset="-122"/>
                <a:cs typeface="Arial" pitchFamily="34" charset="-120"/>
              </a:rPr>
              <a:t>Commission Implementing Regulation (EU) 2024/2754.</a:t>
            </a:r>
            <a:r>
              <a:rPr lang="en-US" sz="900" dirty="0">
                <a:solidFill>
                  <a:srgbClr val="1E293B"/>
                </a:solidFill>
                <a:latin typeface="Arial" pitchFamily="34" charset="0"/>
                <a:ea typeface="Arial" pitchFamily="34" charset="-122"/>
                <a:cs typeface="Arial" pitchFamily="34" charset="-120"/>
              </a:rPr>
              <a:t> Official Journal of the EU.</a:t>
            </a:r>
            <a:endParaRPr lang="en-US" sz="900" dirty="0"/>
          </a:p>
        </p:txBody>
      </p:sp>
      <p:sp>
        <p:nvSpPr>
          <p:cNvPr id="6" name="Text 4"/>
          <p:cNvSpPr/>
          <p:nvPr/>
        </p:nvSpPr>
        <p:spPr>
          <a:xfrm>
            <a:off x="431750" y="2060228"/>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Fan, J. P. H., Wong, T. J., &amp; Zhang, T. (2007). Politically connected CEOs, corporate governance, and post-IPO performance. </a:t>
            </a:r>
            <a:r>
              <a:rPr lang="en-US" sz="900" i="1" dirty="0">
                <a:solidFill>
                  <a:srgbClr val="1E293B"/>
                </a:solidFill>
                <a:latin typeface="Arial" pitchFamily="34" charset="0"/>
                <a:ea typeface="Arial" pitchFamily="34" charset="-122"/>
                <a:cs typeface="Arial" pitchFamily="34" charset="-120"/>
              </a:rPr>
              <a:t>Journal of Financial Economics, 84</a:t>
            </a:r>
            <a:r>
              <a:rPr lang="en-US" sz="900" dirty="0">
                <a:solidFill>
                  <a:srgbClr val="1E293B"/>
                </a:solidFill>
                <a:latin typeface="Arial" pitchFamily="34" charset="0"/>
                <a:ea typeface="Arial" pitchFamily="34" charset="-122"/>
                <a:cs typeface="Arial" pitchFamily="34" charset="-120"/>
              </a:rPr>
              <a:t>(2), 330–357.</a:t>
            </a:r>
            <a:endParaRPr lang="en-US" sz="900" dirty="0"/>
          </a:p>
        </p:txBody>
      </p:sp>
      <p:sp>
        <p:nvSpPr>
          <p:cNvPr id="7" name="Text 5"/>
          <p:cNvSpPr/>
          <p:nvPr/>
        </p:nvSpPr>
        <p:spPr>
          <a:xfrm>
            <a:off x="431750" y="2552254"/>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Holmes, T. J., McGrattan, E. R., &amp; Prescott, E. C. (2015). Quid pro quo: Technology capital transfers for market access in China. </a:t>
            </a:r>
            <a:r>
              <a:rPr lang="en-US" sz="900" i="1" dirty="0">
                <a:solidFill>
                  <a:srgbClr val="1E293B"/>
                </a:solidFill>
                <a:latin typeface="Arial" pitchFamily="34" charset="0"/>
                <a:ea typeface="Arial" pitchFamily="34" charset="-122"/>
                <a:cs typeface="Arial" pitchFamily="34" charset="-120"/>
              </a:rPr>
              <a:t>Review of Economic Studies, 82</a:t>
            </a:r>
            <a:r>
              <a:rPr lang="en-US" sz="900" dirty="0">
                <a:solidFill>
                  <a:srgbClr val="1E293B"/>
                </a:solidFill>
                <a:latin typeface="Arial" pitchFamily="34" charset="0"/>
                <a:ea typeface="Arial" pitchFamily="34" charset="-122"/>
                <a:cs typeface="Arial" pitchFamily="34" charset="-120"/>
              </a:rPr>
              <a:t>(3), 1154–1193.</a:t>
            </a:r>
            <a:endParaRPr lang="en-US" sz="900" dirty="0"/>
          </a:p>
        </p:txBody>
      </p:sp>
      <p:sp>
        <p:nvSpPr>
          <p:cNvPr id="8" name="Text 6"/>
          <p:cNvSpPr/>
          <p:nvPr/>
        </p:nvSpPr>
        <p:spPr>
          <a:xfrm>
            <a:off x="431750" y="3044279"/>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Howell, S. T. (2018). Joint ventures and technology adoption: A Chinese industrial policy that backfired. </a:t>
            </a:r>
            <a:r>
              <a:rPr lang="en-US" sz="900" i="1" dirty="0">
                <a:solidFill>
                  <a:srgbClr val="1E293B"/>
                </a:solidFill>
                <a:latin typeface="Arial" pitchFamily="34" charset="0"/>
                <a:ea typeface="Arial" pitchFamily="34" charset="-122"/>
                <a:cs typeface="Arial" pitchFamily="34" charset="-120"/>
              </a:rPr>
              <a:t>Research Policy, 47</a:t>
            </a:r>
            <a:r>
              <a:rPr lang="en-US" sz="900" dirty="0">
                <a:solidFill>
                  <a:srgbClr val="1E293B"/>
                </a:solidFill>
                <a:latin typeface="Arial" pitchFamily="34" charset="0"/>
                <a:ea typeface="Arial" pitchFamily="34" charset="-122"/>
                <a:cs typeface="Arial" pitchFamily="34" charset="-120"/>
              </a:rPr>
              <a:t>(8), 1448–1462.</a:t>
            </a:r>
            <a:endParaRPr lang="en-US" sz="900" dirty="0"/>
          </a:p>
        </p:txBody>
      </p:sp>
      <p:sp>
        <p:nvSpPr>
          <p:cNvPr id="9" name="Text 7"/>
          <p:cNvSpPr/>
          <p:nvPr/>
        </p:nvSpPr>
        <p:spPr>
          <a:xfrm>
            <a:off x="431750" y="3393430"/>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Inkpen, A. C., &amp; Beamish, P. W. (1997). Knowledge, bargaining power, and the instability of international joint ventures. </a:t>
            </a:r>
            <a:r>
              <a:rPr lang="en-US" sz="900" i="1" dirty="0">
                <a:solidFill>
                  <a:srgbClr val="1E293B"/>
                </a:solidFill>
                <a:latin typeface="Arial" pitchFamily="34" charset="0"/>
                <a:ea typeface="Arial" pitchFamily="34" charset="-122"/>
                <a:cs typeface="Arial" pitchFamily="34" charset="-120"/>
              </a:rPr>
              <a:t>AMR, 22</a:t>
            </a:r>
            <a:r>
              <a:rPr lang="en-US" sz="900" dirty="0">
                <a:solidFill>
                  <a:srgbClr val="1E293B"/>
                </a:solidFill>
                <a:latin typeface="Arial" pitchFamily="34" charset="0"/>
                <a:ea typeface="Arial" pitchFamily="34" charset="-122"/>
                <a:cs typeface="Arial" pitchFamily="34" charset="-120"/>
              </a:rPr>
              <a:t>(1), 177–202.</a:t>
            </a:r>
            <a:endParaRPr lang="en-US" sz="900" dirty="0"/>
          </a:p>
        </p:txBody>
      </p:sp>
      <p:sp>
        <p:nvSpPr>
          <p:cNvPr id="10" name="Text 8"/>
          <p:cNvSpPr/>
          <p:nvPr/>
        </p:nvSpPr>
        <p:spPr>
          <a:xfrm>
            <a:off x="431750" y="3742581"/>
            <a:ext cx="4119372" cy="14287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International Energy Agency. (2026). </a:t>
            </a:r>
            <a:r>
              <a:rPr lang="en-US" sz="900" i="1" dirty="0">
                <a:solidFill>
                  <a:srgbClr val="1E293B"/>
                </a:solidFill>
                <a:latin typeface="Arial" pitchFamily="34" charset="0"/>
                <a:ea typeface="Arial" pitchFamily="34" charset="-122"/>
                <a:cs typeface="Arial" pitchFamily="34" charset="-120"/>
              </a:rPr>
              <a:t>Global EV Outlook 2026.</a:t>
            </a:r>
            <a:r>
              <a:rPr lang="en-US" sz="900" dirty="0">
                <a:solidFill>
                  <a:srgbClr val="1E293B"/>
                </a:solidFill>
                <a:latin typeface="Arial" pitchFamily="34" charset="0"/>
                <a:ea typeface="Arial" pitchFamily="34" charset="-122"/>
                <a:cs typeface="Arial" pitchFamily="34" charset="-120"/>
              </a:rPr>
              <a:t> IEA.</a:t>
            </a:r>
            <a:endParaRPr lang="en-US" sz="900" dirty="0"/>
          </a:p>
        </p:txBody>
      </p:sp>
      <p:sp>
        <p:nvSpPr>
          <p:cNvPr id="11" name="Text 9"/>
          <p:cNvSpPr/>
          <p:nvPr/>
        </p:nvSpPr>
        <p:spPr>
          <a:xfrm>
            <a:off x="431750" y="3948857"/>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Jensen, M. C., &amp; Meckling, W. H. (1976). Theory of the firm. </a:t>
            </a:r>
            <a:r>
              <a:rPr lang="en-US" sz="900" i="1" dirty="0">
                <a:solidFill>
                  <a:srgbClr val="1E293B"/>
                </a:solidFill>
                <a:latin typeface="Arial" pitchFamily="34" charset="0"/>
                <a:ea typeface="Arial" pitchFamily="34" charset="-122"/>
                <a:cs typeface="Arial" pitchFamily="34" charset="-120"/>
              </a:rPr>
              <a:t>Journal of Financial Economics, 3</a:t>
            </a:r>
            <a:r>
              <a:rPr lang="en-US" sz="900" dirty="0">
                <a:solidFill>
                  <a:srgbClr val="1E293B"/>
                </a:solidFill>
                <a:latin typeface="Arial" pitchFamily="34" charset="0"/>
                <a:ea typeface="Arial" pitchFamily="34" charset="-122"/>
                <a:cs typeface="Arial" pitchFamily="34" charset="-120"/>
              </a:rPr>
              <a:t>(4), 305–360.</a:t>
            </a:r>
            <a:endParaRPr lang="en-US" sz="900" dirty="0"/>
          </a:p>
        </p:txBody>
      </p:sp>
      <p:sp>
        <p:nvSpPr>
          <p:cNvPr id="12" name="Text 10"/>
          <p:cNvSpPr/>
          <p:nvPr/>
        </p:nvSpPr>
        <p:spPr>
          <a:xfrm>
            <a:off x="431750" y="4298007"/>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Konda, P., Slepnikov, D., &amp; Jin, J. (2022). From transaction to co-creation in Geely's acquisition of Volvo Cars. </a:t>
            </a:r>
            <a:r>
              <a:rPr lang="en-US" sz="900" i="1" dirty="0">
                <a:solidFill>
                  <a:srgbClr val="1E293B"/>
                </a:solidFill>
                <a:latin typeface="Arial" pitchFamily="34" charset="0"/>
                <a:ea typeface="Arial" pitchFamily="34" charset="-122"/>
                <a:cs typeface="Arial" pitchFamily="34" charset="-120"/>
              </a:rPr>
              <a:t>Asian Journal of Technology Innovation, 31</a:t>
            </a:r>
            <a:r>
              <a:rPr lang="en-US" sz="900" dirty="0">
                <a:solidFill>
                  <a:srgbClr val="1E293B"/>
                </a:solidFill>
                <a:latin typeface="Arial" pitchFamily="34" charset="0"/>
                <a:ea typeface="Arial" pitchFamily="34" charset="-122"/>
                <a:cs typeface="Arial" pitchFamily="34" charset="-120"/>
              </a:rPr>
              <a:t>(3).</a:t>
            </a:r>
            <a:endParaRPr lang="en-US" sz="900" dirty="0"/>
          </a:p>
        </p:txBody>
      </p:sp>
      <p:sp>
        <p:nvSpPr>
          <p:cNvPr id="13" name="Text 11"/>
          <p:cNvSpPr/>
          <p:nvPr/>
        </p:nvSpPr>
        <p:spPr>
          <a:xfrm>
            <a:off x="4673501" y="1219051"/>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Luo, Y., &amp; Tung, R. L. (2007). International expansion of emerging market enterprises: A springboard perspective. </a:t>
            </a:r>
            <a:r>
              <a:rPr lang="en-US" sz="900" i="1" dirty="0">
                <a:solidFill>
                  <a:srgbClr val="1E293B"/>
                </a:solidFill>
                <a:latin typeface="Arial" pitchFamily="34" charset="0"/>
                <a:ea typeface="Arial" pitchFamily="34" charset="-122"/>
                <a:cs typeface="Arial" pitchFamily="34" charset="-120"/>
              </a:rPr>
              <a:t>JIBS, 38</a:t>
            </a:r>
            <a:r>
              <a:rPr lang="en-US" sz="900" dirty="0">
                <a:solidFill>
                  <a:srgbClr val="1E293B"/>
                </a:solidFill>
                <a:latin typeface="Arial" pitchFamily="34" charset="0"/>
                <a:ea typeface="Arial" pitchFamily="34" charset="-122"/>
                <a:cs typeface="Arial" pitchFamily="34" charset="-120"/>
              </a:rPr>
              <a:t>(4), 481–498.</a:t>
            </a:r>
            <a:endParaRPr lang="en-US" sz="900" dirty="0"/>
          </a:p>
        </p:txBody>
      </p:sp>
      <p:sp>
        <p:nvSpPr>
          <p:cNvPr id="14" name="Text 12"/>
          <p:cNvSpPr/>
          <p:nvPr/>
        </p:nvSpPr>
        <p:spPr>
          <a:xfrm>
            <a:off x="4673501" y="1568202"/>
            <a:ext cx="4119372" cy="428625"/>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Megginson, W. L., &amp; Netter, J. M. (2001). From state to market: A survey of empirical studies on privatization. </a:t>
            </a:r>
            <a:r>
              <a:rPr lang="en-US" sz="900" i="1" dirty="0">
                <a:solidFill>
                  <a:srgbClr val="1E293B"/>
                </a:solidFill>
                <a:latin typeface="Arial" pitchFamily="34" charset="0"/>
                <a:ea typeface="Arial" pitchFamily="34" charset="-122"/>
                <a:cs typeface="Arial" pitchFamily="34" charset="-120"/>
              </a:rPr>
              <a:t>Journal of Economic Literature, 39</a:t>
            </a:r>
            <a:r>
              <a:rPr lang="en-US" sz="900" dirty="0">
                <a:solidFill>
                  <a:srgbClr val="1E293B"/>
                </a:solidFill>
                <a:latin typeface="Arial" pitchFamily="34" charset="0"/>
                <a:ea typeface="Arial" pitchFamily="34" charset="-122"/>
                <a:cs typeface="Arial" pitchFamily="34" charset="-120"/>
              </a:rPr>
              <a:t>(2), 321–389.</a:t>
            </a:r>
            <a:endParaRPr lang="en-US" sz="900" dirty="0"/>
          </a:p>
        </p:txBody>
      </p:sp>
      <p:sp>
        <p:nvSpPr>
          <p:cNvPr id="15" name="Text 13"/>
          <p:cNvSpPr/>
          <p:nvPr/>
        </p:nvSpPr>
        <p:spPr>
          <a:xfrm>
            <a:off x="4673501" y="2060228"/>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Shleifer, A., &amp; Vishny, R. W. (1994). Politicians and firms. </a:t>
            </a:r>
            <a:r>
              <a:rPr lang="en-US" sz="900" i="1" dirty="0">
                <a:solidFill>
                  <a:srgbClr val="1E293B"/>
                </a:solidFill>
                <a:latin typeface="Arial" pitchFamily="34" charset="0"/>
                <a:ea typeface="Arial" pitchFamily="34" charset="-122"/>
                <a:cs typeface="Arial" pitchFamily="34" charset="-120"/>
              </a:rPr>
              <a:t>Quarterly Journal of Economics, 109</a:t>
            </a:r>
            <a:r>
              <a:rPr lang="en-US" sz="900" dirty="0">
                <a:solidFill>
                  <a:srgbClr val="1E293B"/>
                </a:solidFill>
                <a:latin typeface="Arial" pitchFamily="34" charset="0"/>
                <a:ea typeface="Arial" pitchFamily="34" charset="-122"/>
                <a:cs typeface="Arial" pitchFamily="34" charset="-120"/>
              </a:rPr>
              <a:t>(4), 995–1025.</a:t>
            </a:r>
            <a:endParaRPr lang="en-US" sz="900" dirty="0"/>
          </a:p>
        </p:txBody>
      </p:sp>
      <p:sp>
        <p:nvSpPr>
          <p:cNvPr id="16" name="Text 14"/>
          <p:cNvSpPr/>
          <p:nvPr/>
        </p:nvSpPr>
        <p:spPr>
          <a:xfrm>
            <a:off x="4673501" y="2409379"/>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Teece, D. J., Pisano, G., &amp; Shuen, A. (1997). Dynamic capabilities and strategic management. </a:t>
            </a:r>
            <a:r>
              <a:rPr lang="en-US" sz="900" i="1" dirty="0">
                <a:solidFill>
                  <a:srgbClr val="1E293B"/>
                </a:solidFill>
                <a:latin typeface="Arial" pitchFamily="34" charset="0"/>
                <a:ea typeface="Arial" pitchFamily="34" charset="-122"/>
                <a:cs typeface="Arial" pitchFamily="34" charset="-120"/>
              </a:rPr>
              <a:t>Strategic Management Journal, 18</a:t>
            </a:r>
            <a:r>
              <a:rPr lang="en-US" sz="900" dirty="0">
                <a:solidFill>
                  <a:srgbClr val="1E293B"/>
                </a:solidFill>
                <a:latin typeface="Arial" pitchFamily="34" charset="0"/>
                <a:ea typeface="Arial" pitchFamily="34" charset="-122"/>
                <a:cs typeface="Arial" pitchFamily="34" charset="-120"/>
              </a:rPr>
              <a:t>(7), 509–533.</a:t>
            </a:r>
            <a:endParaRPr lang="en-US" sz="900" dirty="0"/>
          </a:p>
        </p:txBody>
      </p:sp>
      <p:sp>
        <p:nvSpPr>
          <p:cNvPr id="17" name="Text 15"/>
          <p:cNvSpPr/>
          <p:nvPr/>
        </p:nvSpPr>
        <p:spPr>
          <a:xfrm>
            <a:off x="4673501" y="2758529"/>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Wang, X., Zhao, W., &amp; Ruet, J. (2022). Specialised vertical integration. </a:t>
            </a:r>
            <a:r>
              <a:rPr lang="en-US" sz="900" i="1" dirty="0">
                <a:solidFill>
                  <a:srgbClr val="1E293B"/>
                </a:solidFill>
                <a:latin typeface="Arial" pitchFamily="34" charset="0"/>
                <a:ea typeface="Arial" pitchFamily="34" charset="-122"/>
                <a:cs typeface="Arial" pitchFamily="34" charset="-120"/>
              </a:rPr>
              <a:t>IJATM, 22</a:t>
            </a:r>
            <a:r>
              <a:rPr lang="en-US" sz="900" dirty="0">
                <a:solidFill>
                  <a:srgbClr val="1E293B"/>
                </a:solidFill>
                <a:latin typeface="Arial" pitchFamily="34" charset="0"/>
                <a:ea typeface="Arial" pitchFamily="34" charset="-122"/>
                <a:cs typeface="Arial" pitchFamily="34" charset="-120"/>
              </a:rPr>
              <a:t>(2), 178–201.</a:t>
            </a:r>
            <a:endParaRPr lang="en-US" sz="900" dirty="0"/>
          </a:p>
        </p:txBody>
      </p:sp>
      <p:sp>
        <p:nvSpPr>
          <p:cNvPr id="18" name="Text 16"/>
          <p:cNvSpPr/>
          <p:nvPr/>
        </p:nvSpPr>
        <p:spPr>
          <a:xfrm>
            <a:off x="4673501" y="3107680"/>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Whitfield, L., &amp; Wuttke, T. (2026). China's technological catch-up and leapfrogging in electric vehicles. </a:t>
            </a:r>
            <a:r>
              <a:rPr lang="en-US" sz="900" i="1" dirty="0">
                <a:solidFill>
                  <a:srgbClr val="1E293B"/>
                </a:solidFill>
                <a:latin typeface="Arial" pitchFamily="34" charset="0"/>
                <a:ea typeface="Arial" pitchFamily="34" charset="-122"/>
                <a:cs typeface="Arial" pitchFamily="34" charset="-120"/>
              </a:rPr>
              <a:t>Progress in Economic Geography, 4.</a:t>
            </a:r>
            <a:endParaRPr lang="en-US" sz="900" dirty="0"/>
          </a:p>
        </p:txBody>
      </p:sp>
      <p:sp>
        <p:nvSpPr>
          <p:cNvPr id="19" name="Text 17"/>
          <p:cNvSpPr/>
          <p:nvPr/>
        </p:nvSpPr>
        <p:spPr>
          <a:xfrm>
            <a:off x="4673501" y="3456831"/>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Zhang, Z.-Q., Tang, B.-J., Su, Z., &amp; Zhang, Y. (2025). Founder control and breakthrough innovation. </a:t>
            </a:r>
            <a:r>
              <a:rPr lang="en-US" sz="900" i="1" dirty="0">
                <a:solidFill>
                  <a:srgbClr val="1E293B"/>
                </a:solidFill>
                <a:latin typeface="Arial" pitchFamily="34" charset="0"/>
                <a:ea typeface="Arial" pitchFamily="34" charset="-122"/>
                <a:cs typeface="Arial" pitchFamily="34" charset="-120"/>
              </a:rPr>
              <a:t>China Economic Review, 94.</a:t>
            </a:r>
            <a:endParaRPr lang="en-US" sz="900" dirty="0"/>
          </a:p>
        </p:txBody>
      </p:sp>
      <p:sp>
        <p:nvSpPr>
          <p:cNvPr id="20" name="Text 18"/>
          <p:cNvSpPr/>
          <p:nvPr/>
        </p:nvSpPr>
        <p:spPr>
          <a:xfrm>
            <a:off x="4673501" y="3805982"/>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dirty="0">
                <a:solidFill>
                  <a:srgbClr val="1E293B"/>
                </a:solidFill>
                <a:latin typeface="Arial" pitchFamily="34" charset="0"/>
                <a:ea typeface="Arial" pitchFamily="34" charset="-122"/>
                <a:cs typeface="Arial" pitchFamily="34" charset="-120"/>
              </a:rPr>
              <a:t>Zheng, Q., Noorderhaven, N., &amp; Du, J. (2022). Making the unlikely marriage work. </a:t>
            </a:r>
            <a:r>
              <a:rPr lang="en-US" sz="900" i="1" dirty="0">
                <a:solidFill>
                  <a:srgbClr val="1E293B"/>
                </a:solidFill>
                <a:latin typeface="Arial" pitchFamily="34" charset="0"/>
                <a:ea typeface="Arial" pitchFamily="34" charset="-122"/>
                <a:cs typeface="Arial" pitchFamily="34" charset="-120"/>
              </a:rPr>
              <a:t>Journal of World Business, 57</a:t>
            </a:r>
            <a:r>
              <a:rPr lang="en-US" sz="900" dirty="0">
                <a:solidFill>
                  <a:srgbClr val="1E293B"/>
                </a:solidFill>
                <a:latin typeface="Arial" pitchFamily="34" charset="0"/>
                <a:ea typeface="Arial" pitchFamily="34" charset="-122"/>
                <a:cs typeface="Arial" pitchFamily="34" charset="-120"/>
              </a:rPr>
              <a:t>(2).</a:t>
            </a:r>
            <a:endParaRPr lang="en-US" sz="900" dirty="0"/>
          </a:p>
        </p:txBody>
      </p:sp>
      <p:sp>
        <p:nvSpPr>
          <p:cNvPr id="21" name="Text 19"/>
          <p:cNvSpPr/>
          <p:nvPr/>
        </p:nvSpPr>
        <p:spPr>
          <a:xfrm>
            <a:off x="4673501" y="4155132"/>
            <a:ext cx="4119372" cy="285750"/>
          </a:xfrm>
          <a:prstGeom prst="rect">
            <a:avLst/>
          </a:prstGeom>
          <a:noFill/>
          <a:ln/>
        </p:spPr>
        <p:txBody>
          <a:bodyPr wrap="square" lIns="0" tIns="0" rIns="0" bIns="0" rtlCol="0" anchor="t"/>
          <a:lstStyle/>
          <a:p>
            <a:pPr marL="0" indent="0" algn="l">
              <a:lnSpc>
                <a:spcPts val="1125"/>
              </a:lnSpc>
              <a:spcAft>
                <a:spcPts val="500"/>
              </a:spcAft>
              <a:buNone/>
            </a:pPr>
            <a:r>
              <a:rPr lang="en-US" sz="900" b="1" dirty="0">
                <a:solidFill>
                  <a:srgbClr val="1E293B"/>
                </a:solidFill>
                <a:latin typeface="Arial" pitchFamily="34" charset="0"/>
                <a:ea typeface="Arial" pitchFamily="34" charset="-122"/>
                <a:cs typeface="Arial" pitchFamily="34" charset="-120"/>
              </a:rPr>
              <a:t>Annual reports:</a:t>
            </a:r>
            <a:r>
              <a:rPr lang="en-US" sz="900" dirty="0">
                <a:solidFill>
                  <a:srgbClr val="1E293B"/>
                </a:solidFill>
                <a:latin typeface="Arial" pitchFamily="34" charset="0"/>
                <a:ea typeface="Arial" pitchFamily="34" charset="-122"/>
                <a:cs typeface="Arial" pitchFamily="34" charset="-120"/>
              </a:rPr>
              <a:t> SAIC Motor (2025, 2026); BYD (2025, 2026); Geely (2025,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5181</Words>
  <Application>Microsoft Office PowerPoint</Application>
  <PresentationFormat>Bildschirmpräsentation (16:9)</PresentationFormat>
  <Paragraphs>399</Paragraphs>
  <Slides>22</Slides>
  <Notes>22</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22</vt:i4>
      </vt:variant>
    </vt:vector>
  </HeadingPairs>
  <TitlesOfParts>
    <vt:vector size="28" baseType="lpstr">
      <vt:lpstr>Aptos</vt:lpstr>
      <vt:lpstr>Arial</vt:lpstr>
      <vt:lpstr>Calibri</vt:lpstr>
      <vt:lpstr>Cambria</vt:lpstr>
      <vt:lpstr>Courier New</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China EV Governance — Seminar Presentation</dc:title>
  <dc:subject>PptxGenJS Presentation</dc:subject>
  <dc:creator>Ort, Maus, Stubner</dc:creator>
  <cp:lastModifiedBy>ve1kgbs242@goetheuniversitaet.onmicrosoft.com</cp:lastModifiedBy>
  <cp:revision>8</cp:revision>
  <dcterms:created xsi:type="dcterms:W3CDTF">2026-06-25T15:09:39Z</dcterms:created>
  <dcterms:modified xsi:type="dcterms:W3CDTF">2026-06-28T18:46:23Z</dcterms:modified>
</cp:coreProperties>
</file>