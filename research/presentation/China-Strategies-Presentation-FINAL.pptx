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and welcome. Our paper asks one question: which way of building a car company in China creates the most value for shareholders over time? We compare three real firms with three models — SAIC uses joint ventures, BYD builds its own technology, and Geely buys companies abroad. Our main point is simple: governance — who controls the firm — matters more than the technology it starts with. We go through four lenses, give our verdict, draw three lessons, and end with how we used AI. Let us start with why this matters 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joint-venture era is ending. Electric cars are now more than half of new sales in China, and Chinese firms make about sixty percent of the world's EVs. For thirty years the deal was simple: foreign firms gave technology, and a state firm gave market access. That worked when the engine was the hard part. Now the hard part is batteries and software, and that knowledge sits with the Chinese independents. So the old deal no longer helps. You can see it at SAIC: profit fell eighty-eight percent in one year. And the EU set very different tariffs — high for SAIC, low for BYD — which tracks how state-dependent each firm is. Next, our exact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question is short but hard: which structure builds the most value over time? We study three firms with three paths. SAIC is state-owned, controlled by SASAC. BYD is founder-led, run by Wang Chuanfu. Geely is also founder-led, under Li Shufu, but it grew by buying firms abroad. We look at all three through the same four lenses — governance, financing, capability, and viability — in the same order. So we compare one choice at a time, not three company stories. Our thesis is at the bottom: structure beats starting technology. Now the theory behind these lenses.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well-known ideas all point the same way. Shleifer and Vishny: in a state firm, control sends money to political goals, not shareholders. Megginson and Netter: private firms beat state firms. Jensen and Meckling: a strong founder-owner removes the conflict between owners and managers. Holmes and Fan: the joint-venture trade has a hidden cost — connected firms lag about eighteen percent. Luo and Tung: emerging-market firms buy abroad to catch up. Teece: deep in-house knowledge is hard to copy. So the prediction is clear before we look at the data: founder control should win. Next, our map.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is the map for the talk. The rows are the firms, the columns are the four lenses. Read across for one firm; read down to compare. The key point is that the columns are linked. SAIC is state-led, capital-light, dependent on transferred technology, and weakest in the EV shift — those cells belong together. BYD shows the opposite all the way across, and Geely is in between. Over the next slides we go column by column with the evidence. We start with governance.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is two questions: who controls, and what they want. SAIC sits under the state — SASAC owns about seventy-three percent, and the Party role is in the charter, so its goals go beyond profit. The cost is speed: it cannot leave a failing joint venture without approval. BYD is the opposite — the founder and his team hold over a third of the votes, so Wang could end petrol-car production in one year, in 2022, alone. Geely is also founder-led and fast on deals, but it runs many brands, and some lose money. So control runs from political at SAIC to commercial at BYD. Next, the EU put a price on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outside proof. The EU studied state support and set tariffs: 35.3 percent for SAIC, 17 for BYD, 18.8 for Geely. That gap is not about car quality — it is about state dependence. For SAIC the Commission even used “facts available,” because the group held back financing data. So a neutral regulator reached our conclusion from the outside: control structure drives competitive position. And for exports, that tariff is a direct cost of the governance model. Now we follow the money.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firm funds growth differently, and it shows in a downturn. SAIC was capital-light — it shared cost and risk with foreign partners. That felt safe, until SAIC-GM lost half its sales, and SAIC had to absorb the losses without control to fix them. Profit fell eighty-eight percent; the capital-light model became a capital trap. BYD funds itself from its own cash and spends more on R&amp;D than it earns, so it needs no banks; the limit is its own cash. Geely borrows to buy capability fast, but its debt is rising. So the real choice is resilience versus speed. Next,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numbers in one table. Return on equity: BYD and Geely near twenty percent, SAIC below one — that line says it all. Research: BYD spends more on R&amp;D than it earns in profit. Cash flow: BYD generates far more than the others. One honest note: SAIC's profit looks recovered in 2025, but that is mostly because the 2024 write-downs did not repeat, not a real turnaround. The bottom row, the EU tariff, marks the same governance gap. Next, how each firm builds technology.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 firm learns shapes what it can build. SAIC took technology through joint ventures. It worked — quality rose about eight percent — but the easy money killed its own research, so it had no EV platform when the shift came. BYD built everything itself, from battery cells to software; that deep knowledge is hard to copy. Geely bought Volvo and turned it into real shared engineering, confirmed by patent data. So the lesson is simple: handed-over technology fades when the cycle turns, but built or co-developed knowledge lasts. Next, the trade-off.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trade-off between speed, depth, and independence. SAIC was fastest to quality but shallow and dependent, with no platform of its own. Geely is the rare strong case — fast and deep — because it co-developed with Volvo. BYD was slowest but deepest, thirty years from cells to software, fully its own. The cost of the shallow path is in the bar at the bottom: SAIC's joint-venture plants run at just 14 to 37 percent of capacity. When the technology shifts, there is no platform to fall back on. Next, the EV transition itself.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 shift tests every earlier choice. SAIC is most exposed — its plants run far below capacity — but to be fair, its own brand grew thirty-three percent, with no direct subsidies, and it launched a brand with Huawei. So its future is a race between falling joint-venture income and a thin own-brand margin, and its slow structure sets the pace. BYD is the strongest: no petrol cars since 2022, world number one for four years, exports up one hundred and forty percent. Geely is in between — strong growth, but partner-dependent with loss-making brands. Same shock, three outcomes — exactly what the earlier choices predicted. Now 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answer. Of the three, BYD is most likely to create long-term value. The evidence is consistent: the highest return on equity, four years as the top EV maker, and a 5.6-billion-dollar raise that sovereign funds joined. But notice the wording in the box. It is not that building everything yourself is magic. BYD wins because it combines two things — commercial founder control and a self-financing balance sheet that stays strong in a downturn. Governance and capital discipline together. And we stay honest: BYD's return fell to thirteen percent in 2025 under the price war. Now three lessons.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lessons that go beyond cars. One: how you build capability decides how long it lasts. Buying or borrowing technology can hollow out a firm when the technology changes; building or co-developing keeps the strength. Two: governance sets the speed of change. Commercial owners move fast; split control stalls — and when technology moves faster than your decisions, governance is the limit. Three: capital structure decides who survives a downturn — risk-sharing can trap you, self-financing trades speed for safety, debt does the opposite. One theme: structure decides. Now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core point. Across all four lenses, structure — more than starting technology — decided the outcome. The joint-venture model did not lose to a better battery; it lost to a better way of allocating control and capital. BYD's founder control plus self-financing proved the most adaptive, while SAIC's state model serves goals beyond profit, which shows up as a discount. So our line, in the box: when technology moves faster than firms can decide, governance is no longer a footnote to strategy — it is strategy. Before questions, a word on limits and on how we used AI.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honest word on limits. We study three firms in one industry and one country, so this is deep case work, not a statistical law. The EV shift is still young, so the ranking could change. We rely on reported figures, and the reports mix currencies, which we reconciled carefully. We left NIO out — a fourth, capital-market model beyond our scope. Future work could add NIO, follow these firms longer, build a formal governance score, and study how the EU tariffs reshape exports. Now, how we used AI.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did not use a simple chatbot. We used Claude Code as a layered system — a main model for most work, a stronger one for the hard analysis, and five small agents, each with one job. But the heart of it is the shared repository shown here. We had one folder per case and a shared folder for common data. The rule was simple: pull before each session, push after. Because the tool could read all three case wikis at once, we compared the firms directly, with no manual file-sharing. Next, what this added.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did AI help most? First, it compressed research time — more than thirty papers and reports, all searchable. Second, it kept us disciplined: every source was rated by quality, and we built arguments only on the strongest. The sharpest habit was to tell it to act like a strict professor and to quote the exact source for each fact. That habit also caught three real data errors before submission — a wrong tariff, a profit figure inflated ten times, and an EPS on the wrong share count — all fixed against the audited reports. Next, the honest limits.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limits, honestly. It cannot download paywalled PDFs — it knows the papers' content, but we still had to read and check the key claims ourselves. Geely's PDFs were not machine-readable, so that case used more web sources. On long sessions we hit memory limits, and the output was often too wordy and needed editing. The lesson: this is not a chat box — it took time to learn, and every output needed a careful read. The cost was small, about twenty-one euros a month each. The line we held: AI was our tool and reviewer, never a ghostwriter. The thinking stayed ours.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our main sources, in APA style. The theory comes from Shleifer and Vishny, Jensen and Meckling, and Teece; the China evidence from Bai, Howell, and Holmes. The figures come from the audited annual reports, the EU regulation, and the IEA. The full list is in the paper. Thank you very much —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10972800" cy="320040"/>
          </a:xfrm>
          <a:prstGeom prst="rect">
            <a:avLst/>
          </a:prstGeom>
          <a:noFill/>
        </p:spPr>
        <p:txBody>
          <a:bodyPr wrap="square" anchor="t" lIns="0" rIns="0" tIns="0" bIns="0">
            <a:spAutoFit/>
          </a:bodyPr>
          <a:lstStyle/>
          <a:p>
            <a:pPr algn="l">
              <a:lnSpc>
                <a:spcPct val="100000"/>
              </a:lnSpc>
              <a:spcBef>
                <a:spcPts val="0"/>
              </a:spcBef>
              <a:spcAft>
                <a:spcPts val="200"/>
              </a:spcAft>
            </a:pPr>
            <a:r>
              <a:rPr sz="1300" b="1" i="0">
                <a:solidFill>
                  <a:srgbClr val="06B6D4"/>
                </a:solidFill>
                <a:latin typeface="Arial"/>
              </a:rPr>
              <a:t>M&amp;A AS TRANSFORMER OF THE AUTOMOTIVE INDUSTRY</a:t>
            </a:r>
          </a:p>
        </p:txBody>
      </p:sp>
      <p:sp>
        <p:nvSpPr>
          <p:cNvPr id="5" name="TextBox 4"/>
          <p:cNvSpPr txBox="1"/>
          <p:nvPr/>
        </p:nvSpPr>
        <p:spPr>
          <a:xfrm>
            <a:off x="548640" y="1828800"/>
            <a:ext cx="10972800" cy="1554480"/>
          </a:xfrm>
          <a:prstGeom prst="rect">
            <a:avLst/>
          </a:prstGeom>
          <a:noFill/>
        </p:spPr>
        <p:txBody>
          <a:bodyPr wrap="square" anchor="t" lIns="0" rIns="0" tIns="0" bIns="0">
            <a:spAutoFit/>
          </a:bodyPr>
          <a:lstStyle/>
          <a:p>
            <a:pPr algn="l">
              <a:lnSpc>
                <a:spcPct val="100000"/>
              </a:lnSpc>
              <a:spcBef>
                <a:spcPts val="0"/>
              </a:spcBef>
              <a:spcAft>
                <a:spcPts val="200"/>
              </a:spcAft>
            </a:pPr>
            <a:r>
              <a:rPr sz="4600" b="1" i="0">
                <a:solidFill>
                  <a:srgbClr val="FFFFFF"/>
                </a:solidFill>
                <a:latin typeface="Arial"/>
              </a:rPr>
              <a:t>China Strategies in the</a:t>
            </a:r>
          </a:p>
          <a:p>
            <a:pPr algn="l">
              <a:lnSpc>
                <a:spcPct val="100000"/>
              </a:lnSpc>
              <a:spcBef>
                <a:spcPts val="0"/>
              </a:spcBef>
              <a:spcAft>
                <a:spcPts val="200"/>
              </a:spcAft>
            </a:pPr>
            <a:r>
              <a:rPr sz="4600" b="1" i="0">
                <a:solidFill>
                  <a:srgbClr val="FFFFFF"/>
                </a:solidFill>
                <a:latin typeface="Arial"/>
              </a:rPr>
              <a:t>Automotive Industry</a:t>
            </a:r>
          </a:p>
        </p:txBody>
      </p:sp>
      <p:sp>
        <p:nvSpPr>
          <p:cNvPr id="6" name="TextBox 5"/>
          <p:cNvSpPr txBox="1"/>
          <p:nvPr/>
        </p:nvSpPr>
        <p:spPr>
          <a:xfrm>
            <a:off x="548640" y="3611880"/>
            <a:ext cx="10607040" cy="640080"/>
          </a:xfrm>
          <a:prstGeom prst="rect">
            <a:avLst/>
          </a:prstGeom>
          <a:noFill/>
        </p:spPr>
        <p:txBody>
          <a:bodyPr wrap="square" anchor="t" lIns="0" rIns="0" tIns="0" bIns="0">
            <a:spAutoFit/>
          </a:bodyPr>
          <a:lstStyle/>
          <a:p>
            <a:pPr algn="l">
              <a:lnSpc>
                <a:spcPct val="100000"/>
              </a:lnSpc>
              <a:spcBef>
                <a:spcPts val="0"/>
              </a:spcBef>
              <a:spcAft>
                <a:spcPts val="200"/>
              </a:spcAft>
            </a:pPr>
            <a:r>
              <a:rPr sz="1800" b="0" i="1">
                <a:solidFill>
                  <a:srgbClr val="CBD5E1"/>
                </a:solidFill>
                <a:latin typeface="Arial"/>
              </a:rPr>
              <a:t>Which governance and financing model creates long-term shareholder value?</a:t>
            </a:r>
          </a:p>
        </p:txBody>
      </p:sp>
      <p:sp>
        <p:nvSpPr>
          <p:cNvPr id="7" name="Rectangle 6"/>
          <p:cNvSpPr/>
          <p:nvPr/>
        </p:nvSpPr>
        <p:spPr>
          <a:xfrm>
            <a:off x="548640" y="4526280"/>
            <a:ext cx="3383280" cy="42062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526280"/>
            <a:ext cx="3383280" cy="420624"/>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FFFFFF"/>
                </a:solidFill>
                <a:latin typeface="Arial"/>
              </a:rPr>
              <a:t>SAIC  ·  Joint Venture</a:t>
            </a:r>
          </a:p>
        </p:txBody>
      </p:sp>
      <p:sp>
        <p:nvSpPr>
          <p:cNvPr id="9" name="Rectangle 8"/>
          <p:cNvSpPr/>
          <p:nvPr/>
        </p:nvSpPr>
        <p:spPr>
          <a:xfrm>
            <a:off x="4160520" y="4526280"/>
            <a:ext cx="3383280" cy="4206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60520" y="4526280"/>
            <a:ext cx="3383280" cy="420624"/>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FFFFFF"/>
                </a:solidFill>
                <a:latin typeface="Arial"/>
              </a:rPr>
              <a:t>BYD  ·  Vertical Integration</a:t>
            </a:r>
          </a:p>
        </p:txBody>
      </p:sp>
      <p:sp>
        <p:nvSpPr>
          <p:cNvPr id="11" name="Rectangle 10"/>
          <p:cNvSpPr/>
          <p:nvPr/>
        </p:nvSpPr>
        <p:spPr>
          <a:xfrm>
            <a:off x="7772400" y="4526280"/>
            <a:ext cx="3383280" cy="420624"/>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4526280"/>
            <a:ext cx="3383280" cy="420624"/>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FFFFFF"/>
                </a:solidFill>
                <a:latin typeface="Arial"/>
              </a:rPr>
              <a:t>Geely  ·  M&amp;A-Driven</a:t>
            </a:r>
          </a:p>
        </p:txBody>
      </p:sp>
      <p:sp>
        <p:nvSpPr>
          <p:cNvPr id="13" name="TextBox 12"/>
          <p:cNvSpPr txBox="1"/>
          <p:nvPr/>
        </p:nvSpPr>
        <p:spPr>
          <a:xfrm>
            <a:off x="548640" y="5532120"/>
            <a:ext cx="10972800" cy="365760"/>
          </a:xfrm>
          <a:prstGeom prst="rect">
            <a:avLst/>
          </a:prstGeom>
          <a:noFill/>
        </p:spPr>
        <p:txBody>
          <a:bodyPr wrap="square" anchor="t" lIns="0" rIns="0" tIns="0" bIns="0">
            <a:spAutoFit/>
          </a:bodyPr>
          <a:lstStyle/>
          <a:p>
            <a:pPr algn="l">
              <a:lnSpc>
                <a:spcPct val="100000"/>
              </a:lnSpc>
              <a:spcBef>
                <a:spcPts val="0"/>
              </a:spcBef>
              <a:spcAft>
                <a:spcPts val="200"/>
              </a:spcAft>
            </a:pPr>
            <a:r>
              <a:rPr sz="1500" b="1" i="0">
                <a:solidFill>
                  <a:srgbClr val="FFFFFF"/>
                </a:solidFill>
                <a:latin typeface="Arial"/>
              </a:rPr>
              <a:t>Julia Ort  ·  Batughan Maus  ·  Chiara Stubner</a:t>
            </a:r>
          </a:p>
        </p:txBody>
      </p:sp>
      <p:sp>
        <p:nvSpPr>
          <p:cNvPr id="14" name="TextBox 13"/>
          <p:cNvSpPr txBox="1"/>
          <p:nvPr/>
        </p:nvSpPr>
        <p:spPr>
          <a:xfrm>
            <a:off x="548640" y="5943600"/>
            <a:ext cx="10972800" cy="548640"/>
          </a:xfrm>
          <a:prstGeom prst="rect">
            <a:avLst/>
          </a:prstGeom>
          <a:noFill/>
        </p:spPr>
        <p:txBody>
          <a:bodyPr wrap="square" anchor="t" lIns="0" rIns="0" tIns="0" bIns="0">
            <a:spAutoFit/>
          </a:bodyPr>
          <a:lstStyle/>
          <a:p>
            <a:pPr algn="l">
              <a:lnSpc>
                <a:spcPct val="110000"/>
              </a:lnSpc>
              <a:spcBef>
                <a:spcPts val="0"/>
              </a:spcBef>
              <a:spcAft>
                <a:spcPts val="200"/>
              </a:spcAft>
            </a:pPr>
            <a:r>
              <a:rPr sz="1200" b="0" i="0">
                <a:solidFill>
                  <a:srgbClr val="64748B"/>
                </a:solidFill>
                <a:latin typeface="Arial"/>
              </a:rPr>
              <a:t>Johann Wolfgang Goethe-Universität Frankfurt  ·  Chair of Banking and Finance</a:t>
            </a:r>
          </a:p>
          <a:p>
            <a:pPr algn="l">
              <a:lnSpc>
                <a:spcPct val="110000"/>
              </a:lnSpc>
              <a:spcBef>
                <a:spcPts val="0"/>
              </a:spcBef>
              <a:spcAft>
                <a:spcPts val="200"/>
              </a:spcAft>
            </a:pPr>
            <a:r>
              <a:rPr sz="1200" b="0" i="0">
                <a:solidFill>
                  <a:srgbClr val="64748B"/>
                </a:solidFill>
                <a:latin typeface="Arial"/>
              </a:rPr>
              <a:t>Prof. Dr. Mark Wahrenburg  ·  Advisor: Edoardo Pilla  ·  29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INTRODUCTION · WHY NOW</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The 30-year joint-venture model is breaking down as EVs take over</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37360"/>
            <a:ext cx="26974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057400"/>
            <a:ext cx="2697480" cy="822960"/>
          </a:xfrm>
          <a:prstGeom prst="rect">
            <a:avLst/>
          </a:prstGeom>
          <a:noFill/>
        </p:spPr>
        <p:txBody>
          <a:bodyPr wrap="square" anchor="t" lIns="0" rIns="0" tIns="0" bIns="0">
            <a:spAutoFit/>
          </a:bodyPr>
          <a:lstStyle/>
          <a:p>
            <a:pPr algn="ctr">
              <a:lnSpc>
                <a:spcPct val="100000"/>
              </a:lnSpc>
              <a:spcBef>
                <a:spcPts val="0"/>
              </a:spcBef>
              <a:spcAft>
                <a:spcPts val="200"/>
              </a:spcAft>
            </a:pPr>
            <a:r>
              <a:rPr sz="4000" b="1" i="0">
                <a:solidFill>
                  <a:srgbClr val="2563EB"/>
                </a:solidFill>
                <a:latin typeface="Arial"/>
              </a:rPr>
              <a:t>~55%</a:t>
            </a:r>
          </a:p>
        </p:txBody>
      </p:sp>
      <p:sp>
        <p:nvSpPr>
          <p:cNvPr id="10" name="TextBox 9"/>
          <p:cNvSpPr txBox="1"/>
          <p:nvPr/>
        </p:nvSpPr>
        <p:spPr>
          <a:xfrm>
            <a:off x="658368" y="2880360"/>
            <a:ext cx="2478024" cy="594360"/>
          </a:xfrm>
          <a:prstGeom prst="rect">
            <a:avLst/>
          </a:prstGeom>
          <a:noFill/>
        </p:spPr>
        <p:txBody>
          <a:bodyPr wrap="square" anchor="t" lIns="0" rIns="0" tIns="0" bIns="0">
            <a:spAutoFit/>
          </a:bodyPr>
          <a:lstStyle/>
          <a:p>
            <a:pPr algn="ctr">
              <a:lnSpc>
                <a:spcPct val="100000"/>
              </a:lnSpc>
              <a:spcBef>
                <a:spcPts val="0"/>
              </a:spcBef>
              <a:spcAft>
                <a:spcPts val="200"/>
              </a:spcAft>
            </a:pPr>
            <a:r>
              <a:rPr sz="1200" b="0" i="0">
                <a:solidFill>
                  <a:srgbClr val="0F172A"/>
                </a:solidFill>
                <a:latin typeface="Arial"/>
              </a:rPr>
              <a:t>EV share of new-car</a:t>
            </a:r>
          </a:p>
          <a:p>
            <a:pPr algn="ctr">
              <a:lnSpc>
                <a:spcPct val="100000"/>
              </a:lnSpc>
              <a:spcBef>
                <a:spcPts val="0"/>
              </a:spcBef>
              <a:spcAft>
                <a:spcPts val="200"/>
              </a:spcAft>
            </a:pPr>
            <a:r>
              <a:rPr sz="1200" b="0" i="0">
                <a:solidFill>
                  <a:srgbClr val="0F172A"/>
                </a:solidFill>
                <a:latin typeface="Arial"/>
              </a:rPr>
              <a:t>sales in China (2025)</a:t>
            </a:r>
          </a:p>
        </p:txBody>
      </p:sp>
      <p:sp>
        <p:nvSpPr>
          <p:cNvPr id="11" name="Rectangle 10"/>
          <p:cNvSpPr/>
          <p:nvPr/>
        </p:nvSpPr>
        <p:spPr>
          <a:xfrm>
            <a:off x="333756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737360"/>
            <a:ext cx="269748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2057400"/>
            <a:ext cx="2697480" cy="822960"/>
          </a:xfrm>
          <a:prstGeom prst="rect">
            <a:avLst/>
          </a:prstGeom>
          <a:noFill/>
        </p:spPr>
        <p:txBody>
          <a:bodyPr wrap="square" anchor="t" lIns="0" rIns="0" tIns="0" bIns="0">
            <a:spAutoFit/>
          </a:bodyPr>
          <a:lstStyle/>
          <a:p>
            <a:pPr algn="ctr">
              <a:lnSpc>
                <a:spcPct val="100000"/>
              </a:lnSpc>
              <a:spcBef>
                <a:spcPts val="0"/>
              </a:spcBef>
              <a:spcAft>
                <a:spcPts val="200"/>
              </a:spcAft>
            </a:pPr>
            <a:r>
              <a:rPr sz="4000" b="1" i="0">
                <a:solidFill>
                  <a:srgbClr val="06B6D4"/>
                </a:solidFill>
                <a:latin typeface="Arial"/>
              </a:rPr>
              <a:t>~60%</a:t>
            </a:r>
          </a:p>
        </p:txBody>
      </p:sp>
      <p:sp>
        <p:nvSpPr>
          <p:cNvPr id="14" name="TextBox 13"/>
          <p:cNvSpPr txBox="1"/>
          <p:nvPr/>
        </p:nvSpPr>
        <p:spPr>
          <a:xfrm>
            <a:off x="3447288" y="2880360"/>
            <a:ext cx="2478024" cy="594360"/>
          </a:xfrm>
          <a:prstGeom prst="rect">
            <a:avLst/>
          </a:prstGeom>
          <a:noFill/>
        </p:spPr>
        <p:txBody>
          <a:bodyPr wrap="square" anchor="t" lIns="0" rIns="0" tIns="0" bIns="0">
            <a:spAutoFit/>
          </a:bodyPr>
          <a:lstStyle/>
          <a:p>
            <a:pPr algn="ctr">
              <a:lnSpc>
                <a:spcPct val="100000"/>
              </a:lnSpc>
              <a:spcBef>
                <a:spcPts val="0"/>
              </a:spcBef>
              <a:spcAft>
                <a:spcPts val="200"/>
              </a:spcAft>
            </a:pPr>
            <a:r>
              <a:rPr sz="1200" b="0" i="0">
                <a:solidFill>
                  <a:srgbClr val="0F172A"/>
                </a:solidFill>
                <a:latin typeface="Arial"/>
              </a:rPr>
              <a:t>of global EV sales</a:t>
            </a:r>
          </a:p>
          <a:p>
            <a:pPr algn="ctr">
              <a:lnSpc>
                <a:spcPct val="100000"/>
              </a:lnSpc>
              <a:spcBef>
                <a:spcPts val="0"/>
              </a:spcBef>
              <a:spcAft>
                <a:spcPts val="200"/>
              </a:spcAft>
            </a:pPr>
            <a:r>
              <a:rPr sz="1200" b="0" i="0">
                <a:solidFill>
                  <a:srgbClr val="0F172A"/>
                </a:solidFill>
                <a:latin typeface="Arial"/>
              </a:rPr>
              <a:t>from Chinese makers</a:t>
            </a:r>
          </a:p>
        </p:txBody>
      </p:sp>
      <p:sp>
        <p:nvSpPr>
          <p:cNvPr id="15" name="Rectangle 14"/>
          <p:cNvSpPr/>
          <p:nvPr/>
        </p:nvSpPr>
        <p:spPr>
          <a:xfrm>
            <a:off x="612648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6480" y="1737360"/>
            <a:ext cx="26974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0" y="2057400"/>
            <a:ext cx="2697480" cy="822960"/>
          </a:xfrm>
          <a:prstGeom prst="rect">
            <a:avLst/>
          </a:prstGeom>
          <a:noFill/>
        </p:spPr>
        <p:txBody>
          <a:bodyPr wrap="square" anchor="t" lIns="0" rIns="0" tIns="0" bIns="0">
            <a:spAutoFit/>
          </a:bodyPr>
          <a:lstStyle/>
          <a:p>
            <a:pPr algn="ctr">
              <a:lnSpc>
                <a:spcPct val="100000"/>
              </a:lnSpc>
              <a:spcBef>
                <a:spcPts val="0"/>
              </a:spcBef>
              <a:spcAft>
                <a:spcPts val="200"/>
              </a:spcAft>
            </a:pPr>
            <a:r>
              <a:rPr sz="4000" b="1" i="0">
                <a:solidFill>
                  <a:srgbClr val="DC2626"/>
                </a:solidFill>
                <a:latin typeface="Arial"/>
              </a:rPr>
              <a:t>35.3%</a:t>
            </a:r>
          </a:p>
        </p:txBody>
      </p:sp>
      <p:sp>
        <p:nvSpPr>
          <p:cNvPr id="18" name="TextBox 17"/>
          <p:cNvSpPr txBox="1"/>
          <p:nvPr/>
        </p:nvSpPr>
        <p:spPr>
          <a:xfrm>
            <a:off x="6236208" y="2880360"/>
            <a:ext cx="2478024" cy="594360"/>
          </a:xfrm>
          <a:prstGeom prst="rect">
            <a:avLst/>
          </a:prstGeom>
          <a:noFill/>
        </p:spPr>
        <p:txBody>
          <a:bodyPr wrap="square" anchor="t" lIns="0" rIns="0" tIns="0" bIns="0">
            <a:spAutoFit/>
          </a:bodyPr>
          <a:lstStyle/>
          <a:p>
            <a:pPr algn="ctr">
              <a:lnSpc>
                <a:spcPct val="100000"/>
              </a:lnSpc>
              <a:spcBef>
                <a:spcPts val="0"/>
              </a:spcBef>
              <a:spcAft>
                <a:spcPts val="200"/>
              </a:spcAft>
            </a:pPr>
            <a:r>
              <a:rPr sz="1200" b="0" i="0">
                <a:solidFill>
                  <a:srgbClr val="0F172A"/>
                </a:solidFill>
                <a:latin typeface="Arial"/>
              </a:rPr>
              <a:t>EU duty on SAIC</a:t>
            </a:r>
          </a:p>
          <a:p>
            <a:pPr algn="ctr">
              <a:lnSpc>
                <a:spcPct val="100000"/>
              </a:lnSpc>
              <a:spcBef>
                <a:spcPts val="0"/>
              </a:spcBef>
              <a:spcAft>
                <a:spcPts val="200"/>
              </a:spcAft>
            </a:pPr>
            <a:r>
              <a:rPr sz="1200" b="0" i="0">
                <a:solidFill>
                  <a:srgbClr val="0F172A"/>
                </a:solidFill>
                <a:latin typeface="Arial"/>
              </a:rPr>
              <a:t>(17.0% BYD · 18.8% Geely)</a:t>
            </a:r>
          </a:p>
        </p:txBody>
      </p:sp>
      <p:sp>
        <p:nvSpPr>
          <p:cNvPr id="19" name="Rectangle 18"/>
          <p:cNvSpPr/>
          <p:nvPr/>
        </p:nvSpPr>
        <p:spPr>
          <a:xfrm>
            <a:off x="891540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400" y="1737360"/>
            <a:ext cx="26974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15400" y="2057400"/>
            <a:ext cx="2697480" cy="822960"/>
          </a:xfrm>
          <a:prstGeom prst="rect">
            <a:avLst/>
          </a:prstGeom>
          <a:noFill/>
        </p:spPr>
        <p:txBody>
          <a:bodyPr wrap="square" anchor="t" lIns="0" rIns="0" tIns="0" bIns="0">
            <a:spAutoFit/>
          </a:bodyPr>
          <a:lstStyle/>
          <a:p>
            <a:pPr algn="ctr">
              <a:lnSpc>
                <a:spcPct val="100000"/>
              </a:lnSpc>
              <a:spcBef>
                <a:spcPts val="0"/>
              </a:spcBef>
              <a:spcAft>
                <a:spcPts val="200"/>
              </a:spcAft>
            </a:pPr>
            <a:r>
              <a:rPr sz="4000" b="1" i="0">
                <a:solidFill>
                  <a:srgbClr val="DC2626"/>
                </a:solidFill>
                <a:latin typeface="Arial"/>
              </a:rPr>
              <a:t>88%</a:t>
            </a:r>
          </a:p>
        </p:txBody>
      </p:sp>
      <p:sp>
        <p:nvSpPr>
          <p:cNvPr id="22" name="TextBox 21"/>
          <p:cNvSpPr txBox="1"/>
          <p:nvPr/>
        </p:nvSpPr>
        <p:spPr>
          <a:xfrm>
            <a:off x="9025128" y="2880360"/>
            <a:ext cx="2478024" cy="594360"/>
          </a:xfrm>
          <a:prstGeom prst="rect">
            <a:avLst/>
          </a:prstGeom>
          <a:noFill/>
        </p:spPr>
        <p:txBody>
          <a:bodyPr wrap="square" anchor="t" lIns="0" rIns="0" tIns="0" bIns="0">
            <a:spAutoFit/>
          </a:bodyPr>
          <a:lstStyle/>
          <a:p>
            <a:pPr algn="ctr">
              <a:lnSpc>
                <a:spcPct val="100000"/>
              </a:lnSpc>
              <a:spcBef>
                <a:spcPts val="0"/>
              </a:spcBef>
              <a:spcAft>
                <a:spcPts val="200"/>
              </a:spcAft>
            </a:pPr>
            <a:r>
              <a:rPr sz="1200" b="0" i="0">
                <a:solidFill>
                  <a:srgbClr val="0F172A"/>
                </a:solidFill>
                <a:latin typeface="Arial"/>
              </a:rPr>
              <a:t>drop in SAIC net</a:t>
            </a:r>
          </a:p>
          <a:p>
            <a:pPr algn="ctr">
              <a:lnSpc>
                <a:spcPct val="100000"/>
              </a:lnSpc>
              <a:spcBef>
                <a:spcPts val="0"/>
              </a:spcBef>
              <a:spcAft>
                <a:spcPts val="200"/>
              </a:spcAft>
            </a:pPr>
            <a:r>
              <a:rPr sz="1200" b="0" i="0">
                <a:solidFill>
                  <a:srgbClr val="0F172A"/>
                </a:solidFill>
                <a:latin typeface="Arial"/>
              </a:rPr>
              <a:t>profit in 2024</a:t>
            </a:r>
          </a:p>
        </p:txBody>
      </p:sp>
      <p:sp>
        <p:nvSpPr>
          <p:cNvPr id="23" name="TextBox 22"/>
          <p:cNvSpPr txBox="1"/>
          <p:nvPr/>
        </p:nvSpPr>
        <p:spPr>
          <a:xfrm>
            <a:off x="548640" y="3931920"/>
            <a:ext cx="11064240" cy="1828800"/>
          </a:xfrm>
          <a:prstGeom prst="rect">
            <a:avLst/>
          </a:prstGeom>
          <a:noFill/>
        </p:spPr>
        <p:txBody>
          <a:bodyPr wrap="square" lIns="0" rIns="0" tIns="0" bIns="0">
            <a:spAutoFit/>
          </a:bodyPr>
          <a:lstStyle/>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For three decades foreign technology was traded for market access, with a state-owned partner in the middle (Holmes et al., 2015) — the EV shift makes that logic obsolete.</a:t>
            </a:r>
          </a:p>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Firms that leaned on foreign partners are losing share fast, while independent Chinese makers have become global leaders (Whitfield &amp; Wuttke, 2026).</a:t>
            </a:r>
          </a:p>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The EU now prices governance risk directly: the tariff a firm pays tracks how state-dependent it is (European Commission, 2024).</a:t>
            </a:r>
          </a:p>
        </p:txBody>
      </p:sp>
      <p:sp>
        <p:nvSpPr>
          <p:cNvPr id="24" name="TextBox 23"/>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Sources: IEA Global EV Outlook 2026 · SAIC Annual Report 2024/2025 · European Commission (2024)</a:t>
            </a:r>
          </a:p>
        </p:txBody>
      </p:sp>
      <p:sp>
        <p:nvSpPr>
          <p:cNvPr id="25" name="TextBox 24"/>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6" name="TextBox 25"/>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INTRODUCTION · RESEARCH DESIGN</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One question, three governance archetypes, four analytical dimensions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27632"/>
            <a:ext cx="11064240" cy="8229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27632"/>
            <a:ext cx="10698480" cy="822960"/>
          </a:xfrm>
          <a:prstGeom prst="rect">
            <a:avLst/>
          </a:prstGeom>
          <a:noFill/>
        </p:spPr>
        <p:txBody>
          <a:bodyPr wrap="square" anchor="ctr" lIns="0" rIns="0" tIns="0" bIns="0">
            <a:spAutoFit/>
          </a:bodyPr>
          <a:lstStyle/>
          <a:p>
            <a:pPr algn="l">
              <a:lnSpc>
                <a:spcPct val="105000"/>
              </a:lnSpc>
              <a:spcBef>
                <a:spcPts val="0"/>
              </a:spcBef>
              <a:spcAft>
                <a:spcPts val="200"/>
              </a:spcAft>
            </a:pPr>
            <a:r>
              <a:rPr sz="1600" b="1" i="1">
                <a:solidFill>
                  <a:srgbClr val="FFFFFF"/>
                </a:solidFill>
                <a:latin typeface="Arial"/>
              </a:rPr>
              <a:t>“Which governance and financing structure is most likely to create long-term shareholder value in a technology-intensive, high-growth market?”</a:t>
            </a:r>
          </a:p>
        </p:txBody>
      </p:sp>
      <p:sp>
        <p:nvSpPr>
          <p:cNvPr id="9" name="Rectangle 8"/>
          <p:cNvSpPr/>
          <p:nvPr/>
        </p:nvSpPr>
        <p:spPr>
          <a:xfrm>
            <a:off x="548640"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862072"/>
            <a:ext cx="3291840" cy="36576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DC2626"/>
                </a:solidFill>
                <a:latin typeface="Arial"/>
              </a:rPr>
              <a:t>SAIC Motor</a:t>
            </a:r>
          </a:p>
        </p:txBody>
      </p:sp>
      <p:sp>
        <p:nvSpPr>
          <p:cNvPr id="12" name="TextBox 11"/>
          <p:cNvSpPr txBox="1"/>
          <p:nvPr/>
        </p:nvSpPr>
        <p:spPr>
          <a:xfrm>
            <a:off x="713232" y="3273552"/>
            <a:ext cx="3291840" cy="640080"/>
          </a:xfrm>
          <a:prstGeom prst="rect">
            <a:avLst/>
          </a:prstGeom>
          <a:noFill/>
        </p:spPr>
        <p:txBody>
          <a:bodyPr wrap="square" anchor="t" lIns="0" rIns="0" tIns="0" bIns="0">
            <a:spAutoFit/>
          </a:bodyPr>
          <a:lstStyle/>
          <a:p>
            <a:pPr algn="l">
              <a:lnSpc>
                <a:spcPct val="105000"/>
              </a:lnSpc>
              <a:spcBef>
                <a:spcPts val="0"/>
              </a:spcBef>
              <a:spcAft>
                <a:spcPts val="200"/>
              </a:spcAft>
            </a:pPr>
            <a:r>
              <a:rPr sz="1300" b="0" i="0">
                <a:solidFill>
                  <a:srgbClr val="0F172A"/>
                </a:solidFill>
                <a:latin typeface="Arial"/>
              </a:rPr>
              <a:t>Joint-venture model</a:t>
            </a:r>
          </a:p>
          <a:p>
            <a:pPr algn="l">
              <a:lnSpc>
                <a:spcPct val="105000"/>
              </a:lnSpc>
              <a:spcBef>
                <a:spcPts val="0"/>
              </a:spcBef>
              <a:spcAft>
                <a:spcPts val="200"/>
              </a:spcAft>
            </a:pPr>
            <a:r>
              <a:rPr sz="1300" b="0" i="0">
                <a:solidFill>
                  <a:srgbClr val="0F172A"/>
                </a:solidFill>
                <a:latin typeface="Arial"/>
              </a:rPr>
              <a:t>State-owned · SASAC ~73%</a:t>
            </a:r>
          </a:p>
        </p:txBody>
      </p:sp>
      <p:sp>
        <p:nvSpPr>
          <p:cNvPr id="13" name="Rectangle 12"/>
          <p:cNvSpPr/>
          <p:nvPr/>
        </p:nvSpPr>
        <p:spPr>
          <a:xfrm>
            <a:off x="4279392"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269748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3984" y="2862072"/>
            <a:ext cx="3291840" cy="36576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2563EB"/>
                </a:solidFill>
                <a:latin typeface="Arial"/>
              </a:rPr>
              <a:t>BYD</a:t>
            </a:r>
          </a:p>
        </p:txBody>
      </p:sp>
      <p:sp>
        <p:nvSpPr>
          <p:cNvPr id="16" name="TextBox 15"/>
          <p:cNvSpPr txBox="1"/>
          <p:nvPr/>
        </p:nvSpPr>
        <p:spPr>
          <a:xfrm>
            <a:off x="4443984" y="3273552"/>
            <a:ext cx="3291840" cy="640080"/>
          </a:xfrm>
          <a:prstGeom prst="rect">
            <a:avLst/>
          </a:prstGeom>
          <a:noFill/>
        </p:spPr>
        <p:txBody>
          <a:bodyPr wrap="square" anchor="t" lIns="0" rIns="0" tIns="0" bIns="0">
            <a:spAutoFit/>
          </a:bodyPr>
          <a:lstStyle/>
          <a:p>
            <a:pPr algn="l">
              <a:lnSpc>
                <a:spcPct val="105000"/>
              </a:lnSpc>
              <a:spcBef>
                <a:spcPts val="0"/>
              </a:spcBef>
              <a:spcAft>
                <a:spcPts val="200"/>
              </a:spcAft>
            </a:pPr>
            <a:r>
              <a:rPr sz="1300" b="0" i="0">
                <a:solidFill>
                  <a:srgbClr val="0F172A"/>
                </a:solidFill>
                <a:latin typeface="Arial"/>
              </a:rPr>
              <a:t>Vertical integration</a:t>
            </a:r>
          </a:p>
          <a:p>
            <a:pPr algn="l">
              <a:lnSpc>
                <a:spcPct val="105000"/>
              </a:lnSpc>
              <a:spcBef>
                <a:spcPts val="0"/>
              </a:spcBef>
              <a:spcAft>
                <a:spcPts val="200"/>
              </a:spcAft>
            </a:pPr>
            <a:r>
              <a:rPr sz="1300" b="0" i="0">
                <a:solidFill>
                  <a:srgbClr val="0F172A"/>
                </a:solidFill>
                <a:latin typeface="Arial"/>
              </a:rPr>
              <a:t>Founder-led · Wang ~17%</a:t>
            </a:r>
          </a:p>
        </p:txBody>
      </p:sp>
      <p:sp>
        <p:nvSpPr>
          <p:cNvPr id="17" name="Rectangle 16"/>
          <p:cNvSpPr/>
          <p:nvPr/>
        </p:nvSpPr>
        <p:spPr>
          <a:xfrm>
            <a:off x="8010144"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10144" y="269748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74736" y="2862072"/>
            <a:ext cx="3291840" cy="36576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06B6D4"/>
                </a:solidFill>
                <a:latin typeface="Arial"/>
              </a:rPr>
              <a:t>Geely</a:t>
            </a:r>
          </a:p>
        </p:txBody>
      </p:sp>
      <p:sp>
        <p:nvSpPr>
          <p:cNvPr id="20" name="TextBox 19"/>
          <p:cNvSpPr txBox="1"/>
          <p:nvPr/>
        </p:nvSpPr>
        <p:spPr>
          <a:xfrm>
            <a:off x="8174736" y="3273552"/>
            <a:ext cx="3291840" cy="640080"/>
          </a:xfrm>
          <a:prstGeom prst="rect">
            <a:avLst/>
          </a:prstGeom>
          <a:noFill/>
        </p:spPr>
        <p:txBody>
          <a:bodyPr wrap="square" anchor="t" lIns="0" rIns="0" tIns="0" bIns="0">
            <a:spAutoFit/>
          </a:bodyPr>
          <a:lstStyle/>
          <a:p>
            <a:pPr algn="l">
              <a:lnSpc>
                <a:spcPct val="105000"/>
              </a:lnSpc>
              <a:spcBef>
                <a:spcPts val="0"/>
              </a:spcBef>
              <a:spcAft>
                <a:spcPts val="200"/>
              </a:spcAft>
            </a:pPr>
            <a:r>
              <a:rPr sz="1300" b="0" i="0">
                <a:solidFill>
                  <a:srgbClr val="0F172A"/>
                </a:solidFill>
                <a:latin typeface="Arial"/>
              </a:rPr>
              <a:t>M&amp;A-driven</a:t>
            </a:r>
          </a:p>
          <a:p>
            <a:pPr algn="l">
              <a:lnSpc>
                <a:spcPct val="105000"/>
              </a:lnSpc>
              <a:spcBef>
                <a:spcPts val="0"/>
              </a:spcBef>
              <a:spcAft>
                <a:spcPts val="200"/>
              </a:spcAft>
            </a:pPr>
            <a:r>
              <a:rPr sz="1300" b="0" i="0">
                <a:solidFill>
                  <a:srgbClr val="0F172A"/>
                </a:solidFill>
                <a:latin typeface="Arial"/>
              </a:rPr>
              <a:t>Founder-led · Li ~41% attributable</a:t>
            </a:r>
          </a:p>
        </p:txBody>
      </p:sp>
      <p:sp>
        <p:nvSpPr>
          <p:cNvPr id="21" name="TextBox 20"/>
          <p:cNvSpPr txBox="1"/>
          <p:nvPr/>
        </p:nvSpPr>
        <p:spPr>
          <a:xfrm>
            <a:off x="548640" y="4206240"/>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2563EB"/>
                </a:solidFill>
                <a:latin typeface="Arial"/>
              </a:rPr>
              <a:t>FOUR ANALYTICAL DIMENSIONS — APPLIED TO EACH CASE</a:t>
            </a:r>
          </a:p>
        </p:txBody>
      </p:sp>
      <p:sp>
        <p:nvSpPr>
          <p:cNvPr id="22" name="Rectangle 21"/>
          <p:cNvSpPr/>
          <p:nvPr/>
        </p:nvSpPr>
        <p:spPr>
          <a:xfrm>
            <a:off x="5486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572000"/>
            <a:ext cx="2560320" cy="640080"/>
          </a:xfrm>
          <a:prstGeom prst="rect">
            <a:avLst/>
          </a:prstGeom>
          <a:noFill/>
        </p:spPr>
        <p:txBody>
          <a:bodyPr wrap="square" anchor="ctr" lIns="0" rIns="0" tIns="0" bIns="0">
            <a:spAutoFit/>
          </a:bodyPr>
          <a:lstStyle/>
          <a:p>
            <a:pPr algn="ctr">
              <a:lnSpc>
                <a:spcPct val="100000"/>
              </a:lnSpc>
              <a:spcBef>
                <a:spcPts val="0"/>
              </a:spcBef>
              <a:spcAft>
                <a:spcPts val="200"/>
              </a:spcAft>
            </a:pPr>
            <a:r>
              <a:rPr sz="1350" b="1" i="0">
                <a:solidFill>
                  <a:srgbClr val="FFFFFF"/>
                </a:solidFill>
                <a:latin typeface="Arial"/>
              </a:rPr>
              <a:t>1  Governance</a:t>
            </a:r>
          </a:p>
        </p:txBody>
      </p:sp>
      <p:sp>
        <p:nvSpPr>
          <p:cNvPr id="24" name="TextBox 23"/>
          <p:cNvSpPr txBox="1"/>
          <p:nvPr/>
        </p:nvSpPr>
        <p:spPr>
          <a:xfrm>
            <a:off x="3108960" y="4572000"/>
            <a:ext cx="182880" cy="640080"/>
          </a:xfrm>
          <a:prstGeom prst="rect">
            <a:avLst/>
          </a:prstGeom>
          <a:noFill/>
        </p:spPr>
        <p:txBody>
          <a:bodyPr wrap="square" anchor="ctr" lIns="0" rIns="0" tIns="0" bIns="0">
            <a:spAutoFit/>
          </a:bodyPr>
          <a:lstStyle/>
          <a:p>
            <a:pPr algn="ctr">
              <a:lnSpc>
                <a:spcPct val="100000"/>
              </a:lnSpc>
              <a:spcBef>
                <a:spcPts val="0"/>
              </a:spcBef>
              <a:spcAft>
                <a:spcPts val="200"/>
              </a:spcAft>
            </a:pPr>
            <a:r>
              <a:rPr sz="1800" b="1" i="0">
                <a:solidFill>
                  <a:srgbClr val="64748B"/>
                </a:solidFill>
                <a:latin typeface="Arial"/>
              </a:rPr>
              <a:t>›</a:t>
            </a:r>
          </a:p>
        </p:txBody>
      </p:sp>
      <p:sp>
        <p:nvSpPr>
          <p:cNvPr id="25" name="Rectangle 24"/>
          <p:cNvSpPr/>
          <p:nvPr/>
        </p:nvSpPr>
        <p:spPr>
          <a:xfrm>
            <a:off x="32918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1840" y="4572000"/>
            <a:ext cx="2560320" cy="640080"/>
          </a:xfrm>
          <a:prstGeom prst="rect">
            <a:avLst/>
          </a:prstGeom>
          <a:noFill/>
        </p:spPr>
        <p:txBody>
          <a:bodyPr wrap="square" anchor="ctr" lIns="0" rIns="0" tIns="0" bIns="0">
            <a:spAutoFit/>
          </a:bodyPr>
          <a:lstStyle/>
          <a:p>
            <a:pPr algn="ctr">
              <a:lnSpc>
                <a:spcPct val="100000"/>
              </a:lnSpc>
              <a:spcBef>
                <a:spcPts val="0"/>
              </a:spcBef>
              <a:spcAft>
                <a:spcPts val="200"/>
              </a:spcAft>
            </a:pPr>
            <a:r>
              <a:rPr sz="1350" b="1" i="0">
                <a:solidFill>
                  <a:srgbClr val="FFFFFF"/>
                </a:solidFill>
                <a:latin typeface="Arial"/>
              </a:rPr>
              <a:t>2  Financing</a:t>
            </a:r>
          </a:p>
        </p:txBody>
      </p:sp>
      <p:sp>
        <p:nvSpPr>
          <p:cNvPr id="27" name="TextBox 26"/>
          <p:cNvSpPr txBox="1"/>
          <p:nvPr/>
        </p:nvSpPr>
        <p:spPr>
          <a:xfrm>
            <a:off x="5852160" y="4572000"/>
            <a:ext cx="182880" cy="640080"/>
          </a:xfrm>
          <a:prstGeom prst="rect">
            <a:avLst/>
          </a:prstGeom>
          <a:noFill/>
        </p:spPr>
        <p:txBody>
          <a:bodyPr wrap="square" anchor="ctr" lIns="0" rIns="0" tIns="0" bIns="0">
            <a:spAutoFit/>
          </a:bodyPr>
          <a:lstStyle/>
          <a:p>
            <a:pPr algn="ctr">
              <a:lnSpc>
                <a:spcPct val="100000"/>
              </a:lnSpc>
              <a:spcBef>
                <a:spcPts val="0"/>
              </a:spcBef>
              <a:spcAft>
                <a:spcPts val="200"/>
              </a:spcAft>
            </a:pPr>
            <a:r>
              <a:rPr sz="1800" b="1" i="0">
                <a:solidFill>
                  <a:srgbClr val="64748B"/>
                </a:solidFill>
                <a:latin typeface="Arial"/>
              </a:rPr>
              <a:t>›</a:t>
            </a:r>
          </a:p>
        </p:txBody>
      </p:sp>
      <p:sp>
        <p:nvSpPr>
          <p:cNvPr id="28" name="Rectangle 27"/>
          <p:cNvSpPr/>
          <p:nvPr/>
        </p:nvSpPr>
        <p:spPr>
          <a:xfrm>
            <a:off x="60350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0" y="4572000"/>
            <a:ext cx="2560320" cy="640080"/>
          </a:xfrm>
          <a:prstGeom prst="rect">
            <a:avLst/>
          </a:prstGeom>
          <a:noFill/>
        </p:spPr>
        <p:txBody>
          <a:bodyPr wrap="square" anchor="ctr" lIns="0" rIns="0" tIns="0" bIns="0">
            <a:spAutoFit/>
          </a:bodyPr>
          <a:lstStyle/>
          <a:p>
            <a:pPr algn="ctr">
              <a:lnSpc>
                <a:spcPct val="100000"/>
              </a:lnSpc>
              <a:spcBef>
                <a:spcPts val="0"/>
              </a:spcBef>
              <a:spcAft>
                <a:spcPts val="200"/>
              </a:spcAft>
            </a:pPr>
            <a:r>
              <a:rPr sz="1350" b="1" i="0">
                <a:solidFill>
                  <a:srgbClr val="FFFFFF"/>
                </a:solidFill>
                <a:latin typeface="Arial"/>
              </a:rPr>
              <a:t>3  Capability Building</a:t>
            </a:r>
          </a:p>
        </p:txBody>
      </p:sp>
      <p:sp>
        <p:nvSpPr>
          <p:cNvPr id="30" name="TextBox 29"/>
          <p:cNvSpPr txBox="1"/>
          <p:nvPr/>
        </p:nvSpPr>
        <p:spPr>
          <a:xfrm>
            <a:off x="8595360" y="4572000"/>
            <a:ext cx="182880" cy="640080"/>
          </a:xfrm>
          <a:prstGeom prst="rect">
            <a:avLst/>
          </a:prstGeom>
          <a:noFill/>
        </p:spPr>
        <p:txBody>
          <a:bodyPr wrap="square" anchor="ctr" lIns="0" rIns="0" tIns="0" bIns="0">
            <a:spAutoFit/>
          </a:bodyPr>
          <a:lstStyle/>
          <a:p>
            <a:pPr algn="ctr">
              <a:lnSpc>
                <a:spcPct val="100000"/>
              </a:lnSpc>
              <a:spcBef>
                <a:spcPts val="0"/>
              </a:spcBef>
              <a:spcAft>
                <a:spcPts val="200"/>
              </a:spcAft>
            </a:pPr>
            <a:r>
              <a:rPr sz="1800" b="1" i="0">
                <a:solidFill>
                  <a:srgbClr val="64748B"/>
                </a:solidFill>
                <a:latin typeface="Arial"/>
              </a:rPr>
              <a:t>›</a:t>
            </a:r>
          </a:p>
        </p:txBody>
      </p:sp>
      <p:sp>
        <p:nvSpPr>
          <p:cNvPr id="31" name="Rectangle 30"/>
          <p:cNvSpPr/>
          <p:nvPr/>
        </p:nvSpPr>
        <p:spPr>
          <a:xfrm>
            <a:off x="87782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778240" y="4572000"/>
            <a:ext cx="2560320" cy="640080"/>
          </a:xfrm>
          <a:prstGeom prst="rect">
            <a:avLst/>
          </a:prstGeom>
          <a:noFill/>
        </p:spPr>
        <p:txBody>
          <a:bodyPr wrap="square" anchor="ctr" lIns="0" rIns="0" tIns="0" bIns="0">
            <a:spAutoFit/>
          </a:bodyPr>
          <a:lstStyle/>
          <a:p>
            <a:pPr algn="ctr">
              <a:lnSpc>
                <a:spcPct val="100000"/>
              </a:lnSpc>
              <a:spcBef>
                <a:spcPts val="0"/>
              </a:spcBef>
              <a:spcAft>
                <a:spcPts val="200"/>
              </a:spcAft>
            </a:pPr>
            <a:r>
              <a:rPr sz="1350" b="1" i="0">
                <a:solidFill>
                  <a:srgbClr val="FFFFFF"/>
                </a:solidFill>
                <a:latin typeface="Arial"/>
              </a:rPr>
              <a:t>4  Long-term Viability</a:t>
            </a:r>
          </a:p>
        </p:txBody>
      </p:sp>
      <p:sp>
        <p:nvSpPr>
          <p:cNvPr id="33" name="TextBox 32"/>
          <p:cNvSpPr txBox="1"/>
          <p:nvPr/>
        </p:nvSpPr>
        <p:spPr>
          <a:xfrm>
            <a:off x="548640" y="5532120"/>
            <a:ext cx="11064240" cy="548640"/>
          </a:xfrm>
          <a:prstGeom prst="rect">
            <a:avLst/>
          </a:prstGeom>
          <a:noFill/>
        </p:spPr>
        <p:txBody>
          <a:bodyPr wrap="square" anchor="t" lIns="0" rIns="0" tIns="0" bIns="0">
            <a:spAutoFit/>
          </a:bodyPr>
          <a:lstStyle/>
          <a:p>
            <a:pPr algn="l">
              <a:lnSpc>
                <a:spcPct val="105000"/>
              </a:lnSpc>
              <a:spcBef>
                <a:spcPts val="0"/>
              </a:spcBef>
              <a:spcAft>
                <a:spcPts val="200"/>
              </a:spcAft>
            </a:pPr>
            <a:r>
              <a:rPr sz="1400" b="1" i="0">
                <a:solidFill>
                  <a:srgbClr val="0F172A"/>
                </a:solidFill>
                <a:latin typeface="Arial"/>
              </a:rPr>
              <a:t>Central thesis: governance structure, more than initial technological endowment, determines long-term value creation.</a:t>
            </a:r>
          </a:p>
        </p:txBody>
      </p:sp>
      <p:sp>
        <p:nvSpPr>
          <p:cNvPr id="34" name="TextBox 33"/>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35" name="TextBox 34"/>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THEORY &amp; LITERATURE</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Six established lenses frame governance as the driver of value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37360"/>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83664"/>
            <a:ext cx="3264408" cy="457200"/>
          </a:xfrm>
          <a:prstGeom prst="rect">
            <a:avLst/>
          </a:prstGeom>
          <a:noFill/>
        </p:spPr>
        <p:txBody>
          <a:bodyPr wrap="square" anchor="t" lIns="0" rIns="0" tIns="0" bIns="0">
            <a:spAutoFit/>
          </a:bodyPr>
          <a:lstStyle/>
          <a:p>
            <a:pPr algn="l">
              <a:lnSpc>
                <a:spcPct val="95000"/>
              </a:lnSpc>
              <a:spcBef>
                <a:spcPts val="0"/>
              </a:spcBef>
              <a:spcAft>
                <a:spcPts val="200"/>
              </a:spcAft>
            </a:pPr>
            <a:r>
              <a:rPr sz="1450" b="1" i="0">
                <a:solidFill>
                  <a:srgbClr val="0F172A"/>
                </a:solidFill>
                <a:latin typeface="Arial"/>
              </a:rPr>
              <a:t>Control rights drive allocation</a:t>
            </a:r>
          </a:p>
        </p:txBody>
      </p:sp>
      <p:sp>
        <p:nvSpPr>
          <p:cNvPr id="10" name="TextBox 9"/>
          <p:cNvSpPr txBox="1"/>
          <p:nvPr/>
        </p:nvSpPr>
        <p:spPr>
          <a:xfrm>
            <a:off x="749808" y="2450592"/>
            <a:ext cx="3264408"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1">
                <a:solidFill>
                  <a:srgbClr val="DC2626"/>
                </a:solidFill>
                <a:latin typeface="Arial"/>
              </a:rPr>
              <a:t>Shleifer &amp; Vishny (1994)</a:t>
            </a:r>
          </a:p>
        </p:txBody>
      </p:sp>
      <p:sp>
        <p:nvSpPr>
          <p:cNvPr id="11" name="TextBox 10"/>
          <p:cNvSpPr txBox="1"/>
          <p:nvPr/>
        </p:nvSpPr>
        <p:spPr>
          <a:xfrm>
            <a:off x="749808" y="2761488"/>
            <a:ext cx="3264408" cy="777240"/>
          </a:xfrm>
          <a:prstGeom prst="rect">
            <a:avLst/>
          </a:prstGeom>
          <a:noFill/>
        </p:spPr>
        <p:txBody>
          <a:bodyPr wrap="square" anchor="t" lIns="0" rIns="0" tIns="0" bIns="0">
            <a:spAutoFit/>
          </a:bodyPr>
          <a:lstStyle/>
          <a:p>
            <a:pPr algn="l">
              <a:lnSpc>
                <a:spcPct val="100000"/>
              </a:lnSpc>
              <a:spcBef>
                <a:spcPts val="0"/>
              </a:spcBef>
              <a:spcAft>
                <a:spcPts val="200"/>
              </a:spcAft>
            </a:pPr>
            <a:r>
              <a:rPr sz="1250" b="0" i="0">
                <a:solidFill>
                  <a:srgbClr val="0F172A"/>
                </a:solidFill>
                <a:latin typeface="Arial"/>
              </a:rPr>
              <a:t>State control steers firms toward political goals, away from value.</a:t>
            </a:r>
          </a:p>
        </p:txBody>
      </p:sp>
      <p:sp>
        <p:nvSpPr>
          <p:cNvPr id="12" name="Rectangle 11"/>
          <p:cNvSpPr/>
          <p:nvPr/>
        </p:nvSpPr>
        <p:spPr>
          <a:xfrm>
            <a:off x="4293108"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3108" y="1737360"/>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4276" y="1883664"/>
            <a:ext cx="3264408" cy="457200"/>
          </a:xfrm>
          <a:prstGeom prst="rect">
            <a:avLst/>
          </a:prstGeom>
          <a:noFill/>
        </p:spPr>
        <p:txBody>
          <a:bodyPr wrap="square" anchor="t" lIns="0" rIns="0" tIns="0" bIns="0">
            <a:spAutoFit/>
          </a:bodyPr>
          <a:lstStyle/>
          <a:p>
            <a:pPr algn="l">
              <a:lnSpc>
                <a:spcPct val="95000"/>
              </a:lnSpc>
              <a:spcBef>
                <a:spcPts val="0"/>
              </a:spcBef>
              <a:spcAft>
                <a:spcPts val="200"/>
              </a:spcAft>
            </a:pPr>
            <a:r>
              <a:rPr sz="1450" b="1" i="0">
                <a:solidFill>
                  <a:srgbClr val="0F172A"/>
                </a:solidFill>
                <a:latin typeface="Arial"/>
              </a:rPr>
              <a:t>State vs. private ownership</a:t>
            </a:r>
          </a:p>
        </p:txBody>
      </p:sp>
      <p:sp>
        <p:nvSpPr>
          <p:cNvPr id="15" name="TextBox 14"/>
          <p:cNvSpPr txBox="1"/>
          <p:nvPr/>
        </p:nvSpPr>
        <p:spPr>
          <a:xfrm>
            <a:off x="4494276" y="2450592"/>
            <a:ext cx="3264408"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1">
                <a:solidFill>
                  <a:srgbClr val="DC2626"/>
                </a:solidFill>
                <a:latin typeface="Arial"/>
              </a:rPr>
              <a:t>Megginson &amp; Netter (2001)</a:t>
            </a:r>
          </a:p>
        </p:txBody>
      </p:sp>
      <p:sp>
        <p:nvSpPr>
          <p:cNvPr id="16" name="TextBox 15"/>
          <p:cNvSpPr txBox="1"/>
          <p:nvPr/>
        </p:nvSpPr>
        <p:spPr>
          <a:xfrm>
            <a:off x="4494276" y="2761488"/>
            <a:ext cx="3264408" cy="777240"/>
          </a:xfrm>
          <a:prstGeom prst="rect">
            <a:avLst/>
          </a:prstGeom>
          <a:noFill/>
        </p:spPr>
        <p:txBody>
          <a:bodyPr wrap="square" anchor="t" lIns="0" rIns="0" tIns="0" bIns="0">
            <a:spAutoFit/>
          </a:bodyPr>
          <a:lstStyle/>
          <a:p>
            <a:pPr algn="l">
              <a:lnSpc>
                <a:spcPct val="100000"/>
              </a:lnSpc>
              <a:spcBef>
                <a:spcPts val="0"/>
              </a:spcBef>
              <a:spcAft>
                <a:spcPts val="200"/>
              </a:spcAft>
            </a:pPr>
            <a:r>
              <a:rPr sz="1250" b="0" i="0">
                <a:solidFill>
                  <a:srgbClr val="0F172A"/>
                </a:solidFill>
                <a:latin typeface="Arial"/>
              </a:rPr>
              <a:t>Privatised firms outperform; mixed-ownership firms do not catch up.</a:t>
            </a:r>
          </a:p>
        </p:txBody>
      </p:sp>
      <p:sp>
        <p:nvSpPr>
          <p:cNvPr id="17" name="Rectangle 16"/>
          <p:cNvSpPr/>
          <p:nvPr/>
        </p:nvSpPr>
        <p:spPr>
          <a:xfrm>
            <a:off x="8037576"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37576" y="173736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1883664"/>
            <a:ext cx="3264408" cy="457200"/>
          </a:xfrm>
          <a:prstGeom prst="rect">
            <a:avLst/>
          </a:prstGeom>
          <a:noFill/>
        </p:spPr>
        <p:txBody>
          <a:bodyPr wrap="square" anchor="t" lIns="0" rIns="0" tIns="0" bIns="0">
            <a:spAutoFit/>
          </a:bodyPr>
          <a:lstStyle/>
          <a:p>
            <a:pPr algn="l">
              <a:lnSpc>
                <a:spcPct val="95000"/>
              </a:lnSpc>
              <a:spcBef>
                <a:spcPts val="0"/>
              </a:spcBef>
              <a:spcAft>
                <a:spcPts val="200"/>
              </a:spcAft>
            </a:pPr>
            <a:r>
              <a:rPr sz="1450" b="1" i="0">
                <a:solidFill>
                  <a:srgbClr val="0F172A"/>
                </a:solidFill>
                <a:latin typeface="Arial"/>
              </a:rPr>
              <a:t>Agency &amp; founder alignment</a:t>
            </a:r>
          </a:p>
        </p:txBody>
      </p:sp>
      <p:sp>
        <p:nvSpPr>
          <p:cNvPr id="20" name="TextBox 19"/>
          <p:cNvSpPr txBox="1"/>
          <p:nvPr/>
        </p:nvSpPr>
        <p:spPr>
          <a:xfrm>
            <a:off x="8238744" y="2450592"/>
            <a:ext cx="3264408"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1">
                <a:solidFill>
                  <a:srgbClr val="2563EB"/>
                </a:solidFill>
                <a:latin typeface="Arial"/>
              </a:rPr>
              <a:t>Jensen &amp; Meckling (1976)</a:t>
            </a:r>
          </a:p>
        </p:txBody>
      </p:sp>
      <p:sp>
        <p:nvSpPr>
          <p:cNvPr id="21" name="TextBox 20"/>
          <p:cNvSpPr txBox="1"/>
          <p:nvPr/>
        </p:nvSpPr>
        <p:spPr>
          <a:xfrm>
            <a:off x="8238744" y="2761488"/>
            <a:ext cx="3264408" cy="777240"/>
          </a:xfrm>
          <a:prstGeom prst="rect">
            <a:avLst/>
          </a:prstGeom>
          <a:noFill/>
        </p:spPr>
        <p:txBody>
          <a:bodyPr wrap="square" anchor="t" lIns="0" rIns="0" tIns="0" bIns="0">
            <a:spAutoFit/>
          </a:bodyPr>
          <a:lstStyle/>
          <a:p>
            <a:pPr algn="l">
              <a:lnSpc>
                <a:spcPct val="100000"/>
              </a:lnSpc>
              <a:spcBef>
                <a:spcPts val="0"/>
              </a:spcBef>
              <a:spcAft>
                <a:spcPts val="200"/>
              </a:spcAft>
            </a:pPr>
            <a:r>
              <a:rPr sz="1250" b="0" i="0">
                <a:solidFill>
                  <a:srgbClr val="0F172A"/>
                </a:solidFill>
                <a:latin typeface="Arial"/>
              </a:rPr>
              <a:t>Concentrated founder ownership removes the principal–agent conflict.</a:t>
            </a:r>
          </a:p>
        </p:txBody>
      </p:sp>
      <p:sp>
        <p:nvSpPr>
          <p:cNvPr id="22" name="Rectangle 21"/>
          <p:cNvSpPr/>
          <p:nvPr/>
        </p:nvSpPr>
        <p:spPr>
          <a:xfrm>
            <a:off x="548640"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3794759"/>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3941063"/>
            <a:ext cx="3264408" cy="457200"/>
          </a:xfrm>
          <a:prstGeom prst="rect">
            <a:avLst/>
          </a:prstGeom>
          <a:noFill/>
        </p:spPr>
        <p:txBody>
          <a:bodyPr wrap="square" anchor="t" lIns="0" rIns="0" tIns="0" bIns="0">
            <a:spAutoFit/>
          </a:bodyPr>
          <a:lstStyle/>
          <a:p>
            <a:pPr algn="l">
              <a:lnSpc>
                <a:spcPct val="95000"/>
              </a:lnSpc>
              <a:spcBef>
                <a:spcPts val="0"/>
              </a:spcBef>
              <a:spcAft>
                <a:spcPts val="200"/>
              </a:spcAft>
            </a:pPr>
            <a:r>
              <a:rPr sz="1450" b="1" i="0">
                <a:solidFill>
                  <a:srgbClr val="0F172A"/>
                </a:solidFill>
                <a:latin typeface="Arial"/>
              </a:rPr>
              <a:t>Quid pro quo transfer</a:t>
            </a:r>
          </a:p>
        </p:txBody>
      </p:sp>
      <p:sp>
        <p:nvSpPr>
          <p:cNvPr id="25" name="TextBox 24"/>
          <p:cNvSpPr txBox="1"/>
          <p:nvPr/>
        </p:nvSpPr>
        <p:spPr>
          <a:xfrm>
            <a:off x="749808" y="4507991"/>
            <a:ext cx="3264408"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1">
                <a:solidFill>
                  <a:srgbClr val="DC2626"/>
                </a:solidFill>
                <a:latin typeface="Arial"/>
              </a:rPr>
              <a:t>Holmes et al. (2015) · Fan et al. (2007)</a:t>
            </a:r>
          </a:p>
        </p:txBody>
      </p:sp>
      <p:sp>
        <p:nvSpPr>
          <p:cNvPr id="26" name="TextBox 25"/>
          <p:cNvSpPr txBox="1"/>
          <p:nvPr/>
        </p:nvSpPr>
        <p:spPr>
          <a:xfrm>
            <a:off x="749808" y="4818887"/>
            <a:ext cx="3264408" cy="777240"/>
          </a:xfrm>
          <a:prstGeom prst="rect">
            <a:avLst/>
          </a:prstGeom>
          <a:noFill/>
        </p:spPr>
        <p:txBody>
          <a:bodyPr wrap="square" anchor="t" lIns="0" rIns="0" tIns="0" bIns="0">
            <a:spAutoFit/>
          </a:bodyPr>
          <a:lstStyle/>
          <a:p>
            <a:pPr algn="l">
              <a:lnSpc>
                <a:spcPct val="100000"/>
              </a:lnSpc>
              <a:spcBef>
                <a:spcPts val="0"/>
              </a:spcBef>
              <a:spcAft>
                <a:spcPts val="200"/>
              </a:spcAft>
            </a:pPr>
            <a:r>
              <a:rPr sz="1250" b="0" i="0">
                <a:solidFill>
                  <a:srgbClr val="0F172A"/>
                </a:solidFill>
                <a:latin typeface="Arial"/>
              </a:rPr>
              <a:t>Tech-for-access; politically connected firms lag ~18% post-IPO.</a:t>
            </a:r>
          </a:p>
        </p:txBody>
      </p:sp>
      <p:sp>
        <p:nvSpPr>
          <p:cNvPr id="27" name="Rectangle 26"/>
          <p:cNvSpPr/>
          <p:nvPr/>
        </p:nvSpPr>
        <p:spPr>
          <a:xfrm>
            <a:off x="4293108"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93108" y="3794759"/>
            <a:ext cx="82296" cy="1874519"/>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94276" y="3941063"/>
            <a:ext cx="3264408" cy="457200"/>
          </a:xfrm>
          <a:prstGeom prst="rect">
            <a:avLst/>
          </a:prstGeom>
          <a:noFill/>
        </p:spPr>
        <p:txBody>
          <a:bodyPr wrap="square" anchor="t" lIns="0" rIns="0" tIns="0" bIns="0">
            <a:spAutoFit/>
          </a:bodyPr>
          <a:lstStyle/>
          <a:p>
            <a:pPr algn="l">
              <a:lnSpc>
                <a:spcPct val="95000"/>
              </a:lnSpc>
              <a:spcBef>
                <a:spcPts val="0"/>
              </a:spcBef>
              <a:spcAft>
                <a:spcPts val="200"/>
              </a:spcAft>
            </a:pPr>
            <a:r>
              <a:rPr sz="1450" b="1" i="0">
                <a:solidFill>
                  <a:srgbClr val="0F172A"/>
                </a:solidFill>
                <a:latin typeface="Arial"/>
              </a:rPr>
              <a:t>Springboard M&amp;A</a:t>
            </a:r>
          </a:p>
        </p:txBody>
      </p:sp>
      <p:sp>
        <p:nvSpPr>
          <p:cNvPr id="30" name="TextBox 29"/>
          <p:cNvSpPr txBox="1"/>
          <p:nvPr/>
        </p:nvSpPr>
        <p:spPr>
          <a:xfrm>
            <a:off x="4494276" y="4507991"/>
            <a:ext cx="3264408"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1">
                <a:solidFill>
                  <a:srgbClr val="06B6D4"/>
                </a:solidFill>
                <a:latin typeface="Arial"/>
              </a:rPr>
              <a:t>Luo &amp; Tung (2007)</a:t>
            </a:r>
          </a:p>
        </p:txBody>
      </p:sp>
      <p:sp>
        <p:nvSpPr>
          <p:cNvPr id="31" name="TextBox 30"/>
          <p:cNvSpPr txBox="1"/>
          <p:nvPr/>
        </p:nvSpPr>
        <p:spPr>
          <a:xfrm>
            <a:off x="4494276" y="4818887"/>
            <a:ext cx="3264408" cy="777240"/>
          </a:xfrm>
          <a:prstGeom prst="rect">
            <a:avLst/>
          </a:prstGeom>
          <a:noFill/>
        </p:spPr>
        <p:txBody>
          <a:bodyPr wrap="square" anchor="t" lIns="0" rIns="0" tIns="0" bIns="0">
            <a:spAutoFit/>
          </a:bodyPr>
          <a:lstStyle/>
          <a:p>
            <a:pPr algn="l">
              <a:lnSpc>
                <a:spcPct val="100000"/>
              </a:lnSpc>
              <a:spcBef>
                <a:spcPts val="0"/>
              </a:spcBef>
              <a:spcAft>
                <a:spcPts val="200"/>
              </a:spcAft>
            </a:pPr>
            <a:r>
              <a:rPr sz="1250" b="0" i="0">
                <a:solidFill>
                  <a:srgbClr val="0F172A"/>
                </a:solidFill>
                <a:latin typeface="Arial"/>
              </a:rPr>
              <a:t>Emerging-market firms acquire abroad to leap latecomer disadvantages.</a:t>
            </a:r>
          </a:p>
        </p:txBody>
      </p:sp>
      <p:sp>
        <p:nvSpPr>
          <p:cNvPr id="32" name="Rectangle 31"/>
          <p:cNvSpPr/>
          <p:nvPr/>
        </p:nvSpPr>
        <p:spPr>
          <a:xfrm>
            <a:off x="8037576"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37576" y="3794759"/>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38744" y="3941063"/>
            <a:ext cx="3264408" cy="457200"/>
          </a:xfrm>
          <a:prstGeom prst="rect">
            <a:avLst/>
          </a:prstGeom>
          <a:noFill/>
        </p:spPr>
        <p:txBody>
          <a:bodyPr wrap="square" anchor="t" lIns="0" rIns="0" tIns="0" bIns="0">
            <a:spAutoFit/>
          </a:bodyPr>
          <a:lstStyle/>
          <a:p>
            <a:pPr algn="l">
              <a:lnSpc>
                <a:spcPct val="95000"/>
              </a:lnSpc>
              <a:spcBef>
                <a:spcPts val="0"/>
              </a:spcBef>
              <a:spcAft>
                <a:spcPts val="200"/>
              </a:spcAft>
            </a:pPr>
            <a:r>
              <a:rPr sz="1450" b="1" i="0">
                <a:solidFill>
                  <a:srgbClr val="0F172A"/>
                </a:solidFill>
                <a:latin typeface="Arial"/>
              </a:rPr>
              <a:t>Dynamic capabilities</a:t>
            </a:r>
          </a:p>
        </p:txBody>
      </p:sp>
      <p:sp>
        <p:nvSpPr>
          <p:cNvPr id="35" name="TextBox 34"/>
          <p:cNvSpPr txBox="1"/>
          <p:nvPr/>
        </p:nvSpPr>
        <p:spPr>
          <a:xfrm>
            <a:off x="8238744" y="4507991"/>
            <a:ext cx="3264408"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1">
                <a:solidFill>
                  <a:srgbClr val="2563EB"/>
                </a:solidFill>
                <a:latin typeface="Arial"/>
              </a:rPr>
              <a:t>Teece et al. (1997)</a:t>
            </a:r>
          </a:p>
        </p:txBody>
      </p:sp>
      <p:sp>
        <p:nvSpPr>
          <p:cNvPr id="36" name="TextBox 35"/>
          <p:cNvSpPr txBox="1"/>
          <p:nvPr/>
        </p:nvSpPr>
        <p:spPr>
          <a:xfrm>
            <a:off x="8238744" y="4818887"/>
            <a:ext cx="3264408" cy="777240"/>
          </a:xfrm>
          <a:prstGeom prst="rect">
            <a:avLst/>
          </a:prstGeom>
          <a:noFill/>
        </p:spPr>
        <p:txBody>
          <a:bodyPr wrap="square" anchor="t" lIns="0" rIns="0" tIns="0" bIns="0">
            <a:spAutoFit/>
          </a:bodyPr>
          <a:lstStyle/>
          <a:p>
            <a:pPr algn="l">
              <a:lnSpc>
                <a:spcPct val="100000"/>
              </a:lnSpc>
              <a:spcBef>
                <a:spcPts val="0"/>
              </a:spcBef>
              <a:spcAft>
                <a:spcPts val="200"/>
              </a:spcAft>
            </a:pPr>
            <a:r>
              <a:rPr sz="1250" b="0" i="0">
                <a:solidFill>
                  <a:srgbClr val="0F172A"/>
                </a:solidFill>
                <a:latin typeface="Arial"/>
              </a:rPr>
              <a:t>Path-dependent tacit knowledge is the source of non-imitable advantage.</a:t>
            </a:r>
          </a:p>
        </p:txBody>
      </p:sp>
      <p:sp>
        <p:nvSpPr>
          <p:cNvPr id="37" name="TextBox 36"/>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38" name="TextBox 37"/>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ANALYTICAL FRAMEWORK</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Three models tested against four dimensions — a 3 × 4 matrix</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155448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783080"/>
            <a:ext cx="1408176" cy="841248"/>
          </a:xfrm>
          <a:prstGeom prst="rect">
            <a:avLst/>
          </a:prstGeom>
          <a:noFill/>
        </p:spPr>
        <p:txBody>
          <a:bodyPr wrap="square" anchor="ctr" lIns="0" rIns="0" tIns="0" bIns="0">
            <a:spAutoFit/>
          </a:bodyPr>
          <a:lstStyle/>
          <a:p>
            <a:pPr algn="l">
              <a:lnSpc>
                <a:spcPct val="95000"/>
              </a:lnSpc>
              <a:spcBef>
                <a:spcPts val="0"/>
              </a:spcBef>
              <a:spcAft>
                <a:spcPts val="200"/>
              </a:spcAft>
            </a:pPr>
            <a:r>
              <a:rPr sz="1350" b="1" i="0">
                <a:solidFill>
                  <a:srgbClr val="FFFFFF"/>
                </a:solidFill>
                <a:latin typeface="Arial"/>
              </a:rPr>
              <a:t/>
            </a:r>
          </a:p>
        </p:txBody>
      </p:sp>
      <p:sp>
        <p:nvSpPr>
          <p:cNvPr id="9" name="Rectangle 8"/>
          <p:cNvSpPr/>
          <p:nvPr/>
        </p:nvSpPr>
        <p:spPr>
          <a:xfrm>
            <a:off x="2103120" y="1783080"/>
            <a:ext cx="260604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76272" y="1783080"/>
            <a:ext cx="245973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1" i="0">
                <a:solidFill>
                  <a:srgbClr val="FFFFFF"/>
                </a:solidFill>
                <a:latin typeface="Arial"/>
              </a:rPr>
              <a:t>Governance</a:t>
            </a:r>
          </a:p>
        </p:txBody>
      </p:sp>
      <p:sp>
        <p:nvSpPr>
          <p:cNvPr id="11" name="Rectangle 10"/>
          <p:cNvSpPr/>
          <p:nvPr/>
        </p:nvSpPr>
        <p:spPr>
          <a:xfrm>
            <a:off x="4709160" y="1783080"/>
            <a:ext cx="233172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82312" y="1783080"/>
            <a:ext cx="218541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1" i="0">
                <a:solidFill>
                  <a:srgbClr val="FFFFFF"/>
                </a:solidFill>
                <a:latin typeface="Arial"/>
              </a:rPr>
              <a:t>Financing</a:t>
            </a:r>
          </a:p>
        </p:txBody>
      </p:sp>
      <p:sp>
        <p:nvSpPr>
          <p:cNvPr id="13" name="Rectangle 12"/>
          <p:cNvSpPr/>
          <p:nvPr/>
        </p:nvSpPr>
        <p:spPr>
          <a:xfrm>
            <a:off x="7040880" y="1783080"/>
            <a:ext cx="233172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14032" y="1783080"/>
            <a:ext cx="218541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1" i="0">
                <a:solidFill>
                  <a:srgbClr val="FFFFFF"/>
                </a:solidFill>
                <a:latin typeface="Arial"/>
              </a:rPr>
              <a:t>Capability</a:t>
            </a:r>
          </a:p>
        </p:txBody>
      </p:sp>
      <p:sp>
        <p:nvSpPr>
          <p:cNvPr id="15" name="Rectangle 14"/>
          <p:cNvSpPr/>
          <p:nvPr/>
        </p:nvSpPr>
        <p:spPr>
          <a:xfrm>
            <a:off x="9372600" y="1783080"/>
            <a:ext cx="224028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45752" y="1783080"/>
            <a:ext cx="209397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1" i="0">
                <a:solidFill>
                  <a:srgbClr val="FFFFFF"/>
                </a:solidFill>
                <a:latin typeface="Arial"/>
              </a:rPr>
              <a:t>Viability</a:t>
            </a:r>
          </a:p>
        </p:txBody>
      </p:sp>
      <p:sp>
        <p:nvSpPr>
          <p:cNvPr id="17" name="Rectangle 16"/>
          <p:cNvSpPr/>
          <p:nvPr/>
        </p:nvSpPr>
        <p:spPr>
          <a:xfrm>
            <a:off x="548640" y="2624328"/>
            <a:ext cx="1554480" cy="841248"/>
          </a:xfrm>
          <a:prstGeom prst="rect">
            <a:avLst/>
          </a:prstGeom>
          <a:solidFill>
            <a:srgbClr val="DC2626"/>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2624328"/>
            <a:ext cx="1408176" cy="841248"/>
          </a:xfrm>
          <a:prstGeom prst="rect">
            <a:avLst/>
          </a:prstGeom>
          <a:noFill/>
        </p:spPr>
        <p:txBody>
          <a:bodyPr wrap="square" anchor="ctr" lIns="0" rIns="0" tIns="0" bIns="0">
            <a:spAutoFit/>
          </a:bodyPr>
          <a:lstStyle/>
          <a:p>
            <a:pPr algn="l">
              <a:lnSpc>
                <a:spcPct val="95000"/>
              </a:lnSpc>
              <a:spcBef>
                <a:spcPts val="0"/>
              </a:spcBef>
              <a:spcAft>
                <a:spcPts val="200"/>
              </a:spcAft>
            </a:pPr>
            <a:r>
              <a:rPr sz="1350" b="1" i="0">
                <a:solidFill>
                  <a:srgbClr val="FFFFFF"/>
                </a:solidFill>
                <a:latin typeface="Arial"/>
              </a:rPr>
              <a:t/>
            </a:r>
          </a:p>
        </p:txBody>
      </p:sp>
      <p:sp>
        <p:nvSpPr>
          <p:cNvPr id="19" name="Rectangle 18"/>
          <p:cNvSpPr/>
          <p:nvPr/>
        </p:nvSpPr>
        <p:spPr>
          <a:xfrm>
            <a:off x="2103120" y="2624328"/>
            <a:ext cx="260604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76272" y="2624328"/>
            <a:ext cx="245973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State / SASAC + Party</a:t>
            </a:r>
          </a:p>
        </p:txBody>
      </p:sp>
      <p:sp>
        <p:nvSpPr>
          <p:cNvPr id="21" name="Rectangle 20"/>
          <p:cNvSpPr/>
          <p:nvPr/>
        </p:nvSpPr>
        <p:spPr>
          <a:xfrm>
            <a:off x="4709160" y="2624328"/>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82312" y="2624328"/>
            <a:ext cx="218541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JV dividends</a:t>
            </a:r>
          </a:p>
          <a:p>
            <a:pPr algn="ctr">
              <a:lnSpc>
                <a:spcPct val="95000"/>
              </a:lnSpc>
              <a:spcBef>
                <a:spcPts val="0"/>
              </a:spcBef>
              <a:spcAft>
                <a:spcPts val="200"/>
              </a:spcAft>
            </a:pPr>
            <a:r>
              <a:rPr sz="1350" b="0" i="0">
                <a:solidFill>
                  <a:srgbClr val="0F172A"/>
                </a:solidFill>
                <a:latin typeface="Arial"/>
              </a:rPr>
              <a:t>(capital-light)</a:t>
            </a:r>
          </a:p>
        </p:txBody>
      </p:sp>
      <p:sp>
        <p:nvSpPr>
          <p:cNvPr id="23" name="Rectangle 22"/>
          <p:cNvSpPr/>
          <p:nvPr/>
        </p:nvSpPr>
        <p:spPr>
          <a:xfrm>
            <a:off x="7040880" y="2624328"/>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14032" y="2624328"/>
            <a:ext cx="218541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Mandatory transfer</a:t>
            </a:r>
          </a:p>
        </p:txBody>
      </p:sp>
      <p:sp>
        <p:nvSpPr>
          <p:cNvPr id="25" name="Rectangle 24"/>
          <p:cNvSpPr/>
          <p:nvPr/>
        </p:nvSpPr>
        <p:spPr>
          <a:xfrm>
            <a:off x="9372600" y="2624328"/>
            <a:ext cx="224028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45752" y="2624328"/>
            <a:ext cx="209397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Most exposed</a:t>
            </a:r>
          </a:p>
        </p:txBody>
      </p:sp>
      <p:sp>
        <p:nvSpPr>
          <p:cNvPr id="27" name="Rectangle 26"/>
          <p:cNvSpPr/>
          <p:nvPr/>
        </p:nvSpPr>
        <p:spPr>
          <a:xfrm>
            <a:off x="548640" y="3465576"/>
            <a:ext cx="1554480" cy="841248"/>
          </a:xfrm>
          <a:prstGeom prst="rect">
            <a:avLst/>
          </a:prstGeom>
          <a:solidFill>
            <a:srgbClr val="2563EB"/>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3465576"/>
            <a:ext cx="1408176" cy="841248"/>
          </a:xfrm>
          <a:prstGeom prst="rect">
            <a:avLst/>
          </a:prstGeom>
          <a:noFill/>
        </p:spPr>
        <p:txBody>
          <a:bodyPr wrap="square" anchor="ctr" lIns="0" rIns="0" tIns="0" bIns="0">
            <a:spAutoFit/>
          </a:bodyPr>
          <a:lstStyle/>
          <a:p>
            <a:pPr algn="l">
              <a:lnSpc>
                <a:spcPct val="95000"/>
              </a:lnSpc>
              <a:spcBef>
                <a:spcPts val="0"/>
              </a:spcBef>
              <a:spcAft>
                <a:spcPts val="200"/>
              </a:spcAft>
            </a:pPr>
            <a:r>
              <a:rPr sz="1350" b="1" i="0">
                <a:solidFill>
                  <a:srgbClr val="FFFFFF"/>
                </a:solidFill>
                <a:latin typeface="Arial"/>
              </a:rPr>
              <a:t/>
            </a:r>
          </a:p>
        </p:txBody>
      </p:sp>
      <p:sp>
        <p:nvSpPr>
          <p:cNvPr id="29" name="Rectangle 28"/>
          <p:cNvSpPr/>
          <p:nvPr/>
        </p:nvSpPr>
        <p:spPr>
          <a:xfrm>
            <a:off x="2103120" y="3465576"/>
            <a:ext cx="260604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76272" y="3465576"/>
            <a:ext cx="245973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Founder-led</a:t>
            </a:r>
          </a:p>
          <a:p>
            <a:pPr algn="ctr">
              <a:lnSpc>
                <a:spcPct val="95000"/>
              </a:lnSpc>
              <a:spcBef>
                <a:spcPts val="0"/>
              </a:spcBef>
              <a:spcAft>
                <a:spcPts val="200"/>
              </a:spcAft>
            </a:pPr>
            <a:r>
              <a:rPr sz="1350" b="0" i="0">
                <a:solidFill>
                  <a:srgbClr val="0F172A"/>
                </a:solidFill>
                <a:latin typeface="Arial"/>
              </a:rPr>
              <a:t>(Wang ~17%)</a:t>
            </a:r>
          </a:p>
        </p:txBody>
      </p:sp>
      <p:sp>
        <p:nvSpPr>
          <p:cNvPr id="31" name="Rectangle 30"/>
          <p:cNvSpPr/>
          <p:nvPr/>
        </p:nvSpPr>
        <p:spPr>
          <a:xfrm>
            <a:off x="4709160" y="3465576"/>
            <a:ext cx="233172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82312" y="3465576"/>
            <a:ext cx="218541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Self-financing</a:t>
            </a:r>
          </a:p>
          <a:p>
            <a:pPr algn="ctr">
              <a:lnSpc>
                <a:spcPct val="95000"/>
              </a:lnSpc>
              <a:spcBef>
                <a:spcPts val="0"/>
              </a:spcBef>
              <a:spcAft>
                <a:spcPts val="200"/>
              </a:spcAft>
            </a:pPr>
            <a:r>
              <a:rPr sz="1350" b="0" i="0">
                <a:solidFill>
                  <a:srgbClr val="0F172A"/>
                </a:solidFill>
                <a:latin typeface="Arial"/>
              </a:rPr>
              <a:t>(operating cash)</a:t>
            </a:r>
          </a:p>
        </p:txBody>
      </p:sp>
      <p:sp>
        <p:nvSpPr>
          <p:cNvPr id="33" name="Rectangle 32"/>
          <p:cNvSpPr/>
          <p:nvPr/>
        </p:nvSpPr>
        <p:spPr>
          <a:xfrm>
            <a:off x="7040880" y="3465576"/>
            <a:ext cx="233172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14032" y="3465576"/>
            <a:ext cx="218541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Organic build</a:t>
            </a:r>
          </a:p>
        </p:txBody>
      </p:sp>
      <p:sp>
        <p:nvSpPr>
          <p:cNvPr id="35" name="Rectangle 34"/>
          <p:cNvSpPr/>
          <p:nvPr/>
        </p:nvSpPr>
        <p:spPr>
          <a:xfrm>
            <a:off x="9372600" y="3465576"/>
            <a:ext cx="224028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45752" y="3465576"/>
            <a:ext cx="209397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Strongest</a:t>
            </a:r>
          </a:p>
        </p:txBody>
      </p:sp>
      <p:sp>
        <p:nvSpPr>
          <p:cNvPr id="37" name="Rectangle 36"/>
          <p:cNvSpPr/>
          <p:nvPr/>
        </p:nvSpPr>
        <p:spPr>
          <a:xfrm>
            <a:off x="548640" y="4306824"/>
            <a:ext cx="1554480" cy="841248"/>
          </a:xfrm>
          <a:prstGeom prst="rect">
            <a:avLst/>
          </a:prstGeom>
          <a:solidFill>
            <a:srgbClr val="06B6D4"/>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1792" y="4306824"/>
            <a:ext cx="1408176" cy="841248"/>
          </a:xfrm>
          <a:prstGeom prst="rect">
            <a:avLst/>
          </a:prstGeom>
          <a:noFill/>
        </p:spPr>
        <p:txBody>
          <a:bodyPr wrap="square" anchor="ctr" lIns="0" rIns="0" tIns="0" bIns="0">
            <a:spAutoFit/>
          </a:bodyPr>
          <a:lstStyle/>
          <a:p>
            <a:pPr algn="l">
              <a:lnSpc>
                <a:spcPct val="95000"/>
              </a:lnSpc>
              <a:spcBef>
                <a:spcPts val="0"/>
              </a:spcBef>
              <a:spcAft>
                <a:spcPts val="200"/>
              </a:spcAft>
            </a:pPr>
            <a:r>
              <a:rPr sz="1350" b="1" i="0">
                <a:solidFill>
                  <a:srgbClr val="FFFFFF"/>
                </a:solidFill>
                <a:latin typeface="Arial"/>
              </a:rPr>
              <a:t/>
            </a:r>
          </a:p>
        </p:txBody>
      </p:sp>
      <p:sp>
        <p:nvSpPr>
          <p:cNvPr id="39" name="Rectangle 38"/>
          <p:cNvSpPr/>
          <p:nvPr/>
        </p:nvSpPr>
        <p:spPr>
          <a:xfrm>
            <a:off x="2103120" y="4306824"/>
            <a:ext cx="260604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76272" y="4306824"/>
            <a:ext cx="245973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Founder-led</a:t>
            </a:r>
          </a:p>
          <a:p>
            <a:pPr algn="ctr">
              <a:lnSpc>
                <a:spcPct val="95000"/>
              </a:lnSpc>
              <a:spcBef>
                <a:spcPts val="0"/>
              </a:spcBef>
              <a:spcAft>
                <a:spcPts val="200"/>
              </a:spcAft>
            </a:pPr>
            <a:r>
              <a:rPr sz="1350" b="0" i="0">
                <a:solidFill>
                  <a:srgbClr val="0F172A"/>
                </a:solidFill>
                <a:latin typeface="Arial"/>
              </a:rPr>
              <a:t>(Li ~41%)</a:t>
            </a:r>
          </a:p>
        </p:txBody>
      </p:sp>
      <p:sp>
        <p:nvSpPr>
          <p:cNvPr id="41" name="Rectangle 40"/>
          <p:cNvSpPr/>
          <p:nvPr/>
        </p:nvSpPr>
        <p:spPr>
          <a:xfrm>
            <a:off x="4709160" y="4306824"/>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82312" y="4306824"/>
            <a:ext cx="218541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Leveraged M&amp;A</a:t>
            </a:r>
          </a:p>
        </p:txBody>
      </p:sp>
      <p:sp>
        <p:nvSpPr>
          <p:cNvPr id="43" name="Rectangle 42"/>
          <p:cNvSpPr/>
          <p:nvPr/>
        </p:nvSpPr>
        <p:spPr>
          <a:xfrm>
            <a:off x="7040880" y="4306824"/>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14032" y="4306824"/>
            <a:ext cx="218541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Acquisition + co-dev</a:t>
            </a:r>
          </a:p>
        </p:txBody>
      </p:sp>
      <p:sp>
        <p:nvSpPr>
          <p:cNvPr id="45" name="Rectangle 44"/>
          <p:cNvSpPr/>
          <p:nvPr/>
        </p:nvSpPr>
        <p:spPr>
          <a:xfrm>
            <a:off x="9372600" y="4306824"/>
            <a:ext cx="224028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45752" y="4306824"/>
            <a:ext cx="2093976" cy="841248"/>
          </a:xfrm>
          <a:prstGeom prst="rect">
            <a:avLst/>
          </a:prstGeom>
          <a:noFill/>
        </p:spPr>
        <p:txBody>
          <a:bodyPr wrap="square" anchor="ctr" lIns="0" rIns="0" tIns="0" bIns="0">
            <a:spAutoFit/>
          </a:bodyPr>
          <a:lstStyle/>
          <a:p>
            <a:pPr algn="ctr">
              <a:lnSpc>
                <a:spcPct val="95000"/>
              </a:lnSpc>
              <a:spcBef>
                <a:spcPts val="0"/>
              </a:spcBef>
              <a:spcAft>
                <a:spcPts val="200"/>
              </a:spcAft>
            </a:pPr>
            <a:r>
              <a:rPr sz="1350" b="0" i="0">
                <a:solidFill>
                  <a:srgbClr val="0F172A"/>
                </a:solidFill>
                <a:latin typeface="Arial"/>
              </a:rPr>
              <a:t>Most asymmetric</a:t>
            </a:r>
          </a:p>
        </p:txBody>
      </p:sp>
      <p:sp>
        <p:nvSpPr>
          <p:cNvPr id="47" name="TextBox 46"/>
          <p:cNvSpPr txBox="1"/>
          <p:nvPr/>
        </p:nvSpPr>
        <p:spPr>
          <a:xfrm>
            <a:off x="548640" y="2624328"/>
            <a:ext cx="1554480" cy="841248"/>
          </a:xfrm>
          <a:prstGeom prst="rect">
            <a:avLst/>
          </a:prstGeom>
          <a:noFill/>
        </p:spPr>
        <p:txBody>
          <a:bodyPr wrap="square" anchor="ctr" lIns="0" rIns="0" tIns="0" bIns="0">
            <a:spAutoFit/>
          </a:bodyPr>
          <a:lstStyle/>
          <a:p>
            <a:pPr algn="ctr">
              <a:lnSpc>
                <a:spcPct val="100000"/>
              </a:lnSpc>
              <a:spcBef>
                <a:spcPts val="0"/>
              </a:spcBef>
              <a:spcAft>
                <a:spcPts val="200"/>
              </a:spcAft>
            </a:pPr>
            <a:r>
              <a:rPr sz="1400" b="1" i="0">
                <a:solidFill>
                  <a:srgbClr val="FFFFFF"/>
                </a:solidFill>
                <a:latin typeface="Arial"/>
              </a:rPr>
              <a:t>SAIC</a:t>
            </a:r>
          </a:p>
        </p:txBody>
      </p:sp>
      <p:sp>
        <p:nvSpPr>
          <p:cNvPr id="48" name="TextBox 47"/>
          <p:cNvSpPr txBox="1"/>
          <p:nvPr/>
        </p:nvSpPr>
        <p:spPr>
          <a:xfrm>
            <a:off x="548640" y="3465576"/>
            <a:ext cx="1554480" cy="841248"/>
          </a:xfrm>
          <a:prstGeom prst="rect">
            <a:avLst/>
          </a:prstGeom>
          <a:noFill/>
        </p:spPr>
        <p:txBody>
          <a:bodyPr wrap="square" anchor="ctr" lIns="0" rIns="0" tIns="0" bIns="0">
            <a:spAutoFit/>
          </a:bodyPr>
          <a:lstStyle/>
          <a:p>
            <a:pPr algn="ctr">
              <a:lnSpc>
                <a:spcPct val="100000"/>
              </a:lnSpc>
              <a:spcBef>
                <a:spcPts val="0"/>
              </a:spcBef>
              <a:spcAft>
                <a:spcPts val="200"/>
              </a:spcAft>
            </a:pPr>
            <a:r>
              <a:rPr sz="1400" b="1" i="0">
                <a:solidFill>
                  <a:srgbClr val="FFFFFF"/>
                </a:solidFill>
                <a:latin typeface="Arial"/>
              </a:rPr>
              <a:t>BYD</a:t>
            </a:r>
          </a:p>
        </p:txBody>
      </p:sp>
      <p:sp>
        <p:nvSpPr>
          <p:cNvPr id="49" name="TextBox 48"/>
          <p:cNvSpPr txBox="1"/>
          <p:nvPr/>
        </p:nvSpPr>
        <p:spPr>
          <a:xfrm>
            <a:off x="548640" y="4306824"/>
            <a:ext cx="1554480" cy="841248"/>
          </a:xfrm>
          <a:prstGeom prst="rect">
            <a:avLst/>
          </a:prstGeom>
          <a:noFill/>
        </p:spPr>
        <p:txBody>
          <a:bodyPr wrap="square" anchor="ctr" lIns="0" rIns="0" tIns="0" bIns="0">
            <a:spAutoFit/>
          </a:bodyPr>
          <a:lstStyle/>
          <a:p>
            <a:pPr algn="ctr">
              <a:lnSpc>
                <a:spcPct val="100000"/>
              </a:lnSpc>
              <a:spcBef>
                <a:spcPts val="0"/>
              </a:spcBef>
              <a:spcAft>
                <a:spcPts val="200"/>
              </a:spcAft>
            </a:pPr>
            <a:r>
              <a:rPr sz="1400" b="1" i="0">
                <a:solidFill>
                  <a:srgbClr val="FFFFFF"/>
                </a:solidFill>
                <a:latin typeface="Arial"/>
              </a:rPr>
              <a:t>Geely</a:t>
            </a:r>
          </a:p>
        </p:txBody>
      </p:sp>
      <p:sp>
        <p:nvSpPr>
          <p:cNvPr id="50" name="TextBox 49"/>
          <p:cNvSpPr txBox="1"/>
          <p:nvPr/>
        </p:nvSpPr>
        <p:spPr>
          <a:xfrm>
            <a:off x="548640" y="5440680"/>
            <a:ext cx="11064240" cy="548640"/>
          </a:xfrm>
          <a:prstGeom prst="rect">
            <a:avLst/>
          </a:prstGeom>
          <a:noFill/>
        </p:spPr>
        <p:txBody>
          <a:bodyPr wrap="square" anchor="t" lIns="0" rIns="0" tIns="0" bIns="0">
            <a:spAutoFit/>
          </a:bodyPr>
          <a:lstStyle/>
          <a:p>
            <a:pPr algn="l">
              <a:lnSpc>
                <a:spcPct val="105000"/>
              </a:lnSpc>
              <a:spcBef>
                <a:spcPts val="0"/>
              </a:spcBef>
              <a:spcAft>
                <a:spcPts val="200"/>
              </a:spcAft>
            </a:pPr>
            <a:r>
              <a:rPr sz="1400" b="1" i="0">
                <a:solidFill>
                  <a:srgbClr val="0F172A"/>
                </a:solidFill>
                <a:latin typeface="Arial"/>
              </a:rPr>
              <a:t>Reading the matrix: the firm that is least adaptable in governance is also the most exposed in viability — the columns are linked, not independent.</a:t>
            </a:r>
          </a:p>
        </p:txBody>
      </p:sp>
      <p:sp>
        <p:nvSpPr>
          <p:cNvPr id="51" name="TextBox 50"/>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Anchors: Shleifer &amp; Vishny (1994) · Megginson &amp; Netter (2001) · Teece et al. (1997) · Luo &amp; Tung (2007) · Fan et al. (2007)</a:t>
            </a:r>
          </a:p>
        </p:txBody>
      </p:sp>
      <p:sp>
        <p:nvSpPr>
          <p:cNvPr id="52" name="TextBox 51"/>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53" name="TextBox 52"/>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DIMENSION 1 · GOVERNANCE</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Who controls the firm — and what they optimise — diverges sharply</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89280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DC2626"/>
                </a:solidFill>
                <a:latin typeface="Arial"/>
              </a:rPr>
              <a:t>SAIC — dual state principal</a:t>
            </a:r>
          </a:p>
        </p:txBody>
      </p:sp>
      <p:sp>
        <p:nvSpPr>
          <p:cNvPr id="10" name="TextBox 9"/>
          <p:cNvSpPr txBox="1"/>
          <p:nvPr/>
        </p:nvSpPr>
        <p:spPr>
          <a:xfrm>
            <a:off x="713232" y="2478024"/>
            <a:ext cx="3264408" cy="2843784"/>
          </a:xfrm>
          <a:prstGeom prst="rect">
            <a:avLst/>
          </a:prstGeom>
          <a:noFill/>
        </p:spPr>
        <p:txBody>
          <a:bodyPr wrap="square" lIns="0" rIns="0" tIns="0" bIns="0">
            <a:spAutoFit/>
          </a:bodyPr>
          <a:lstStyle/>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SASAC owns ~73%; the Party mandate is written into the charter</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Optimises beyond shareholder value: jobs, policy, prestige</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Connected firms lag ~18% post-IPO (Fan et al., 2007)</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Cannot exit unprofitable JVs without state sign-off</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Slow capital reallocation → strategic rigidity</a:t>
            </a:r>
          </a:p>
        </p:txBody>
      </p:sp>
      <p:sp>
        <p:nvSpPr>
          <p:cNvPr id="11" name="Rectangle 10"/>
          <p:cNvSpPr/>
          <p:nvPr/>
        </p:nvSpPr>
        <p:spPr>
          <a:xfrm>
            <a:off x="4279392"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4" y="189280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2563EB"/>
                </a:solidFill>
                <a:latin typeface="Arial"/>
              </a:rPr>
              <a:t>BYD — founder control</a:t>
            </a:r>
          </a:p>
        </p:txBody>
      </p:sp>
      <p:sp>
        <p:nvSpPr>
          <p:cNvPr id="14" name="TextBox 13"/>
          <p:cNvSpPr txBox="1"/>
          <p:nvPr/>
        </p:nvSpPr>
        <p:spPr>
          <a:xfrm>
            <a:off x="4443984" y="2478024"/>
            <a:ext cx="3264408" cy="2843784"/>
          </a:xfrm>
          <a:prstGeom prst="rect">
            <a:avLst/>
          </a:prstGeom>
          <a:noFill/>
        </p:spPr>
        <p:txBody>
          <a:bodyPr wrap="square" lIns="0" rIns="0" tIns="0" bIns="0">
            <a:spAutoFit/>
          </a:bodyPr>
          <a:lstStyle/>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Wang Chuanfu ~17%; founding team &gt; 1/3 of votes</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No JV dependency; one clear commercial objective</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Founder control aids breakthrough innovation (Zhang et al., 2025)</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Exited combustion engines in 2022 — decided alone</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Fastest decision cycle of the three</a:t>
            </a:r>
          </a:p>
        </p:txBody>
      </p:sp>
      <p:sp>
        <p:nvSpPr>
          <p:cNvPr id="15" name="Rectangle 14"/>
          <p:cNvSpPr/>
          <p:nvPr/>
        </p:nvSpPr>
        <p:spPr>
          <a:xfrm>
            <a:off x="8010144"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74736" y="189280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06B6D4"/>
                </a:solidFill>
                <a:latin typeface="Arial"/>
              </a:rPr>
              <a:t>Geely — founder apex</a:t>
            </a:r>
          </a:p>
        </p:txBody>
      </p:sp>
      <p:sp>
        <p:nvSpPr>
          <p:cNvPr id="18" name="TextBox 17"/>
          <p:cNvSpPr txBox="1"/>
          <p:nvPr/>
        </p:nvSpPr>
        <p:spPr>
          <a:xfrm>
            <a:off x="8174736" y="2478024"/>
            <a:ext cx="3264408" cy="2843784"/>
          </a:xfrm>
          <a:prstGeom prst="rect">
            <a:avLst/>
          </a:prstGeom>
          <a:noFill/>
        </p:spPr>
        <p:txBody>
          <a:bodyPr wrap="square" lIns="0" rIns="0" tIns="0" bIns="0">
            <a:spAutoFit/>
          </a:bodyPr>
          <a:lstStyle/>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Li Shufu ~41% attributable via ZGH (64.4% combined)</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No state committee or JV-partner consent at the top</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Agile in M&amp;A, but coordination cost across brands</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Volvo / Polestar / Lotus add portfolio complexity</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Loss-making subsidiaries = contingent liability</a:t>
            </a:r>
          </a:p>
        </p:txBody>
      </p:sp>
      <p:sp>
        <p:nvSpPr>
          <p:cNvPr id="19" name="TextBox 18"/>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Theory: Shleifer &amp; Vishny (1994) · Fan et al. (2007) · Jensen &amp; Meckling (1976) · Megginson &amp; Netter (2001)</a:t>
            </a:r>
          </a:p>
        </p:txBody>
      </p:sp>
      <p:sp>
        <p:nvSpPr>
          <p:cNvPr id="20" name="TextBox 19"/>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1" name="TextBox 20"/>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DIMENSION 1 · GOVERNANCE SYNTHESIS</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The EU tariff gap prices governance risk — an outside validation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737360"/>
            <a:ext cx="329184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38528"/>
            <a:ext cx="3291840" cy="868680"/>
          </a:xfrm>
          <a:prstGeom prst="rect">
            <a:avLst/>
          </a:prstGeom>
          <a:noFill/>
        </p:spPr>
        <p:txBody>
          <a:bodyPr wrap="square" anchor="t" lIns="0" rIns="0" tIns="0" bIns="0">
            <a:spAutoFit/>
          </a:bodyPr>
          <a:lstStyle/>
          <a:p>
            <a:pPr algn="ctr">
              <a:lnSpc>
                <a:spcPct val="100000"/>
              </a:lnSpc>
              <a:spcBef>
                <a:spcPts val="0"/>
              </a:spcBef>
              <a:spcAft>
                <a:spcPts val="200"/>
              </a:spcAft>
            </a:pPr>
            <a:r>
              <a:rPr sz="4400" b="1" i="0">
                <a:solidFill>
                  <a:srgbClr val="DC2626"/>
                </a:solidFill>
                <a:latin typeface="Arial"/>
              </a:rPr>
              <a:t>35.3%</a:t>
            </a:r>
          </a:p>
        </p:txBody>
      </p:sp>
      <p:sp>
        <p:nvSpPr>
          <p:cNvPr id="10" name="TextBox 9"/>
          <p:cNvSpPr txBox="1"/>
          <p:nvPr/>
        </p:nvSpPr>
        <p:spPr>
          <a:xfrm>
            <a:off x="868680" y="2788920"/>
            <a:ext cx="3291840" cy="365760"/>
          </a:xfrm>
          <a:prstGeom prst="rect">
            <a:avLst/>
          </a:prstGeom>
          <a:noFill/>
        </p:spPr>
        <p:txBody>
          <a:bodyPr wrap="square" anchor="t" lIns="0" rIns="0" tIns="0" bIns="0">
            <a:spAutoFit/>
          </a:bodyPr>
          <a:lstStyle/>
          <a:p>
            <a:pPr algn="ctr">
              <a:lnSpc>
                <a:spcPct val="100000"/>
              </a:lnSpc>
              <a:spcBef>
                <a:spcPts val="0"/>
              </a:spcBef>
              <a:spcAft>
                <a:spcPts val="200"/>
              </a:spcAft>
            </a:pPr>
            <a:r>
              <a:rPr sz="1600" b="1" i="0">
                <a:solidFill>
                  <a:srgbClr val="0F172A"/>
                </a:solidFill>
                <a:latin typeface="Arial"/>
              </a:rPr>
              <a:t>SAIC</a:t>
            </a:r>
          </a:p>
        </p:txBody>
      </p:sp>
      <p:sp>
        <p:nvSpPr>
          <p:cNvPr id="11" name="TextBox 10"/>
          <p:cNvSpPr txBox="1"/>
          <p:nvPr/>
        </p:nvSpPr>
        <p:spPr>
          <a:xfrm>
            <a:off x="978408" y="3154680"/>
            <a:ext cx="3072384" cy="502920"/>
          </a:xfrm>
          <a:prstGeom prst="rect">
            <a:avLst/>
          </a:prstGeom>
          <a:noFill/>
        </p:spPr>
        <p:txBody>
          <a:bodyPr wrap="square" anchor="t" lIns="0" rIns="0" tIns="0" bIns="0">
            <a:spAutoFit/>
          </a:bodyPr>
          <a:lstStyle/>
          <a:p>
            <a:pPr algn="ctr">
              <a:lnSpc>
                <a:spcPct val="100000"/>
              </a:lnSpc>
              <a:spcBef>
                <a:spcPts val="0"/>
              </a:spcBef>
              <a:spcAft>
                <a:spcPts val="200"/>
              </a:spcAft>
            </a:pPr>
            <a:r>
              <a:rPr sz="1200" b="0" i="1">
                <a:solidFill>
                  <a:srgbClr val="64748B"/>
                </a:solidFill>
                <a:latin typeface="Arial"/>
              </a:rPr>
              <a:t>State-owned;</a:t>
            </a:r>
          </a:p>
          <a:p>
            <a:pPr algn="ctr">
              <a:lnSpc>
                <a:spcPct val="100000"/>
              </a:lnSpc>
              <a:spcBef>
                <a:spcPts val="0"/>
              </a:spcBef>
              <a:spcAft>
                <a:spcPts val="200"/>
              </a:spcAft>
            </a:pPr>
            <a:r>
              <a:rPr sz="1200" b="0" i="1">
                <a:solidFill>
                  <a:srgbClr val="64748B"/>
                </a:solidFill>
                <a:latin typeface="Arial"/>
              </a:rPr>
              <a:t>highest subsidy finding</a:t>
            </a:r>
          </a:p>
        </p:txBody>
      </p:sp>
      <p:sp>
        <p:nvSpPr>
          <p:cNvPr id="12" name="Rectangle 11"/>
          <p:cNvSpPr/>
          <p:nvPr/>
        </p:nvSpPr>
        <p:spPr>
          <a:xfrm>
            <a:off x="438912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737360"/>
            <a:ext cx="329184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1938528"/>
            <a:ext cx="3291840" cy="868680"/>
          </a:xfrm>
          <a:prstGeom prst="rect">
            <a:avLst/>
          </a:prstGeom>
          <a:noFill/>
        </p:spPr>
        <p:txBody>
          <a:bodyPr wrap="square" anchor="t" lIns="0" rIns="0" tIns="0" bIns="0">
            <a:spAutoFit/>
          </a:bodyPr>
          <a:lstStyle/>
          <a:p>
            <a:pPr algn="ctr">
              <a:lnSpc>
                <a:spcPct val="100000"/>
              </a:lnSpc>
              <a:spcBef>
                <a:spcPts val="0"/>
              </a:spcBef>
              <a:spcAft>
                <a:spcPts val="200"/>
              </a:spcAft>
            </a:pPr>
            <a:r>
              <a:rPr sz="4400" b="1" i="0">
                <a:solidFill>
                  <a:srgbClr val="2563EB"/>
                </a:solidFill>
                <a:latin typeface="Arial"/>
              </a:rPr>
              <a:t>17.0%</a:t>
            </a:r>
          </a:p>
        </p:txBody>
      </p:sp>
      <p:sp>
        <p:nvSpPr>
          <p:cNvPr id="15" name="TextBox 14"/>
          <p:cNvSpPr txBox="1"/>
          <p:nvPr/>
        </p:nvSpPr>
        <p:spPr>
          <a:xfrm>
            <a:off x="4389120" y="2788920"/>
            <a:ext cx="3291840" cy="365760"/>
          </a:xfrm>
          <a:prstGeom prst="rect">
            <a:avLst/>
          </a:prstGeom>
          <a:noFill/>
        </p:spPr>
        <p:txBody>
          <a:bodyPr wrap="square" anchor="t" lIns="0" rIns="0" tIns="0" bIns="0">
            <a:spAutoFit/>
          </a:bodyPr>
          <a:lstStyle/>
          <a:p>
            <a:pPr algn="ctr">
              <a:lnSpc>
                <a:spcPct val="100000"/>
              </a:lnSpc>
              <a:spcBef>
                <a:spcPts val="0"/>
              </a:spcBef>
              <a:spcAft>
                <a:spcPts val="200"/>
              </a:spcAft>
            </a:pPr>
            <a:r>
              <a:rPr sz="1600" b="1" i="0">
                <a:solidFill>
                  <a:srgbClr val="0F172A"/>
                </a:solidFill>
                <a:latin typeface="Arial"/>
              </a:rPr>
              <a:t>BYD</a:t>
            </a:r>
          </a:p>
        </p:txBody>
      </p:sp>
      <p:sp>
        <p:nvSpPr>
          <p:cNvPr id="16" name="TextBox 15"/>
          <p:cNvSpPr txBox="1"/>
          <p:nvPr/>
        </p:nvSpPr>
        <p:spPr>
          <a:xfrm>
            <a:off x="4498848" y="3154680"/>
            <a:ext cx="3072384" cy="502920"/>
          </a:xfrm>
          <a:prstGeom prst="rect">
            <a:avLst/>
          </a:prstGeom>
          <a:noFill/>
        </p:spPr>
        <p:txBody>
          <a:bodyPr wrap="square" anchor="t" lIns="0" rIns="0" tIns="0" bIns="0">
            <a:spAutoFit/>
          </a:bodyPr>
          <a:lstStyle/>
          <a:p>
            <a:pPr algn="ctr">
              <a:lnSpc>
                <a:spcPct val="100000"/>
              </a:lnSpc>
              <a:spcBef>
                <a:spcPts val="0"/>
              </a:spcBef>
              <a:spcAft>
                <a:spcPts val="200"/>
              </a:spcAft>
            </a:pPr>
            <a:r>
              <a:rPr sz="1200" b="0" i="1">
                <a:solidFill>
                  <a:srgbClr val="64748B"/>
                </a:solidFill>
                <a:latin typeface="Arial"/>
              </a:rPr>
              <a:t>Founder-led;</a:t>
            </a:r>
          </a:p>
          <a:p>
            <a:pPr algn="ctr">
              <a:lnSpc>
                <a:spcPct val="100000"/>
              </a:lnSpc>
              <a:spcBef>
                <a:spcPts val="0"/>
              </a:spcBef>
              <a:spcAft>
                <a:spcPts val="200"/>
              </a:spcAft>
            </a:pPr>
            <a:r>
              <a:rPr sz="1200" b="0" i="1">
                <a:solidFill>
                  <a:srgbClr val="64748B"/>
                </a:solidFill>
                <a:latin typeface="Arial"/>
              </a:rPr>
              <a:t>lowest state finding</a:t>
            </a:r>
          </a:p>
        </p:txBody>
      </p:sp>
      <p:sp>
        <p:nvSpPr>
          <p:cNvPr id="17" name="Rectangle 16"/>
          <p:cNvSpPr/>
          <p:nvPr/>
        </p:nvSpPr>
        <p:spPr>
          <a:xfrm>
            <a:off x="790956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09560" y="1737360"/>
            <a:ext cx="329184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9560" y="1938528"/>
            <a:ext cx="3291840" cy="868680"/>
          </a:xfrm>
          <a:prstGeom prst="rect">
            <a:avLst/>
          </a:prstGeom>
          <a:noFill/>
        </p:spPr>
        <p:txBody>
          <a:bodyPr wrap="square" anchor="t" lIns="0" rIns="0" tIns="0" bIns="0">
            <a:spAutoFit/>
          </a:bodyPr>
          <a:lstStyle/>
          <a:p>
            <a:pPr algn="ctr">
              <a:lnSpc>
                <a:spcPct val="100000"/>
              </a:lnSpc>
              <a:spcBef>
                <a:spcPts val="0"/>
              </a:spcBef>
              <a:spcAft>
                <a:spcPts val="200"/>
              </a:spcAft>
            </a:pPr>
            <a:r>
              <a:rPr sz="4400" b="1" i="0">
                <a:solidFill>
                  <a:srgbClr val="06B6D4"/>
                </a:solidFill>
                <a:latin typeface="Arial"/>
              </a:rPr>
              <a:t>18.8%</a:t>
            </a:r>
          </a:p>
        </p:txBody>
      </p:sp>
      <p:sp>
        <p:nvSpPr>
          <p:cNvPr id="20" name="TextBox 19"/>
          <p:cNvSpPr txBox="1"/>
          <p:nvPr/>
        </p:nvSpPr>
        <p:spPr>
          <a:xfrm>
            <a:off x="7909560" y="2788920"/>
            <a:ext cx="3291840" cy="365760"/>
          </a:xfrm>
          <a:prstGeom prst="rect">
            <a:avLst/>
          </a:prstGeom>
          <a:noFill/>
        </p:spPr>
        <p:txBody>
          <a:bodyPr wrap="square" anchor="t" lIns="0" rIns="0" tIns="0" bIns="0">
            <a:spAutoFit/>
          </a:bodyPr>
          <a:lstStyle/>
          <a:p>
            <a:pPr algn="ctr">
              <a:lnSpc>
                <a:spcPct val="100000"/>
              </a:lnSpc>
              <a:spcBef>
                <a:spcPts val="0"/>
              </a:spcBef>
              <a:spcAft>
                <a:spcPts val="200"/>
              </a:spcAft>
            </a:pPr>
            <a:r>
              <a:rPr sz="1600" b="1" i="0">
                <a:solidFill>
                  <a:srgbClr val="0F172A"/>
                </a:solidFill>
                <a:latin typeface="Arial"/>
              </a:rPr>
              <a:t>Geely</a:t>
            </a:r>
          </a:p>
        </p:txBody>
      </p:sp>
      <p:sp>
        <p:nvSpPr>
          <p:cNvPr id="21" name="TextBox 20"/>
          <p:cNvSpPr txBox="1"/>
          <p:nvPr/>
        </p:nvSpPr>
        <p:spPr>
          <a:xfrm>
            <a:off x="8019288" y="3154680"/>
            <a:ext cx="3072384" cy="502920"/>
          </a:xfrm>
          <a:prstGeom prst="rect">
            <a:avLst/>
          </a:prstGeom>
          <a:noFill/>
        </p:spPr>
        <p:txBody>
          <a:bodyPr wrap="square" anchor="t" lIns="0" rIns="0" tIns="0" bIns="0">
            <a:spAutoFit/>
          </a:bodyPr>
          <a:lstStyle/>
          <a:p>
            <a:pPr algn="ctr">
              <a:lnSpc>
                <a:spcPct val="100000"/>
              </a:lnSpc>
              <a:spcBef>
                <a:spcPts val="0"/>
              </a:spcBef>
              <a:spcAft>
                <a:spcPts val="200"/>
              </a:spcAft>
            </a:pPr>
            <a:r>
              <a:rPr sz="1200" b="0" i="1">
                <a:solidFill>
                  <a:srgbClr val="64748B"/>
                </a:solidFill>
                <a:latin typeface="Arial"/>
              </a:rPr>
              <a:t>Private;</a:t>
            </a:r>
          </a:p>
          <a:p>
            <a:pPr algn="ctr">
              <a:lnSpc>
                <a:spcPct val="100000"/>
              </a:lnSpc>
              <a:spcBef>
                <a:spcPts val="0"/>
              </a:spcBef>
              <a:spcAft>
                <a:spcPts val="200"/>
              </a:spcAft>
            </a:pPr>
            <a:r>
              <a:rPr sz="1200" b="0" i="1">
                <a:solidFill>
                  <a:srgbClr val="64748B"/>
                </a:solidFill>
                <a:latin typeface="Arial"/>
              </a:rPr>
              <a:t>moderate state finding</a:t>
            </a:r>
          </a:p>
        </p:txBody>
      </p:sp>
      <p:sp>
        <p:nvSpPr>
          <p:cNvPr id="22" name="TextBox 21"/>
          <p:cNvSpPr txBox="1"/>
          <p:nvPr/>
        </p:nvSpPr>
        <p:spPr>
          <a:xfrm>
            <a:off x="548640" y="4069080"/>
            <a:ext cx="11064240" cy="1737360"/>
          </a:xfrm>
          <a:prstGeom prst="rect">
            <a:avLst/>
          </a:prstGeom>
          <a:noFill/>
        </p:spPr>
        <p:txBody>
          <a:bodyPr wrap="square" lIns="0" rIns="0" tIns="0" bIns="0">
            <a:spAutoFit/>
          </a:bodyPr>
          <a:lstStyle/>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An independent regulator — the European Commission — priced SAIC's state dependence at an 18.3-point premium over BYD, partly on “facts available” after the group withheld financing data.</a:t>
            </a:r>
          </a:p>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Adaptability rises as control concentrates: JV boards (bilateral consent) → state oversight → founder control.</a:t>
            </a:r>
          </a:p>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Core message: governance is a first-order determinant of competitive position, not an administrative footnote.</a:t>
            </a:r>
          </a:p>
        </p:txBody>
      </p:sp>
      <p:sp>
        <p:nvSpPr>
          <p:cNvPr id="23" name="TextBox 22"/>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European Commission (2024), Implementing Regulation (EU) 2024/2754 · Megginson &amp; Netter (2001)</a:t>
            </a:r>
          </a:p>
        </p:txBody>
      </p:sp>
      <p:sp>
        <p:nvSpPr>
          <p:cNvPr id="24" name="TextBox 23"/>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5" name="TextBox 24"/>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DIMENSION 2 · FINANCING</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Capital structure decides who survives the downturn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89280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DC2626"/>
                </a:solidFill>
                <a:latin typeface="Arial"/>
              </a:rPr>
              <a:t>Capital-light JV</a:t>
            </a:r>
          </a:p>
        </p:txBody>
      </p:sp>
      <p:sp>
        <p:nvSpPr>
          <p:cNvPr id="10" name="TextBox 9"/>
          <p:cNvSpPr txBox="1"/>
          <p:nvPr/>
        </p:nvSpPr>
        <p:spPr>
          <a:xfrm>
            <a:off x="713232" y="2478024"/>
            <a:ext cx="3264408" cy="2432304"/>
          </a:xfrm>
          <a:prstGeom prst="rect">
            <a:avLst/>
          </a:prstGeom>
          <a:noFill/>
        </p:spPr>
        <p:txBody>
          <a:bodyPr wrap="square" lIns="0" rIns="0" tIns="0" bIns="0">
            <a:spAutoFit/>
          </a:bodyPr>
          <a:lstStyle/>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Risk externalised to 50/50 JV partners</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SAIC-GM sales −56.5% triggered impairments</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Net profit −88% (2024); ROE just 0.58%</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Bound to absorb losses it cannot restructure</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 a capital-light model became a capital trap</a:t>
            </a:r>
          </a:p>
        </p:txBody>
      </p:sp>
      <p:sp>
        <p:nvSpPr>
          <p:cNvPr id="11" name="Rectangle 10"/>
          <p:cNvSpPr/>
          <p:nvPr/>
        </p:nvSpPr>
        <p:spPr>
          <a:xfrm>
            <a:off x="4279392"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4" y="189280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2563EB"/>
                </a:solidFill>
                <a:latin typeface="Arial"/>
              </a:rPr>
              <a:t>Self-financing</a:t>
            </a:r>
          </a:p>
        </p:txBody>
      </p:sp>
      <p:sp>
        <p:nvSpPr>
          <p:cNvPr id="14" name="TextBox 13"/>
          <p:cNvSpPr txBox="1"/>
          <p:nvPr/>
        </p:nvSpPr>
        <p:spPr>
          <a:xfrm>
            <a:off x="4443984" y="2478024"/>
            <a:ext cx="3264408" cy="2432304"/>
          </a:xfrm>
          <a:prstGeom prst="rect">
            <a:avLst/>
          </a:prstGeom>
          <a:noFill/>
        </p:spPr>
        <p:txBody>
          <a:bodyPr wrap="square" lIns="0" rIns="0" tIns="0" bIns="0">
            <a:spAutoFit/>
          </a:bodyPr>
          <a:lstStyle/>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Funded from operating cash, not lenders</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R&amp;D (RMB 54.2 bn) exceeded net profit (40.3 bn)</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USD 5.6 bn raise with sovereign wealth funds</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Net-cash position = resilience in a downturn</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 resilient, but growth capped by internal cash</a:t>
            </a:r>
          </a:p>
        </p:txBody>
      </p:sp>
      <p:sp>
        <p:nvSpPr>
          <p:cNvPr id="15" name="Rectangle 14"/>
          <p:cNvSpPr/>
          <p:nvPr/>
        </p:nvSpPr>
        <p:spPr>
          <a:xfrm>
            <a:off x="8010144"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74736" y="189280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06B6D4"/>
                </a:solidFill>
                <a:latin typeface="Arial"/>
              </a:rPr>
              <a:t>Leveraged M&amp;A</a:t>
            </a:r>
          </a:p>
        </p:txBody>
      </p:sp>
      <p:sp>
        <p:nvSpPr>
          <p:cNvPr id="18" name="TextBox 17"/>
          <p:cNvSpPr txBox="1"/>
          <p:nvPr/>
        </p:nvSpPr>
        <p:spPr>
          <a:xfrm>
            <a:off x="8174736" y="2478024"/>
            <a:ext cx="3264408" cy="2432304"/>
          </a:xfrm>
          <a:prstGeom prst="rect">
            <a:avLst/>
          </a:prstGeom>
          <a:noFill/>
        </p:spPr>
        <p:txBody>
          <a:bodyPr wrap="square" lIns="0" rIns="0" tIns="0" bIns="0">
            <a:spAutoFit/>
          </a:bodyPr>
          <a:lstStyle/>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Debt-financed acquisitions buy capability fast</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Volvo (2010) for RMB 10.2 bn; then Lynk &amp; Co</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Gearing rose 8.8% → 19.8% (FY2025)</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Operating cash flow RMB 47.3 bn gives headroom</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 speed, at the cost of balance-sheet exposure</a:t>
            </a:r>
          </a:p>
        </p:txBody>
      </p:sp>
      <p:sp>
        <p:nvSpPr>
          <p:cNvPr id="19" name="Rectangle 18"/>
          <p:cNvSpPr/>
          <p:nvPr/>
        </p:nvSpPr>
        <p:spPr>
          <a:xfrm>
            <a:off x="548640" y="5285232"/>
            <a:ext cx="11064240" cy="777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85232"/>
            <a:ext cx="10698480" cy="777240"/>
          </a:xfrm>
          <a:prstGeom prst="rect">
            <a:avLst/>
          </a:prstGeom>
          <a:noFill/>
        </p:spPr>
        <p:txBody>
          <a:bodyPr wrap="square" anchor="ctr" lIns="0" rIns="0" tIns="0" bIns="0">
            <a:spAutoFit/>
          </a:bodyPr>
          <a:lstStyle/>
          <a:p>
            <a:pPr algn="l">
              <a:lnSpc>
                <a:spcPct val="105000"/>
              </a:lnSpc>
              <a:spcBef>
                <a:spcPts val="0"/>
              </a:spcBef>
              <a:spcAft>
                <a:spcPts val="200"/>
              </a:spcAft>
            </a:pPr>
            <a:r>
              <a:rPr sz="1350" b="1" i="0">
                <a:solidFill>
                  <a:srgbClr val="FFFFFF"/>
                </a:solidFill>
                <a:latin typeface="Arial"/>
              </a:rPr>
              <a:t>Risk-sharing captures upside in growth but exposes the firm in a downturn; self-financing trades growth speed for resilience; leverage trades balance-sheet safety for strategic speed.</a:t>
            </a:r>
          </a:p>
        </p:txBody>
      </p:sp>
      <p:sp>
        <p:nvSpPr>
          <p:cNvPr id="21" name="TextBox 20"/>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SAIC AR 2024/2025 · BYD AR 2024/2025 · Geely AR 2024/2025 · Balcet et al. (2012)</a:t>
            </a:r>
          </a:p>
        </p:txBody>
      </p:sp>
      <p:sp>
        <p:nvSpPr>
          <p:cNvPr id="22" name="TextBox 21"/>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DIMENSION 2 · FINANCIAL PROFILE</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The numbers confirm it: BYD self-funds, SAIC leans on eroding JV rents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91640"/>
            <a:ext cx="3291840"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691640"/>
            <a:ext cx="3145536" cy="512064"/>
          </a:xfrm>
          <a:prstGeom prst="rect">
            <a:avLst/>
          </a:prstGeom>
          <a:noFill/>
        </p:spPr>
        <p:txBody>
          <a:bodyPr wrap="square" anchor="ctr" lIns="0" rIns="0" tIns="0" bIns="0">
            <a:spAutoFit/>
          </a:bodyPr>
          <a:lstStyle/>
          <a:p>
            <a:pPr algn="l">
              <a:lnSpc>
                <a:spcPct val="95000"/>
              </a:lnSpc>
              <a:spcBef>
                <a:spcPts val="0"/>
              </a:spcBef>
              <a:spcAft>
                <a:spcPts val="200"/>
              </a:spcAft>
            </a:pPr>
            <a:r>
              <a:rPr sz="1350" b="1" i="0">
                <a:solidFill>
                  <a:srgbClr val="FFFFFF"/>
                </a:solidFill>
                <a:latin typeface="Arial"/>
              </a:rPr>
              <a:t>Metric (FY24 / FY25)</a:t>
            </a:r>
          </a:p>
        </p:txBody>
      </p:sp>
      <p:sp>
        <p:nvSpPr>
          <p:cNvPr id="9" name="Rectangle 8"/>
          <p:cNvSpPr/>
          <p:nvPr/>
        </p:nvSpPr>
        <p:spPr>
          <a:xfrm>
            <a:off x="3840480" y="1691640"/>
            <a:ext cx="2587752"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13632" y="1691640"/>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50" b="1" i="0">
                <a:solidFill>
                  <a:srgbClr val="FFFFFF"/>
                </a:solidFill>
                <a:latin typeface="Arial"/>
              </a:rPr>
              <a:t>SAIC</a:t>
            </a:r>
          </a:p>
        </p:txBody>
      </p:sp>
      <p:sp>
        <p:nvSpPr>
          <p:cNvPr id="11" name="Rectangle 10"/>
          <p:cNvSpPr/>
          <p:nvPr/>
        </p:nvSpPr>
        <p:spPr>
          <a:xfrm>
            <a:off x="6428232" y="1691640"/>
            <a:ext cx="2587752"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01384" y="1691640"/>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50" b="1" i="0">
                <a:solidFill>
                  <a:srgbClr val="FFFFFF"/>
                </a:solidFill>
                <a:latin typeface="Arial"/>
              </a:rPr>
              <a:t>BYD</a:t>
            </a:r>
          </a:p>
        </p:txBody>
      </p:sp>
      <p:sp>
        <p:nvSpPr>
          <p:cNvPr id="13" name="Rectangle 12"/>
          <p:cNvSpPr/>
          <p:nvPr/>
        </p:nvSpPr>
        <p:spPr>
          <a:xfrm>
            <a:off x="9015984" y="1691640"/>
            <a:ext cx="2596896"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89136" y="1691640"/>
            <a:ext cx="2450592"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50" b="1" i="0">
                <a:solidFill>
                  <a:srgbClr val="FFFFFF"/>
                </a:solidFill>
                <a:latin typeface="Arial"/>
              </a:rPr>
              <a:t>Geely</a:t>
            </a:r>
          </a:p>
        </p:txBody>
      </p:sp>
      <p:sp>
        <p:nvSpPr>
          <p:cNvPr id="15" name="Rectangle 14"/>
          <p:cNvSpPr/>
          <p:nvPr/>
        </p:nvSpPr>
        <p:spPr>
          <a:xfrm>
            <a:off x="548640" y="2203704"/>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203704"/>
            <a:ext cx="3145536" cy="512064"/>
          </a:xfrm>
          <a:prstGeom prst="rect">
            <a:avLst/>
          </a:prstGeom>
          <a:noFill/>
        </p:spPr>
        <p:txBody>
          <a:bodyPr wrap="square" anchor="ctr" lIns="0" rIns="0" tIns="0" bIns="0">
            <a:spAutoFit/>
          </a:bodyPr>
          <a:lstStyle/>
          <a:p>
            <a:pPr algn="l">
              <a:lnSpc>
                <a:spcPct val="95000"/>
              </a:lnSpc>
              <a:spcBef>
                <a:spcPts val="0"/>
              </a:spcBef>
              <a:spcAft>
                <a:spcPts val="200"/>
              </a:spcAft>
            </a:pPr>
            <a:r>
              <a:rPr sz="1300" b="1" i="0">
                <a:solidFill>
                  <a:srgbClr val="0F172A"/>
                </a:solidFill>
                <a:latin typeface="Arial"/>
              </a:rPr>
              <a:t>Revenue (RMB bn)</a:t>
            </a:r>
          </a:p>
        </p:txBody>
      </p:sp>
      <p:sp>
        <p:nvSpPr>
          <p:cNvPr id="17" name="Rectangle 16"/>
          <p:cNvSpPr/>
          <p:nvPr/>
        </p:nvSpPr>
        <p:spPr>
          <a:xfrm>
            <a:off x="3840480" y="2203704"/>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13632" y="2203704"/>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627.6 / 656.2</a:t>
            </a:r>
          </a:p>
        </p:txBody>
      </p:sp>
      <p:sp>
        <p:nvSpPr>
          <p:cNvPr id="19" name="Rectangle 18"/>
          <p:cNvSpPr/>
          <p:nvPr/>
        </p:nvSpPr>
        <p:spPr>
          <a:xfrm>
            <a:off x="6428232" y="2203704"/>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1384" y="2203704"/>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777.1 / 804.0</a:t>
            </a:r>
          </a:p>
        </p:txBody>
      </p:sp>
      <p:sp>
        <p:nvSpPr>
          <p:cNvPr id="21" name="Rectangle 20"/>
          <p:cNvSpPr/>
          <p:nvPr/>
        </p:nvSpPr>
        <p:spPr>
          <a:xfrm>
            <a:off x="9015984" y="2203704"/>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9136" y="2203704"/>
            <a:ext cx="2450592"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240.2 / 345.2</a:t>
            </a:r>
          </a:p>
        </p:txBody>
      </p:sp>
      <p:sp>
        <p:nvSpPr>
          <p:cNvPr id="23" name="Rectangle 22"/>
          <p:cNvSpPr/>
          <p:nvPr/>
        </p:nvSpPr>
        <p:spPr>
          <a:xfrm>
            <a:off x="548640" y="2715768"/>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2715768"/>
            <a:ext cx="3145536" cy="512064"/>
          </a:xfrm>
          <a:prstGeom prst="rect">
            <a:avLst/>
          </a:prstGeom>
          <a:noFill/>
        </p:spPr>
        <p:txBody>
          <a:bodyPr wrap="square" anchor="ctr" lIns="0" rIns="0" tIns="0" bIns="0">
            <a:spAutoFit/>
          </a:bodyPr>
          <a:lstStyle/>
          <a:p>
            <a:pPr algn="l">
              <a:lnSpc>
                <a:spcPct val="95000"/>
              </a:lnSpc>
              <a:spcBef>
                <a:spcPts val="0"/>
              </a:spcBef>
              <a:spcAft>
                <a:spcPts val="200"/>
              </a:spcAft>
            </a:pPr>
            <a:r>
              <a:rPr sz="1300" b="1" i="0">
                <a:solidFill>
                  <a:srgbClr val="0F172A"/>
                </a:solidFill>
                <a:latin typeface="Arial"/>
              </a:rPr>
              <a:t>Gross margin</a:t>
            </a:r>
          </a:p>
        </p:txBody>
      </p:sp>
      <p:sp>
        <p:nvSpPr>
          <p:cNvPr id="25" name="Rectangle 24"/>
          <p:cNvSpPr/>
          <p:nvPr/>
        </p:nvSpPr>
        <p:spPr>
          <a:xfrm>
            <a:off x="3840480" y="2715768"/>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13632" y="2715768"/>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9.4% / 10.1%</a:t>
            </a:r>
          </a:p>
        </p:txBody>
      </p:sp>
      <p:sp>
        <p:nvSpPr>
          <p:cNvPr id="27" name="Rectangle 26"/>
          <p:cNvSpPr/>
          <p:nvPr/>
        </p:nvSpPr>
        <p:spPr>
          <a:xfrm>
            <a:off x="6428232" y="2715768"/>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01384" y="2715768"/>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19.4% / 17.7%</a:t>
            </a:r>
          </a:p>
        </p:txBody>
      </p:sp>
      <p:sp>
        <p:nvSpPr>
          <p:cNvPr id="29" name="Rectangle 28"/>
          <p:cNvSpPr/>
          <p:nvPr/>
        </p:nvSpPr>
        <p:spPr>
          <a:xfrm>
            <a:off x="9015984" y="2715768"/>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9136" y="2715768"/>
            <a:ext cx="2450592"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15.9% / 16.6%</a:t>
            </a:r>
          </a:p>
        </p:txBody>
      </p:sp>
      <p:sp>
        <p:nvSpPr>
          <p:cNvPr id="31" name="Rectangle 30"/>
          <p:cNvSpPr/>
          <p:nvPr/>
        </p:nvSpPr>
        <p:spPr>
          <a:xfrm>
            <a:off x="548640" y="3227832"/>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3227832"/>
            <a:ext cx="3145536" cy="512064"/>
          </a:xfrm>
          <a:prstGeom prst="rect">
            <a:avLst/>
          </a:prstGeom>
          <a:noFill/>
        </p:spPr>
        <p:txBody>
          <a:bodyPr wrap="square" anchor="ctr" lIns="0" rIns="0" tIns="0" bIns="0">
            <a:spAutoFit/>
          </a:bodyPr>
          <a:lstStyle/>
          <a:p>
            <a:pPr algn="l">
              <a:lnSpc>
                <a:spcPct val="95000"/>
              </a:lnSpc>
              <a:spcBef>
                <a:spcPts val="0"/>
              </a:spcBef>
              <a:spcAft>
                <a:spcPts val="200"/>
              </a:spcAft>
            </a:pPr>
            <a:r>
              <a:rPr sz="1300" b="1" i="0">
                <a:solidFill>
                  <a:srgbClr val="0F172A"/>
                </a:solidFill>
                <a:latin typeface="Arial"/>
              </a:rPr>
              <a:t>Net profit (RMB bn)</a:t>
            </a:r>
          </a:p>
        </p:txBody>
      </p:sp>
      <p:sp>
        <p:nvSpPr>
          <p:cNvPr id="33" name="Rectangle 32"/>
          <p:cNvSpPr/>
          <p:nvPr/>
        </p:nvSpPr>
        <p:spPr>
          <a:xfrm>
            <a:off x="3840480" y="3227832"/>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13632" y="3227832"/>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1.7 / 10.1</a:t>
            </a:r>
          </a:p>
        </p:txBody>
      </p:sp>
      <p:sp>
        <p:nvSpPr>
          <p:cNvPr id="35" name="Rectangle 34"/>
          <p:cNvSpPr/>
          <p:nvPr/>
        </p:nvSpPr>
        <p:spPr>
          <a:xfrm>
            <a:off x="6428232" y="3227832"/>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01384" y="3227832"/>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40.3 / 32.6</a:t>
            </a:r>
          </a:p>
        </p:txBody>
      </p:sp>
      <p:sp>
        <p:nvSpPr>
          <p:cNvPr id="37" name="Rectangle 36"/>
          <p:cNvSpPr/>
          <p:nvPr/>
        </p:nvSpPr>
        <p:spPr>
          <a:xfrm>
            <a:off x="9015984" y="3227832"/>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89136" y="3227832"/>
            <a:ext cx="2450592"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16.8 / 16.9</a:t>
            </a:r>
          </a:p>
        </p:txBody>
      </p:sp>
      <p:sp>
        <p:nvSpPr>
          <p:cNvPr id="39" name="Rectangle 38"/>
          <p:cNvSpPr/>
          <p:nvPr/>
        </p:nvSpPr>
        <p:spPr>
          <a:xfrm>
            <a:off x="548640" y="3739896"/>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739896"/>
            <a:ext cx="3145536" cy="512064"/>
          </a:xfrm>
          <a:prstGeom prst="rect">
            <a:avLst/>
          </a:prstGeom>
          <a:noFill/>
        </p:spPr>
        <p:txBody>
          <a:bodyPr wrap="square" anchor="ctr" lIns="0" rIns="0" tIns="0" bIns="0">
            <a:spAutoFit/>
          </a:bodyPr>
          <a:lstStyle/>
          <a:p>
            <a:pPr algn="l">
              <a:lnSpc>
                <a:spcPct val="95000"/>
              </a:lnSpc>
              <a:spcBef>
                <a:spcPts val="0"/>
              </a:spcBef>
              <a:spcAft>
                <a:spcPts val="200"/>
              </a:spcAft>
            </a:pPr>
            <a:r>
              <a:rPr sz="1300" b="1" i="0">
                <a:solidFill>
                  <a:srgbClr val="0F172A"/>
                </a:solidFill>
                <a:latin typeface="Arial"/>
              </a:rPr>
              <a:t>Return on equity</a:t>
            </a:r>
          </a:p>
        </p:txBody>
      </p:sp>
      <p:sp>
        <p:nvSpPr>
          <p:cNvPr id="41" name="Rectangle 40"/>
          <p:cNvSpPr/>
          <p:nvPr/>
        </p:nvSpPr>
        <p:spPr>
          <a:xfrm>
            <a:off x="3840480" y="3739896"/>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913632" y="3739896"/>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0.58% / 3.43%</a:t>
            </a:r>
          </a:p>
        </p:txBody>
      </p:sp>
      <p:sp>
        <p:nvSpPr>
          <p:cNvPr id="43" name="Rectangle 42"/>
          <p:cNvSpPr/>
          <p:nvPr/>
        </p:nvSpPr>
        <p:spPr>
          <a:xfrm>
            <a:off x="6428232" y="3739896"/>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01384" y="3739896"/>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21.7% / 13.2%</a:t>
            </a:r>
          </a:p>
        </p:txBody>
      </p:sp>
      <p:sp>
        <p:nvSpPr>
          <p:cNvPr id="45" name="Rectangle 44"/>
          <p:cNvSpPr/>
          <p:nvPr/>
        </p:nvSpPr>
        <p:spPr>
          <a:xfrm>
            <a:off x="9015984" y="3739896"/>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89136" y="3739896"/>
            <a:ext cx="2450592"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19.2% / 18.2%</a:t>
            </a:r>
          </a:p>
        </p:txBody>
      </p:sp>
      <p:sp>
        <p:nvSpPr>
          <p:cNvPr id="47" name="Rectangle 46"/>
          <p:cNvSpPr/>
          <p:nvPr/>
        </p:nvSpPr>
        <p:spPr>
          <a:xfrm>
            <a:off x="548640" y="4251960"/>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4251960"/>
            <a:ext cx="3145536" cy="512064"/>
          </a:xfrm>
          <a:prstGeom prst="rect">
            <a:avLst/>
          </a:prstGeom>
          <a:noFill/>
        </p:spPr>
        <p:txBody>
          <a:bodyPr wrap="square" anchor="ctr" lIns="0" rIns="0" tIns="0" bIns="0">
            <a:spAutoFit/>
          </a:bodyPr>
          <a:lstStyle/>
          <a:p>
            <a:pPr algn="l">
              <a:lnSpc>
                <a:spcPct val="95000"/>
              </a:lnSpc>
              <a:spcBef>
                <a:spcPts val="0"/>
              </a:spcBef>
              <a:spcAft>
                <a:spcPts val="200"/>
              </a:spcAft>
            </a:pPr>
            <a:r>
              <a:rPr sz="1300" b="1" i="0">
                <a:solidFill>
                  <a:srgbClr val="0F172A"/>
                </a:solidFill>
                <a:latin typeface="Arial"/>
              </a:rPr>
              <a:t>R&amp;D expense (RMB bn)</a:t>
            </a:r>
          </a:p>
        </p:txBody>
      </p:sp>
      <p:sp>
        <p:nvSpPr>
          <p:cNvPr id="49" name="Rectangle 48"/>
          <p:cNvSpPr/>
          <p:nvPr/>
        </p:nvSpPr>
        <p:spPr>
          <a:xfrm>
            <a:off x="3840480" y="4251960"/>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913632" y="4251960"/>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35.2 / 33.6</a:t>
            </a:r>
          </a:p>
        </p:txBody>
      </p:sp>
      <p:sp>
        <p:nvSpPr>
          <p:cNvPr id="51" name="Rectangle 50"/>
          <p:cNvSpPr/>
          <p:nvPr/>
        </p:nvSpPr>
        <p:spPr>
          <a:xfrm>
            <a:off x="6428232" y="4251960"/>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01384" y="4251960"/>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54.2 / 63.4</a:t>
            </a:r>
          </a:p>
        </p:txBody>
      </p:sp>
      <p:sp>
        <p:nvSpPr>
          <p:cNvPr id="53" name="Rectangle 52"/>
          <p:cNvSpPr/>
          <p:nvPr/>
        </p:nvSpPr>
        <p:spPr>
          <a:xfrm>
            <a:off x="9015984" y="4251960"/>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089136" y="4251960"/>
            <a:ext cx="2450592"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10.4 / 17.6</a:t>
            </a:r>
          </a:p>
        </p:txBody>
      </p:sp>
      <p:sp>
        <p:nvSpPr>
          <p:cNvPr id="55" name="Rectangle 54"/>
          <p:cNvSpPr/>
          <p:nvPr/>
        </p:nvSpPr>
        <p:spPr>
          <a:xfrm>
            <a:off x="548640" y="4764024"/>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4764024"/>
            <a:ext cx="3145536" cy="512064"/>
          </a:xfrm>
          <a:prstGeom prst="rect">
            <a:avLst/>
          </a:prstGeom>
          <a:noFill/>
        </p:spPr>
        <p:txBody>
          <a:bodyPr wrap="square" anchor="ctr" lIns="0" rIns="0" tIns="0" bIns="0">
            <a:spAutoFit/>
          </a:bodyPr>
          <a:lstStyle/>
          <a:p>
            <a:pPr algn="l">
              <a:lnSpc>
                <a:spcPct val="95000"/>
              </a:lnSpc>
              <a:spcBef>
                <a:spcPts val="0"/>
              </a:spcBef>
              <a:spcAft>
                <a:spcPts val="200"/>
              </a:spcAft>
            </a:pPr>
            <a:r>
              <a:rPr sz="1300" b="1" i="0">
                <a:solidFill>
                  <a:srgbClr val="0F172A"/>
                </a:solidFill>
                <a:latin typeface="Arial"/>
              </a:rPr>
              <a:t>Operating cash flow</a:t>
            </a:r>
          </a:p>
        </p:txBody>
      </p:sp>
      <p:sp>
        <p:nvSpPr>
          <p:cNvPr id="57" name="Rectangle 56"/>
          <p:cNvSpPr/>
          <p:nvPr/>
        </p:nvSpPr>
        <p:spPr>
          <a:xfrm>
            <a:off x="3840480" y="4764024"/>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913632" y="4764024"/>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69.3 / 34.3</a:t>
            </a:r>
          </a:p>
        </p:txBody>
      </p:sp>
      <p:sp>
        <p:nvSpPr>
          <p:cNvPr id="59" name="Rectangle 58"/>
          <p:cNvSpPr/>
          <p:nvPr/>
        </p:nvSpPr>
        <p:spPr>
          <a:xfrm>
            <a:off x="6428232" y="4764024"/>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501384" y="4764024"/>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133.5 / 59.1</a:t>
            </a:r>
          </a:p>
        </p:txBody>
      </p:sp>
      <p:sp>
        <p:nvSpPr>
          <p:cNvPr id="61" name="Rectangle 60"/>
          <p:cNvSpPr/>
          <p:nvPr/>
        </p:nvSpPr>
        <p:spPr>
          <a:xfrm>
            <a:off x="9015984" y="4764024"/>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089136" y="4764024"/>
            <a:ext cx="2450592"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26.5 / 47.3</a:t>
            </a:r>
          </a:p>
        </p:txBody>
      </p:sp>
      <p:sp>
        <p:nvSpPr>
          <p:cNvPr id="63" name="Rectangle 62"/>
          <p:cNvSpPr/>
          <p:nvPr/>
        </p:nvSpPr>
        <p:spPr>
          <a:xfrm>
            <a:off x="548640" y="5276088"/>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1792" y="5276088"/>
            <a:ext cx="3145536" cy="512064"/>
          </a:xfrm>
          <a:prstGeom prst="rect">
            <a:avLst/>
          </a:prstGeom>
          <a:noFill/>
        </p:spPr>
        <p:txBody>
          <a:bodyPr wrap="square" anchor="ctr" lIns="0" rIns="0" tIns="0" bIns="0">
            <a:spAutoFit/>
          </a:bodyPr>
          <a:lstStyle/>
          <a:p>
            <a:pPr algn="l">
              <a:lnSpc>
                <a:spcPct val="95000"/>
              </a:lnSpc>
              <a:spcBef>
                <a:spcPts val="0"/>
              </a:spcBef>
              <a:spcAft>
                <a:spcPts val="200"/>
              </a:spcAft>
            </a:pPr>
            <a:r>
              <a:rPr sz="1300" b="1" i="0">
                <a:solidFill>
                  <a:srgbClr val="0F172A"/>
                </a:solidFill>
                <a:latin typeface="Arial"/>
              </a:rPr>
              <a:t>EU anti-subsidy tariff</a:t>
            </a:r>
          </a:p>
        </p:txBody>
      </p:sp>
      <p:sp>
        <p:nvSpPr>
          <p:cNvPr id="65" name="Rectangle 64"/>
          <p:cNvSpPr/>
          <p:nvPr/>
        </p:nvSpPr>
        <p:spPr>
          <a:xfrm>
            <a:off x="3840480" y="5276088"/>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913632" y="5276088"/>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35.3%</a:t>
            </a:r>
          </a:p>
        </p:txBody>
      </p:sp>
      <p:sp>
        <p:nvSpPr>
          <p:cNvPr id="67" name="Rectangle 66"/>
          <p:cNvSpPr/>
          <p:nvPr/>
        </p:nvSpPr>
        <p:spPr>
          <a:xfrm>
            <a:off x="6428232" y="5276088"/>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501384" y="5276088"/>
            <a:ext cx="2441448"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17.0%</a:t>
            </a:r>
          </a:p>
        </p:txBody>
      </p:sp>
      <p:sp>
        <p:nvSpPr>
          <p:cNvPr id="69" name="Rectangle 68"/>
          <p:cNvSpPr/>
          <p:nvPr/>
        </p:nvSpPr>
        <p:spPr>
          <a:xfrm>
            <a:off x="9015984" y="5276088"/>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089136" y="5276088"/>
            <a:ext cx="2450592" cy="512064"/>
          </a:xfrm>
          <a:prstGeom prst="rect">
            <a:avLst/>
          </a:prstGeom>
          <a:noFill/>
        </p:spPr>
        <p:txBody>
          <a:bodyPr wrap="square" anchor="ctr" lIns="0" rIns="0" tIns="0" bIns="0">
            <a:spAutoFit/>
          </a:bodyPr>
          <a:lstStyle/>
          <a:p>
            <a:pPr algn="ctr">
              <a:lnSpc>
                <a:spcPct val="95000"/>
              </a:lnSpc>
              <a:spcBef>
                <a:spcPts val="0"/>
              </a:spcBef>
              <a:spcAft>
                <a:spcPts val="200"/>
              </a:spcAft>
            </a:pPr>
            <a:r>
              <a:rPr sz="1300" b="0" i="0">
                <a:solidFill>
                  <a:srgbClr val="0F172A"/>
                </a:solidFill>
                <a:latin typeface="Arial"/>
              </a:rPr>
              <a:t>18.8%</a:t>
            </a:r>
          </a:p>
        </p:txBody>
      </p:sp>
      <p:sp>
        <p:nvSpPr>
          <p:cNvPr id="71" name="Rectangle 70"/>
          <p:cNvSpPr/>
          <p:nvPr/>
        </p:nvSpPr>
        <p:spPr>
          <a:xfrm>
            <a:off x="3840480" y="1691640"/>
            <a:ext cx="2587752"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840480" y="1691640"/>
            <a:ext cx="2587752" cy="512064"/>
          </a:xfrm>
          <a:prstGeom prst="rect">
            <a:avLst/>
          </a:prstGeom>
          <a:noFill/>
        </p:spPr>
        <p:txBody>
          <a:bodyPr wrap="square" anchor="ctr" lIns="0" rIns="0" tIns="0" bIns="0">
            <a:spAutoFit/>
          </a:bodyPr>
          <a:lstStyle/>
          <a:p>
            <a:pPr algn="ctr">
              <a:lnSpc>
                <a:spcPct val="100000"/>
              </a:lnSpc>
              <a:spcBef>
                <a:spcPts val="0"/>
              </a:spcBef>
              <a:spcAft>
                <a:spcPts val="200"/>
              </a:spcAft>
            </a:pPr>
            <a:r>
              <a:rPr sz="1350" b="1" i="0">
                <a:solidFill>
                  <a:srgbClr val="FFFFFF"/>
                </a:solidFill>
                <a:latin typeface="Arial"/>
              </a:rPr>
              <a:t>SAIC</a:t>
            </a:r>
          </a:p>
        </p:txBody>
      </p:sp>
      <p:sp>
        <p:nvSpPr>
          <p:cNvPr id="73" name="Rectangle 72"/>
          <p:cNvSpPr/>
          <p:nvPr/>
        </p:nvSpPr>
        <p:spPr>
          <a:xfrm>
            <a:off x="6428232" y="1691640"/>
            <a:ext cx="2587752" cy="51206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28232" y="1691640"/>
            <a:ext cx="2587752" cy="512064"/>
          </a:xfrm>
          <a:prstGeom prst="rect">
            <a:avLst/>
          </a:prstGeom>
          <a:noFill/>
        </p:spPr>
        <p:txBody>
          <a:bodyPr wrap="square" anchor="ctr" lIns="0" rIns="0" tIns="0" bIns="0">
            <a:spAutoFit/>
          </a:bodyPr>
          <a:lstStyle/>
          <a:p>
            <a:pPr algn="ctr">
              <a:lnSpc>
                <a:spcPct val="100000"/>
              </a:lnSpc>
              <a:spcBef>
                <a:spcPts val="0"/>
              </a:spcBef>
              <a:spcAft>
                <a:spcPts val="200"/>
              </a:spcAft>
            </a:pPr>
            <a:r>
              <a:rPr sz="1350" b="1" i="0">
                <a:solidFill>
                  <a:srgbClr val="FFFFFF"/>
                </a:solidFill>
                <a:latin typeface="Arial"/>
              </a:rPr>
              <a:t>BYD</a:t>
            </a:r>
          </a:p>
        </p:txBody>
      </p:sp>
      <p:sp>
        <p:nvSpPr>
          <p:cNvPr id="75" name="Rectangle 74"/>
          <p:cNvSpPr/>
          <p:nvPr/>
        </p:nvSpPr>
        <p:spPr>
          <a:xfrm>
            <a:off x="9015984" y="1691640"/>
            <a:ext cx="2596896" cy="512064"/>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015984" y="1691640"/>
            <a:ext cx="2596896" cy="512064"/>
          </a:xfrm>
          <a:prstGeom prst="rect">
            <a:avLst/>
          </a:prstGeom>
          <a:noFill/>
        </p:spPr>
        <p:txBody>
          <a:bodyPr wrap="square" anchor="ctr" lIns="0" rIns="0" tIns="0" bIns="0">
            <a:spAutoFit/>
          </a:bodyPr>
          <a:lstStyle/>
          <a:p>
            <a:pPr algn="ctr">
              <a:lnSpc>
                <a:spcPct val="100000"/>
              </a:lnSpc>
              <a:spcBef>
                <a:spcPts val="0"/>
              </a:spcBef>
              <a:spcAft>
                <a:spcPts val="200"/>
              </a:spcAft>
            </a:pPr>
            <a:r>
              <a:rPr sz="1350" b="1" i="0">
                <a:solidFill>
                  <a:srgbClr val="FFFFFF"/>
                </a:solidFill>
                <a:latin typeface="Arial"/>
              </a:rPr>
              <a:t>Geely</a:t>
            </a:r>
          </a:p>
        </p:txBody>
      </p:sp>
      <p:sp>
        <p:nvSpPr>
          <p:cNvPr id="77" name="TextBox 76"/>
          <p:cNvSpPr txBox="1"/>
          <p:nvPr/>
        </p:nvSpPr>
        <p:spPr>
          <a:xfrm>
            <a:off x="548640" y="5806440"/>
            <a:ext cx="11064240" cy="411480"/>
          </a:xfrm>
          <a:prstGeom prst="rect">
            <a:avLst/>
          </a:prstGeom>
          <a:noFill/>
        </p:spPr>
        <p:txBody>
          <a:bodyPr wrap="square" anchor="t" lIns="0" rIns="0" tIns="0" bIns="0">
            <a:spAutoFit/>
          </a:bodyPr>
          <a:lstStyle/>
          <a:p>
            <a:pPr algn="l">
              <a:lnSpc>
                <a:spcPct val="100000"/>
              </a:lnSpc>
              <a:spcBef>
                <a:spcPts val="0"/>
              </a:spcBef>
              <a:spcAft>
                <a:spcPts val="200"/>
              </a:spcAft>
            </a:pPr>
            <a:r>
              <a:rPr sz="1300" b="1" i="0">
                <a:solidFill>
                  <a:srgbClr val="0F172A"/>
                </a:solidFill>
                <a:latin typeface="Arial"/>
              </a:rPr>
              <a:t>BYD's R&amp;D exceeds its net profit; SAIC's headline 2025 recovery is mostly the absence of 2024 write-downs, not a structural turnaround.</a:t>
            </a:r>
          </a:p>
        </p:txBody>
      </p:sp>
      <p:sp>
        <p:nvSpPr>
          <p:cNvPr id="78" name="TextBox 77"/>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Table 1 (paper, §3.4) · Annual Reports SAIC/BYD/Geely 2024 &amp; 2025 · EU Reg. 2024/2754</a:t>
            </a:r>
          </a:p>
        </p:txBody>
      </p:sp>
      <p:sp>
        <p:nvSpPr>
          <p:cNvPr id="79" name="TextBox 78"/>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80" name="TextBox 79"/>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DIMENSION 3 · CAPABILITY BUILDING</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How a firm learns determines what it can do next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965960"/>
            <a:ext cx="3593592" cy="24688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6596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16712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DC2626"/>
                </a:solidFill>
                <a:latin typeface="Arial"/>
              </a:rPr>
              <a:t>SAIC — mandatory transfer</a:t>
            </a:r>
          </a:p>
        </p:txBody>
      </p:sp>
      <p:sp>
        <p:nvSpPr>
          <p:cNvPr id="10" name="TextBox 9"/>
          <p:cNvSpPr txBox="1"/>
          <p:nvPr/>
        </p:nvSpPr>
        <p:spPr>
          <a:xfrm>
            <a:off x="713232" y="2752344"/>
            <a:ext cx="3264408" cy="1517904"/>
          </a:xfrm>
          <a:prstGeom prst="rect">
            <a:avLst/>
          </a:prstGeom>
          <a:noFill/>
        </p:spPr>
        <p:txBody>
          <a:bodyPr wrap="square" lIns="0" rIns="0" tIns="0" bIns="0">
            <a:spAutoFit/>
          </a:bodyPr>
          <a:lstStyle/>
          <a:p>
            <a:pPr>
              <a:lnSpc>
                <a:spcPct val="105000"/>
              </a:lnSpc>
              <a:spcBef>
                <a:spcPts val="0"/>
              </a:spcBef>
              <a:spcAft>
                <a:spcPts val="500"/>
              </a:spcAft>
              <a:buNone/>
            </a:pPr>
            <a:r>
              <a:rPr sz="1350">
                <a:solidFill>
                  <a:srgbClr val="DC2626"/>
                </a:solidFill>
                <a:latin typeface="Arial"/>
              </a:rPr>
              <a:t>–  </a:t>
            </a:r>
            <a:r>
              <a:rPr sz="1350">
                <a:solidFill>
                  <a:srgbClr val="0F172A"/>
                </a:solidFill>
                <a:latin typeface="Arial"/>
              </a:rPr>
              <a:t>Tech-for-access via state-mandated JVs</a:t>
            </a:r>
          </a:p>
          <a:p>
            <a:pPr>
              <a:lnSpc>
                <a:spcPct val="105000"/>
              </a:lnSpc>
              <a:spcBef>
                <a:spcPts val="0"/>
              </a:spcBef>
              <a:spcAft>
                <a:spcPts val="500"/>
              </a:spcAft>
              <a:buNone/>
            </a:pPr>
            <a:r>
              <a:rPr sz="1350">
                <a:solidFill>
                  <a:srgbClr val="DC2626"/>
                </a:solidFill>
                <a:latin typeface="Arial"/>
              </a:rPr>
              <a:t>–  </a:t>
            </a:r>
            <a:r>
              <a:rPr sz="1350">
                <a:solidFill>
                  <a:srgbClr val="0F172A"/>
                </a:solidFill>
                <a:latin typeface="Arial"/>
              </a:rPr>
              <a:t>+8.3% quality, but rents killed own R&amp;D (Bai 2025; Howell 2018)</a:t>
            </a:r>
          </a:p>
          <a:p>
            <a:pPr>
              <a:lnSpc>
                <a:spcPct val="105000"/>
              </a:lnSpc>
              <a:spcBef>
                <a:spcPts val="0"/>
              </a:spcBef>
              <a:spcAft>
                <a:spcPts val="500"/>
              </a:spcAft>
              <a:buNone/>
            </a:pPr>
            <a:r>
              <a:rPr sz="1350">
                <a:solidFill>
                  <a:srgbClr val="DC2626"/>
                </a:solidFill>
                <a:latin typeface="Arial"/>
              </a:rPr>
              <a:t>–  </a:t>
            </a:r>
            <a:r>
              <a:rPr sz="1350">
                <a:solidFill>
                  <a:srgbClr val="0F172A"/>
                </a:solidFill>
                <a:latin typeface="Arial"/>
              </a:rPr>
              <a:t>No proprietary EV platform when the cycle turned</a:t>
            </a:r>
          </a:p>
        </p:txBody>
      </p:sp>
      <p:sp>
        <p:nvSpPr>
          <p:cNvPr id="11" name="Rectangle 10"/>
          <p:cNvSpPr/>
          <p:nvPr/>
        </p:nvSpPr>
        <p:spPr>
          <a:xfrm>
            <a:off x="4279392" y="1965960"/>
            <a:ext cx="3593592" cy="24688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196596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4" y="216712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2563EB"/>
                </a:solidFill>
                <a:latin typeface="Arial"/>
              </a:rPr>
              <a:t>BYD — organic build</a:t>
            </a:r>
          </a:p>
        </p:txBody>
      </p:sp>
      <p:sp>
        <p:nvSpPr>
          <p:cNvPr id="14" name="TextBox 13"/>
          <p:cNvSpPr txBox="1"/>
          <p:nvPr/>
        </p:nvSpPr>
        <p:spPr>
          <a:xfrm>
            <a:off x="4443984" y="2752344"/>
            <a:ext cx="3264408" cy="1517904"/>
          </a:xfrm>
          <a:prstGeom prst="rect">
            <a:avLst/>
          </a:prstGeom>
          <a:noFill/>
        </p:spPr>
        <p:txBody>
          <a:bodyPr wrap="square" lIns="0" rIns="0" tIns="0" bIns="0">
            <a:spAutoFit/>
          </a:bodyPr>
          <a:lstStyle/>
          <a:p>
            <a:pPr>
              <a:lnSpc>
                <a:spcPct val="105000"/>
              </a:lnSpc>
              <a:spcBef>
                <a:spcPts val="0"/>
              </a:spcBef>
              <a:spcAft>
                <a:spcPts val="500"/>
              </a:spcAft>
              <a:buNone/>
            </a:pPr>
            <a:r>
              <a:rPr sz="1350">
                <a:solidFill>
                  <a:srgbClr val="2563EB"/>
                </a:solidFill>
                <a:latin typeface="Arial"/>
              </a:rPr>
              <a:t>–  </a:t>
            </a:r>
            <a:r>
              <a:rPr sz="1350">
                <a:solidFill>
                  <a:srgbClr val="0F172A"/>
                </a:solidFill>
                <a:latin typeface="Arial"/>
              </a:rPr>
              <a:t>Built in-house: battery → power electronics → software</a:t>
            </a:r>
          </a:p>
          <a:p>
            <a:pPr>
              <a:lnSpc>
                <a:spcPct val="105000"/>
              </a:lnSpc>
              <a:spcBef>
                <a:spcPts val="0"/>
              </a:spcBef>
              <a:spcAft>
                <a:spcPts val="500"/>
              </a:spcAft>
              <a:buNone/>
            </a:pPr>
            <a:r>
              <a:rPr sz="1350">
                <a:solidFill>
                  <a:srgbClr val="2563EB"/>
                </a:solidFill>
                <a:latin typeface="Arial"/>
              </a:rPr>
              <a:t>–  </a:t>
            </a:r>
            <a:r>
              <a:rPr sz="1350">
                <a:solidFill>
                  <a:srgbClr val="0F172A"/>
                </a:solidFill>
                <a:latin typeface="Arial"/>
              </a:rPr>
              <a:t>Path-dependent, non-imitable knowledge (Teece, 1997)</a:t>
            </a:r>
          </a:p>
          <a:p>
            <a:pPr>
              <a:lnSpc>
                <a:spcPct val="105000"/>
              </a:lnSpc>
              <a:spcBef>
                <a:spcPts val="0"/>
              </a:spcBef>
              <a:spcAft>
                <a:spcPts val="500"/>
              </a:spcAft>
              <a:buNone/>
            </a:pPr>
            <a:r>
              <a:rPr sz="1350">
                <a:solidFill>
                  <a:srgbClr val="2563EB"/>
                </a:solidFill>
                <a:latin typeface="Arial"/>
              </a:rPr>
              <a:t>–  </a:t>
            </a:r>
            <a:r>
              <a:rPr sz="1350">
                <a:solidFill>
                  <a:srgbClr val="0F172A"/>
                </a:solidFill>
                <a:latin typeface="Arial"/>
              </a:rPr>
              <a:t>Slowest to build, but the deepest moat</a:t>
            </a:r>
          </a:p>
        </p:txBody>
      </p:sp>
      <p:sp>
        <p:nvSpPr>
          <p:cNvPr id="15" name="Rectangle 14"/>
          <p:cNvSpPr/>
          <p:nvPr/>
        </p:nvSpPr>
        <p:spPr>
          <a:xfrm>
            <a:off x="8010144" y="1965960"/>
            <a:ext cx="3593592" cy="24688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10144" y="196596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74736" y="216712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06B6D4"/>
                </a:solidFill>
                <a:latin typeface="Arial"/>
              </a:rPr>
              <a:t>Geely — acquisition + co-dev</a:t>
            </a:r>
          </a:p>
        </p:txBody>
      </p:sp>
      <p:sp>
        <p:nvSpPr>
          <p:cNvPr id="18" name="TextBox 17"/>
          <p:cNvSpPr txBox="1"/>
          <p:nvPr/>
        </p:nvSpPr>
        <p:spPr>
          <a:xfrm>
            <a:off x="8174736" y="2752344"/>
            <a:ext cx="3264408" cy="1517904"/>
          </a:xfrm>
          <a:prstGeom prst="rect">
            <a:avLst/>
          </a:prstGeom>
          <a:noFill/>
        </p:spPr>
        <p:txBody>
          <a:bodyPr wrap="square" lIns="0" rIns="0" tIns="0" bIns="0">
            <a:spAutoFit/>
          </a:bodyPr>
          <a:lstStyle/>
          <a:p>
            <a:pPr>
              <a:lnSpc>
                <a:spcPct val="105000"/>
              </a:lnSpc>
              <a:spcBef>
                <a:spcPts val="0"/>
              </a:spcBef>
              <a:spcAft>
                <a:spcPts val="500"/>
              </a:spcAft>
              <a:buNone/>
            </a:pPr>
            <a:r>
              <a:rPr sz="1350">
                <a:solidFill>
                  <a:srgbClr val="06B6D4"/>
                </a:solidFill>
                <a:latin typeface="Arial"/>
              </a:rPr>
              <a:t>–  </a:t>
            </a:r>
            <a:r>
              <a:rPr sz="1350">
                <a:solidFill>
                  <a:srgbClr val="0F172A"/>
                </a:solidFill>
                <a:latin typeface="Arial"/>
              </a:rPr>
              <a:t>Volvo (2010): engineering depth and brand at once</a:t>
            </a:r>
          </a:p>
          <a:p>
            <a:pPr>
              <a:lnSpc>
                <a:spcPct val="105000"/>
              </a:lnSpc>
              <a:spcBef>
                <a:spcPts val="0"/>
              </a:spcBef>
              <a:spcAft>
                <a:spcPts val="500"/>
              </a:spcAft>
              <a:buNone/>
            </a:pPr>
            <a:r>
              <a:rPr sz="1350">
                <a:solidFill>
                  <a:srgbClr val="06B6D4"/>
                </a:solidFill>
                <a:latin typeface="Arial"/>
              </a:rPr>
              <a:t>–  </a:t>
            </a:r>
            <a:r>
              <a:rPr sz="1350">
                <a:solidFill>
                  <a:srgbClr val="0F172A"/>
                </a:solidFill>
                <a:latin typeface="Arial"/>
              </a:rPr>
              <a:t>Real co-development, not copying (CMA platform)</a:t>
            </a:r>
          </a:p>
          <a:p>
            <a:pPr>
              <a:lnSpc>
                <a:spcPct val="105000"/>
              </a:lnSpc>
              <a:spcBef>
                <a:spcPts val="0"/>
              </a:spcBef>
              <a:spcAft>
                <a:spcPts val="500"/>
              </a:spcAft>
              <a:buNone/>
            </a:pPr>
            <a:r>
              <a:rPr sz="1350">
                <a:solidFill>
                  <a:srgbClr val="06B6D4"/>
                </a:solidFill>
                <a:latin typeface="Arial"/>
              </a:rPr>
              <a:t>–  </a:t>
            </a:r>
            <a:r>
              <a:rPr sz="1350">
                <a:solidFill>
                  <a:srgbClr val="0F172A"/>
                </a:solidFill>
                <a:latin typeface="Arial"/>
              </a:rPr>
              <a:t>Patent convergence confirms co-creation (Konda, 2022)</a:t>
            </a:r>
          </a:p>
        </p:txBody>
      </p:sp>
      <p:sp>
        <p:nvSpPr>
          <p:cNvPr id="19" name="TextBox 18"/>
          <p:cNvSpPr txBox="1"/>
          <p:nvPr/>
        </p:nvSpPr>
        <p:spPr>
          <a:xfrm>
            <a:off x="548640" y="4892040"/>
            <a:ext cx="11064240" cy="548640"/>
          </a:xfrm>
          <a:prstGeom prst="rect">
            <a:avLst/>
          </a:prstGeom>
          <a:noFill/>
        </p:spPr>
        <p:txBody>
          <a:bodyPr wrap="square" anchor="t" lIns="0" rIns="0" tIns="0" bIns="0">
            <a:spAutoFit/>
          </a:bodyPr>
          <a:lstStyle/>
          <a:p>
            <a:pPr algn="l">
              <a:lnSpc>
                <a:spcPct val="105000"/>
              </a:lnSpc>
              <a:spcBef>
                <a:spcPts val="0"/>
              </a:spcBef>
              <a:spcAft>
                <a:spcPts val="200"/>
              </a:spcAft>
            </a:pPr>
            <a:r>
              <a:rPr sz="1400" b="1" i="0">
                <a:solidFill>
                  <a:srgbClr val="0F172A"/>
                </a:solidFill>
                <a:latin typeface="Arial"/>
              </a:rPr>
              <a:t>The mode of learning sets durability: handed-over technology fades when the cycle turns; built or co-developed knowledge lasts.</a:t>
            </a:r>
          </a:p>
        </p:txBody>
      </p:sp>
      <p:sp>
        <p:nvSpPr>
          <p:cNvPr id="20" name="TextBox 19"/>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Bai et al. (2025) · Howell (2018) · Teece et al. (1997) · Whitfield &amp; Wuttke (2026) · Konda et al. (2022)</a:t>
            </a:r>
          </a:p>
        </p:txBody>
      </p:sp>
      <p:sp>
        <p:nvSpPr>
          <p:cNvPr id="21" name="TextBox 20"/>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2" name="TextBox 21"/>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DIMENSION 3 · SPEED VS. DEPTH</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Capability building trades speed against depth against independence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11064240" cy="868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828800"/>
            <a:ext cx="1554480" cy="86868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828800"/>
            <a:ext cx="1554480" cy="868680"/>
          </a:xfrm>
          <a:prstGeom prst="rect">
            <a:avLst/>
          </a:prstGeom>
          <a:noFill/>
        </p:spPr>
        <p:txBody>
          <a:bodyPr wrap="square" anchor="ctr" lIns="0" rIns="0" tIns="0" bIns="0">
            <a:spAutoFit/>
          </a:bodyPr>
          <a:lstStyle/>
          <a:p>
            <a:pPr algn="ctr">
              <a:lnSpc>
                <a:spcPct val="100000"/>
              </a:lnSpc>
              <a:spcBef>
                <a:spcPts val="0"/>
              </a:spcBef>
              <a:spcAft>
                <a:spcPts val="200"/>
              </a:spcAft>
            </a:pPr>
            <a:r>
              <a:rPr sz="1600" b="1" i="0">
                <a:solidFill>
                  <a:srgbClr val="FFFFFF"/>
                </a:solidFill>
                <a:latin typeface="Arial"/>
              </a:rPr>
              <a:t>SAIC</a:t>
            </a:r>
          </a:p>
        </p:txBody>
      </p:sp>
      <p:sp>
        <p:nvSpPr>
          <p:cNvPr id="10" name="TextBox 9"/>
          <p:cNvSpPr txBox="1"/>
          <p:nvPr/>
        </p:nvSpPr>
        <p:spPr>
          <a:xfrm>
            <a:off x="2331720" y="1828800"/>
            <a:ext cx="2926080" cy="868680"/>
          </a:xfrm>
          <a:prstGeom prst="rect">
            <a:avLst/>
          </a:prstGeom>
          <a:noFill/>
        </p:spPr>
        <p:txBody>
          <a:bodyPr wrap="square" anchor="ctr" lIns="0" rIns="0" tIns="0" bIns="0">
            <a:spAutoFit/>
          </a:bodyPr>
          <a:lstStyle/>
          <a:p>
            <a:pPr algn="l">
              <a:lnSpc>
                <a:spcPct val="100000"/>
              </a:lnSpc>
              <a:spcBef>
                <a:spcPts val="0"/>
              </a:spcBef>
              <a:spcAft>
                <a:spcPts val="200"/>
              </a:spcAft>
            </a:pPr>
            <a:r>
              <a:rPr sz="1500" b="1" i="0">
                <a:solidFill>
                  <a:srgbClr val="DC2626"/>
                </a:solidFill>
                <a:latin typeface="Arial"/>
              </a:rPr>
              <a:t>Fast, but shallow</a:t>
            </a:r>
          </a:p>
        </p:txBody>
      </p:sp>
      <p:sp>
        <p:nvSpPr>
          <p:cNvPr id="11" name="TextBox 10"/>
          <p:cNvSpPr txBox="1"/>
          <p:nvPr/>
        </p:nvSpPr>
        <p:spPr>
          <a:xfrm>
            <a:off x="5303520" y="1828800"/>
            <a:ext cx="6126480" cy="868680"/>
          </a:xfrm>
          <a:prstGeom prst="rect">
            <a:avLst/>
          </a:prstGeom>
          <a:noFill/>
        </p:spPr>
        <p:txBody>
          <a:bodyPr wrap="square" anchor="ctr" lIns="0" rIns="0" tIns="0" bIns="0">
            <a:spAutoFit/>
          </a:bodyPr>
          <a:lstStyle/>
          <a:p>
            <a:pPr algn="l">
              <a:lnSpc>
                <a:spcPct val="105000"/>
              </a:lnSpc>
              <a:spcBef>
                <a:spcPts val="0"/>
              </a:spcBef>
              <a:spcAft>
                <a:spcPts val="200"/>
              </a:spcAft>
            </a:pPr>
            <a:r>
              <a:rPr sz="1350" b="0" i="0">
                <a:solidFill>
                  <a:srgbClr val="0F172A"/>
                </a:solidFill>
                <a:latin typeface="Arial"/>
              </a:rPr>
              <a:t>Fastest to quality (+8.3%) — but dependent, with no EV platform of its own.</a:t>
            </a:r>
          </a:p>
        </p:txBody>
      </p:sp>
      <p:sp>
        <p:nvSpPr>
          <p:cNvPr id="12" name="Rectangle 11"/>
          <p:cNvSpPr/>
          <p:nvPr/>
        </p:nvSpPr>
        <p:spPr>
          <a:xfrm>
            <a:off x="548640" y="2816352"/>
            <a:ext cx="11064240" cy="868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816352"/>
            <a:ext cx="1554480" cy="86868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816352"/>
            <a:ext cx="1554480" cy="868680"/>
          </a:xfrm>
          <a:prstGeom prst="rect">
            <a:avLst/>
          </a:prstGeom>
          <a:noFill/>
        </p:spPr>
        <p:txBody>
          <a:bodyPr wrap="square" anchor="ctr" lIns="0" rIns="0" tIns="0" bIns="0">
            <a:spAutoFit/>
          </a:bodyPr>
          <a:lstStyle/>
          <a:p>
            <a:pPr algn="ctr">
              <a:lnSpc>
                <a:spcPct val="100000"/>
              </a:lnSpc>
              <a:spcBef>
                <a:spcPts val="0"/>
              </a:spcBef>
              <a:spcAft>
                <a:spcPts val="200"/>
              </a:spcAft>
            </a:pPr>
            <a:r>
              <a:rPr sz="1600" b="1" i="0">
                <a:solidFill>
                  <a:srgbClr val="FFFFFF"/>
                </a:solidFill>
                <a:latin typeface="Arial"/>
              </a:rPr>
              <a:t>Geely</a:t>
            </a:r>
          </a:p>
        </p:txBody>
      </p:sp>
      <p:sp>
        <p:nvSpPr>
          <p:cNvPr id="15" name="TextBox 14"/>
          <p:cNvSpPr txBox="1"/>
          <p:nvPr/>
        </p:nvSpPr>
        <p:spPr>
          <a:xfrm>
            <a:off x="2331720" y="2816352"/>
            <a:ext cx="2926080" cy="868680"/>
          </a:xfrm>
          <a:prstGeom prst="rect">
            <a:avLst/>
          </a:prstGeom>
          <a:noFill/>
        </p:spPr>
        <p:txBody>
          <a:bodyPr wrap="square" anchor="ctr" lIns="0" rIns="0" tIns="0" bIns="0">
            <a:spAutoFit/>
          </a:bodyPr>
          <a:lstStyle/>
          <a:p>
            <a:pPr algn="l">
              <a:lnSpc>
                <a:spcPct val="100000"/>
              </a:lnSpc>
              <a:spcBef>
                <a:spcPts val="0"/>
              </a:spcBef>
              <a:spcAft>
                <a:spcPts val="200"/>
              </a:spcAft>
            </a:pPr>
            <a:r>
              <a:rPr sz="1500" b="1" i="0">
                <a:solidFill>
                  <a:srgbClr val="06B6D4"/>
                </a:solidFill>
                <a:latin typeface="Arial"/>
              </a:rPr>
              <a:t>Fast and deep</a:t>
            </a:r>
          </a:p>
        </p:txBody>
      </p:sp>
      <p:sp>
        <p:nvSpPr>
          <p:cNvPr id="16" name="TextBox 15"/>
          <p:cNvSpPr txBox="1"/>
          <p:nvPr/>
        </p:nvSpPr>
        <p:spPr>
          <a:xfrm>
            <a:off x="5303520" y="2816352"/>
            <a:ext cx="6126480" cy="868680"/>
          </a:xfrm>
          <a:prstGeom prst="rect">
            <a:avLst/>
          </a:prstGeom>
          <a:noFill/>
        </p:spPr>
        <p:txBody>
          <a:bodyPr wrap="square" anchor="ctr" lIns="0" rIns="0" tIns="0" bIns="0">
            <a:spAutoFit/>
          </a:bodyPr>
          <a:lstStyle/>
          <a:p>
            <a:pPr algn="l">
              <a:lnSpc>
                <a:spcPct val="105000"/>
              </a:lnSpc>
              <a:spcBef>
                <a:spcPts val="0"/>
              </a:spcBef>
              <a:spcAft>
                <a:spcPts val="200"/>
              </a:spcAft>
            </a:pPr>
            <a:r>
              <a:rPr sz="1350" b="0" i="0">
                <a:solidFill>
                  <a:srgbClr val="0F172A"/>
                </a:solidFill>
                <a:latin typeface="Arial"/>
              </a:rPr>
              <a:t>Turned the Volvo purchase into real co-development (CMA platform; patent convergence).</a:t>
            </a:r>
          </a:p>
        </p:txBody>
      </p:sp>
      <p:sp>
        <p:nvSpPr>
          <p:cNvPr id="17" name="Rectangle 16"/>
          <p:cNvSpPr/>
          <p:nvPr/>
        </p:nvSpPr>
        <p:spPr>
          <a:xfrm>
            <a:off x="548640" y="3803904"/>
            <a:ext cx="11064240" cy="868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803904"/>
            <a:ext cx="1554480" cy="8686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803904"/>
            <a:ext cx="1554480" cy="868680"/>
          </a:xfrm>
          <a:prstGeom prst="rect">
            <a:avLst/>
          </a:prstGeom>
          <a:noFill/>
        </p:spPr>
        <p:txBody>
          <a:bodyPr wrap="square" anchor="ctr" lIns="0" rIns="0" tIns="0" bIns="0">
            <a:spAutoFit/>
          </a:bodyPr>
          <a:lstStyle/>
          <a:p>
            <a:pPr algn="ctr">
              <a:lnSpc>
                <a:spcPct val="100000"/>
              </a:lnSpc>
              <a:spcBef>
                <a:spcPts val="0"/>
              </a:spcBef>
              <a:spcAft>
                <a:spcPts val="200"/>
              </a:spcAft>
            </a:pPr>
            <a:r>
              <a:rPr sz="1600" b="1" i="0">
                <a:solidFill>
                  <a:srgbClr val="FFFFFF"/>
                </a:solidFill>
                <a:latin typeface="Arial"/>
              </a:rPr>
              <a:t>BYD</a:t>
            </a:r>
          </a:p>
        </p:txBody>
      </p:sp>
      <p:sp>
        <p:nvSpPr>
          <p:cNvPr id="20" name="TextBox 19"/>
          <p:cNvSpPr txBox="1"/>
          <p:nvPr/>
        </p:nvSpPr>
        <p:spPr>
          <a:xfrm>
            <a:off x="2331720" y="3803904"/>
            <a:ext cx="2926080" cy="868680"/>
          </a:xfrm>
          <a:prstGeom prst="rect">
            <a:avLst/>
          </a:prstGeom>
          <a:noFill/>
        </p:spPr>
        <p:txBody>
          <a:bodyPr wrap="square" anchor="ctr" lIns="0" rIns="0" tIns="0" bIns="0">
            <a:spAutoFit/>
          </a:bodyPr>
          <a:lstStyle/>
          <a:p>
            <a:pPr algn="l">
              <a:lnSpc>
                <a:spcPct val="100000"/>
              </a:lnSpc>
              <a:spcBef>
                <a:spcPts val="0"/>
              </a:spcBef>
              <a:spcAft>
                <a:spcPts val="200"/>
              </a:spcAft>
            </a:pPr>
            <a:r>
              <a:rPr sz="1500" b="1" i="0">
                <a:solidFill>
                  <a:srgbClr val="2563EB"/>
                </a:solidFill>
                <a:latin typeface="Arial"/>
              </a:rPr>
              <a:t>Slow, but deepest</a:t>
            </a:r>
          </a:p>
        </p:txBody>
      </p:sp>
      <p:sp>
        <p:nvSpPr>
          <p:cNvPr id="21" name="TextBox 20"/>
          <p:cNvSpPr txBox="1"/>
          <p:nvPr/>
        </p:nvSpPr>
        <p:spPr>
          <a:xfrm>
            <a:off x="5303520" y="3803904"/>
            <a:ext cx="6126480" cy="868680"/>
          </a:xfrm>
          <a:prstGeom prst="rect">
            <a:avLst/>
          </a:prstGeom>
          <a:noFill/>
        </p:spPr>
        <p:txBody>
          <a:bodyPr wrap="square" anchor="ctr" lIns="0" rIns="0" tIns="0" bIns="0">
            <a:spAutoFit/>
          </a:bodyPr>
          <a:lstStyle/>
          <a:p>
            <a:pPr algn="l">
              <a:lnSpc>
                <a:spcPct val="105000"/>
              </a:lnSpc>
              <a:spcBef>
                <a:spcPts val="0"/>
              </a:spcBef>
              <a:spcAft>
                <a:spcPts val="200"/>
              </a:spcAft>
            </a:pPr>
            <a:r>
              <a:rPr sz="1350" b="0" i="0">
                <a:solidFill>
                  <a:srgbClr val="0F172A"/>
                </a:solidFill>
                <a:latin typeface="Arial"/>
              </a:rPr>
              <a:t>30 years from cells to software — non-imitable, fully its own (Teece, 1997).</a:t>
            </a:r>
          </a:p>
        </p:txBody>
      </p:sp>
      <p:sp>
        <p:nvSpPr>
          <p:cNvPr id="22" name="Rectangle 21"/>
          <p:cNvSpPr/>
          <p:nvPr/>
        </p:nvSpPr>
        <p:spPr>
          <a:xfrm>
            <a:off x="548640" y="4937760"/>
            <a:ext cx="11064240" cy="9144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37760"/>
            <a:ext cx="10607040" cy="914400"/>
          </a:xfrm>
          <a:prstGeom prst="rect">
            <a:avLst/>
          </a:prstGeom>
          <a:noFill/>
        </p:spPr>
        <p:txBody>
          <a:bodyPr wrap="square" anchor="ctr" lIns="0" rIns="0" tIns="0" bIns="0">
            <a:spAutoFit/>
          </a:bodyPr>
          <a:lstStyle/>
          <a:p>
            <a:pPr algn="l">
              <a:lnSpc>
                <a:spcPct val="110000"/>
              </a:lnSpc>
              <a:spcBef>
                <a:spcPts val="0"/>
              </a:spcBef>
              <a:spcAft>
                <a:spcPts val="200"/>
              </a:spcAft>
            </a:pPr>
            <a:r>
              <a:rPr sz="1400" b="1" i="0">
                <a:solidFill>
                  <a:srgbClr val="FFFFFF"/>
                </a:solidFill>
                <a:latin typeface="Arial"/>
              </a:rPr>
              <a:t>The proof: SAIC-GM plants run at just 37% capacity and VW's MEB plant at 14% (2025) — dependency hardened into a capability deficit, while organic depth and co-development kept autonomy.</a:t>
            </a:r>
          </a:p>
        </p:txBody>
      </p:sp>
      <p:sp>
        <p:nvSpPr>
          <p:cNvPr id="24" name="TextBox 23"/>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Bai et al. (2025) · Konda et al. (2022) · Teece et al. (1997) · SAIC Motor (2026)</a:t>
            </a:r>
          </a:p>
        </p:txBody>
      </p:sp>
      <p:sp>
        <p:nvSpPr>
          <p:cNvPr id="25" name="TextBox 24"/>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6" name="TextBox 25"/>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DIMENSION 4 · LONG-TERM VIABILITY</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The EV transition tests which model was built to adapt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965960"/>
            <a:ext cx="3593592" cy="24688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6596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16712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DC2626"/>
                </a:solidFill>
                <a:latin typeface="Arial"/>
              </a:rPr>
              <a:t>SAIC — most exposed</a:t>
            </a:r>
          </a:p>
        </p:txBody>
      </p:sp>
      <p:sp>
        <p:nvSpPr>
          <p:cNvPr id="10" name="TextBox 9"/>
          <p:cNvSpPr txBox="1"/>
          <p:nvPr/>
        </p:nvSpPr>
        <p:spPr>
          <a:xfrm>
            <a:off x="713232" y="2752344"/>
            <a:ext cx="3264408" cy="1517904"/>
          </a:xfrm>
          <a:prstGeom prst="rect">
            <a:avLst/>
          </a:prstGeom>
          <a:noFill/>
        </p:spPr>
        <p:txBody>
          <a:bodyPr wrap="square" lIns="0" rIns="0" tIns="0" bIns="0">
            <a:spAutoFit/>
          </a:bodyPr>
          <a:lstStyle/>
          <a:p>
            <a:pPr>
              <a:lnSpc>
                <a:spcPct val="105000"/>
              </a:lnSpc>
              <a:spcBef>
                <a:spcPts val="0"/>
              </a:spcBef>
              <a:spcAft>
                <a:spcPts val="500"/>
              </a:spcAft>
              <a:buNone/>
            </a:pPr>
            <a:r>
              <a:rPr sz="1350">
                <a:solidFill>
                  <a:srgbClr val="DC2626"/>
                </a:solidFill>
                <a:latin typeface="Arial"/>
              </a:rPr>
              <a:t>–  </a:t>
            </a:r>
            <a:r>
              <a:rPr sz="1350">
                <a:solidFill>
                  <a:srgbClr val="0F172A"/>
                </a:solidFill>
                <a:latin typeface="Arial"/>
              </a:rPr>
              <a:t>JV plants at 14–37% capacity</a:t>
            </a:r>
          </a:p>
          <a:p>
            <a:pPr>
              <a:lnSpc>
                <a:spcPct val="105000"/>
              </a:lnSpc>
              <a:spcBef>
                <a:spcPts val="0"/>
              </a:spcBef>
              <a:spcAft>
                <a:spcPts val="500"/>
              </a:spcAft>
              <a:buNone/>
            </a:pPr>
            <a:r>
              <a:rPr sz="1350">
                <a:solidFill>
                  <a:srgbClr val="DC2626"/>
                </a:solidFill>
                <a:latin typeface="Arial"/>
              </a:rPr>
              <a:t>–  </a:t>
            </a:r>
            <a:r>
              <a:rPr sz="1350">
                <a:solidFill>
                  <a:srgbClr val="0F172A"/>
                </a:solidFill>
                <a:latin typeface="Arial"/>
              </a:rPr>
              <a:t>But own-brand NEV +33%, with zero subsidies</a:t>
            </a:r>
          </a:p>
          <a:p>
            <a:pPr>
              <a:lnSpc>
                <a:spcPct val="105000"/>
              </a:lnSpc>
              <a:spcBef>
                <a:spcPts val="0"/>
              </a:spcBef>
              <a:spcAft>
                <a:spcPts val="500"/>
              </a:spcAft>
              <a:buNone/>
            </a:pPr>
            <a:r>
              <a:rPr sz="1350">
                <a:solidFill>
                  <a:srgbClr val="DC2626"/>
                </a:solidFill>
                <a:latin typeface="Arial"/>
              </a:rPr>
              <a:t>–  </a:t>
            </a:r>
            <a:r>
              <a:rPr sz="1350">
                <a:solidFill>
                  <a:srgbClr val="0F172A"/>
                </a:solidFill>
                <a:latin typeface="Arial"/>
              </a:rPr>
              <a:t>A race: eroding JV rents vs. thin margin</a:t>
            </a:r>
          </a:p>
        </p:txBody>
      </p:sp>
      <p:sp>
        <p:nvSpPr>
          <p:cNvPr id="11" name="Rectangle 10"/>
          <p:cNvSpPr/>
          <p:nvPr/>
        </p:nvSpPr>
        <p:spPr>
          <a:xfrm>
            <a:off x="4279392" y="1965960"/>
            <a:ext cx="3593592" cy="24688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196596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4" y="216712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2563EB"/>
                </a:solidFill>
                <a:latin typeface="Arial"/>
              </a:rPr>
              <a:t>BYD — strongest position</a:t>
            </a:r>
          </a:p>
        </p:txBody>
      </p:sp>
      <p:sp>
        <p:nvSpPr>
          <p:cNvPr id="14" name="TextBox 13"/>
          <p:cNvSpPr txBox="1"/>
          <p:nvPr/>
        </p:nvSpPr>
        <p:spPr>
          <a:xfrm>
            <a:off x="4443984" y="2752344"/>
            <a:ext cx="3264408" cy="1517904"/>
          </a:xfrm>
          <a:prstGeom prst="rect">
            <a:avLst/>
          </a:prstGeom>
          <a:noFill/>
        </p:spPr>
        <p:txBody>
          <a:bodyPr wrap="square" lIns="0" rIns="0" tIns="0" bIns="0">
            <a:spAutoFit/>
          </a:bodyPr>
          <a:lstStyle/>
          <a:p>
            <a:pPr>
              <a:lnSpc>
                <a:spcPct val="105000"/>
              </a:lnSpc>
              <a:spcBef>
                <a:spcPts val="0"/>
              </a:spcBef>
              <a:spcAft>
                <a:spcPts val="500"/>
              </a:spcAft>
              <a:buNone/>
            </a:pPr>
            <a:r>
              <a:rPr sz="1350">
                <a:solidFill>
                  <a:srgbClr val="2563EB"/>
                </a:solidFill>
                <a:latin typeface="Arial"/>
              </a:rPr>
              <a:t>–  </a:t>
            </a:r>
            <a:r>
              <a:rPr sz="1350">
                <a:solidFill>
                  <a:srgbClr val="0F172A"/>
                </a:solidFill>
                <a:latin typeface="Arial"/>
              </a:rPr>
              <a:t>No combustion engines since 2022; #1 NEV 4 years</a:t>
            </a:r>
          </a:p>
          <a:p>
            <a:pPr>
              <a:lnSpc>
                <a:spcPct val="105000"/>
              </a:lnSpc>
              <a:spcBef>
                <a:spcPts val="0"/>
              </a:spcBef>
              <a:spcAft>
                <a:spcPts val="500"/>
              </a:spcAft>
              <a:buNone/>
            </a:pPr>
            <a:r>
              <a:rPr sz="1350">
                <a:solidFill>
                  <a:srgbClr val="2563EB"/>
                </a:solidFill>
                <a:latin typeface="Arial"/>
              </a:rPr>
              <a:t>–  </a:t>
            </a:r>
            <a:r>
              <a:rPr sz="1350">
                <a:solidFill>
                  <a:srgbClr val="0F172A"/>
                </a:solidFill>
                <a:latin typeface="Arial"/>
              </a:rPr>
              <a:t>&gt;1 m exports (+140%), 119 countries</a:t>
            </a:r>
          </a:p>
          <a:p>
            <a:pPr>
              <a:lnSpc>
                <a:spcPct val="105000"/>
              </a:lnSpc>
              <a:spcBef>
                <a:spcPts val="0"/>
              </a:spcBef>
              <a:spcAft>
                <a:spcPts val="500"/>
              </a:spcAft>
              <a:buNone/>
            </a:pPr>
            <a:r>
              <a:rPr sz="1350">
                <a:solidFill>
                  <a:srgbClr val="2563EB"/>
                </a:solidFill>
                <a:latin typeface="Arial"/>
              </a:rPr>
              <a:t>–  </a:t>
            </a:r>
            <a:r>
              <a:rPr sz="1350">
                <a:solidFill>
                  <a:srgbClr val="0F172A"/>
                </a:solidFill>
                <a:latin typeface="Arial"/>
              </a:rPr>
              <a:t>Self-funded; only margin under pressure</a:t>
            </a:r>
          </a:p>
        </p:txBody>
      </p:sp>
      <p:sp>
        <p:nvSpPr>
          <p:cNvPr id="15" name="Rectangle 14"/>
          <p:cNvSpPr/>
          <p:nvPr/>
        </p:nvSpPr>
        <p:spPr>
          <a:xfrm>
            <a:off x="8010144" y="1965960"/>
            <a:ext cx="3593592" cy="24688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10144" y="196596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74736" y="2167128"/>
            <a:ext cx="3264408" cy="548640"/>
          </a:xfrm>
          <a:prstGeom prst="rect">
            <a:avLst/>
          </a:prstGeom>
          <a:noFill/>
        </p:spPr>
        <p:txBody>
          <a:bodyPr wrap="square" anchor="t" lIns="0" rIns="0" tIns="0" bIns="0">
            <a:spAutoFit/>
          </a:bodyPr>
          <a:lstStyle/>
          <a:p>
            <a:pPr algn="l">
              <a:lnSpc>
                <a:spcPct val="98000"/>
              </a:lnSpc>
              <a:spcBef>
                <a:spcPts val="0"/>
              </a:spcBef>
              <a:spcAft>
                <a:spcPts val="200"/>
              </a:spcAft>
            </a:pPr>
            <a:r>
              <a:rPr sz="1600" b="1" i="0">
                <a:solidFill>
                  <a:srgbClr val="06B6D4"/>
                </a:solidFill>
                <a:latin typeface="Arial"/>
              </a:rPr>
              <a:t>Geely — most asymmetric</a:t>
            </a:r>
          </a:p>
        </p:txBody>
      </p:sp>
      <p:sp>
        <p:nvSpPr>
          <p:cNvPr id="18" name="TextBox 17"/>
          <p:cNvSpPr txBox="1"/>
          <p:nvPr/>
        </p:nvSpPr>
        <p:spPr>
          <a:xfrm>
            <a:off x="8174736" y="2752344"/>
            <a:ext cx="3264408" cy="1517904"/>
          </a:xfrm>
          <a:prstGeom prst="rect">
            <a:avLst/>
          </a:prstGeom>
          <a:noFill/>
        </p:spPr>
        <p:txBody>
          <a:bodyPr wrap="square" lIns="0" rIns="0" tIns="0" bIns="0">
            <a:spAutoFit/>
          </a:bodyPr>
          <a:lstStyle/>
          <a:p>
            <a:pPr>
              <a:lnSpc>
                <a:spcPct val="105000"/>
              </a:lnSpc>
              <a:spcBef>
                <a:spcPts val="0"/>
              </a:spcBef>
              <a:spcAft>
                <a:spcPts val="500"/>
              </a:spcAft>
              <a:buNone/>
            </a:pPr>
            <a:r>
              <a:rPr sz="1350">
                <a:solidFill>
                  <a:srgbClr val="06B6D4"/>
                </a:solidFill>
                <a:latin typeface="Arial"/>
              </a:rPr>
              <a:t>–  </a:t>
            </a:r>
            <a:r>
              <a:rPr sz="1350">
                <a:solidFill>
                  <a:srgbClr val="0F172A"/>
                </a:solidFill>
                <a:latin typeface="Arial"/>
              </a:rPr>
              <a:t>NEV 51.5% in H1 2025; H1 profit +102%</a:t>
            </a:r>
          </a:p>
          <a:p>
            <a:pPr>
              <a:lnSpc>
                <a:spcPct val="105000"/>
              </a:lnSpc>
              <a:spcBef>
                <a:spcPts val="0"/>
              </a:spcBef>
              <a:spcAft>
                <a:spcPts val="500"/>
              </a:spcAft>
              <a:buNone/>
            </a:pPr>
            <a:r>
              <a:rPr sz="1350">
                <a:solidFill>
                  <a:srgbClr val="06B6D4"/>
                </a:solidFill>
                <a:latin typeface="Arial"/>
              </a:rPr>
              <a:t>–  </a:t>
            </a:r>
            <a:r>
              <a:rPr sz="1350">
                <a:solidFill>
                  <a:srgbClr val="0F172A"/>
                </a:solidFill>
                <a:latin typeface="Arial"/>
              </a:rPr>
              <a:t>Strong cash flow gives headroom</a:t>
            </a:r>
          </a:p>
          <a:p>
            <a:pPr>
              <a:lnSpc>
                <a:spcPct val="105000"/>
              </a:lnSpc>
              <a:spcBef>
                <a:spcPts val="0"/>
              </a:spcBef>
              <a:spcAft>
                <a:spcPts val="500"/>
              </a:spcAft>
              <a:buNone/>
            </a:pPr>
            <a:r>
              <a:rPr sz="1350">
                <a:solidFill>
                  <a:srgbClr val="06B6D4"/>
                </a:solidFill>
                <a:latin typeface="Arial"/>
              </a:rPr>
              <a:t>–  </a:t>
            </a:r>
            <a:r>
              <a:rPr sz="1350">
                <a:solidFill>
                  <a:srgbClr val="0F172A"/>
                </a:solidFill>
                <a:latin typeface="Arial"/>
              </a:rPr>
              <a:t>But partner-dependent; Polestar/Lotus losses</a:t>
            </a:r>
          </a:p>
        </p:txBody>
      </p:sp>
      <p:sp>
        <p:nvSpPr>
          <p:cNvPr id="19" name="TextBox 18"/>
          <p:cNvSpPr txBox="1"/>
          <p:nvPr/>
        </p:nvSpPr>
        <p:spPr>
          <a:xfrm>
            <a:off x="548640" y="4892040"/>
            <a:ext cx="11064240" cy="548640"/>
          </a:xfrm>
          <a:prstGeom prst="rect">
            <a:avLst/>
          </a:prstGeom>
          <a:noFill/>
        </p:spPr>
        <p:txBody>
          <a:bodyPr wrap="square" anchor="t" lIns="0" rIns="0" tIns="0" bIns="0">
            <a:spAutoFit/>
          </a:bodyPr>
          <a:lstStyle/>
          <a:p>
            <a:pPr algn="l">
              <a:lnSpc>
                <a:spcPct val="105000"/>
              </a:lnSpc>
              <a:spcBef>
                <a:spcPts val="0"/>
              </a:spcBef>
              <a:spcAft>
                <a:spcPts val="200"/>
              </a:spcAft>
            </a:pPr>
            <a:r>
              <a:rPr sz="1400" b="1" i="0">
                <a:solidFill>
                  <a:srgbClr val="0F172A"/>
                </a:solidFill>
                <a:latin typeface="Arial"/>
              </a:rPr>
              <a:t>Same technology shock, three very different outcomes — exactly what the governance and capability choices predicted.</a:t>
            </a:r>
          </a:p>
        </p:txBody>
      </p:sp>
      <p:sp>
        <p:nvSpPr>
          <p:cNvPr id="20" name="TextBox 19"/>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Annual Reports 2025 (FY2024) &amp; 2026 (FY2025) · Geely interim results H1 2025 · European Commission (2024)</a:t>
            </a:r>
          </a:p>
        </p:txBody>
      </p:sp>
      <p:sp>
        <p:nvSpPr>
          <p:cNvPr id="21" name="TextBox 20"/>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2" name="TextBox 21"/>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97280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VERDICT</a:t>
            </a:r>
          </a:p>
        </p:txBody>
      </p:sp>
      <p:sp>
        <p:nvSpPr>
          <p:cNvPr id="5" name="TextBox 4"/>
          <p:cNvSpPr txBox="1"/>
          <p:nvPr/>
        </p:nvSpPr>
        <p:spPr>
          <a:xfrm>
            <a:off x="548640" y="777240"/>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FFFFFF"/>
                </a:solidFill>
                <a:latin typeface="Arial"/>
              </a:rPr>
              <a:t>BYD's founder-led vertical integration is the model most likely</a:t>
            </a:r>
          </a:p>
          <a:p>
            <a:pPr algn="l">
              <a:lnSpc>
                <a:spcPct val="100000"/>
              </a:lnSpc>
              <a:spcBef>
                <a:spcPts val="0"/>
              </a:spcBef>
              <a:spcAft>
                <a:spcPts val="200"/>
              </a:spcAft>
            </a:pPr>
            <a:r>
              <a:rPr sz="2600" b="1" i="0">
                <a:solidFill>
                  <a:srgbClr val="FFFFFF"/>
                </a:solidFill>
                <a:latin typeface="Arial"/>
              </a:rPr>
              <a:t>to create long-term shareholder value</a:t>
            </a:r>
          </a:p>
        </p:txBody>
      </p:sp>
      <p:sp>
        <p:nvSpPr>
          <p:cNvPr id="6" name="Rectangle 5"/>
          <p:cNvSpPr/>
          <p:nvPr/>
        </p:nvSpPr>
        <p:spPr>
          <a:xfrm>
            <a:off x="548640"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423160"/>
            <a:ext cx="3593592" cy="640080"/>
          </a:xfrm>
          <a:prstGeom prst="rect">
            <a:avLst/>
          </a:prstGeom>
          <a:noFill/>
        </p:spPr>
        <p:txBody>
          <a:bodyPr wrap="square" anchor="t" lIns="0" rIns="0" tIns="0" bIns="0">
            <a:spAutoFit/>
          </a:bodyPr>
          <a:lstStyle/>
          <a:p>
            <a:pPr algn="ctr">
              <a:lnSpc>
                <a:spcPct val="100000"/>
              </a:lnSpc>
              <a:spcBef>
                <a:spcPts val="0"/>
              </a:spcBef>
              <a:spcAft>
                <a:spcPts val="200"/>
              </a:spcAft>
            </a:pPr>
            <a:r>
              <a:rPr sz="3200" b="1" i="0">
                <a:solidFill>
                  <a:srgbClr val="FFFFFF"/>
                </a:solidFill>
                <a:latin typeface="Arial"/>
              </a:rPr>
              <a:t>21.7%</a:t>
            </a:r>
          </a:p>
        </p:txBody>
      </p:sp>
      <p:sp>
        <p:nvSpPr>
          <p:cNvPr id="8" name="TextBox 7"/>
          <p:cNvSpPr txBox="1"/>
          <p:nvPr/>
        </p:nvSpPr>
        <p:spPr>
          <a:xfrm>
            <a:off x="685800" y="3127248"/>
            <a:ext cx="3319272" cy="457200"/>
          </a:xfrm>
          <a:prstGeom prst="rect">
            <a:avLst/>
          </a:prstGeom>
          <a:noFill/>
        </p:spPr>
        <p:txBody>
          <a:bodyPr wrap="square" anchor="t" lIns="0" rIns="0" tIns="0" bIns="0">
            <a:spAutoFit/>
          </a:bodyPr>
          <a:lstStyle/>
          <a:p>
            <a:pPr algn="ctr">
              <a:lnSpc>
                <a:spcPct val="100000"/>
              </a:lnSpc>
              <a:spcBef>
                <a:spcPts val="0"/>
              </a:spcBef>
              <a:spcAft>
                <a:spcPts val="200"/>
              </a:spcAft>
            </a:pPr>
            <a:r>
              <a:rPr sz="1200" b="0" i="0">
                <a:solidFill>
                  <a:srgbClr val="CBD5E1"/>
                </a:solidFill>
                <a:latin typeface="Arial"/>
              </a:rPr>
              <a:t>highest ROE of the three</a:t>
            </a:r>
          </a:p>
          <a:p>
            <a:pPr algn="ctr">
              <a:lnSpc>
                <a:spcPct val="100000"/>
              </a:lnSpc>
              <a:spcBef>
                <a:spcPts val="0"/>
              </a:spcBef>
              <a:spcAft>
                <a:spcPts val="200"/>
              </a:spcAft>
            </a:pPr>
            <a:r>
              <a:rPr sz="1200" b="0" i="0">
                <a:solidFill>
                  <a:srgbClr val="CBD5E1"/>
                </a:solidFill>
                <a:latin typeface="Arial"/>
              </a:rPr>
              <a:t>firms (FY2024)</a:t>
            </a:r>
          </a:p>
        </p:txBody>
      </p:sp>
      <p:sp>
        <p:nvSpPr>
          <p:cNvPr id="9" name="Rectangle 8"/>
          <p:cNvSpPr/>
          <p:nvPr/>
        </p:nvSpPr>
        <p:spPr>
          <a:xfrm>
            <a:off x="4279392"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9392" y="2423160"/>
            <a:ext cx="3593592" cy="640080"/>
          </a:xfrm>
          <a:prstGeom prst="rect">
            <a:avLst/>
          </a:prstGeom>
          <a:noFill/>
        </p:spPr>
        <p:txBody>
          <a:bodyPr wrap="square" anchor="t" lIns="0" rIns="0" tIns="0" bIns="0">
            <a:spAutoFit/>
          </a:bodyPr>
          <a:lstStyle/>
          <a:p>
            <a:pPr algn="ctr">
              <a:lnSpc>
                <a:spcPct val="100000"/>
              </a:lnSpc>
              <a:spcBef>
                <a:spcPts val="0"/>
              </a:spcBef>
              <a:spcAft>
                <a:spcPts val="200"/>
              </a:spcAft>
            </a:pPr>
            <a:r>
              <a:rPr sz="3200" b="1" i="0">
                <a:solidFill>
                  <a:srgbClr val="FFFFFF"/>
                </a:solidFill>
                <a:latin typeface="Arial"/>
              </a:rPr>
              <a:t>4 yrs</a:t>
            </a:r>
          </a:p>
        </p:txBody>
      </p:sp>
      <p:sp>
        <p:nvSpPr>
          <p:cNvPr id="11" name="TextBox 10"/>
          <p:cNvSpPr txBox="1"/>
          <p:nvPr/>
        </p:nvSpPr>
        <p:spPr>
          <a:xfrm>
            <a:off x="4416552" y="3127248"/>
            <a:ext cx="3319272" cy="457200"/>
          </a:xfrm>
          <a:prstGeom prst="rect">
            <a:avLst/>
          </a:prstGeom>
          <a:noFill/>
        </p:spPr>
        <p:txBody>
          <a:bodyPr wrap="square" anchor="t" lIns="0" rIns="0" tIns="0" bIns="0">
            <a:spAutoFit/>
          </a:bodyPr>
          <a:lstStyle/>
          <a:p>
            <a:pPr algn="ctr">
              <a:lnSpc>
                <a:spcPct val="100000"/>
              </a:lnSpc>
              <a:spcBef>
                <a:spcPts val="0"/>
              </a:spcBef>
              <a:spcAft>
                <a:spcPts val="200"/>
              </a:spcAft>
            </a:pPr>
            <a:r>
              <a:rPr sz="1200" b="0" i="0">
                <a:solidFill>
                  <a:srgbClr val="CBD5E1"/>
                </a:solidFill>
                <a:latin typeface="Arial"/>
              </a:rPr>
              <a:t>consecutive global NEV</a:t>
            </a:r>
          </a:p>
          <a:p>
            <a:pPr algn="ctr">
              <a:lnSpc>
                <a:spcPct val="100000"/>
              </a:lnSpc>
              <a:spcBef>
                <a:spcPts val="0"/>
              </a:spcBef>
              <a:spcAft>
                <a:spcPts val="200"/>
              </a:spcAft>
            </a:pPr>
            <a:r>
              <a:rPr sz="1200" b="0" i="0">
                <a:solidFill>
                  <a:srgbClr val="CBD5E1"/>
                </a:solidFill>
                <a:latin typeface="Arial"/>
              </a:rPr>
              <a:t>market leader</a:t>
            </a:r>
          </a:p>
        </p:txBody>
      </p:sp>
      <p:sp>
        <p:nvSpPr>
          <p:cNvPr id="12" name="Rectangle 11"/>
          <p:cNvSpPr/>
          <p:nvPr/>
        </p:nvSpPr>
        <p:spPr>
          <a:xfrm>
            <a:off x="8010144"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0144" y="2423160"/>
            <a:ext cx="3593592" cy="640080"/>
          </a:xfrm>
          <a:prstGeom prst="rect">
            <a:avLst/>
          </a:prstGeom>
          <a:noFill/>
        </p:spPr>
        <p:txBody>
          <a:bodyPr wrap="square" anchor="t" lIns="0" rIns="0" tIns="0" bIns="0">
            <a:spAutoFit/>
          </a:bodyPr>
          <a:lstStyle/>
          <a:p>
            <a:pPr algn="ctr">
              <a:lnSpc>
                <a:spcPct val="100000"/>
              </a:lnSpc>
              <a:spcBef>
                <a:spcPts val="0"/>
              </a:spcBef>
              <a:spcAft>
                <a:spcPts val="200"/>
              </a:spcAft>
            </a:pPr>
            <a:r>
              <a:rPr sz="3200" b="1" i="0">
                <a:solidFill>
                  <a:srgbClr val="FFFFFF"/>
                </a:solidFill>
                <a:latin typeface="Arial"/>
              </a:rPr>
              <a:t>USD 5.6 bn</a:t>
            </a:r>
          </a:p>
        </p:txBody>
      </p:sp>
      <p:sp>
        <p:nvSpPr>
          <p:cNvPr id="14" name="TextBox 13"/>
          <p:cNvSpPr txBox="1"/>
          <p:nvPr/>
        </p:nvSpPr>
        <p:spPr>
          <a:xfrm>
            <a:off x="8147304" y="3127248"/>
            <a:ext cx="3319272" cy="457200"/>
          </a:xfrm>
          <a:prstGeom prst="rect">
            <a:avLst/>
          </a:prstGeom>
          <a:noFill/>
        </p:spPr>
        <p:txBody>
          <a:bodyPr wrap="square" anchor="t" lIns="0" rIns="0" tIns="0" bIns="0">
            <a:spAutoFit/>
          </a:bodyPr>
          <a:lstStyle/>
          <a:p>
            <a:pPr algn="ctr">
              <a:lnSpc>
                <a:spcPct val="100000"/>
              </a:lnSpc>
              <a:spcBef>
                <a:spcPts val="0"/>
              </a:spcBef>
              <a:spcAft>
                <a:spcPts val="200"/>
              </a:spcAft>
            </a:pPr>
            <a:r>
              <a:rPr sz="1200" b="0" i="0">
                <a:solidFill>
                  <a:srgbClr val="CBD5E1"/>
                </a:solidFill>
                <a:latin typeface="Arial"/>
              </a:rPr>
              <a:t>2025 raise incl. sovereign</a:t>
            </a:r>
          </a:p>
          <a:p>
            <a:pPr algn="ctr">
              <a:lnSpc>
                <a:spcPct val="100000"/>
              </a:lnSpc>
              <a:spcBef>
                <a:spcPts val="0"/>
              </a:spcBef>
              <a:spcAft>
                <a:spcPts val="200"/>
              </a:spcAft>
            </a:pPr>
            <a:r>
              <a:rPr sz="1200" b="0" i="0">
                <a:solidFill>
                  <a:srgbClr val="CBD5E1"/>
                </a:solidFill>
                <a:latin typeface="Arial"/>
              </a:rPr>
              <a:t>wealth funds</a:t>
            </a:r>
          </a:p>
        </p:txBody>
      </p:sp>
      <p:sp>
        <p:nvSpPr>
          <p:cNvPr id="15" name="Rectangle 14"/>
          <p:cNvSpPr/>
          <p:nvPr/>
        </p:nvSpPr>
        <p:spPr>
          <a:xfrm>
            <a:off x="548640" y="3977639"/>
            <a:ext cx="11064240" cy="14630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977639"/>
            <a:ext cx="82296" cy="146304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160520"/>
            <a:ext cx="10607040" cy="1143000"/>
          </a:xfrm>
          <a:prstGeom prst="rect">
            <a:avLst/>
          </a:prstGeom>
          <a:noFill/>
        </p:spPr>
        <p:txBody>
          <a:bodyPr wrap="square" anchor="t" lIns="0" rIns="0" tIns="0" bIns="0">
            <a:spAutoFit/>
          </a:bodyPr>
          <a:lstStyle/>
          <a:p>
            <a:pPr algn="l">
              <a:lnSpc>
                <a:spcPct val="115000"/>
              </a:lnSpc>
              <a:spcBef>
                <a:spcPts val="0"/>
              </a:spcBef>
              <a:spcAft>
                <a:spcPts val="200"/>
              </a:spcAft>
            </a:pPr>
            <a:r>
              <a:rPr sz="1450" b="0" i="0">
                <a:solidFill>
                  <a:srgbClr val="FFFFFF"/>
                </a:solidFill>
                <a:latin typeface="Arial"/>
              </a:rPr>
              <a:t>Why BYD — and why not simply “vertical integration is best”: the model wins because it aligns concentrated, commercially-oriented control with a self-financing structure that stays resilient when markets contract — not because integration is inherently superior. The advantage is governance and capital discipline working together.</a:t>
            </a:r>
          </a:p>
        </p:txBody>
      </p:sp>
      <p:sp>
        <p:nvSpPr>
          <p:cNvPr id="18" name="TextBox 17"/>
          <p:cNvSpPr txBox="1"/>
          <p:nvPr/>
        </p:nvSpPr>
        <p:spPr>
          <a:xfrm>
            <a:off x="548640" y="5669280"/>
            <a:ext cx="11064240" cy="36576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Consistent with Allen et al. (2024): privately governed Chinese firms structurally outperform state-controlled peers. ROE compressed to 13.2% in FY2025 under price-war pressure.</a:t>
            </a:r>
          </a:p>
        </p:txBody>
      </p:sp>
      <p:sp>
        <p:nvSpPr>
          <p:cNvPr id="19" name="TextBox 18"/>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0" name="TextBox 19"/>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GENERALIZABLE LESSONS</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Three transferable lessons on governance and value in high-growth markets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10972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83080"/>
            <a:ext cx="914400" cy="1188720"/>
          </a:xfrm>
          <a:prstGeom prst="rect">
            <a:avLst/>
          </a:prstGeom>
          <a:noFill/>
        </p:spPr>
        <p:txBody>
          <a:bodyPr wrap="square" anchor="ctr" lIns="0" rIns="0" tIns="0" bIns="0">
            <a:spAutoFit/>
          </a:bodyPr>
          <a:lstStyle/>
          <a:p>
            <a:pPr algn="l">
              <a:lnSpc>
                <a:spcPct val="100000"/>
              </a:lnSpc>
              <a:spcBef>
                <a:spcPts val="0"/>
              </a:spcBef>
              <a:spcAft>
                <a:spcPts val="200"/>
              </a:spcAft>
            </a:pPr>
            <a:r>
              <a:rPr sz="4400" b="1" i="0">
                <a:solidFill>
                  <a:srgbClr val="2563EB"/>
                </a:solidFill>
                <a:latin typeface="Arial"/>
              </a:rPr>
              <a:t>1</a:t>
            </a:r>
          </a:p>
        </p:txBody>
      </p:sp>
      <p:sp>
        <p:nvSpPr>
          <p:cNvPr id="10" name="TextBox 9"/>
          <p:cNvSpPr txBox="1"/>
          <p:nvPr/>
        </p:nvSpPr>
        <p:spPr>
          <a:xfrm>
            <a:off x="1828800" y="1947672"/>
            <a:ext cx="9509760" cy="457200"/>
          </a:xfrm>
          <a:prstGeom prst="rect">
            <a:avLst/>
          </a:prstGeom>
          <a:noFill/>
        </p:spPr>
        <p:txBody>
          <a:bodyPr wrap="square" anchor="t" lIns="0" rIns="0" tIns="0" bIns="0">
            <a:spAutoFit/>
          </a:bodyPr>
          <a:lstStyle/>
          <a:p>
            <a:pPr algn="l">
              <a:lnSpc>
                <a:spcPct val="100000"/>
              </a:lnSpc>
              <a:spcBef>
                <a:spcPts val="0"/>
              </a:spcBef>
              <a:spcAft>
                <a:spcPts val="200"/>
              </a:spcAft>
            </a:pPr>
            <a:r>
              <a:rPr sz="1650" b="1" i="0">
                <a:solidFill>
                  <a:srgbClr val="0F172A"/>
                </a:solidFill>
                <a:latin typeface="Arial"/>
              </a:rPr>
              <a:t>Capability mode determines durability across technology cycles</a:t>
            </a:r>
          </a:p>
        </p:txBody>
      </p:sp>
      <p:sp>
        <p:nvSpPr>
          <p:cNvPr id="11" name="TextBox 10"/>
          <p:cNvSpPr txBox="1"/>
          <p:nvPr/>
        </p:nvSpPr>
        <p:spPr>
          <a:xfrm>
            <a:off x="1828800" y="2350008"/>
            <a:ext cx="9509760" cy="548640"/>
          </a:xfrm>
          <a:prstGeom prst="rect">
            <a:avLst/>
          </a:prstGeom>
          <a:noFill/>
        </p:spPr>
        <p:txBody>
          <a:bodyPr wrap="square" anchor="t" lIns="0" rIns="0" tIns="0" bIns="0">
            <a:spAutoFit/>
          </a:bodyPr>
          <a:lstStyle/>
          <a:p>
            <a:pPr algn="l">
              <a:lnSpc>
                <a:spcPct val="105000"/>
              </a:lnSpc>
              <a:spcBef>
                <a:spcPts val="0"/>
              </a:spcBef>
              <a:spcAft>
                <a:spcPts val="200"/>
              </a:spcAft>
            </a:pPr>
            <a:r>
              <a:rPr sz="1300" b="0" i="0">
                <a:solidFill>
                  <a:srgbClr val="0F172A"/>
                </a:solidFill>
                <a:latin typeface="Arial"/>
              </a:rPr>
              <a:t>Mandatory transfer buys short-run quality but displaces the autonomous innovation the next cycle needs; organic and voluntary modes preserve it.</a:t>
            </a:r>
          </a:p>
        </p:txBody>
      </p:sp>
      <p:sp>
        <p:nvSpPr>
          <p:cNvPr id="12" name="Rectangle 11"/>
          <p:cNvSpPr/>
          <p:nvPr/>
        </p:nvSpPr>
        <p:spPr>
          <a:xfrm>
            <a:off x="548640" y="31546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154680"/>
            <a:ext cx="109728" cy="11887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54680"/>
            <a:ext cx="914400" cy="1188720"/>
          </a:xfrm>
          <a:prstGeom prst="rect">
            <a:avLst/>
          </a:prstGeom>
          <a:noFill/>
        </p:spPr>
        <p:txBody>
          <a:bodyPr wrap="square" anchor="ctr" lIns="0" rIns="0" tIns="0" bIns="0">
            <a:spAutoFit/>
          </a:bodyPr>
          <a:lstStyle/>
          <a:p>
            <a:pPr algn="l">
              <a:lnSpc>
                <a:spcPct val="100000"/>
              </a:lnSpc>
              <a:spcBef>
                <a:spcPts val="0"/>
              </a:spcBef>
              <a:spcAft>
                <a:spcPts val="200"/>
              </a:spcAft>
            </a:pPr>
            <a:r>
              <a:rPr sz="4400" b="1" i="0">
                <a:solidFill>
                  <a:srgbClr val="DC2626"/>
                </a:solidFill>
                <a:latin typeface="Arial"/>
              </a:rPr>
              <a:t>2</a:t>
            </a:r>
          </a:p>
        </p:txBody>
      </p:sp>
      <p:sp>
        <p:nvSpPr>
          <p:cNvPr id="15" name="TextBox 14"/>
          <p:cNvSpPr txBox="1"/>
          <p:nvPr/>
        </p:nvSpPr>
        <p:spPr>
          <a:xfrm>
            <a:off x="1828800" y="3319272"/>
            <a:ext cx="9509760" cy="457200"/>
          </a:xfrm>
          <a:prstGeom prst="rect">
            <a:avLst/>
          </a:prstGeom>
          <a:noFill/>
        </p:spPr>
        <p:txBody>
          <a:bodyPr wrap="square" anchor="t" lIns="0" rIns="0" tIns="0" bIns="0">
            <a:spAutoFit/>
          </a:bodyPr>
          <a:lstStyle/>
          <a:p>
            <a:pPr algn="l">
              <a:lnSpc>
                <a:spcPct val="100000"/>
              </a:lnSpc>
              <a:spcBef>
                <a:spcPts val="0"/>
              </a:spcBef>
              <a:spcAft>
                <a:spcPts val="200"/>
              </a:spcAft>
            </a:pPr>
            <a:r>
              <a:rPr sz="1650" b="1" i="0">
                <a:solidFill>
                  <a:srgbClr val="0F172A"/>
                </a:solidFill>
                <a:latin typeface="Arial"/>
              </a:rPr>
              <a:t>Governance is a first-order determinant of strategic adaptability</a:t>
            </a:r>
          </a:p>
        </p:txBody>
      </p:sp>
      <p:sp>
        <p:nvSpPr>
          <p:cNvPr id="16" name="TextBox 15"/>
          <p:cNvSpPr txBox="1"/>
          <p:nvPr/>
        </p:nvSpPr>
        <p:spPr>
          <a:xfrm>
            <a:off x="1828800" y="3721608"/>
            <a:ext cx="9509760" cy="548640"/>
          </a:xfrm>
          <a:prstGeom prst="rect">
            <a:avLst/>
          </a:prstGeom>
          <a:noFill/>
        </p:spPr>
        <p:txBody>
          <a:bodyPr wrap="square" anchor="t" lIns="0" rIns="0" tIns="0" bIns="0">
            <a:spAutoFit/>
          </a:bodyPr>
          <a:lstStyle/>
          <a:p>
            <a:pPr algn="l">
              <a:lnSpc>
                <a:spcPct val="105000"/>
              </a:lnSpc>
              <a:spcBef>
                <a:spcPts val="0"/>
              </a:spcBef>
              <a:spcAft>
                <a:spcPts val="200"/>
              </a:spcAft>
            </a:pPr>
            <a:r>
              <a:rPr sz="1300" b="0" i="0">
                <a:solidFill>
                  <a:srgbClr val="0F172A"/>
                </a:solidFill>
                <a:latin typeface="Arial"/>
              </a:rPr>
              <a:t>Control concentrated with commercial principals adapts faster. When change outpaces the decision cycle, governance becomes the binding constraint.</a:t>
            </a:r>
          </a:p>
        </p:txBody>
      </p:sp>
      <p:sp>
        <p:nvSpPr>
          <p:cNvPr id="17" name="Rectangle 16"/>
          <p:cNvSpPr/>
          <p:nvPr/>
        </p:nvSpPr>
        <p:spPr>
          <a:xfrm>
            <a:off x="548640" y="45262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26280"/>
            <a:ext cx="109728" cy="11887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526280"/>
            <a:ext cx="914400" cy="1188720"/>
          </a:xfrm>
          <a:prstGeom prst="rect">
            <a:avLst/>
          </a:prstGeom>
          <a:noFill/>
        </p:spPr>
        <p:txBody>
          <a:bodyPr wrap="square" anchor="ctr" lIns="0" rIns="0" tIns="0" bIns="0">
            <a:spAutoFit/>
          </a:bodyPr>
          <a:lstStyle/>
          <a:p>
            <a:pPr algn="l">
              <a:lnSpc>
                <a:spcPct val="100000"/>
              </a:lnSpc>
              <a:spcBef>
                <a:spcPts val="0"/>
              </a:spcBef>
              <a:spcAft>
                <a:spcPts val="200"/>
              </a:spcAft>
            </a:pPr>
            <a:r>
              <a:rPr sz="4400" b="1" i="0">
                <a:solidFill>
                  <a:srgbClr val="06B6D4"/>
                </a:solidFill>
                <a:latin typeface="Arial"/>
              </a:rPr>
              <a:t>3</a:t>
            </a:r>
          </a:p>
        </p:txBody>
      </p:sp>
      <p:sp>
        <p:nvSpPr>
          <p:cNvPr id="20" name="TextBox 19"/>
          <p:cNvSpPr txBox="1"/>
          <p:nvPr/>
        </p:nvSpPr>
        <p:spPr>
          <a:xfrm>
            <a:off x="1828800" y="4690872"/>
            <a:ext cx="9509760" cy="457200"/>
          </a:xfrm>
          <a:prstGeom prst="rect">
            <a:avLst/>
          </a:prstGeom>
          <a:noFill/>
        </p:spPr>
        <p:txBody>
          <a:bodyPr wrap="square" anchor="t" lIns="0" rIns="0" tIns="0" bIns="0">
            <a:spAutoFit/>
          </a:bodyPr>
          <a:lstStyle/>
          <a:p>
            <a:pPr algn="l">
              <a:lnSpc>
                <a:spcPct val="100000"/>
              </a:lnSpc>
              <a:spcBef>
                <a:spcPts val="0"/>
              </a:spcBef>
              <a:spcAft>
                <a:spcPts val="200"/>
              </a:spcAft>
            </a:pPr>
            <a:r>
              <a:rPr sz="1650" b="1" i="0">
                <a:solidFill>
                  <a:srgbClr val="0F172A"/>
                </a:solidFill>
                <a:latin typeface="Arial"/>
              </a:rPr>
              <a:t>Capital structure determines resilience when markets contract</a:t>
            </a:r>
          </a:p>
        </p:txBody>
      </p:sp>
      <p:sp>
        <p:nvSpPr>
          <p:cNvPr id="21" name="TextBox 20"/>
          <p:cNvSpPr txBox="1"/>
          <p:nvPr/>
        </p:nvSpPr>
        <p:spPr>
          <a:xfrm>
            <a:off x="1828800" y="5093208"/>
            <a:ext cx="9509760" cy="548640"/>
          </a:xfrm>
          <a:prstGeom prst="rect">
            <a:avLst/>
          </a:prstGeom>
          <a:noFill/>
        </p:spPr>
        <p:txBody>
          <a:bodyPr wrap="square" anchor="t" lIns="0" rIns="0" tIns="0" bIns="0">
            <a:spAutoFit/>
          </a:bodyPr>
          <a:lstStyle/>
          <a:p>
            <a:pPr algn="l">
              <a:lnSpc>
                <a:spcPct val="105000"/>
              </a:lnSpc>
              <a:spcBef>
                <a:spcPts val="0"/>
              </a:spcBef>
              <a:spcAft>
                <a:spcPts val="200"/>
              </a:spcAft>
            </a:pPr>
            <a:r>
              <a:rPr sz="1300" b="0" i="0">
                <a:solidFill>
                  <a:srgbClr val="0F172A"/>
                </a:solidFill>
                <a:latin typeface="Arial"/>
              </a:rPr>
              <a:t>Risk-sharing captures upside in growth but exposes the firm in downturns; self-financing trades speed for resilience, leverage trades safety for speed.</a:t>
            </a:r>
          </a:p>
        </p:txBody>
      </p:sp>
      <p:sp>
        <p:nvSpPr>
          <p:cNvPr id="22" name="TextBox 21"/>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97280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CONCLUSION</a:t>
            </a:r>
          </a:p>
        </p:txBody>
      </p:sp>
      <p:sp>
        <p:nvSpPr>
          <p:cNvPr id="5" name="TextBox 4"/>
          <p:cNvSpPr txBox="1"/>
          <p:nvPr/>
        </p:nvSpPr>
        <p:spPr>
          <a:xfrm>
            <a:off x="548640" y="868680"/>
            <a:ext cx="11064240" cy="548640"/>
          </a:xfrm>
          <a:prstGeom prst="rect">
            <a:avLst/>
          </a:prstGeom>
          <a:noFill/>
        </p:spPr>
        <p:txBody>
          <a:bodyPr wrap="square" anchor="t" lIns="0" rIns="0" tIns="0" bIns="0">
            <a:spAutoFit/>
          </a:bodyPr>
          <a:lstStyle/>
          <a:p>
            <a:pPr algn="l">
              <a:lnSpc>
                <a:spcPct val="100000"/>
              </a:lnSpc>
              <a:spcBef>
                <a:spcPts val="0"/>
              </a:spcBef>
              <a:spcAft>
                <a:spcPts val="200"/>
              </a:spcAft>
            </a:pPr>
            <a:r>
              <a:rPr sz="2800" b="1" i="0">
                <a:solidFill>
                  <a:srgbClr val="FFFFFF"/>
                </a:solidFill>
                <a:latin typeface="Arial"/>
              </a:rPr>
              <a:t>Structure, more than technology, decided the outcome</a:t>
            </a:r>
          </a:p>
        </p:txBody>
      </p:sp>
      <p:sp>
        <p:nvSpPr>
          <p:cNvPr id="6" name="Rectangle 5"/>
          <p:cNvSpPr/>
          <p:nvPr/>
        </p:nvSpPr>
        <p:spPr>
          <a:xfrm>
            <a:off x="548640" y="1783080"/>
            <a:ext cx="6675120"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667512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3474720" cy="731520"/>
          </a:xfrm>
          <a:prstGeom prst="rect">
            <a:avLst/>
          </a:prstGeom>
          <a:noFill/>
        </p:spPr>
        <p:txBody>
          <a:bodyPr wrap="square" anchor="t" lIns="0" rIns="0" tIns="0" bIns="0">
            <a:spAutoFit/>
          </a:bodyPr>
          <a:lstStyle/>
          <a:p>
            <a:pPr algn="l">
              <a:lnSpc>
                <a:spcPct val="100000"/>
              </a:lnSpc>
              <a:spcBef>
                <a:spcPts val="0"/>
              </a:spcBef>
              <a:spcAft>
                <a:spcPts val="200"/>
              </a:spcAft>
            </a:pPr>
            <a:r>
              <a:rPr sz="6000" b="1" i="0">
                <a:solidFill>
                  <a:srgbClr val="06B6D4"/>
                </a:solidFill>
                <a:latin typeface="Arial"/>
              </a:rPr>
              <a:t>“</a:t>
            </a:r>
          </a:p>
        </p:txBody>
      </p:sp>
      <p:sp>
        <p:nvSpPr>
          <p:cNvPr id="9" name="TextBox 8"/>
          <p:cNvSpPr txBox="1"/>
          <p:nvPr/>
        </p:nvSpPr>
        <p:spPr>
          <a:xfrm>
            <a:off x="822960" y="2697480"/>
            <a:ext cx="6126480" cy="2560320"/>
          </a:xfrm>
          <a:prstGeom prst="rect">
            <a:avLst/>
          </a:prstGeom>
          <a:noFill/>
        </p:spPr>
        <p:txBody>
          <a:bodyPr wrap="square" anchor="t" lIns="0" rIns="0" tIns="0" bIns="0">
            <a:spAutoFit/>
          </a:bodyPr>
          <a:lstStyle/>
          <a:p>
            <a:pPr algn="l">
              <a:lnSpc>
                <a:spcPct val="112000"/>
              </a:lnSpc>
              <a:spcBef>
                <a:spcPts val="0"/>
              </a:spcBef>
              <a:spcAft>
                <a:spcPts val="200"/>
              </a:spcAft>
            </a:pPr>
            <a:r>
              <a:rPr sz="2200" b="1" i="1">
                <a:solidFill>
                  <a:srgbClr val="FFFFFF"/>
                </a:solidFill>
                <a:latin typeface="Arial"/>
              </a:rPr>
              <a:t>When technology moves faster than firms can decide, governance is no longer a footnote to strategy — it is strategy.</a:t>
            </a:r>
          </a:p>
        </p:txBody>
      </p:sp>
      <p:sp>
        <p:nvSpPr>
          <p:cNvPr id="10" name="TextBox 9"/>
          <p:cNvSpPr txBox="1"/>
          <p:nvPr/>
        </p:nvSpPr>
        <p:spPr>
          <a:xfrm>
            <a:off x="7589520" y="1920240"/>
            <a:ext cx="4023360" cy="36576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What the evidence shows</a:t>
            </a:r>
          </a:p>
        </p:txBody>
      </p:sp>
      <p:sp>
        <p:nvSpPr>
          <p:cNvPr id="11" name="TextBox 10"/>
          <p:cNvSpPr txBox="1"/>
          <p:nvPr/>
        </p:nvSpPr>
        <p:spPr>
          <a:xfrm>
            <a:off x="7589520" y="2377440"/>
            <a:ext cx="4023360" cy="3017520"/>
          </a:xfrm>
          <a:prstGeom prst="rect">
            <a:avLst/>
          </a:prstGeom>
          <a:noFill/>
        </p:spPr>
        <p:txBody>
          <a:bodyPr wrap="square" lIns="0" rIns="0" tIns="0" bIns="0">
            <a:spAutoFit/>
          </a:bodyPr>
          <a:lstStyle/>
          <a:p>
            <a:pPr>
              <a:lnSpc>
                <a:spcPct val="105000"/>
              </a:lnSpc>
              <a:spcBef>
                <a:spcPts val="0"/>
              </a:spcBef>
              <a:spcAft>
                <a:spcPts val="1000"/>
              </a:spcAft>
              <a:buNone/>
            </a:pPr>
            <a:r>
              <a:rPr sz="1300">
                <a:solidFill>
                  <a:srgbClr val="06B6D4"/>
                </a:solidFill>
                <a:latin typeface="Arial"/>
              </a:rPr>
              <a:t>–  </a:t>
            </a:r>
            <a:r>
              <a:rPr sz="1300">
                <a:solidFill>
                  <a:srgbClr val="E2E8F0"/>
                </a:solidFill>
                <a:latin typeface="Arial"/>
              </a:rPr>
              <a:t>The JV model fell not to a better technology, but to a better way of allocating control and capital.</a:t>
            </a:r>
          </a:p>
          <a:p>
            <a:pPr>
              <a:lnSpc>
                <a:spcPct val="105000"/>
              </a:lnSpc>
              <a:spcBef>
                <a:spcPts val="0"/>
              </a:spcBef>
              <a:spcAft>
                <a:spcPts val="1000"/>
              </a:spcAft>
              <a:buNone/>
            </a:pPr>
            <a:r>
              <a:rPr sz="1300">
                <a:solidFill>
                  <a:srgbClr val="06B6D4"/>
                </a:solidFill>
                <a:latin typeface="Arial"/>
              </a:rPr>
              <a:t>–  </a:t>
            </a:r>
            <a:r>
              <a:rPr sz="1300">
                <a:solidFill>
                  <a:srgbClr val="E2E8F0"/>
                </a:solidFill>
                <a:latin typeface="Arial"/>
              </a:rPr>
              <a:t>BYD — founder control + self-financing — was the most adaptive combination in the transition.</a:t>
            </a:r>
          </a:p>
          <a:p>
            <a:pPr>
              <a:lnSpc>
                <a:spcPct val="105000"/>
              </a:lnSpc>
              <a:spcBef>
                <a:spcPts val="0"/>
              </a:spcBef>
              <a:spcAft>
                <a:spcPts val="1000"/>
              </a:spcAft>
              <a:buNone/>
            </a:pPr>
            <a:r>
              <a:rPr sz="1300">
                <a:solidFill>
                  <a:srgbClr val="06B6D4"/>
                </a:solidFill>
                <a:latin typeface="Arial"/>
              </a:rPr>
              <a:t>–  </a:t>
            </a:r>
            <a:r>
              <a:rPr sz="1300">
                <a:solidFill>
                  <a:srgbClr val="E2E8F0"/>
                </a:solidFill>
                <a:latin typeface="Arial"/>
              </a:rPr>
              <a:t>SAIC's state model optimises beyond shareholder value: a permanent structural discount.</a:t>
            </a:r>
          </a:p>
          <a:p>
            <a:pPr>
              <a:lnSpc>
                <a:spcPct val="105000"/>
              </a:lnSpc>
              <a:spcBef>
                <a:spcPts val="0"/>
              </a:spcBef>
              <a:spcAft>
                <a:spcPts val="1000"/>
              </a:spcAft>
              <a:buNone/>
            </a:pPr>
            <a:r>
              <a:rPr sz="1300">
                <a:solidFill>
                  <a:srgbClr val="06B6D4"/>
                </a:solidFill>
                <a:latin typeface="Arial"/>
              </a:rPr>
              <a:t>–  </a:t>
            </a:r>
            <a:r>
              <a:rPr sz="1300">
                <a:solidFill>
                  <a:srgbClr val="E2E8F0"/>
                </a:solidFill>
                <a:latin typeface="Arial"/>
              </a:rPr>
              <a:t>2020–2025 is a natural experiment: governance, more than endowment, decides who wins.</a:t>
            </a:r>
          </a:p>
        </p:txBody>
      </p:sp>
      <p:sp>
        <p:nvSpPr>
          <p:cNvPr id="12" name="TextBox 11"/>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3" name="TextBox 12"/>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LIMITATIONS &amp; FUTURE RESEARCH</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Scope conditions and where the analysis could be extended</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5440680" cy="3520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5440680"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65960"/>
            <a:ext cx="5074920" cy="36576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D97706"/>
                </a:solidFill>
                <a:latin typeface="Arial"/>
              </a:rPr>
              <a:t>Limitations</a:t>
            </a:r>
          </a:p>
        </p:txBody>
      </p:sp>
      <p:sp>
        <p:nvSpPr>
          <p:cNvPr id="10" name="TextBox 9"/>
          <p:cNvSpPr txBox="1"/>
          <p:nvPr/>
        </p:nvSpPr>
        <p:spPr>
          <a:xfrm>
            <a:off x="731520" y="2423160"/>
            <a:ext cx="5074920" cy="2743200"/>
          </a:xfrm>
          <a:prstGeom prst="rect">
            <a:avLst/>
          </a:prstGeom>
          <a:noFill/>
        </p:spPr>
        <p:txBody>
          <a:bodyPr wrap="square" lIns="0" rIns="0" tIns="0" bIns="0">
            <a:spAutoFit/>
          </a:bodyPr>
          <a:lstStyle/>
          <a:p>
            <a:pPr>
              <a:lnSpc>
                <a:spcPct val="105000"/>
              </a:lnSpc>
              <a:spcBef>
                <a:spcPts val="0"/>
              </a:spcBef>
              <a:spcAft>
                <a:spcPts val="900"/>
              </a:spcAft>
              <a:buNone/>
            </a:pPr>
            <a:r>
              <a:rPr sz="1300">
                <a:solidFill>
                  <a:srgbClr val="D97706"/>
                </a:solidFill>
                <a:latin typeface="Arial"/>
              </a:rPr>
              <a:t>–  </a:t>
            </a:r>
            <a:r>
              <a:rPr sz="1300">
                <a:solidFill>
                  <a:srgbClr val="0F172A"/>
                </a:solidFill>
                <a:latin typeface="Arial"/>
              </a:rPr>
              <a:t>Three firms, one industry, one country — limited statistical generalisability.</a:t>
            </a:r>
          </a:p>
          <a:p>
            <a:pPr>
              <a:lnSpc>
                <a:spcPct val="105000"/>
              </a:lnSpc>
              <a:spcBef>
                <a:spcPts val="0"/>
              </a:spcBef>
              <a:spcAft>
                <a:spcPts val="900"/>
              </a:spcAft>
              <a:buNone/>
            </a:pPr>
            <a:r>
              <a:rPr sz="1300">
                <a:solidFill>
                  <a:srgbClr val="D97706"/>
                </a:solidFill>
                <a:latin typeface="Arial"/>
              </a:rPr>
              <a:t>–  </a:t>
            </a:r>
            <a:r>
              <a:rPr sz="1300">
                <a:solidFill>
                  <a:srgbClr val="0F172A"/>
                </a:solidFill>
                <a:latin typeface="Arial"/>
              </a:rPr>
              <a:t>Short post-EV window; the transition is still unfolding.</a:t>
            </a:r>
          </a:p>
          <a:p>
            <a:pPr>
              <a:lnSpc>
                <a:spcPct val="105000"/>
              </a:lnSpc>
              <a:spcBef>
                <a:spcPts val="0"/>
              </a:spcBef>
              <a:spcAft>
                <a:spcPts val="900"/>
              </a:spcAft>
              <a:buNone/>
            </a:pPr>
            <a:r>
              <a:rPr sz="1300">
                <a:solidFill>
                  <a:srgbClr val="D97706"/>
                </a:solidFill>
                <a:latin typeface="Arial"/>
              </a:rPr>
              <a:t>–  </a:t>
            </a:r>
            <a:r>
              <a:rPr sz="1300">
                <a:solidFill>
                  <a:srgbClr val="0F172A"/>
                </a:solidFill>
                <a:latin typeface="Arial"/>
              </a:rPr>
              <a:t>Reliance on reported figures; currency conventions (RMB vs. USD) differ across reports.</a:t>
            </a:r>
          </a:p>
          <a:p>
            <a:pPr>
              <a:lnSpc>
                <a:spcPct val="105000"/>
              </a:lnSpc>
              <a:spcBef>
                <a:spcPts val="0"/>
              </a:spcBef>
              <a:spcAft>
                <a:spcPts val="900"/>
              </a:spcAft>
              <a:buNone/>
            </a:pPr>
            <a:r>
              <a:rPr sz="1300">
                <a:solidFill>
                  <a:srgbClr val="D97706"/>
                </a:solidFill>
                <a:latin typeface="Arial"/>
              </a:rPr>
              <a:t>–  </a:t>
            </a:r>
            <a:r>
              <a:rPr sz="1300">
                <a:solidFill>
                  <a:srgbClr val="0F172A"/>
                </a:solidFill>
                <a:latin typeface="Arial"/>
              </a:rPr>
              <a:t>NIO's capital-market model is noted but outside this team's scope.</a:t>
            </a:r>
          </a:p>
        </p:txBody>
      </p:sp>
      <p:sp>
        <p:nvSpPr>
          <p:cNvPr id="11" name="Rectangle 10"/>
          <p:cNvSpPr/>
          <p:nvPr/>
        </p:nvSpPr>
        <p:spPr>
          <a:xfrm>
            <a:off x="6172200" y="1783080"/>
            <a:ext cx="5440680" cy="3520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54406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965960"/>
            <a:ext cx="5074920" cy="36576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2563EB"/>
                </a:solidFill>
                <a:latin typeface="Arial"/>
              </a:rPr>
              <a:t>Future research</a:t>
            </a:r>
          </a:p>
        </p:txBody>
      </p:sp>
      <p:sp>
        <p:nvSpPr>
          <p:cNvPr id="14" name="TextBox 13"/>
          <p:cNvSpPr txBox="1"/>
          <p:nvPr/>
        </p:nvSpPr>
        <p:spPr>
          <a:xfrm>
            <a:off x="6355080" y="2423160"/>
            <a:ext cx="5074920" cy="2743200"/>
          </a:xfrm>
          <a:prstGeom prst="rect">
            <a:avLst/>
          </a:prstGeom>
          <a:noFill/>
        </p:spPr>
        <p:txBody>
          <a:bodyPr wrap="square" lIns="0" rIns="0" tIns="0" bIns="0">
            <a:spAutoFit/>
          </a:bodyPr>
          <a:lstStyle/>
          <a:p>
            <a:pPr>
              <a:lnSpc>
                <a:spcPct val="105000"/>
              </a:lnSpc>
              <a:spcBef>
                <a:spcPts val="0"/>
              </a:spcBef>
              <a:spcAft>
                <a:spcPts val="900"/>
              </a:spcAft>
              <a:buNone/>
            </a:pPr>
            <a:r>
              <a:rPr sz="1300">
                <a:solidFill>
                  <a:srgbClr val="2563EB"/>
                </a:solidFill>
                <a:latin typeface="Arial"/>
              </a:rPr>
              <a:t>–  </a:t>
            </a:r>
            <a:r>
              <a:rPr sz="1300">
                <a:solidFill>
                  <a:srgbClr val="0F172A"/>
                </a:solidFill>
                <a:latin typeface="Arial"/>
              </a:rPr>
              <a:t>Add a fourth archetype (NIO, capital-market model) for a fuller typology.</a:t>
            </a:r>
          </a:p>
          <a:p>
            <a:pPr>
              <a:lnSpc>
                <a:spcPct val="105000"/>
              </a:lnSpc>
              <a:spcBef>
                <a:spcPts val="0"/>
              </a:spcBef>
              <a:spcAft>
                <a:spcPts val="900"/>
              </a:spcAft>
              <a:buNone/>
            </a:pPr>
            <a:r>
              <a:rPr sz="1300">
                <a:solidFill>
                  <a:srgbClr val="2563EB"/>
                </a:solidFill>
                <a:latin typeface="Arial"/>
              </a:rPr>
              <a:t>–  </a:t>
            </a:r>
            <a:r>
              <a:rPr sz="1300">
                <a:solidFill>
                  <a:srgbClr val="0F172A"/>
                </a:solidFill>
                <a:latin typeface="Arial"/>
              </a:rPr>
              <a:t>Track outcomes over a longer EV cycle to test durability of the ranking.</a:t>
            </a:r>
          </a:p>
          <a:p>
            <a:pPr>
              <a:lnSpc>
                <a:spcPct val="105000"/>
              </a:lnSpc>
              <a:spcBef>
                <a:spcPts val="0"/>
              </a:spcBef>
              <a:spcAft>
                <a:spcPts val="900"/>
              </a:spcAft>
              <a:buNone/>
            </a:pPr>
            <a:r>
              <a:rPr sz="1300">
                <a:solidFill>
                  <a:srgbClr val="2563EB"/>
                </a:solidFill>
                <a:latin typeface="Arial"/>
              </a:rPr>
              <a:t>–  </a:t>
            </a:r>
            <a:r>
              <a:rPr sz="1300">
                <a:solidFill>
                  <a:srgbClr val="0F172A"/>
                </a:solidFill>
                <a:latin typeface="Arial"/>
              </a:rPr>
              <a:t>Build a formal governance index and test it across more emerging markets.</a:t>
            </a:r>
          </a:p>
          <a:p>
            <a:pPr>
              <a:lnSpc>
                <a:spcPct val="105000"/>
              </a:lnSpc>
              <a:spcBef>
                <a:spcPts val="0"/>
              </a:spcBef>
              <a:spcAft>
                <a:spcPts val="900"/>
              </a:spcAft>
              <a:buNone/>
            </a:pPr>
            <a:r>
              <a:rPr sz="1300">
                <a:solidFill>
                  <a:srgbClr val="2563EB"/>
                </a:solidFill>
                <a:latin typeface="Arial"/>
              </a:rPr>
              <a:t>–  </a:t>
            </a:r>
            <a:r>
              <a:rPr sz="1300">
                <a:solidFill>
                  <a:srgbClr val="0F172A"/>
                </a:solidFill>
                <a:latin typeface="Arial"/>
              </a:rPr>
              <a:t>Examine how EU tariffs reshape each model's export strategy.</a:t>
            </a:r>
          </a:p>
        </p:txBody>
      </p:sp>
      <p:sp>
        <p:nvSpPr>
          <p:cNvPr id="15" name="TextBox 14"/>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6" name="TextBox 15"/>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AI ANNEX · ARCHITECTURE &amp; WORKFLOW</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AI as research infrastructure — a layered agent system, not a chatbot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45920"/>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64748B"/>
                </a:solidFill>
                <a:latin typeface="Arial"/>
              </a:rPr>
              <a:t>Platform: Claude Code (Anthropic) — claude-sonnet-4-6 (primary) · claude-opus-4 (hard analysis)</a:t>
            </a:r>
          </a:p>
        </p:txBody>
      </p:sp>
      <p:sp>
        <p:nvSpPr>
          <p:cNvPr id="8" name="TextBox 7"/>
          <p:cNvSpPr txBox="1"/>
          <p:nvPr/>
        </p:nvSpPr>
        <p:spPr>
          <a:xfrm>
            <a:off x="548640" y="199339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64748B"/>
                </a:solidFill>
                <a:latin typeface="Arial"/>
              </a:rPr>
              <a:t>5 agents: wiki-ingest · wiki-query · wiki-lint · verify-claims · find-references</a:t>
            </a:r>
          </a:p>
        </p:txBody>
      </p:sp>
      <p:sp>
        <p:nvSpPr>
          <p:cNvPr id="9" name="Rectangle 8"/>
          <p:cNvSpPr/>
          <p:nvPr/>
        </p:nvSpPr>
        <p:spPr>
          <a:xfrm>
            <a:off x="548640" y="2514600"/>
            <a:ext cx="594360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14600"/>
            <a:ext cx="5943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697480"/>
            <a:ext cx="5486400" cy="365760"/>
          </a:xfrm>
          <a:prstGeom prst="rect">
            <a:avLst/>
          </a:prstGeom>
          <a:noFill/>
        </p:spPr>
        <p:txBody>
          <a:bodyPr wrap="square" anchor="t" lIns="0" rIns="0" tIns="0" bIns="0">
            <a:spAutoFit/>
          </a:bodyPr>
          <a:lstStyle/>
          <a:p>
            <a:pPr algn="l">
              <a:lnSpc>
                <a:spcPct val="100000"/>
              </a:lnSpc>
              <a:spcBef>
                <a:spcPts val="0"/>
              </a:spcBef>
              <a:spcAft>
                <a:spcPts val="200"/>
              </a:spcAft>
            </a:pPr>
            <a:r>
              <a:rPr sz="1700" b="1" i="0">
                <a:solidFill>
                  <a:srgbClr val="0F172A"/>
                </a:solidFill>
                <a:latin typeface="Arial"/>
              </a:rPr>
              <a:t>One shared git repository</a:t>
            </a:r>
          </a:p>
        </p:txBody>
      </p:sp>
      <p:sp>
        <p:nvSpPr>
          <p:cNvPr id="12" name="TextBox 11"/>
          <p:cNvSpPr txBox="1"/>
          <p:nvPr/>
        </p:nvSpPr>
        <p:spPr>
          <a:xfrm>
            <a:off x="914400" y="3200400"/>
            <a:ext cx="5303520" cy="365760"/>
          </a:xfrm>
          <a:prstGeom prst="rect">
            <a:avLst/>
          </a:prstGeom>
          <a:noFill/>
        </p:spPr>
        <p:txBody>
          <a:bodyPr wrap="square" anchor="t" lIns="0" rIns="0" tIns="0" bIns="0">
            <a:spAutoFit/>
          </a:bodyPr>
          <a:lstStyle/>
          <a:p>
            <a:pPr algn="l">
              <a:lnSpc>
                <a:spcPct val="100000"/>
              </a:lnSpc>
              <a:spcBef>
                <a:spcPts val="0"/>
              </a:spcBef>
              <a:spcAft>
                <a:spcPts val="200"/>
              </a:spcAft>
            </a:pPr>
            <a:r>
              <a:rPr sz="1500" b="1" i="0">
                <a:solidFill>
                  <a:srgbClr val="0F172A"/>
                </a:solidFill>
                <a:latin typeface="Consolas"/>
              </a:rPr>
              <a:t>research/wiki/</a:t>
            </a:r>
          </a:p>
        </p:txBody>
      </p:sp>
      <p:sp>
        <p:nvSpPr>
          <p:cNvPr id="13" name="TextBox 12"/>
          <p:cNvSpPr txBox="1"/>
          <p:nvPr/>
        </p:nvSpPr>
        <p:spPr>
          <a:xfrm>
            <a:off x="1188720" y="3621024"/>
            <a:ext cx="5303520" cy="365760"/>
          </a:xfrm>
          <a:prstGeom prst="rect">
            <a:avLst/>
          </a:prstGeom>
          <a:noFill/>
        </p:spPr>
        <p:txBody>
          <a:bodyPr wrap="square" anchor="t" lIns="0" rIns="0" tIns="0" bIns="0">
            <a:spAutoFit/>
          </a:bodyPr>
          <a:lstStyle/>
          <a:p>
            <a:pPr algn="l">
              <a:lnSpc>
                <a:spcPct val="100000"/>
              </a:lnSpc>
              <a:spcBef>
                <a:spcPts val="0"/>
              </a:spcBef>
              <a:spcAft>
                <a:spcPts val="200"/>
              </a:spcAft>
            </a:pPr>
            <a:r>
              <a:rPr sz="1500" b="0" i="0">
                <a:solidFill>
                  <a:srgbClr val="DC2626"/>
                </a:solidFill>
                <a:latin typeface="Consolas"/>
              </a:rPr>
              <a:t>├─ saic-motor/</a:t>
            </a:r>
          </a:p>
        </p:txBody>
      </p:sp>
      <p:sp>
        <p:nvSpPr>
          <p:cNvPr id="14" name="TextBox 13"/>
          <p:cNvSpPr txBox="1"/>
          <p:nvPr/>
        </p:nvSpPr>
        <p:spPr>
          <a:xfrm>
            <a:off x="1188720" y="4041648"/>
            <a:ext cx="5303520" cy="365760"/>
          </a:xfrm>
          <a:prstGeom prst="rect">
            <a:avLst/>
          </a:prstGeom>
          <a:noFill/>
        </p:spPr>
        <p:txBody>
          <a:bodyPr wrap="square" anchor="t" lIns="0" rIns="0" tIns="0" bIns="0">
            <a:spAutoFit/>
          </a:bodyPr>
          <a:lstStyle/>
          <a:p>
            <a:pPr algn="l">
              <a:lnSpc>
                <a:spcPct val="100000"/>
              </a:lnSpc>
              <a:spcBef>
                <a:spcPts val="0"/>
              </a:spcBef>
              <a:spcAft>
                <a:spcPts val="200"/>
              </a:spcAft>
            </a:pPr>
            <a:r>
              <a:rPr sz="1500" b="0" i="0">
                <a:solidFill>
                  <a:srgbClr val="2563EB"/>
                </a:solidFill>
                <a:latin typeface="Consolas"/>
              </a:rPr>
              <a:t>├─ byd/</a:t>
            </a:r>
          </a:p>
        </p:txBody>
      </p:sp>
      <p:sp>
        <p:nvSpPr>
          <p:cNvPr id="15" name="TextBox 14"/>
          <p:cNvSpPr txBox="1"/>
          <p:nvPr/>
        </p:nvSpPr>
        <p:spPr>
          <a:xfrm>
            <a:off x="1188720" y="4462272"/>
            <a:ext cx="5303520" cy="365760"/>
          </a:xfrm>
          <a:prstGeom prst="rect">
            <a:avLst/>
          </a:prstGeom>
          <a:noFill/>
        </p:spPr>
        <p:txBody>
          <a:bodyPr wrap="square" anchor="t" lIns="0" rIns="0" tIns="0" bIns="0">
            <a:spAutoFit/>
          </a:bodyPr>
          <a:lstStyle/>
          <a:p>
            <a:pPr algn="l">
              <a:lnSpc>
                <a:spcPct val="100000"/>
              </a:lnSpc>
              <a:spcBef>
                <a:spcPts val="0"/>
              </a:spcBef>
              <a:spcAft>
                <a:spcPts val="200"/>
              </a:spcAft>
            </a:pPr>
            <a:r>
              <a:rPr sz="1500" b="0" i="0">
                <a:solidFill>
                  <a:srgbClr val="06B6D4"/>
                </a:solidFill>
                <a:latin typeface="Consolas"/>
              </a:rPr>
              <a:t>├─ geely/</a:t>
            </a:r>
          </a:p>
        </p:txBody>
      </p:sp>
      <p:sp>
        <p:nvSpPr>
          <p:cNvPr id="16" name="TextBox 15"/>
          <p:cNvSpPr txBox="1"/>
          <p:nvPr/>
        </p:nvSpPr>
        <p:spPr>
          <a:xfrm>
            <a:off x="1188720" y="4882896"/>
            <a:ext cx="5303520" cy="365760"/>
          </a:xfrm>
          <a:prstGeom prst="rect">
            <a:avLst/>
          </a:prstGeom>
          <a:noFill/>
        </p:spPr>
        <p:txBody>
          <a:bodyPr wrap="square" anchor="t" lIns="0" rIns="0" tIns="0" bIns="0">
            <a:spAutoFit/>
          </a:bodyPr>
          <a:lstStyle/>
          <a:p>
            <a:pPr algn="l">
              <a:lnSpc>
                <a:spcPct val="100000"/>
              </a:lnSpc>
              <a:spcBef>
                <a:spcPts val="0"/>
              </a:spcBef>
              <a:spcAft>
                <a:spcPts val="200"/>
              </a:spcAft>
            </a:pPr>
            <a:r>
              <a:rPr sz="1500" b="0" i="0">
                <a:solidFill>
                  <a:srgbClr val="64748B"/>
                </a:solidFill>
                <a:latin typeface="Consolas"/>
              </a:rPr>
              <a:t>└─ shared/   — EU regulation · IEA data</a:t>
            </a:r>
          </a:p>
        </p:txBody>
      </p:sp>
      <p:sp>
        <p:nvSpPr>
          <p:cNvPr id="17" name="TextBox 16"/>
          <p:cNvSpPr txBox="1"/>
          <p:nvPr/>
        </p:nvSpPr>
        <p:spPr>
          <a:xfrm>
            <a:off x="6858000" y="2697480"/>
            <a:ext cx="4937760" cy="365760"/>
          </a:xfrm>
          <a:prstGeom prst="rect">
            <a:avLst/>
          </a:prstGeom>
          <a:noFill/>
        </p:spPr>
        <p:txBody>
          <a:bodyPr wrap="square" anchor="t" lIns="0" rIns="0" tIns="0" bIns="0">
            <a:spAutoFit/>
          </a:bodyPr>
          <a:lstStyle/>
          <a:p>
            <a:pPr algn="l">
              <a:lnSpc>
                <a:spcPct val="100000"/>
              </a:lnSpc>
              <a:spcBef>
                <a:spcPts val="0"/>
              </a:spcBef>
              <a:spcAft>
                <a:spcPts val="200"/>
              </a:spcAft>
            </a:pPr>
            <a:r>
              <a:rPr sz="1700" b="1" i="0">
                <a:solidFill>
                  <a:srgbClr val="2563EB"/>
                </a:solidFill>
                <a:latin typeface="Arial"/>
              </a:rPr>
              <a:t>Why it mattered</a:t>
            </a:r>
          </a:p>
        </p:txBody>
      </p:sp>
      <p:sp>
        <p:nvSpPr>
          <p:cNvPr id="18" name="TextBox 17"/>
          <p:cNvSpPr txBox="1"/>
          <p:nvPr/>
        </p:nvSpPr>
        <p:spPr>
          <a:xfrm>
            <a:off x="6858000" y="3200400"/>
            <a:ext cx="4937760" cy="2560320"/>
          </a:xfrm>
          <a:prstGeom prst="rect">
            <a:avLst/>
          </a:prstGeom>
          <a:noFill/>
        </p:spPr>
        <p:txBody>
          <a:bodyPr wrap="square" lIns="0" rIns="0" tIns="0" bIns="0">
            <a:spAutoFit/>
          </a:bodyPr>
          <a:lstStyle/>
          <a:p>
            <a:pPr>
              <a:lnSpc>
                <a:spcPct val="105000"/>
              </a:lnSpc>
              <a:spcBef>
                <a:spcPts val="0"/>
              </a:spcBef>
              <a:spcAft>
                <a:spcPts val="1000"/>
              </a:spcAft>
              <a:buNone/>
            </a:pPr>
            <a:r>
              <a:rPr sz="1400">
                <a:solidFill>
                  <a:srgbClr val="2563EB"/>
                </a:solidFill>
                <a:latin typeface="Arial"/>
              </a:rPr>
              <a:t>–  </a:t>
            </a:r>
            <a:r>
              <a:rPr sz="1400">
                <a:solidFill>
                  <a:srgbClr val="0F172A"/>
                </a:solidFill>
                <a:latin typeface="Arial"/>
              </a:rPr>
              <a:t>One folder per case + a shared layer for common data</a:t>
            </a:r>
          </a:p>
          <a:p>
            <a:pPr>
              <a:lnSpc>
                <a:spcPct val="105000"/>
              </a:lnSpc>
              <a:spcBef>
                <a:spcPts val="0"/>
              </a:spcBef>
              <a:spcAft>
                <a:spcPts val="1000"/>
              </a:spcAft>
              <a:buNone/>
            </a:pPr>
            <a:r>
              <a:rPr sz="1400">
                <a:solidFill>
                  <a:srgbClr val="2563EB"/>
                </a:solidFill>
                <a:latin typeface="Arial"/>
              </a:rPr>
              <a:t>–  </a:t>
            </a:r>
            <a:r>
              <a:rPr sz="1400">
                <a:solidFill>
                  <a:srgbClr val="0F172A"/>
                </a:solidFill>
                <a:latin typeface="Arial"/>
              </a:rPr>
              <a:t>Rule: git pull before each session, push after</a:t>
            </a:r>
          </a:p>
          <a:p>
            <a:pPr>
              <a:lnSpc>
                <a:spcPct val="105000"/>
              </a:lnSpc>
              <a:spcBef>
                <a:spcPts val="0"/>
              </a:spcBef>
              <a:spcAft>
                <a:spcPts val="1000"/>
              </a:spcAft>
              <a:buNone/>
            </a:pPr>
            <a:r>
              <a:rPr sz="1400">
                <a:solidFill>
                  <a:srgbClr val="2563EB"/>
                </a:solidFill>
                <a:latin typeface="Arial"/>
              </a:rPr>
              <a:t>–  </a:t>
            </a:r>
            <a:r>
              <a:rPr sz="1400">
                <a:solidFill>
                  <a:srgbClr val="0F172A"/>
                </a:solidFill>
                <a:latin typeface="Arial"/>
              </a:rPr>
              <a:t>The tool read all three case wikis at once</a:t>
            </a:r>
          </a:p>
          <a:p>
            <a:pPr>
              <a:lnSpc>
                <a:spcPct val="105000"/>
              </a:lnSpc>
              <a:spcBef>
                <a:spcPts val="0"/>
              </a:spcBef>
              <a:spcAft>
                <a:spcPts val="1000"/>
              </a:spcAft>
              <a:buNone/>
            </a:pPr>
            <a:r>
              <a:rPr sz="1400">
                <a:solidFill>
                  <a:srgbClr val="2563EB"/>
                </a:solidFill>
                <a:latin typeface="Arial"/>
              </a:rPr>
              <a:t>–  </a:t>
            </a:r>
            <a:r>
              <a:rPr sz="1400">
                <a:solidFill>
                  <a:srgbClr val="0F172A"/>
                </a:solidFill>
                <a:latin typeface="Arial"/>
              </a:rPr>
              <a:t>Direct cross-case comparison — no manual hand-offs</a:t>
            </a:r>
          </a:p>
        </p:txBody>
      </p:sp>
      <p:sp>
        <p:nvSpPr>
          <p:cNvPr id="19" name="TextBox 18"/>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0" name="TextBox 19"/>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AI ANNEX · VALUE &amp; QUALITY CONTROL</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Where AI added the most value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45920"/>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300" b="1" i="0">
                <a:solidFill>
                  <a:srgbClr val="2563EB"/>
                </a:solidFill>
                <a:latin typeface="Arial"/>
              </a:rPr>
              <a:t>WHAT WORKED IN PRACTICE</a:t>
            </a:r>
          </a:p>
        </p:txBody>
      </p:sp>
      <p:sp>
        <p:nvSpPr>
          <p:cNvPr id="8" name="TextBox 7"/>
          <p:cNvSpPr txBox="1"/>
          <p:nvPr/>
        </p:nvSpPr>
        <p:spPr>
          <a:xfrm>
            <a:off x="548640" y="1965960"/>
            <a:ext cx="11064240" cy="1828800"/>
          </a:xfrm>
          <a:prstGeom prst="rect">
            <a:avLst/>
          </a:prstGeom>
          <a:noFill/>
        </p:spPr>
        <p:txBody>
          <a:bodyPr wrap="square" lIns="0" rIns="0" tIns="0" bIns="0">
            <a:spAutoFit/>
          </a:bodyPr>
          <a:lstStyle/>
          <a:p>
            <a:pPr>
              <a:lnSpc>
                <a:spcPct val="105000"/>
              </a:lnSpc>
              <a:spcBef>
                <a:spcPts val="0"/>
              </a:spcBef>
              <a:spcAft>
                <a:spcPts val="900"/>
              </a:spcAft>
              <a:buNone/>
            </a:pPr>
            <a:r>
              <a:rPr sz="1400">
                <a:solidFill>
                  <a:srgbClr val="2563EB"/>
                </a:solidFill>
                <a:latin typeface="Arial"/>
              </a:rPr>
              <a:t>–  </a:t>
            </a:r>
            <a:r>
              <a:rPr sz="1400">
                <a:solidFill>
                  <a:srgbClr val="0F172A"/>
                </a:solidFill>
                <a:latin typeface="Arial"/>
              </a:rPr>
              <a:t>Compressed research time: 30+ papers and reports ingested, indexed and made searchable.</a:t>
            </a:r>
          </a:p>
          <a:p>
            <a:pPr>
              <a:lnSpc>
                <a:spcPct val="105000"/>
              </a:lnSpc>
              <a:spcBef>
                <a:spcPts val="0"/>
              </a:spcBef>
              <a:spcAft>
                <a:spcPts val="900"/>
              </a:spcAft>
              <a:buNone/>
            </a:pPr>
            <a:r>
              <a:rPr sz="1400">
                <a:solidFill>
                  <a:srgbClr val="2563EB"/>
                </a:solidFill>
                <a:latin typeface="Arial"/>
              </a:rPr>
              <a:t>–  </a:t>
            </a:r>
            <a:r>
              <a:rPr sz="1400">
                <a:solidFill>
                  <a:srgbClr val="0F172A"/>
                </a:solidFill>
                <a:latin typeface="Arial"/>
              </a:rPr>
              <a:t>Source discipline: every source rated by quality (Q1–Q5) × relevance (R1–R4), arguments on Q1/Q2 only.</a:t>
            </a:r>
          </a:p>
          <a:p>
            <a:pPr>
              <a:lnSpc>
                <a:spcPct val="105000"/>
              </a:lnSpc>
              <a:spcBef>
                <a:spcPts val="0"/>
              </a:spcBef>
              <a:spcAft>
                <a:spcPts val="900"/>
              </a:spcAft>
              <a:buNone/>
            </a:pPr>
            <a:r>
              <a:rPr sz="1400">
                <a:solidFill>
                  <a:srgbClr val="2563EB"/>
                </a:solidFill>
                <a:latin typeface="Arial"/>
              </a:rPr>
              <a:t>–  </a:t>
            </a:r>
            <a:r>
              <a:rPr sz="1400">
                <a:solidFill>
                  <a:srgbClr val="0F172A"/>
                </a:solidFill>
                <a:latin typeface="Arial"/>
              </a:rPr>
              <a:t>Sharpest prompt: “review this as a Dozent looking for overclaims, logical gaps and APA errors.”</a:t>
            </a:r>
          </a:p>
          <a:p>
            <a:pPr>
              <a:lnSpc>
                <a:spcPct val="105000"/>
              </a:lnSpc>
              <a:spcBef>
                <a:spcPts val="0"/>
              </a:spcBef>
              <a:spcAft>
                <a:spcPts val="900"/>
              </a:spcAft>
              <a:buNone/>
            </a:pPr>
            <a:r>
              <a:rPr sz="1400">
                <a:solidFill>
                  <a:srgbClr val="2563EB"/>
                </a:solidFill>
                <a:latin typeface="Arial"/>
              </a:rPr>
              <a:t>–  </a:t>
            </a:r>
            <a:r>
              <a:rPr sz="1400">
                <a:solidFill>
                  <a:srgbClr val="0F172A"/>
                </a:solidFill>
                <a:latin typeface="Arial"/>
              </a:rPr>
              <a:t>Fact-checking: isolate one claim and make it quote the exact source passage before use.</a:t>
            </a:r>
          </a:p>
        </p:txBody>
      </p:sp>
      <p:sp>
        <p:nvSpPr>
          <p:cNvPr id="9" name="TextBox 8"/>
          <p:cNvSpPr txBox="1"/>
          <p:nvPr/>
        </p:nvSpPr>
        <p:spPr>
          <a:xfrm>
            <a:off x="548640" y="4160520"/>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16A34A"/>
                </a:solidFill>
                <a:latin typeface="Arial"/>
              </a:rPr>
              <a:t>AND IT CAUGHT THREE DATA ERRORS BEFORE SUBMISSION</a:t>
            </a:r>
          </a:p>
        </p:txBody>
      </p:sp>
      <p:sp>
        <p:nvSpPr>
          <p:cNvPr id="10" name="Rectangle 9"/>
          <p:cNvSpPr/>
          <p:nvPr/>
        </p:nvSpPr>
        <p:spPr>
          <a:xfrm>
            <a:off x="548640" y="4480560"/>
            <a:ext cx="3593592" cy="10515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480560"/>
            <a:ext cx="82296" cy="105156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590288"/>
            <a:ext cx="3291840" cy="320040"/>
          </a:xfrm>
          <a:prstGeom prst="rect">
            <a:avLst/>
          </a:prstGeom>
          <a:noFill/>
        </p:spPr>
        <p:txBody>
          <a:bodyPr wrap="square" anchor="t" lIns="0" rIns="0" tIns="0" bIns="0">
            <a:spAutoFit/>
          </a:bodyPr>
          <a:lstStyle/>
          <a:p>
            <a:pPr algn="l">
              <a:lnSpc>
                <a:spcPct val="100000"/>
              </a:lnSpc>
              <a:spcBef>
                <a:spcPts val="0"/>
              </a:spcBef>
              <a:spcAft>
                <a:spcPts val="200"/>
              </a:spcAft>
            </a:pPr>
            <a:r>
              <a:rPr sz="1300" b="1" i="0">
                <a:solidFill>
                  <a:srgbClr val="16A34A"/>
                </a:solidFill>
                <a:latin typeface="Arial"/>
              </a:rPr>
              <a:t>1 · EU tariff</a:t>
            </a:r>
          </a:p>
        </p:txBody>
      </p:sp>
      <p:sp>
        <p:nvSpPr>
          <p:cNvPr id="13" name="TextBox 12"/>
          <p:cNvSpPr txBox="1"/>
          <p:nvPr/>
        </p:nvSpPr>
        <p:spPr>
          <a:xfrm>
            <a:off x="713232" y="4937760"/>
            <a:ext cx="3291840" cy="548640"/>
          </a:xfrm>
          <a:prstGeom prst="rect">
            <a:avLst/>
          </a:prstGeom>
          <a:noFill/>
        </p:spPr>
        <p:txBody>
          <a:bodyPr wrap="square" anchor="t" lIns="0" rIns="0" tIns="0" bIns="0">
            <a:spAutoFit/>
          </a:bodyPr>
          <a:lstStyle/>
          <a:p>
            <a:pPr algn="l">
              <a:lnSpc>
                <a:spcPct val="100000"/>
              </a:lnSpc>
              <a:spcBef>
                <a:spcPts val="0"/>
              </a:spcBef>
              <a:spcAft>
                <a:spcPts val="200"/>
              </a:spcAft>
            </a:pPr>
            <a:r>
              <a:rPr sz="1200" b="0" i="0">
                <a:solidFill>
                  <a:srgbClr val="0F172A"/>
                </a:solidFill>
                <a:latin typeface="Arial"/>
              </a:rPr>
              <a:t>Provisional 36.3% → final 35.3% (SAIC).</a:t>
            </a:r>
          </a:p>
        </p:txBody>
      </p:sp>
      <p:sp>
        <p:nvSpPr>
          <p:cNvPr id="14" name="Rectangle 13"/>
          <p:cNvSpPr/>
          <p:nvPr/>
        </p:nvSpPr>
        <p:spPr>
          <a:xfrm>
            <a:off x="4279392" y="4480560"/>
            <a:ext cx="3593592" cy="10515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9392" y="4480560"/>
            <a:ext cx="82296" cy="105156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3984" y="4590288"/>
            <a:ext cx="3291840" cy="320040"/>
          </a:xfrm>
          <a:prstGeom prst="rect">
            <a:avLst/>
          </a:prstGeom>
          <a:noFill/>
        </p:spPr>
        <p:txBody>
          <a:bodyPr wrap="square" anchor="t" lIns="0" rIns="0" tIns="0" bIns="0">
            <a:spAutoFit/>
          </a:bodyPr>
          <a:lstStyle/>
          <a:p>
            <a:pPr algn="l">
              <a:lnSpc>
                <a:spcPct val="100000"/>
              </a:lnSpc>
              <a:spcBef>
                <a:spcPts val="0"/>
              </a:spcBef>
              <a:spcAft>
                <a:spcPts val="200"/>
              </a:spcAft>
            </a:pPr>
            <a:r>
              <a:rPr sz="1300" b="1" i="0">
                <a:solidFill>
                  <a:srgbClr val="16A34A"/>
                </a:solidFill>
                <a:latin typeface="Arial"/>
              </a:rPr>
              <a:t>2 · Currency unit</a:t>
            </a:r>
          </a:p>
        </p:txBody>
      </p:sp>
      <p:sp>
        <p:nvSpPr>
          <p:cNvPr id="17" name="TextBox 16"/>
          <p:cNvSpPr txBox="1"/>
          <p:nvPr/>
        </p:nvSpPr>
        <p:spPr>
          <a:xfrm>
            <a:off x="4443984" y="4937760"/>
            <a:ext cx="3291840" cy="548640"/>
          </a:xfrm>
          <a:prstGeom prst="rect">
            <a:avLst/>
          </a:prstGeom>
          <a:noFill/>
        </p:spPr>
        <p:txBody>
          <a:bodyPr wrap="square" anchor="t" lIns="0" rIns="0" tIns="0" bIns="0">
            <a:spAutoFit/>
          </a:bodyPr>
          <a:lstStyle/>
          <a:p>
            <a:pPr algn="l">
              <a:lnSpc>
                <a:spcPct val="100000"/>
              </a:lnSpc>
              <a:spcBef>
                <a:spcPts val="0"/>
              </a:spcBef>
              <a:spcAft>
                <a:spcPts val="200"/>
              </a:spcAft>
            </a:pPr>
            <a:r>
              <a:rPr sz="1200" b="0" i="0">
                <a:solidFill>
                  <a:srgbClr val="0F172A"/>
                </a:solidFill>
                <a:latin typeface="Arial"/>
              </a:rPr>
              <a:t>A net-profit figure inflated 10× in a source.</a:t>
            </a:r>
          </a:p>
        </p:txBody>
      </p:sp>
      <p:sp>
        <p:nvSpPr>
          <p:cNvPr id="18" name="Rectangle 17"/>
          <p:cNvSpPr/>
          <p:nvPr/>
        </p:nvSpPr>
        <p:spPr>
          <a:xfrm>
            <a:off x="8010144" y="4480560"/>
            <a:ext cx="3593592" cy="10515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4480560"/>
            <a:ext cx="82296" cy="105156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4590288"/>
            <a:ext cx="3291840" cy="320040"/>
          </a:xfrm>
          <a:prstGeom prst="rect">
            <a:avLst/>
          </a:prstGeom>
          <a:noFill/>
        </p:spPr>
        <p:txBody>
          <a:bodyPr wrap="square" anchor="t" lIns="0" rIns="0" tIns="0" bIns="0">
            <a:spAutoFit/>
          </a:bodyPr>
          <a:lstStyle/>
          <a:p>
            <a:pPr algn="l">
              <a:lnSpc>
                <a:spcPct val="100000"/>
              </a:lnSpc>
              <a:spcBef>
                <a:spcPts val="0"/>
              </a:spcBef>
              <a:spcAft>
                <a:spcPts val="200"/>
              </a:spcAft>
            </a:pPr>
            <a:r>
              <a:rPr sz="1300" b="1" i="0">
                <a:solidFill>
                  <a:srgbClr val="16A34A"/>
                </a:solidFill>
                <a:latin typeface="Arial"/>
              </a:rPr>
              <a:t>3 · Share count</a:t>
            </a:r>
          </a:p>
        </p:txBody>
      </p:sp>
      <p:sp>
        <p:nvSpPr>
          <p:cNvPr id="21" name="TextBox 20"/>
          <p:cNvSpPr txBox="1"/>
          <p:nvPr/>
        </p:nvSpPr>
        <p:spPr>
          <a:xfrm>
            <a:off x="8174736" y="4937760"/>
            <a:ext cx="3291840" cy="548640"/>
          </a:xfrm>
          <a:prstGeom prst="rect">
            <a:avLst/>
          </a:prstGeom>
          <a:noFill/>
        </p:spPr>
        <p:txBody>
          <a:bodyPr wrap="square" anchor="t" lIns="0" rIns="0" tIns="0" bIns="0">
            <a:spAutoFit/>
          </a:bodyPr>
          <a:lstStyle/>
          <a:p>
            <a:pPr algn="l">
              <a:lnSpc>
                <a:spcPct val="100000"/>
              </a:lnSpc>
              <a:spcBef>
                <a:spcPts val="0"/>
              </a:spcBef>
              <a:spcAft>
                <a:spcPts val="200"/>
              </a:spcAft>
            </a:pPr>
            <a:r>
              <a:rPr sz="1200" b="0" i="0">
                <a:solidFill>
                  <a:srgbClr val="0F172A"/>
                </a:solidFill>
                <a:latin typeface="Arial"/>
              </a:rPr>
              <a:t>A BYD EPS built on the wrong share count.</a:t>
            </a:r>
          </a:p>
        </p:txBody>
      </p:sp>
      <p:sp>
        <p:nvSpPr>
          <p:cNvPr id="22" name="TextBox 21"/>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0" i="1">
                <a:solidFill>
                  <a:srgbClr val="64748B"/>
                </a:solidFill>
                <a:latin typeface="Arial"/>
              </a:rPr>
              <a:t>All three corrections traced back to the PwC- / Ernst &amp; Young-audited annual reports.</a:t>
            </a:r>
          </a:p>
        </p:txBody>
      </p:sp>
      <p:sp>
        <p:nvSpPr>
          <p:cNvPr id="23" name="TextBox 22"/>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4" name="TextBox 23"/>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AI ANNEX · LIMITS, COST &amp; JUDGMENT</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Useful but bounded — and the thinking stayed human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544068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5440680"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65960"/>
            <a:ext cx="5074920" cy="36576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D97706"/>
                </a:solidFill>
                <a:latin typeface="Arial"/>
              </a:rPr>
              <a:t>Real limitations</a:t>
            </a:r>
          </a:p>
        </p:txBody>
      </p:sp>
      <p:sp>
        <p:nvSpPr>
          <p:cNvPr id="10" name="TextBox 9"/>
          <p:cNvSpPr txBox="1"/>
          <p:nvPr/>
        </p:nvSpPr>
        <p:spPr>
          <a:xfrm>
            <a:off x="731520" y="2423160"/>
            <a:ext cx="5074920" cy="2468880"/>
          </a:xfrm>
          <a:prstGeom prst="rect">
            <a:avLst/>
          </a:prstGeom>
          <a:noFill/>
        </p:spPr>
        <p:txBody>
          <a:bodyPr wrap="square" lIns="0" rIns="0" tIns="0" bIns="0">
            <a:spAutoFit/>
          </a:bodyPr>
          <a:lstStyle/>
          <a:p>
            <a:pPr>
              <a:lnSpc>
                <a:spcPct val="105000"/>
              </a:lnSpc>
              <a:spcBef>
                <a:spcPts val="0"/>
              </a:spcBef>
              <a:spcAft>
                <a:spcPts val="800"/>
              </a:spcAft>
              <a:buNone/>
            </a:pPr>
            <a:r>
              <a:rPr sz="1250">
                <a:solidFill>
                  <a:srgbClr val="D97706"/>
                </a:solidFill>
                <a:latin typeface="Arial"/>
              </a:rPr>
              <a:t>–  </a:t>
            </a:r>
            <a:r>
              <a:rPr sz="1250">
                <a:solidFill>
                  <a:srgbClr val="0F172A"/>
                </a:solidFill>
                <a:latin typeface="Arial"/>
              </a:rPr>
              <a:t>Cannot download paywalled PDFs — it knows the papers' content, but key claims still needed manual reading and checking.</a:t>
            </a:r>
          </a:p>
          <a:p>
            <a:pPr>
              <a:lnSpc>
                <a:spcPct val="105000"/>
              </a:lnSpc>
              <a:spcBef>
                <a:spcPts val="0"/>
              </a:spcBef>
              <a:spcAft>
                <a:spcPts val="800"/>
              </a:spcAft>
              <a:buNone/>
            </a:pPr>
            <a:r>
              <a:rPr sz="1250">
                <a:solidFill>
                  <a:srgbClr val="D97706"/>
                </a:solidFill>
                <a:latin typeface="Arial"/>
              </a:rPr>
              <a:t>–  </a:t>
            </a:r>
            <a:r>
              <a:rPr sz="1250">
                <a:solidFill>
                  <a:srgbClr val="0F172A"/>
                </a:solidFill>
                <a:latin typeface="Arial"/>
              </a:rPr>
              <a:t>Geely PDFs were not machine-readable → more manual web research.</a:t>
            </a:r>
          </a:p>
          <a:p>
            <a:pPr>
              <a:lnSpc>
                <a:spcPct val="105000"/>
              </a:lnSpc>
              <a:spcBef>
                <a:spcPts val="0"/>
              </a:spcBef>
              <a:spcAft>
                <a:spcPts val="800"/>
              </a:spcAft>
              <a:buNone/>
            </a:pPr>
            <a:r>
              <a:rPr sz="1250">
                <a:solidFill>
                  <a:srgbClr val="D97706"/>
                </a:solidFill>
                <a:latin typeface="Arial"/>
              </a:rPr>
              <a:t>–  </a:t>
            </a:r>
            <a:r>
              <a:rPr sz="1250">
                <a:solidFill>
                  <a:srgbClr val="0F172A"/>
                </a:solidFill>
                <a:latin typeface="Arial"/>
              </a:rPr>
              <a:t>Token / context limits hit quickly on the stronger model in long sessions.</a:t>
            </a:r>
          </a:p>
          <a:p>
            <a:pPr>
              <a:lnSpc>
                <a:spcPct val="105000"/>
              </a:lnSpc>
              <a:spcBef>
                <a:spcPts val="0"/>
              </a:spcBef>
              <a:spcAft>
                <a:spcPts val="800"/>
              </a:spcAft>
              <a:buNone/>
            </a:pPr>
            <a:r>
              <a:rPr sz="1250">
                <a:solidFill>
                  <a:srgbClr val="D97706"/>
                </a:solidFill>
                <a:latin typeface="Arial"/>
              </a:rPr>
              <a:t>–  </a:t>
            </a:r>
            <a:r>
              <a:rPr sz="1250">
                <a:solidFill>
                  <a:srgbClr val="0F172A"/>
                </a:solidFill>
                <a:latin typeface="Arial"/>
              </a:rPr>
              <a:t>Output was often verbose and needed active editing; some DOIs were wrong.</a:t>
            </a:r>
          </a:p>
        </p:txBody>
      </p:sp>
      <p:sp>
        <p:nvSpPr>
          <p:cNvPr id="11" name="Rectangle 10"/>
          <p:cNvSpPr/>
          <p:nvPr/>
        </p:nvSpPr>
        <p:spPr>
          <a:xfrm>
            <a:off x="6172200" y="1783080"/>
            <a:ext cx="544068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54406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965960"/>
            <a:ext cx="5074920" cy="36576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2563EB"/>
                </a:solidFill>
                <a:latin typeface="Arial"/>
              </a:rPr>
              <a:t>Lessons &amp; cost</a:t>
            </a:r>
          </a:p>
        </p:txBody>
      </p:sp>
      <p:sp>
        <p:nvSpPr>
          <p:cNvPr id="14" name="TextBox 13"/>
          <p:cNvSpPr txBox="1"/>
          <p:nvPr/>
        </p:nvSpPr>
        <p:spPr>
          <a:xfrm>
            <a:off x="6355080" y="2423160"/>
            <a:ext cx="5074920" cy="2468880"/>
          </a:xfrm>
          <a:prstGeom prst="rect">
            <a:avLst/>
          </a:prstGeom>
          <a:noFill/>
        </p:spPr>
        <p:txBody>
          <a:bodyPr wrap="square" lIns="0" rIns="0" tIns="0" bIns="0">
            <a:spAutoFit/>
          </a:bodyPr>
          <a:lstStyle/>
          <a:p>
            <a:pPr>
              <a:lnSpc>
                <a:spcPct val="105000"/>
              </a:lnSpc>
              <a:spcBef>
                <a:spcPts val="0"/>
              </a:spcBef>
              <a:spcAft>
                <a:spcPts val="800"/>
              </a:spcAft>
              <a:buNone/>
            </a:pPr>
            <a:r>
              <a:rPr sz="1250">
                <a:solidFill>
                  <a:srgbClr val="2563EB"/>
                </a:solidFill>
                <a:latin typeface="Arial"/>
              </a:rPr>
              <a:t>–  </a:t>
            </a:r>
            <a:r>
              <a:rPr sz="1250">
                <a:solidFill>
                  <a:srgbClr val="0F172A"/>
                </a:solidFill>
                <a:latin typeface="Arial"/>
              </a:rPr>
              <a:t>A learning curve: several hours to use the agent system productively, not as a chat tool.</a:t>
            </a:r>
          </a:p>
          <a:p>
            <a:pPr>
              <a:lnSpc>
                <a:spcPct val="105000"/>
              </a:lnSpc>
              <a:spcBef>
                <a:spcPts val="0"/>
              </a:spcBef>
              <a:spcAft>
                <a:spcPts val="800"/>
              </a:spcAft>
              <a:buNone/>
            </a:pPr>
            <a:r>
              <a:rPr sz="1250">
                <a:solidFill>
                  <a:srgbClr val="2563EB"/>
                </a:solidFill>
                <a:latin typeface="Arial"/>
              </a:rPr>
              <a:t>–  </a:t>
            </a:r>
            <a:r>
              <a:rPr sz="1250">
                <a:solidFill>
                  <a:srgbClr val="0F172A"/>
                </a:solidFill>
                <a:latin typeface="Arial"/>
              </a:rPr>
              <a:t>AI output always needs critical review — early drafts contained overclaims.</a:t>
            </a:r>
          </a:p>
          <a:p>
            <a:pPr>
              <a:lnSpc>
                <a:spcPct val="105000"/>
              </a:lnSpc>
              <a:spcBef>
                <a:spcPts val="0"/>
              </a:spcBef>
              <a:spcAft>
                <a:spcPts val="800"/>
              </a:spcAft>
              <a:buNone/>
            </a:pPr>
            <a:r>
              <a:rPr sz="1250">
                <a:solidFill>
                  <a:srgbClr val="2563EB"/>
                </a:solidFill>
                <a:latin typeface="Arial"/>
              </a:rPr>
              <a:t>–  </a:t>
            </a:r>
            <a:r>
              <a:rPr sz="1250">
                <a:solidFill>
                  <a:srgbClr val="0F172A"/>
                </a:solidFill>
                <a:latin typeface="Arial"/>
              </a:rPr>
              <a:t>Cost: Claude Pro at ~€21/month per member; no per-query charge, no paid data services.</a:t>
            </a:r>
          </a:p>
          <a:p>
            <a:pPr>
              <a:lnSpc>
                <a:spcPct val="105000"/>
              </a:lnSpc>
              <a:spcBef>
                <a:spcPts val="0"/>
              </a:spcBef>
              <a:spcAft>
                <a:spcPts val="800"/>
              </a:spcAft>
              <a:buNone/>
            </a:pPr>
            <a:r>
              <a:rPr sz="1250">
                <a:solidFill>
                  <a:srgbClr val="2563EB"/>
                </a:solidFill>
                <a:latin typeface="Arial"/>
              </a:rPr>
              <a:t>–  </a:t>
            </a:r>
            <a:r>
              <a:rPr sz="1250">
                <a:solidFill>
                  <a:srgbClr val="0F172A"/>
                </a:solidFill>
                <a:latin typeface="Arial"/>
              </a:rPr>
              <a:t>Framing that worked: a source-quality enforcer and critical reviewer, not a writer.</a:t>
            </a:r>
          </a:p>
        </p:txBody>
      </p:sp>
      <p:sp>
        <p:nvSpPr>
          <p:cNvPr id="15" name="Rectangle 14"/>
          <p:cNvSpPr/>
          <p:nvPr/>
        </p:nvSpPr>
        <p:spPr>
          <a:xfrm>
            <a:off x="548640" y="5257800"/>
            <a:ext cx="11064240" cy="640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257800"/>
            <a:ext cx="10698480" cy="640080"/>
          </a:xfrm>
          <a:prstGeom prst="rect">
            <a:avLst/>
          </a:prstGeom>
          <a:noFill/>
        </p:spPr>
        <p:txBody>
          <a:bodyPr wrap="square" anchor="ctr" lIns="0" rIns="0" tIns="0" bIns="0">
            <a:spAutoFit/>
          </a:bodyPr>
          <a:lstStyle/>
          <a:p>
            <a:pPr algn="l">
              <a:lnSpc>
                <a:spcPct val="100000"/>
              </a:lnSpc>
              <a:spcBef>
                <a:spcPts val="0"/>
              </a:spcBef>
              <a:spcAft>
                <a:spcPts val="200"/>
              </a:spcAft>
            </a:pPr>
            <a:r>
              <a:rPr sz="1350" b="1" i="0">
                <a:solidFill>
                  <a:srgbClr val="FFFFFF"/>
                </a:solidFill>
                <a:latin typeface="Arial"/>
              </a:rPr>
              <a:t>Bottom line: AI compressed research time and caught errors — but every judgment, argument and conclusion remained the authors' own.</a:t>
            </a:r>
          </a:p>
        </p:txBody>
      </p:sp>
      <p:sp>
        <p:nvSpPr>
          <p:cNvPr id="17" name="TextBox 16"/>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8" name="TextBox 17"/>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274320"/>
          </a:xfrm>
          <a:prstGeom prst="rect">
            <a:avLst/>
          </a:prstGeom>
          <a:noFill/>
        </p:spPr>
        <p:txBody>
          <a:bodyPr wrap="square" anchor="t" lIns="0" rIns="0" tIns="0" bIns="0">
            <a:spAutoFit/>
          </a:bodyPr>
          <a:lstStyle/>
          <a:p>
            <a:pPr algn="l">
              <a:lnSpc>
                <a:spcPct val="100000"/>
              </a:lnSpc>
              <a:spcBef>
                <a:spcPts val="0"/>
              </a:spcBef>
              <a:spcAft>
                <a:spcPts val="200"/>
              </a:spcAft>
            </a:pPr>
            <a:r>
              <a:rPr sz="1400" b="1" i="0">
                <a:solidFill>
                  <a:srgbClr val="06B6D4"/>
                </a:solidFill>
                <a:latin typeface="Arial"/>
              </a:rPr>
              <a:t>REFERENCES</a:t>
            </a:r>
          </a:p>
        </p:txBody>
      </p:sp>
      <p:sp>
        <p:nvSpPr>
          <p:cNvPr id="4" name="TextBox 3"/>
          <p:cNvSpPr txBox="1"/>
          <p:nvPr/>
        </p:nvSpPr>
        <p:spPr>
          <a:xfrm>
            <a:off x="548640" y="658368"/>
            <a:ext cx="11064240" cy="914400"/>
          </a:xfrm>
          <a:prstGeom prst="rect">
            <a:avLst/>
          </a:prstGeom>
          <a:noFill/>
        </p:spPr>
        <p:txBody>
          <a:bodyPr wrap="square" anchor="t" lIns="0" rIns="0" tIns="0" bIns="0">
            <a:spAutoFit/>
          </a:bodyPr>
          <a:lstStyle/>
          <a:p>
            <a:pPr algn="l">
              <a:lnSpc>
                <a:spcPct val="100000"/>
              </a:lnSpc>
              <a:spcBef>
                <a:spcPts val="0"/>
              </a:spcBef>
              <a:spcAft>
                <a:spcPts val="200"/>
              </a:spcAft>
            </a:pPr>
            <a:r>
              <a:rPr sz="2100" b="1" i="0">
                <a:solidFill>
                  <a:srgbClr val="0F172A"/>
                </a:solidFill>
                <a:latin typeface="Arial"/>
              </a:rPr>
              <a:t>Key sources (APA 7)</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91640"/>
            <a:ext cx="5440680" cy="4572000"/>
          </a:xfrm>
          <a:prstGeom prst="rect">
            <a:avLst/>
          </a:prstGeom>
          <a:noFill/>
        </p:spPr>
        <p:txBody>
          <a:bodyPr wrap="square" lIns="0" rIns="0" tIns="0" bIns="0">
            <a:spAutoFit/>
          </a:bodyPr>
          <a:lstStyle/>
          <a:p>
            <a:pPr>
              <a:lnSpc>
                <a:spcPct val="100000"/>
              </a:lnSpc>
              <a:spcBef>
                <a:spcPts val="0"/>
              </a:spcBef>
              <a:spcAft>
                <a:spcPts val="700"/>
              </a:spcAft>
              <a:buNone/>
            </a:pPr>
            <a:r>
              <a:rPr sz="1050">
                <a:solidFill>
                  <a:srgbClr val="0F172A"/>
                </a:solidFill>
                <a:latin typeface="Arial"/>
              </a:rPr>
              <a:t>Allen, F., Qian, J., Shan, C., &amp; Zhu, J. L. (2024). Dissecting the long-term performance of the Chinese stock market. Journal of Finance, 79(2).</a:t>
            </a:r>
          </a:p>
          <a:p>
            <a:pPr>
              <a:lnSpc>
                <a:spcPct val="100000"/>
              </a:lnSpc>
              <a:spcBef>
                <a:spcPts val="0"/>
              </a:spcBef>
              <a:spcAft>
                <a:spcPts val="700"/>
              </a:spcAft>
              <a:buNone/>
            </a:pPr>
            <a:r>
              <a:rPr sz="1050">
                <a:solidFill>
                  <a:srgbClr val="0F172A"/>
                </a:solidFill>
                <a:latin typeface="Arial"/>
              </a:rPr>
              <a:t>Bai, J., Barwick, P. J., Cao, S., &amp; Li, S. (2025). Quid pro quo, knowledge spillovers, and industrial quality upgrading. American Economic Review, 115(11).</a:t>
            </a:r>
          </a:p>
          <a:p>
            <a:pPr>
              <a:lnSpc>
                <a:spcPct val="100000"/>
              </a:lnSpc>
              <a:spcBef>
                <a:spcPts val="0"/>
              </a:spcBef>
              <a:spcAft>
                <a:spcPts val="700"/>
              </a:spcAft>
              <a:buNone/>
            </a:pPr>
            <a:r>
              <a:rPr sz="1050">
                <a:solidFill>
                  <a:srgbClr val="0F172A"/>
                </a:solidFill>
                <a:latin typeface="Arial"/>
              </a:rPr>
              <a:t>Balcet, G., Wang, H., &amp; Richet, X. (2012). Geely: A trajectory of catching up and asset-seeking growth. IJATM, 12(4).</a:t>
            </a:r>
          </a:p>
          <a:p>
            <a:pPr>
              <a:lnSpc>
                <a:spcPct val="100000"/>
              </a:lnSpc>
              <a:spcBef>
                <a:spcPts val="0"/>
              </a:spcBef>
              <a:spcAft>
                <a:spcPts val="700"/>
              </a:spcAft>
              <a:buNone/>
            </a:pPr>
            <a:r>
              <a:rPr sz="1050">
                <a:solidFill>
                  <a:srgbClr val="0F172A"/>
                </a:solidFill>
                <a:latin typeface="Arial"/>
              </a:rPr>
              <a:t>European Commission. (2024). Implementing Regulation (EU) 2024/2754. Official Journal of the EU.</a:t>
            </a:r>
          </a:p>
          <a:p>
            <a:pPr>
              <a:lnSpc>
                <a:spcPct val="100000"/>
              </a:lnSpc>
              <a:spcBef>
                <a:spcPts val="0"/>
              </a:spcBef>
              <a:spcAft>
                <a:spcPts val="700"/>
              </a:spcAft>
              <a:buNone/>
            </a:pPr>
            <a:r>
              <a:rPr sz="1050">
                <a:solidFill>
                  <a:srgbClr val="0F172A"/>
                </a:solidFill>
                <a:latin typeface="Arial"/>
              </a:rPr>
              <a:t>Fan, J. P. H., Wong, T. J., &amp; Zhang, T. (2007). Politically connected CEOs and post-IPO performance. JFE, 84(2).</a:t>
            </a:r>
          </a:p>
          <a:p>
            <a:pPr>
              <a:lnSpc>
                <a:spcPct val="100000"/>
              </a:lnSpc>
              <a:spcBef>
                <a:spcPts val="0"/>
              </a:spcBef>
              <a:spcAft>
                <a:spcPts val="700"/>
              </a:spcAft>
              <a:buNone/>
            </a:pPr>
            <a:r>
              <a:rPr sz="1050">
                <a:solidFill>
                  <a:srgbClr val="0F172A"/>
                </a:solidFill>
                <a:latin typeface="Arial"/>
              </a:rPr>
              <a:t>Holmes, T. J., McGrattan, E. R., &amp; Prescott, E. C. (2015). Quid pro quo: Technology capital transfers for market access in China. RES, 82(3).</a:t>
            </a:r>
          </a:p>
          <a:p>
            <a:pPr>
              <a:lnSpc>
                <a:spcPct val="100000"/>
              </a:lnSpc>
              <a:spcBef>
                <a:spcPts val="0"/>
              </a:spcBef>
              <a:spcAft>
                <a:spcPts val="700"/>
              </a:spcAft>
              <a:buNone/>
            </a:pPr>
            <a:r>
              <a:rPr sz="1050">
                <a:solidFill>
                  <a:srgbClr val="0F172A"/>
                </a:solidFill>
                <a:latin typeface="Arial"/>
              </a:rPr>
              <a:t>Howell, S. T. (2018). Joint ventures and technology adoption: A Chinese industrial policy that backfired. Research Policy, 47(8).</a:t>
            </a:r>
          </a:p>
          <a:p>
            <a:pPr>
              <a:lnSpc>
                <a:spcPct val="100000"/>
              </a:lnSpc>
              <a:spcBef>
                <a:spcPts val="0"/>
              </a:spcBef>
              <a:spcAft>
                <a:spcPts val="700"/>
              </a:spcAft>
              <a:buNone/>
            </a:pPr>
            <a:r>
              <a:rPr sz="1050">
                <a:solidFill>
                  <a:srgbClr val="0F172A"/>
                </a:solidFill>
                <a:latin typeface="Arial"/>
              </a:rPr>
              <a:t>Jensen, M. C., &amp; Meckling, W. H. (1976). Theory of the firm. JFE, 3(4).</a:t>
            </a:r>
          </a:p>
          <a:p>
            <a:pPr>
              <a:lnSpc>
                <a:spcPct val="100000"/>
              </a:lnSpc>
              <a:spcBef>
                <a:spcPts val="0"/>
              </a:spcBef>
              <a:spcAft>
                <a:spcPts val="700"/>
              </a:spcAft>
              <a:buNone/>
            </a:pPr>
            <a:r>
              <a:rPr sz="1050">
                <a:solidFill>
                  <a:srgbClr val="0F172A"/>
                </a:solidFill>
                <a:latin typeface="Arial"/>
              </a:rPr>
              <a:t>Konda, P., Slepnikov, D., &amp; Jin, J. (2022). From transaction to co-creation in Geely's acquisition of Volvo Cars. AJTI, 31(3).</a:t>
            </a:r>
          </a:p>
        </p:txBody>
      </p:sp>
      <p:sp>
        <p:nvSpPr>
          <p:cNvPr id="8" name="TextBox 7"/>
          <p:cNvSpPr txBox="1"/>
          <p:nvPr/>
        </p:nvSpPr>
        <p:spPr>
          <a:xfrm>
            <a:off x="6172200" y="1691640"/>
            <a:ext cx="5440680" cy="4572000"/>
          </a:xfrm>
          <a:prstGeom prst="rect">
            <a:avLst/>
          </a:prstGeom>
          <a:noFill/>
        </p:spPr>
        <p:txBody>
          <a:bodyPr wrap="square" lIns="0" rIns="0" tIns="0" bIns="0">
            <a:spAutoFit/>
          </a:bodyPr>
          <a:lstStyle/>
          <a:p>
            <a:pPr>
              <a:lnSpc>
                <a:spcPct val="100000"/>
              </a:lnSpc>
              <a:spcBef>
                <a:spcPts val="0"/>
              </a:spcBef>
              <a:spcAft>
                <a:spcPts val="700"/>
              </a:spcAft>
              <a:buNone/>
            </a:pPr>
            <a:r>
              <a:rPr sz="1050">
                <a:solidFill>
                  <a:srgbClr val="0F172A"/>
                </a:solidFill>
                <a:latin typeface="Arial"/>
              </a:rPr>
              <a:t>Luo, Y., &amp; Tung, R. L. (2007). International expansion of emerging market enterprises: A springboard perspective. JIBS, 38(4).</a:t>
            </a:r>
          </a:p>
          <a:p>
            <a:pPr>
              <a:lnSpc>
                <a:spcPct val="100000"/>
              </a:lnSpc>
              <a:spcBef>
                <a:spcPts val="0"/>
              </a:spcBef>
              <a:spcAft>
                <a:spcPts val="700"/>
              </a:spcAft>
              <a:buNone/>
            </a:pPr>
            <a:r>
              <a:rPr sz="1050">
                <a:solidFill>
                  <a:srgbClr val="0F172A"/>
                </a:solidFill>
                <a:latin typeface="Arial"/>
              </a:rPr>
              <a:t>Megginson, W. L., &amp; Netter, J. M. (2001). From state to market: A survey of empirical studies on privatization. JEL, 39(2).</a:t>
            </a:r>
          </a:p>
          <a:p>
            <a:pPr>
              <a:lnSpc>
                <a:spcPct val="100000"/>
              </a:lnSpc>
              <a:spcBef>
                <a:spcPts val="0"/>
              </a:spcBef>
              <a:spcAft>
                <a:spcPts val="700"/>
              </a:spcAft>
              <a:buNone/>
            </a:pPr>
            <a:r>
              <a:rPr sz="1050">
                <a:solidFill>
                  <a:srgbClr val="0F172A"/>
                </a:solidFill>
                <a:latin typeface="Arial"/>
              </a:rPr>
              <a:t>Shleifer, A., &amp; Vishny, R. W. (1994). Politicians and firms. Quarterly Journal of Economics, 109(4).</a:t>
            </a:r>
          </a:p>
          <a:p>
            <a:pPr>
              <a:lnSpc>
                <a:spcPct val="100000"/>
              </a:lnSpc>
              <a:spcBef>
                <a:spcPts val="0"/>
              </a:spcBef>
              <a:spcAft>
                <a:spcPts val="700"/>
              </a:spcAft>
              <a:buNone/>
            </a:pPr>
            <a:r>
              <a:rPr sz="1050">
                <a:solidFill>
                  <a:srgbClr val="0F172A"/>
                </a:solidFill>
                <a:latin typeface="Arial"/>
              </a:rPr>
              <a:t>Teece, D. J., Pisano, G., &amp; Shuen, A. (1997). Dynamic capabilities and strategic management. SMJ, 18(7).</a:t>
            </a:r>
          </a:p>
          <a:p>
            <a:pPr>
              <a:lnSpc>
                <a:spcPct val="100000"/>
              </a:lnSpc>
              <a:spcBef>
                <a:spcPts val="0"/>
              </a:spcBef>
              <a:spcAft>
                <a:spcPts val="700"/>
              </a:spcAft>
              <a:buNone/>
            </a:pPr>
            <a:r>
              <a:rPr sz="1050">
                <a:solidFill>
                  <a:srgbClr val="0F172A"/>
                </a:solidFill>
                <a:latin typeface="Arial"/>
              </a:rPr>
              <a:t>Whitfield, L., &amp; Wuttke, T. (2026). China's technological catch-up and leapfrogging in electric vehicles. Progress in Economic Geography, 4.</a:t>
            </a:r>
          </a:p>
          <a:p>
            <a:pPr>
              <a:lnSpc>
                <a:spcPct val="100000"/>
              </a:lnSpc>
              <a:spcBef>
                <a:spcPts val="0"/>
              </a:spcBef>
              <a:spcAft>
                <a:spcPts val="700"/>
              </a:spcAft>
              <a:buNone/>
            </a:pPr>
            <a:r>
              <a:rPr sz="1050">
                <a:solidFill>
                  <a:srgbClr val="0F172A"/>
                </a:solidFill>
                <a:latin typeface="Arial"/>
              </a:rPr>
              <a:t>Zhang, Z.-Q., Tang, B.-J., Su, Z., &amp; Zhang, Y. (2025). Founder control and breakthrough innovation. China Economic Review, 94.</a:t>
            </a:r>
          </a:p>
          <a:p>
            <a:pPr>
              <a:lnSpc>
                <a:spcPct val="100000"/>
              </a:lnSpc>
              <a:spcBef>
                <a:spcPts val="0"/>
              </a:spcBef>
              <a:spcAft>
                <a:spcPts val="700"/>
              </a:spcAft>
              <a:buNone/>
            </a:pPr>
            <a:r>
              <a:rPr sz="1050">
                <a:solidFill>
                  <a:srgbClr val="0F172A"/>
                </a:solidFill>
                <a:latin typeface="Arial"/>
              </a:rPr>
              <a:t>Zheng, Q., Noorderhaven, N., &amp; Du, J. (2022). Making the unlikely marriage work. Journal of World Business, 57(2).</a:t>
            </a:r>
          </a:p>
          <a:p>
            <a:pPr>
              <a:lnSpc>
                <a:spcPct val="100000"/>
              </a:lnSpc>
              <a:spcBef>
                <a:spcPts val="0"/>
              </a:spcBef>
              <a:spcAft>
                <a:spcPts val="700"/>
              </a:spcAft>
              <a:buNone/>
            </a:pPr>
            <a:r>
              <a:rPr sz="1050">
                <a:solidFill>
                  <a:srgbClr val="0F172A"/>
                </a:solidFill>
                <a:latin typeface="Arial"/>
              </a:rPr>
              <a:t>International Energy Agency. (2026). Global EV Outlook 2026. IEA.</a:t>
            </a:r>
          </a:p>
          <a:p>
            <a:pPr>
              <a:lnSpc>
                <a:spcPct val="100000"/>
              </a:lnSpc>
              <a:spcBef>
                <a:spcPts val="0"/>
              </a:spcBef>
              <a:spcAft>
                <a:spcPts val="700"/>
              </a:spcAft>
              <a:buNone/>
            </a:pPr>
            <a:r>
              <a:rPr sz="1050">
                <a:solidFill>
                  <a:srgbClr val="0F172A"/>
                </a:solidFill>
                <a:latin typeface="Arial"/>
              </a:rPr>
              <a:t>Annual Reports: SAIC Motor (2025, 2026); BYD (2025, 2026); Geely Automobile Holdings (2025, 2026).</a:t>
            </a:r>
          </a:p>
        </p:txBody>
      </p:sp>
      <p:sp>
        <p:nvSpPr>
          <p:cNvPr id="9" name="TextBox 8"/>
          <p:cNvSpPr txBox="1"/>
          <p:nvPr/>
        </p:nvSpPr>
        <p:spPr>
          <a:xfrm>
            <a:off x="548640" y="6473952"/>
            <a:ext cx="8686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0" name="TextBox 9"/>
          <p:cNvSpPr txBox="1"/>
          <p:nvPr/>
        </p:nvSpPr>
        <p:spPr>
          <a:xfrm>
            <a:off x="10820095" y="6473952"/>
            <a:ext cx="822960" cy="274320"/>
          </a:xfrm>
          <a:prstGeom prst="rect">
            <a:avLst/>
          </a:prstGeom>
          <a:noFill/>
        </p:spPr>
        <p:txBody>
          <a:bodyPr wrap="square" anchor="t" lIns="0" rIns="0" tIns="0" bIns="0">
            <a:spAutoFit/>
          </a:bodyPr>
          <a:lstStyle/>
          <a:p>
            <a:pPr algn="r">
              <a:lnSpc>
                <a:spcPct val="100000"/>
              </a:lnSpc>
              <a:spcBef>
                <a:spcPts val="0"/>
              </a:spcBef>
              <a:spcAft>
                <a:spcPts val="200"/>
              </a:spcAft>
            </a:pPr>
            <a:r>
              <a:rPr sz="1050" b="0" i="0">
                <a:solidFill>
                  <a:srgbClr val="64748B"/>
                </a:solidFill>
                <a:latin typeface="Arial"/>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