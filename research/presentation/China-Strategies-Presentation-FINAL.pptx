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61" autoAdjust="0"/>
    <p:restoredTop sz="94660"/>
  </p:normalViewPr>
  <p:slideViewPr>
    <p:cSldViewPr snapToGrid="0" snapToObjects="1">
      <p:cViewPr varScale="1">
        <p:scale>
          <a:sx n="78" d="100"/>
          <a:sy n="78" d="100"/>
        </p:scale>
        <p:origin x="864"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282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and welcome. Our seminar paper asks one clear question: how do you build a successful car company in China, and which ownership and financing structure creates the most value for shareholders over the long run? We answer it by comparing three real firms that each chose a very different path. SAIC grew through state-backed joint ventures with Western carmakers. BYD built its technology in-house, starting from batteries. Geely grew by buying companies abroad, most famously Volvo. Our central finding, which we will defend across the whole talk, is that governance — who controls the firm and what they optimise — matters more than the technology a firm starts with. We move through four lenses in turn: governance, financing, capability building, and long-term viability. Then we give our verdict, draw three general lessons, and finish by reflecting honestly on how we used AI in the research. Let us begin with why this question is so urgent right now.</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joint-venture era is ending, and these numbers make it clear. Electric vehicles are now more than half of all new cars sold in China, and Chinese firms make roughly sixty percent of the world's EVs. For three decades the rule was simple: foreign companies handed over their technology, and a state-owned Chinese firm provided market access. That trade worked while the hard part of a car was the engine and the gearbox. In the electric era the hard part has moved — to batteries, power electronics, and software — and that knowledge now sits with the Chinese independents, not the Western partners. So the old exchange no longer helps the joint-venture firms. You can see the stress directly at SAIC, the classic joint-venture champion: its net profit fell eighty-eight percent in a single year. Now look at the third card. The European Union set different import duties for the three firms — 35.3 percent for SAIC, but only 17 for BYD and 18.8 for Geely. That gap is not about car quality; it tracks how dependent each firm is on the state. So the market and the regulator point in the same direction. This sets up the precise question we ask, and the three models we use to answer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question is short to say but hard to answer: which structure builds the most shareholder value over time, in a market that is both high-growth and technology-intensive. We study it through three firms that picked three different paths. SAIC is state-owned and grew through joint ventures; the asset commission, SASAC, controls about seventy-three percent. BYD is founder-led — Wang Chuanfu holds around seventeen percent — and built its technology itself. Geely is also founder-led, with Li Shufu holding about forty-one percent, but it grew by acquiring companies abroad. To keep the comparison fair, we look at all three through the same four lenses, shown in the dark boxes: governance, financing, capability building, and long-term viability. The same four questions, asked of every firm, in the same order. This avoids simply describing three companies one after another; instead we compare one structural choice at a time. Our thesis, in a single line, is at the bottom: the structure of control matters more than the technology a firm starts with. Now the theory that stands behind these four lenses.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argument rests on six well-known ideas, and they all point the same way. Shleifer and Vishny show that whoever holds the control rights decides where the money goes — and in a state firm that means political goals, not shareholder value. Megginson and Netter add the evidence across many countries: private firms outperform state and mixed-ownership firms. Jensen and Meckling explain the opposite, positive case — a strong founder-owner removes the conflict of interest between owners and managers. Holmes and Fan describe exactly the joint-venture trade we see in China, and its hidden cost: politically connected firms lag about eighteen percent in the three years after they list. Luo and Tung explain why an emerging-market firm buys abroad — to use the acquisition as a springboard over its late start. And Teece explains why deep, in-house knowledge, built up step by step, is so hard for rivals to copy. Notice the colours: most of these lenses predict that state control underperforms, while founder control and built-in knowledge create durable advantage. So the academic prior is clear before we even look at the data. Next we turn these six lenses into one simple map.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matrix is the map for the rest of the talk, so it is worth one careful minute. The three rows are the three firms. The four columns are our four lenses. If you read across a row, you see one firm's whole profile. If you read down a column, you compare the three firms on one topic. The key message is that the columns are not independent of each other. Look at SAIC's row: state-led governance, capital-light joint-venture financing, technology that was handed to it, and the weakest position in the EV shift. Those four cells belong together — the governance choice in the first column shapes the outcome in the last. BYD shows the opposite pattern straight across: founder control, self-financing, organic capability, strongest position. Geely sits in between, founder-led but more complex. Keep this picture in your head, because over the next slides we go column by column and put the hard evidence behind each cell. We start on the left, with governance.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Governance is really two questions: who holds control, and what they try to maximise. SAIC sits firmly under the state. The asset commission owns about seventy-three percent, and the Party's role is written directly into the company charter, so its goals reach beyond profit — employment, industrial policy, and national prestige all count. The cost of that is speed: it cannot leave a failing joint venture without state approval, which makes capital slow to move. BYD is the opposite. The founder and his team hold more than a third of the votes under one-share-one-vote, there is one clear commercial goal, and there is no party committee at the operating level. That is exactly why Wang Chuanfu could end all petrol-car production in a single year, in 2022, without asking outside shareholders or the state. Geely is also founder-led and quick on deals, but it pays a coordination cost for running many brands — Volvo, Polestar, Lotus — and several of them lose money, which becomes a hidden liability for the group. So control runs on a clear scale, from political at SAIC to commercial at BYD. The next slide shows that an outside regulator put a real price on exactly this difference.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outside proof that governance is not just an internal matter. The European Commission studied how much state support each firm receives and set import duties accordingly: 35.3 percent on SAIC, 17 on BYD, and 18.8 on Geely. That gap of about eighteen points between SAIC and BYD is not about how good the cars are — it is about ownership and state dependence. In SAIC's case the Commission even had to rely, in its own words, on “facts available,” because the group withheld some of its financing information; that itself tells you something about transparency under state control. So a neutral, third-party regulator reached the very same conclusion that we reach from the inside: control structure drives competitive position. There is also a clean hierarchy here — adaptability rises as control concentrates, from joint-venture boards that need both partners to agree, to state oversight, to single founder control. And for a firm that wants to grow through exports, this tariff is a direct, lasting cost of the governance model it chose. Now we follow the money — how each firm funds its growth, and who carries the risk when the market turns.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firm pays for growth in a different way, and the difference only shows up clearly when the market turns down. SAIC chose a capital-light model: it split the cost and the risk fifty-fifty with its foreign partners, so it could scale quickly without putting much on its own balance sheet. That felt safe while sales were rising. But when its main joint venture, SAIC-GM, lost more than half of its sales in one year, SAIC was still contractually bound to absorb the losses, without the control to restructure the business. Profit fell eighty-eight percent and return on equity dropped to barely half a percent — the capital-light model had quietly become a capital trap. BYD funds itself from its own operating cash, and it even spends more on research than it earns in profit — 54 billion renminbi of R&amp;D against 40 billion of net profit. Because it sits on net cash, it does not depend on banks; the trade-off is that its growth is limited by the cash it generates. Geely takes the third route: it borrows to buy capability quickly, which is how it acquired Volvo, but its gearing has climbed toward twenty percent. So the real choice across the three is resilience versus speed. The next slide puts the hard numbers side by side.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financial picture in one place, taken straight from our paper. Let me point to a few rows. Return on equity: BYD and Geely are both near twenty percent, while SAIC is below one — that single line captures the whole story of the financing chapter. Research spending: BYD spends more on R&amp;D than it earns in profit, in both years, which shows how aggressively it reinvests. Operating cash flow: BYD generates far more cash from its operations than the other two, which is what funds that reinvestment without debt. One honest note on SAIC: its profit looks like it jumped back in 2025, from 1.7 to 10.1 billion, but that is mostly because the large write-downs of 2024 did not repeat — the underlying business has stabilised, it has not truly turned around. And the bottom row, the EU tariff, is the outside marker of the same governance gap. So the numbers and the structure tell one consistent story. With the money side clear, we move to the third lens: how each firm actually builds its technology.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firm learns shapes what it can build later, and our three firms learned in three very different ways. SAIC took its technology through joint ventures. That genuinely worked at first: a careful study by Bai and co-authors finds the joint-venture link raised product quality by about eight percent. But there was a hidden cost. The easy profit from the foreign brands removed the pressure to develop its own technology — a former Chinese minister even called these rents “like opium,” good in the short run and harmful in the long run. So when the electric era arrived, SAIC had decent cars but no battery, power-electronics, or software platform of its own. BYD took the opposite road. It built everything itself over almost three decades, from battery cells up to vehicle software, often moving ahead of government policy rather than following it. That kind of deep, hands-on knowledge is exactly what Teece says competitors cannot simply buy or copy. Geely found a third way: it bought Volvo and turned the deal into real shared engineering, the CMA platform, and patent data confirm genuine two-way co-creation rather than one-way copying. So we have three speeds and three depths of learning. The next slide shows the trade-off, and what the shallow path cost SAIC in hard numbers.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sums up capability building as a trade-off between three things: speed, depth, and independence. Read the three firms left to right. SAIC was the fastest to gain quality — the joint-venture link added about eight percent — but that speed came shallow and dependent, and the rents removed the pressure to innovate, so it had no platform of its own when the cycle turned. Geely sits in a rare and strong place: fast and deep, because it turned the Volvo purchase into genuine co-development, the CMA platform, with patent data confirming real two-way creation. BYD took the slowest road but the deepest — three decades from battery cells to vehicle software — and that kind of hands-on, path-dependent knowledge is exactly what Teece says rivals cannot copy. The cost of the shallow path shows in the bar at the bottom, and the numbers are striking: SAIC's joint-venture plants now run at just 14 to 37 percent of capacity. That is what happens when dependency hardens into a capability deficit — when the technology shifts, there is no in-house platform to fall back on, and the expensive factories sit half empty. The deeper lesson is that how you build capability decides who can enter the EV era from strength. That sets up the fourth and final lens: the EV transition itself.</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EV transition works like a structural audit — it tests every earlier decision at once. SAIC is the most exposed, with its joint-venture plants running far below capacity. But we want to be fair to it, because its own brand is making real progress. Electric sales grew thirty-three percent, to 1.6 million vehicles, and importantly with no direct vehicle subsidies, so that growth stands on a commercial footing rather than on state money. It even launched a new brand with Huawei using a first-of-its-kind semi-solid battery. So SAIC's future is a genuine race — falling joint-venture income against a still-thin own-brand margin — and its state structure decides how fast it can run that race. BYD is clearly the strongest: no petrol cars since 2022, four straight years as the world's top maker of new-energy vehicles, and exports up one hundred and forty percent across 119 countries. Its main pressure is margin, from the domestic price war. Geely is the in-between case — very strong sales growth and a 51.5 percent electric share in the first half of 2025, but it leans on partners for its platforms and carries loss-making brands. Same shock, three clearly different results — which brings us to a direct answer to our central question.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our answer to the central question. Of the three models, BYD is the one most likely to create long-term shareholder value. The evidence is consistent across everything we have shown: the highest return on equity of the three firms, four straight years as the world's top EV maker, and a five-point-six-billion-dollar capital raise that sovereign wealth funds chose to join — a strong outside vote of confidence in the model. But please notice the careful wording in the box, because the nuance matters for the exam and for the discussion. We are not claiming that building everything yourself is automatically the best strategy. BYD wins because it combines two things at the same time: concentrated, commercially-oriented founder control, and a self-financing balance sheet that stays resilient when the market turns down. Governance and capital discipline working together — that is the real driver, not vertical integration on its own. This also lines up with the broader finding by Allen and co-authors that privately governed Chinese firms structurally outperform state-controlled ones. And we stay honest: BYD's own return fell to thirteen percent in 2025 under the price war, so the model is strong but not untouchable. From this single answer we can now draw three lessons that travel well beyond this one industry.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these three cases we draw three lessons that reach beyond cars, into any fast-moving, uncertain market. The first lesson is about capability: the way you build it decides how long it lasts. Buying or being handed technology can give quick results, but it can also hollow out a firm so that it owns nothing of its own when the technology changes — that was SAIC. Building it yourself, or genuinely co-developing it, preserves that inner strength. The second lesson is about governance: it is a first-order driver of how fast a firm can adapt. When control sits with commercial owners, the firm moves quickly; when control is split across political interests and joint-venture partners, it stalls — and when technology moves faster than your decisions, governance becomes the binding constraint, the thing that holds you back. The third lesson is about capital structure: it decides who survives a downturn. Sharing risk feels safe in good times but traps you in bad times; financing yourself trades some speed for resilience; heavy borrowing trades safety for speed. Three lessons, one underlying theme — structure decides. Let me now bring the whole argument together in the conclusion.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bring the whole argument down to a single point. Across all four lenses, the evidence converges on one finding: governance structure, more than the technology a firm starts with, decides long-term value creation. The joint-venture model that organised Chinese carmaking for thirty years did not lose to a better battery — it lost to a better way of allocating control and capital. BYD's combination of founder control and self-financing proved the most adaptive; Geely adapted too, but at a rising balance-sheet cost; and SAIC's state model, by its very design, serves goals beyond shareholder value, which shows up as a permanent discount. The years 2020 to 2025 gave us something very close to a natural experiment — one technology shock, three governance structures, and three clearly different outcomes. So our closing line is this: when technology moves faster than firms can decide, governance is no longer a footnote to strategy — it is strategy. Before we take your questions, we want to be transparent about the limits of the study and about how we used AI in the research.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honest word on limits, since questions usually follow. First, on scope: we study three firms in one industry and one country, so we cannot claim a statistical law — these are deep case studies, not a large sample. Second, the EV transition is still young, so today's ranking could shift as the story keeps unfolding over the next few years. Third, we rely on the figures companies report, and those reports mix currencies, renminbi and US dollars, which we had to reconcile carefully to keep the comparison clean. And fourth, we deliberately left NIO out — it represents a fourth, capital-market-funded model that would round out the picture but was beyond our team's scope. That last point is also where future work could go. One could add NIO for a fuller typology of ownership models, follow these same firms over a longer EV cycle to test whether the ranking holds, build a proper numerical governance index and test it across other emerging markets, and study how the EU tariffs reshape each firm's export strategy. Now, as the seminar specifically asks us to, we reflect openly on how we used AI in this project.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AI reflection, which the seminar asks us to include. The first thing to say is that we did not use a simple chatbot. We used Claude Code as a layered system. A main model did most of the everyday work — reading sources, drafting, checking citations, building the comparison table — and a stronger model was brought in only for the hard analytical passes, like comparing the three cases and testing the logic of our argument. Around these two models we ran five small, specialised agents, each with exactly one job: one to ingest sources into a structured form, one to search that knowledge base, one to health-check it for broken links and contradictions, one to trace every factual claim back to its primary source, and one to find supporting literature. Everything lived in a single shared git repository, with one folder per company and a shared layer for common data like the EU regulation and the IEA figures. Our simple rule kept three people in sync: pull before each session, push after. Because the tool could read all three case wikis at once, we could compare the firms directly, without emailing files back and forth. Next, what this setup actually added to the quality of the work.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valuable thing the tool did was catch real mistakes before they reached the paper. It found three concrete data errors. First, an EU tariff figure we would have quoted as final was actually only the provisional number — the correct, final figure is 35.3 percent. Second, a net-profit value had been inflated about ten times by a currency-unit mix-up in a secondary source. Third, an earnings-per-share figure for BYD had been built on the wrong share count. In every case we traced the number back to the audited annual report and corrected it before it entered the draft. On method, two habits made the real difference. Telling the model to act like a strict professor hunting for overclaims, logical gaps, and citation errors gave much sharper feedback than asking for a friendly review. And forcing it to quote the exact passage from the source for each fact is precisely what caught those errors. We also rated every source by journal quality and by how directly it related to our case, and we built our arguments only on the strongest sources. Finally, the honest limits and the cost.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also want to be clear about what the tool could not do, because an honest reflection needs both sides. It cannot open paywalled journals, so some of our reading stayed manual — for example, key articles behind the university paywall. Geely's annual report PDFs were not machine-readable, which is why that case leaned more heavily on web sources. On the stronger model we hit token and context limits fairly quickly in long sessions, and the output was often too wordy, so it always needed editing down; it even produced a few wrong reference links that we had to fix by hand. The biggest practical lesson was that this is not a chat box — it took several hours to learn to use the agent system well, and every single output needed a critical read before we trusted it. The cost itself was modest, about twenty-one euros a month per person, with no extra per-query charges and no paid data services. The line we held throughout the project is the one on the bar at the bottom: we used AI as research infrastructure and as a strict reviewer, never as a ghostwriter. Every argument, interpretation, and conclusion in the paper is our own. With that, here are our sources, and then we are very happy to take your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our main sources, in APA seventh-edition style, split across the two columns. The theoretical backbone comes from Shleifer and Vishny, Jensen and Meckling, Megginson and Netter, Luo and Tung, and Teece. The empirical evidence on China comes from Bai and co-authors, Howell, Holmes, and Allen. The company figures come from the audited annual reports of all three firms, together with the EU regulation and the IEA Global EV Outlook. The full reference list is in the written paper. Thank you very much for your attention — we are now happy to take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48640"/>
            <a:ext cx="10972800" cy="320040"/>
          </a:xfrm>
          <a:prstGeom prst="rect">
            <a:avLst/>
          </a:prstGeom>
          <a:noFill/>
        </p:spPr>
        <p:txBody>
          <a:bodyPr wrap="square" lIns="0" tIns="0" rIns="0" bIns="0" anchor="t">
            <a:spAutoFit/>
          </a:bodyPr>
          <a:lstStyle/>
          <a:p>
            <a:pPr algn="l">
              <a:lnSpc>
                <a:spcPct val="100000"/>
              </a:lnSpc>
              <a:spcBef>
                <a:spcPts val="0"/>
              </a:spcBef>
              <a:spcAft>
                <a:spcPts val="200"/>
              </a:spcAft>
            </a:pPr>
            <a:r>
              <a:rPr sz="1300" b="1" i="0">
                <a:solidFill>
                  <a:srgbClr val="06B6D4"/>
                </a:solidFill>
                <a:latin typeface="Arial"/>
              </a:rPr>
              <a:t>M&amp;A AS TRANSFORMER OF THE AUTOMOTIVE INDUSTRY</a:t>
            </a:r>
          </a:p>
        </p:txBody>
      </p:sp>
      <p:sp>
        <p:nvSpPr>
          <p:cNvPr id="5" name="TextBox 4"/>
          <p:cNvSpPr txBox="1"/>
          <p:nvPr/>
        </p:nvSpPr>
        <p:spPr>
          <a:xfrm>
            <a:off x="548640" y="1828800"/>
            <a:ext cx="10972800" cy="1554480"/>
          </a:xfrm>
          <a:prstGeom prst="rect">
            <a:avLst/>
          </a:prstGeom>
          <a:noFill/>
        </p:spPr>
        <p:txBody>
          <a:bodyPr wrap="square" lIns="0" tIns="0" rIns="0" bIns="0" anchor="t">
            <a:spAutoFit/>
          </a:bodyPr>
          <a:lstStyle/>
          <a:p>
            <a:pPr algn="l">
              <a:lnSpc>
                <a:spcPct val="100000"/>
              </a:lnSpc>
              <a:spcBef>
                <a:spcPts val="0"/>
              </a:spcBef>
              <a:spcAft>
                <a:spcPts val="200"/>
              </a:spcAft>
            </a:pPr>
            <a:r>
              <a:rPr sz="4600" b="1" i="0">
                <a:solidFill>
                  <a:srgbClr val="FFFFFF"/>
                </a:solidFill>
                <a:latin typeface="Arial"/>
              </a:rPr>
              <a:t>China Strategies in the</a:t>
            </a:r>
          </a:p>
          <a:p>
            <a:pPr algn="l">
              <a:lnSpc>
                <a:spcPct val="100000"/>
              </a:lnSpc>
              <a:spcBef>
                <a:spcPts val="0"/>
              </a:spcBef>
              <a:spcAft>
                <a:spcPts val="200"/>
              </a:spcAft>
            </a:pPr>
            <a:r>
              <a:rPr sz="4600" b="1" i="0">
                <a:solidFill>
                  <a:srgbClr val="FFFFFF"/>
                </a:solidFill>
                <a:latin typeface="Arial"/>
              </a:rPr>
              <a:t>Automotive Industry</a:t>
            </a:r>
          </a:p>
        </p:txBody>
      </p:sp>
      <p:sp>
        <p:nvSpPr>
          <p:cNvPr id="6" name="TextBox 5"/>
          <p:cNvSpPr txBox="1"/>
          <p:nvPr/>
        </p:nvSpPr>
        <p:spPr>
          <a:xfrm>
            <a:off x="548640" y="3611880"/>
            <a:ext cx="10607040" cy="640080"/>
          </a:xfrm>
          <a:prstGeom prst="rect">
            <a:avLst/>
          </a:prstGeom>
          <a:noFill/>
        </p:spPr>
        <p:txBody>
          <a:bodyPr wrap="square" lIns="0" tIns="0" rIns="0" bIns="0" anchor="t">
            <a:spAutoFit/>
          </a:bodyPr>
          <a:lstStyle/>
          <a:p>
            <a:pPr algn="l">
              <a:lnSpc>
                <a:spcPct val="100000"/>
              </a:lnSpc>
              <a:spcBef>
                <a:spcPts val="0"/>
              </a:spcBef>
              <a:spcAft>
                <a:spcPts val="200"/>
              </a:spcAft>
            </a:pPr>
            <a:r>
              <a:rPr sz="1800" b="0" i="1">
                <a:solidFill>
                  <a:srgbClr val="CBD5E1"/>
                </a:solidFill>
                <a:latin typeface="Arial"/>
              </a:rPr>
              <a:t>Which governance and financing model creates long-term shareholder value?</a:t>
            </a:r>
          </a:p>
        </p:txBody>
      </p:sp>
      <p:sp>
        <p:nvSpPr>
          <p:cNvPr id="7" name="Rectangle 6"/>
          <p:cNvSpPr/>
          <p:nvPr/>
        </p:nvSpPr>
        <p:spPr>
          <a:xfrm>
            <a:off x="548640" y="4526280"/>
            <a:ext cx="3383280" cy="4206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4526280"/>
            <a:ext cx="3383280" cy="420624"/>
          </a:xfrm>
          <a:prstGeom prst="rect">
            <a:avLst/>
          </a:prstGeom>
          <a:noFill/>
        </p:spPr>
        <p:txBody>
          <a:bodyPr wrap="square" lIns="0" tIns="0" rIns="0" bIns="0" anchor="ctr">
            <a:spAutoFit/>
          </a:bodyPr>
          <a:lstStyle/>
          <a:p>
            <a:pPr algn="ctr">
              <a:lnSpc>
                <a:spcPct val="100000"/>
              </a:lnSpc>
              <a:spcBef>
                <a:spcPts val="0"/>
              </a:spcBef>
              <a:spcAft>
                <a:spcPts val="200"/>
              </a:spcAft>
            </a:pPr>
            <a:r>
              <a:rPr sz="1250" b="1" i="0">
                <a:solidFill>
                  <a:srgbClr val="FFFFFF"/>
                </a:solidFill>
                <a:latin typeface="Arial"/>
              </a:rPr>
              <a:t>SAIC  ·  Joint Venture</a:t>
            </a:r>
          </a:p>
        </p:txBody>
      </p:sp>
      <p:sp>
        <p:nvSpPr>
          <p:cNvPr id="9" name="Rectangle 8"/>
          <p:cNvSpPr/>
          <p:nvPr/>
        </p:nvSpPr>
        <p:spPr>
          <a:xfrm>
            <a:off x="4160520" y="4526280"/>
            <a:ext cx="3383280" cy="4206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60520" y="4526280"/>
            <a:ext cx="3383280" cy="420624"/>
          </a:xfrm>
          <a:prstGeom prst="rect">
            <a:avLst/>
          </a:prstGeom>
          <a:noFill/>
        </p:spPr>
        <p:txBody>
          <a:bodyPr wrap="square" lIns="0" tIns="0" rIns="0" bIns="0" anchor="ctr">
            <a:spAutoFit/>
          </a:bodyPr>
          <a:lstStyle/>
          <a:p>
            <a:pPr algn="ctr">
              <a:lnSpc>
                <a:spcPct val="100000"/>
              </a:lnSpc>
              <a:spcBef>
                <a:spcPts val="0"/>
              </a:spcBef>
              <a:spcAft>
                <a:spcPts val="200"/>
              </a:spcAft>
            </a:pPr>
            <a:r>
              <a:rPr sz="1250" b="1" i="0">
                <a:solidFill>
                  <a:srgbClr val="FFFFFF"/>
                </a:solidFill>
                <a:latin typeface="Arial"/>
              </a:rPr>
              <a:t>BYD  ·  Vertical Integration</a:t>
            </a:r>
          </a:p>
        </p:txBody>
      </p:sp>
      <p:sp>
        <p:nvSpPr>
          <p:cNvPr id="11" name="Rectangle 10"/>
          <p:cNvSpPr/>
          <p:nvPr/>
        </p:nvSpPr>
        <p:spPr>
          <a:xfrm>
            <a:off x="7772400" y="4526280"/>
            <a:ext cx="3383280" cy="420624"/>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0" y="4526280"/>
            <a:ext cx="3383280" cy="420624"/>
          </a:xfrm>
          <a:prstGeom prst="rect">
            <a:avLst/>
          </a:prstGeom>
          <a:noFill/>
        </p:spPr>
        <p:txBody>
          <a:bodyPr wrap="square" lIns="0" tIns="0" rIns="0" bIns="0" anchor="ctr">
            <a:spAutoFit/>
          </a:bodyPr>
          <a:lstStyle/>
          <a:p>
            <a:pPr algn="ctr">
              <a:lnSpc>
                <a:spcPct val="100000"/>
              </a:lnSpc>
              <a:spcBef>
                <a:spcPts val="0"/>
              </a:spcBef>
              <a:spcAft>
                <a:spcPts val="200"/>
              </a:spcAft>
            </a:pPr>
            <a:r>
              <a:rPr sz="1250" b="1" i="0">
                <a:solidFill>
                  <a:srgbClr val="FFFFFF"/>
                </a:solidFill>
                <a:latin typeface="Arial"/>
              </a:rPr>
              <a:t>Geely  ·  M&amp;A-Driven</a:t>
            </a:r>
          </a:p>
        </p:txBody>
      </p:sp>
      <p:sp>
        <p:nvSpPr>
          <p:cNvPr id="13" name="TextBox 12"/>
          <p:cNvSpPr txBox="1"/>
          <p:nvPr/>
        </p:nvSpPr>
        <p:spPr>
          <a:xfrm>
            <a:off x="548640" y="5532120"/>
            <a:ext cx="10972800" cy="365760"/>
          </a:xfrm>
          <a:prstGeom prst="rect">
            <a:avLst/>
          </a:prstGeom>
          <a:noFill/>
        </p:spPr>
        <p:txBody>
          <a:bodyPr wrap="square" lIns="0" tIns="0" rIns="0" bIns="0" anchor="t">
            <a:spAutoFit/>
          </a:bodyPr>
          <a:lstStyle/>
          <a:p>
            <a:pPr algn="l">
              <a:lnSpc>
                <a:spcPct val="100000"/>
              </a:lnSpc>
              <a:spcBef>
                <a:spcPts val="0"/>
              </a:spcBef>
              <a:spcAft>
                <a:spcPts val="200"/>
              </a:spcAft>
            </a:pPr>
            <a:r>
              <a:rPr sz="1500" b="1" i="0">
                <a:solidFill>
                  <a:srgbClr val="FFFFFF"/>
                </a:solidFill>
                <a:latin typeface="Arial"/>
              </a:rPr>
              <a:t>Julia Ort  ·  Batughan Maus  ·  Chiara Stubner</a:t>
            </a:r>
          </a:p>
        </p:txBody>
      </p:sp>
      <p:sp>
        <p:nvSpPr>
          <p:cNvPr id="14" name="TextBox 13"/>
          <p:cNvSpPr txBox="1"/>
          <p:nvPr/>
        </p:nvSpPr>
        <p:spPr>
          <a:xfrm>
            <a:off x="548640" y="5943600"/>
            <a:ext cx="10972800" cy="548640"/>
          </a:xfrm>
          <a:prstGeom prst="rect">
            <a:avLst/>
          </a:prstGeom>
          <a:noFill/>
        </p:spPr>
        <p:txBody>
          <a:bodyPr wrap="square" lIns="0" tIns="0" rIns="0" bIns="0" anchor="t">
            <a:spAutoFit/>
          </a:bodyPr>
          <a:lstStyle/>
          <a:p>
            <a:pPr algn="l">
              <a:lnSpc>
                <a:spcPct val="110000"/>
              </a:lnSpc>
              <a:spcBef>
                <a:spcPts val="0"/>
              </a:spcBef>
              <a:spcAft>
                <a:spcPts val="200"/>
              </a:spcAft>
            </a:pPr>
            <a:r>
              <a:rPr sz="1200" b="0" i="0">
                <a:solidFill>
                  <a:srgbClr val="64748B"/>
                </a:solidFill>
                <a:latin typeface="Arial"/>
              </a:rPr>
              <a:t>Johann Wolfgang Goethe-Universität Frankfurt  ·  Chair of Banking and Finance</a:t>
            </a:r>
          </a:p>
          <a:p>
            <a:pPr algn="l">
              <a:lnSpc>
                <a:spcPct val="110000"/>
              </a:lnSpc>
              <a:spcBef>
                <a:spcPts val="0"/>
              </a:spcBef>
              <a:spcAft>
                <a:spcPts val="200"/>
              </a:spcAft>
            </a:pPr>
            <a:r>
              <a:rPr sz="1200" b="0" i="0">
                <a:solidFill>
                  <a:srgbClr val="64748B"/>
                </a:solidFill>
                <a:latin typeface="Arial"/>
              </a:rPr>
              <a:t>Prof. Dr. Mark Wahrenburg  ·  Advisor: Edoardo Pilla  ·  29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INTRODUCTION · WHY NOW</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30-year joint-venture model is breaking down as EVs take over</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37360"/>
            <a:ext cx="26974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2563EB"/>
                </a:solidFill>
                <a:latin typeface="Arial"/>
              </a:rPr>
              <a:t>~55%</a:t>
            </a:r>
          </a:p>
        </p:txBody>
      </p:sp>
      <p:sp>
        <p:nvSpPr>
          <p:cNvPr id="10" name="TextBox 9"/>
          <p:cNvSpPr txBox="1"/>
          <p:nvPr/>
        </p:nvSpPr>
        <p:spPr>
          <a:xfrm>
            <a:off x="658368" y="2880360"/>
            <a:ext cx="2478024" cy="59436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0F172A"/>
                </a:solidFill>
                <a:latin typeface="Arial"/>
              </a:rPr>
              <a:t>EV share of new-car</a:t>
            </a:r>
          </a:p>
          <a:p>
            <a:pPr algn="ctr">
              <a:lnSpc>
                <a:spcPct val="100000"/>
              </a:lnSpc>
              <a:spcBef>
                <a:spcPts val="0"/>
              </a:spcBef>
              <a:spcAft>
                <a:spcPts val="200"/>
              </a:spcAft>
            </a:pPr>
            <a:r>
              <a:rPr sz="1200" b="0" i="0">
                <a:solidFill>
                  <a:srgbClr val="0F172A"/>
                </a:solidFill>
                <a:latin typeface="Arial"/>
              </a:rPr>
              <a:t>sales in China (2025)</a:t>
            </a:r>
          </a:p>
        </p:txBody>
      </p:sp>
      <p:sp>
        <p:nvSpPr>
          <p:cNvPr id="11" name="Rectangle 10"/>
          <p:cNvSpPr/>
          <p:nvPr/>
        </p:nvSpPr>
        <p:spPr>
          <a:xfrm>
            <a:off x="333756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337560" y="1737360"/>
            <a:ext cx="269748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3756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06B6D4"/>
                </a:solidFill>
                <a:latin typeface="Arial"/>
              </a:rPr>
              <a:t>~60%</a:t>
            </a:r>
          </a:p>
        </p:txBody>
      </p:sp>
      <p:sp>
        <p:nvSpPr>
          <p:cNvPr id="14" name="TextBox 13"/>
          <p:cNvSpPr txBox="1"/>
          <p:nvPr/>
        </p:nvSpPr>
        <p:spPr>
          <a:xfrm>
            <a:off x="3447288" y="2880360"/>
            <a:ext cx="2478024" cy="59436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0F172A"/>
                </a:solidFill>
                <a:latin typeface="Arial"/>
              </a:rPr>
              <a:t>of global EV sales</a:t>
            </a:r>
          </a:p>
          <a:p>
            <a:pPr algn="ctr">
              <a:lnSpc>
                <a:spcPct val="100000"/>
              </a:lnSpc>
              <a:spcBef>
                <a:spcPts val="0"/>
              </a:spcBef>
              <a:spcAft>
                <a:spcPts val="200"/>
              </a:spcAft>
            </a:pPr>
            <a:r>
              <a:rPr sz="1200" b="0" i="0">
                <a:solidFill>
                  <a:srgbClr val="0F172A"/>
                </a:solidFill>
                <a:latin typeface="Arial"/>
              </a:rPr>
              <a:t>from Chinese makers</a:t>
            </a:r>
          </a:p>
        </p:txBody>
      </p:sp>
      <p:sp>
        <p:nvSpPr>
          <p:cNvPr id="15" name="Rectangle 14"/>
          <p:cNvSpPr/>
          <p:nvPr/>
        </p:nvSpPr>
        <p:spPr>
          <a:xfrm>
            <a:off x="612648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26480" y="1737360"/>
            <a:ext cx="26974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2648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DC2626"/>
                </a:solidFill>
                <a:latin typeface="Arial"/>
              </a:rPr>
              <a:t>35.3%</a:t>
            </a:r>
          </a:p>
        </p:txBody>
      </p:sp>
      <p:sp>
        <p:nvSpPr>
          <p:cNvPr id="18" name="TextBox 17"/>
          <p:cNvSpPr txBox="1"/>
          <p:nvPr/>
        </p:nvSpPr>
        <p:spPr>
          <a:xfrm>
            <a:off x="6236208" y="2880360"/>
            <a:ext cx="2478024" cy="59436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0F172A"/>
                </a:solidFill>
                <a:latin typeface="Arial"/>
              </a:rPr>
              <a:t>EU duty on SAIC</a:t>
            </a:r>
          </a:p>
          <a:p>
            <a:pPr algn="ctr">
              <a:lnSpc>
                <a:spcPct val="100000"/>
              </a:lnSpc>
              <a:spcBef>
                <a:spcPts val="0"/>
              </a:spcBef>
              <a:spcAft>
                <a:spcPts val="200"/>
              </a:spcAft>
            </a:pPr>
            <a:r>
              <a:rPr sz="1200" b="0" i="0">
                <a:solidFill>
                  <a:srgbClr val="0F172A"/>
                </a:solidFill>
                <a:latin typeface="Arial"/>
              </a:rPr>
              <a:t>(17.0% BYD · 18.8% Geely)</a:t>
            </a:r>
          </a:p>
        </p:txBody>
      </p:sp>
      <p:sp>
        <p:nvSpPr>
          <p:cNvPr id="19" name="Rectangle 18"/>
          <p:cNvSpPr/>
          <p:nvPr/>
        </p:nvSpPr>
        <p:spPr>
          <a:xfrm>
            <a:off x="891540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915400" y="1737360"/>
            <a:ext cx="26974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91540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DC2626"/>
                </a:solidFill>
                <a:latin typeface="Arial"/>
              </a:rPr>
              <a:t>88%</a:t>
            </a:r>
          </a:p>
        </p:txBody>
      </p:sp>
      <p:sp>
        <p:nvSpPr>
          <p:cNvPr id="22" name="TextBox 21"/>
          <p:cNvSpPr txBox="1"/>
          <p:nvPr/>
        </p:nvSpPr>
        <p:spPr>
          <a:xfrm>
            <a:off x="9025128" y="2880360"/>
            <a:ext cx="2478024" cy="59436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0F172A"/>
                </a:solidFill>
                <a:latin typeface="Arial"/>
              </a:rPr>
              <a:t>drop in SAIC net</a:t>
            </a:r>
          </a:p>
          <a:p>
            <a:pPr algn="ctr">
              <a:lnSpc>
                <a:spcPct val="100000"/>
              </a:lnSpc>
              <a:spcBef>
                <a:spcPts val="0"/>
              </a:spcBef>
              <a:spcAft>
                <a:spcPts val="200"/>
              </a:spcAft>
            </a:pPr>
            <a:r>
              <a:rPr sz="1200" b="0" i="0">
                <a:solidFill>
                  <a:srgbClr val="0F172A"/>
                </a:solidFill>
                <a:latin typeface="Arial"/>
              </a:rPr>
              <a:t>profit in 2024</a:t>
            </a:r>
          </a:p>
        </p:txBody>
      </p:sp>
      <p:sp>
        <p:nvSpPr>
          <p:cNvPr id="23" name="TextBox 22"/>
          <p:cNvSpPr txBox="1"/>
          <p:nvPr/>
        </p:nvSpPr>
        <p:spPr>
          <a:xfrm>
            <a:off x="548640" y="3931920"/>
            <a:ext cx="11064240" cy="1828800"/>
          </a:xfrm>
          <a:prstGeom prst="rect">
            <a:avLst/>
          </a:prstGeom>
          <a:noFill/>
        </p:spPr>
        <p:txBody>
          <a:bodyPr wrap="square" lIns="0" tIns="0" rIns="0" bIns="0">
            <a:spAutoFit/>
          </a:bodyPr>
          <a:lstStyle/>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For three decades foreign technology was traded for market access, with a state-owned partner in the middle (Holmes et al., 2015) — the EV shift makes that logic obsolete.</a:t>
            </a:r>
          </a:p>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Firms that leaned on foreign partners are losing share fast, while independent Chinese makers have become global leaders (Whitfield &amp; Wuttke, 2026).</a:t>
            </a:r>
          </a:p>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The EU now prices governance risk directly: the tariff a firm pays tracks how state-dependent it is (European Commission, 2024).</a:t>
            </a:r>
          </a:p>
        </p:txBody>
      </p:sp>
      <p:sp>
        <p:nvSpPr>
          <p:cNvPr id="24" name="TextBox 23"/>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Sources: IEA Global EV Outlook 2026 · SAIC Annual Report 2024/2025 · European Commission (2024)</a:t>
            </a:r>
          </a:p>
        </p:txBody>
      </p:sp>
      <p:sp>
        <p:nvSpPr>
          <p:cNvPr id="25" name="TextBox 24"/>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6" name="TextBox 25"/>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INTRODUCTION · RESEARCH DESIGN</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One question, three governance archetypes, four analytical dimensions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27632"/>
            <a:ext cx="11064240" cy="8229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27632"/>
            <a:ext cx="10698480" cy="822960"/>
          </a:xfrm>
          <a:prstGeom prst="rect">
            <a:avLst/>
          </a:prstGeom>
          <a:noFill/>
        </p:spPr>
        <p:txBody>
          <a:bodyPr wrap="square" lIns="0" tIns="0" rIns="0" bIns="0" anchor="ctr">
            <a:spAutoFit/>
          </a:bodyPr>
          <a:lstStyle/>
          <a:p>
            <a:pPr algn="l">
              <a:lnSpc>
                <a:spcPct val="105000"/>
              </a:lnSpc>
              <a:spcBef>
                <a:spcPts val="0"/>
              </a:spcBef>
              <a:spcAft>
                <a:spcPts val="200"/>
              </a:spcAft>
            </a:pPr>
            <a:r>
              <a:rPr sz="1600" b="1" i="1">
                <a:solidFill>
                  <a:srgbClr val="FFFFFF"/>
                </a:solidFill>
                <a:latin typeface="Arial"/>
              </a:rPr>
              <a:t>“Which governance and financing structure is most likely to create long-term shareholder value in a technology-intensive, high-growth market?”</a:t>
            </a:r>
          </a:p>
        </p:txBody>
      </p:sp>
      <p:sp>
        <p:nvSpPr>
          <p:cNvPr id="9" name="Rectangle 8"/>
          <p:cNvSpPr/>
          <p:nvPr/>
        </p:nvSpPr>
        <p:spPr>
          <a:xfrm>
            <a:off x="548640"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269748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DC2626"/>
                </a:solidFill>
                <a:latin typeface="Arial"/>
              </a:rPr>
              <a:t>SAIC Motor</a:t>
            </a:r>
          </a:p>
        </p:txBody>
      </p:sp>
      <p:sp>
        <p:nvSpPr>
          <p:cNvPr id="12" name="TextBox 11"/>
          <p:cNvSpPr txBox="1"/>
          <p:nvPr/>
        </p:nvSpPr>
        <p:spPr>
          <a:xfrm>
            <a:off x="713232" y="3273552"/>
            <a:ext cx="3291840" cy="640080"/>
          </a:xfrm>
          <a:prstGeom prst="rect">
            <a:avLst/>
          </a:prstGeom>
          <a:noFill/>
        </p:spPr>
        <p:txBody>
          <a:bodyPr wrap="square" lIns="0" tIns="0" rIns="0" bIns="0" anchor="t">
            <a:spAutoFit/>
          </a:bodyPr>
          <a:lstStyle/>
          <a:p>
            <a:pPr algn="l">
              <a:lnSpc>
                <a:spcPct val="105000"/>
              </a:lnSpc>
              <a:spcBef>
                <a:spcPts val="0"/>
              </a:spcBef>
              <a:spcAft>
                <a:spcPts val="200"/>
              </a:spcAft>
            </a:pPr>
            <a:r>
              <a:rPr sz="1300" b="0" i="0">
                <a:solidFill>
                  <a:srgbClr val="0F172A"/>
                </a:solidFill>
                <a:latin typeface="Arial"/>
              </a:rPr>
              <a:t>Joint-venture model</a:t>
            </a:r>
          </a:p>
          <a:p>
            <a:pPr algn="l">
              <a:lnSpc>
                <a:spcPct val="105000"/>
              </a:lnSpc>
              <a:spcBef>
                <a:spcPts val="0"/>
              </a:spcBef>
              <a:spcAft>
                <a:spcPts val="200"/>
              </a:spcAft>
            </a:pPr>
            <a:r>
              <a:rPr sz="1300" b="0" i="0">
                <a:solidFill>
                  <a:srgbClr val="0F172A"/>
                </a:solidFill>
                <a:latin typeface="Arial"/>
              </a:rPr>
              <a:t>State-owned · SASAC ~73%</a:t>
            </a:r>
          </a:p>
        </p:txBody>
      </p:sp>
      <p:sp>
        <p:nvSpPr>
          <p:cNvPr id="13" name="Rectangle 12"/>
          <p:cNvSpPr/>
          <p:nvPr/>
        </p:nvSpPr>
        <p:spPr>
          <a:xfrm>
            <a:off x="4279392"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79392" y="269748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43984"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2563EB"/>
                </a:solidFill>
                <a:latin typeface="Arial"/>
              </a:rPr>
              <a:t>BYD</a:t>
            </a:r>
          </a:p>
        </p:txBody>
      </p:sp>
      <p:sp>
        <p:nvSpPr>
          <p:cNvPr id="16" name="TextBox 15"/>
          <p:cNvSpPr txBox="1"/>
          <p:nvPr/>
        </p:nvSpPr>
        <p:spPr>
          <a:xfrm>
            <a:off x="4443984" y="3273552"/>
            <a:ext cx="3291840" cy="640080"/>
          </a:xfrm>
          <a:prstGeom prst="rect">
            <a:avLst/>
          </a:prstGeom>
          <a:noFill/>
        </p:spPr>
        <p:txBody>
          <a:bodyPr wrap="square" lIns="0" tIns="0" rIns="0" bIns="0" anchor="t">
            <a:spAutoFit/>
          </a:bodyPr>
          <a:lstStyle/>
          <a:p>
            <a:pPr algn="l">
              <a:lnSpc>
                <a:spcPct val="105000"/>
              </a:lnSpc>
              <a:spcBef>
                <a:spcPts val="0"/>
              </a:spcBef>
              <a:spcAft>
                <a:spcPts val="200"/>
              </a:spcAft>
            </a:pPr>
            <a:r>
              <a:rPr sz="1300" b="0" i="0">
                <a:solidFill>
                  <a:srgbClr val="0F172A"/>
                </a:solidFill>
                <a:latin typeface="Arial"/>
              </a:rPr>
              <a:t>Vertical integration</a:t>
            </a:r>
          </a:p>
          <a:p>
            <a:pPr algn="l">
              <a:lnSpc>
                <a:spcPct val="105000"/>
              </a:lnSpc>
              <a:spcBef>
                <a:spcPts val="0"/>
              </a:spcBef>
              <a:spcAft>
                <a:spcPts val="200"/>
              </a:spcAft>
            </a:pPr>
            <a:r>
              <a:rPr sz="1300" b="0" i="0">
                <a:solidFill>
                  <a:srgbClr val="0F172A"/>
                </a:solidFill>
                <a:latin typeface="Arial"/>
              </a:rPr>
              <a:t>Founder-led · Wang ~17%</a:t>
            </a:r>
          </a:p>
        </p:txBody>
      </p:sp>
      <p:sp>
        <p:nvSpPr>
          <p:cNvPr id="17" name="Rectangle 16"/>
          <p:cNvSpPr/>
          <p:nvPr/>
        </p:nvSpPr>
        <p:spPr>
          <a:xfrm>
            <a:off x="8010144"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10144" y="269748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74736"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06B6D4"/>
                </a:solidFill>
                <a:latin typeface="Arial"/>
              </a:rPr>
              <a:t>Geely</a:t>
            </a:r>
          </a:p>
        </p:txBody>
      </p:sp>
      <p:sp>
        <p:nvSpPr>
          <p:cNvPr id="20" name="TextBox 19"/>
          <p:cNvSpPr txBox="1"/>
          <p:nvPr/>
        </p:nvSpPr>
        <p:spPr>
          <a:xfrm>
            <a:off x="8174736" y="3273552"/>
            <a:ext cx="3291840" cy="640080"/>
          </a:xfrm>
          <a:prstGeom prst="rect">
            <a:avLst/>
          </a:prstGeom>
          <a:noFill/>
        </p:spPr>
        <p:txBody>
          <a:bodyPr wrap="square" lIns="0" tIns="0" rIns="0" bIns="0" anchor="t">
            <a:spAutoFit/>
          </a:bodyPr>
          <a:lstStyle/>
          <a:p>
            <a:pPr algn="l">
              <a:lnSpc>
                <a:spcPct val="105000"/>
              </a:lnSpc>
              <a:spcBef>
                <a:spcPts val="0"/>
              </a:spcBef>
              <a:spcAft>
                <a:spcPts val="200"/>
              </a:spcAft>
            </a:pPr>
            <a:r>
              <a:rPr sz="1300" b="0" i="0">
                <a:solidFill>
                  <a:srgbClr val="0F172A"/>
                </a:solidFill>
                <a:latin typeface="Arial"/>
              </a:rPr>
              <a:t>M&amp;A-driven</a:t>
            </a:r>
          </a:p>
          <a:p>
            <a:pPr algn="l">
              <a:lnSpc>
                <a:spcPct val="105000"/>
              </a:lnSpc>
              <a:spcBef>
                <a:spcPts val="0"/>
              </a:spcBef>
              <a:spcAft>
                <a:spcPts val="200"/>
              </a:spcAft>
            </a:pPr>
            <a:r>
              <a:rPr sz="1300" b="0" i="0">
                <a:solidFill>
                  <a:srgbClr val="0F172A"/>
                </a:solidFill>
                <a:latin typeface="Arial"/>
              </a:rPr>
              <a:t>Founder-led · Li ~41% attributable</a:t>
            </a:r>
          </a:p>
        </p:txBody>
      </p:sp>
      <p:sp>
        <p:nvSpPr>
          <p:cNvPr id="21" name="TextBox 20"/>
          <p:cNvSpPr txBox="1"/>
          <p:nvPr/>
        </p:nvSpPr>
        <p:spPr>
          <a:xfrm>
            <a:off x="548640" y="420624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2563EB"/>
                </a:solidFill>
                <a:latin typeface="Arial"/>
              </a:rPr>
              <a:t>FOUR ANALYTICAL DIMENSIONS — APPLIED TO EACH CASE</a:t>
            </a:r>
          </a:p>
        </p:txBody>
      </p:sp>
      <p:sp>
        <p:nvSpPr>
          <p:cNvPr id="22" name="Rectangle 21"/>
          <p:cNvSpPr/>
          <p:nvPr/>
        </p:nvSpPr>
        <p:spPr>
          <a:xfrm>
            <a:off x="5486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4572000"/>
            <a:ext cx="256032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1  Governance</a:t>
            </a:r>
          </a:p>
        </p:txBody>
      </p:sp>
      <p:sp>
        <p:nvSpPr>
          <p:cNvPr id="24" name="TextBox 23"/>
          <p:cNvSpPr txBox="1"/>
          <p:nvPr/>
        </p:nvSpPr>
        <p:spPr>
          <a:xfrm>
            <a:off x="31089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25" name="Rectangle 24"/>
          <p:cNvSpPr/>
          <p:nvPr/>
        </p:nvSpPr>
        <p:spPr>
          <a:xfrm>
            <a:off x="32918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291840" y="4572000"/>
            <a:ext cx="256032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2  Financing</a:t>
            </a:r>
          </a:p>
        </p:txBody>
      </p:sp>
      <p:sp>
        <p:nvSpPr>
          <p:cNvPr id="27" name="TextBox 26"/>
          <p:cNvSpPr txBox="1"/>
          <p:nvPr/>
        </p:nvSpPr>
        <p:spPr>
          <a:xfrm>
            <a:off x="58521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28" name="Rectangle 27"/>
          <p:cNvSpPr/>
          <p:nvPr/>
        </p:nvSpPr>
        <p:spPr>
          <a:xfrm>
            <a:off x="60350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035040" y="4572000"/>
            <a:ext cx="256032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3  Capability Building</a:t>
            </a:r>
          </a:p>
        </p:txBody>
      </p:sp>
      <p:sp>
        <p:nvSpPr>
          <p:cNvPr id="30" name="TextBox 29"/>
          <p:cNvSpPr txBox="1"/>
          <p:nvPr/>
        </p:nvSpPr>
        <p:spPr>
          <a:xfrm>
            <a:off x="85953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31" name="Rectangle 30"/>
          <p:cNvSpPr/>
          <p:nvPr/>
        </p:nvSpPr>
        <p:spPr>
          <a:xfrm>
            <a:off x="87782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778240" y="4572000"/>
            <a:ext cx="256032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4  Long-term Viability</a:t>
            </a:r>
          </a:p>
        </p:txBody>
      </p:sp>
      <p:sp>
        <p:nvSpPr>
          <p:cNvPr id="33" name="TextBox 32"/>
          <p:cNvSpPr txBox="1"/>
          <p:nvPr/>
        </p:nvSpPr>
        <p:spPr>
          <a:xfrm>
            <a:off x="548640" y="5532120"/>
            <a:ext cx="11064240" cy="548640"/>
          </a:xfrm>
          <a:prstGeom prst="rect">
            <a:avLst/>
          </a:prstGeom>
          <a:noFill/>
        </p:spPr>
        <p:txBody>
          <a:bodyPr wrap="square" lIns="0" tIns="0" rIns="0" bIns="0" anchor="t">
            <a:spAutoFit/>
          </a:bodyPr>
          <a:lstStyle/>
          <a:p>
            <a:pPr algn="l">
              <a:lnSpc>
                <a:spcPct val="105000"/>
              </a:lnSpc>
              <a:spcBef>
                <a:spcPts val="0"/>
              </a:spcBef>
              <a:spcAft>
                <a:spcPts val="200"/>
              </a:spcAft>
            </a:pPr>
            <a:r>
              <a:rPr sz="1400" b="1" i="0">
                <a:solidFill>
                  <a:srgbClr val="0F172A"/>
                </a:solidFill>
                <a:latin typeface="Arial"/>
              </a:rPr>
              <a:t>Central thesis: governance structure, more than initial technological endowment, determines long-term value creation.</a:t>
            </a:r>
          </a:p>
        </p:txBody>
      </p:sp>
      <p:sp>
        <p:nvSpPr>
          <p:cNvPr id="34" name="TextBox 33"/>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35" name="TextBox 34"/>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THEORY &amp; LITERATURE</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Six established lenses frame governance as the driver of value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37360"/>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1883664"/>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450" b="1" i="0">
                <a:solidFill>
                  <a:srgbClr val="0F172A"/>
                </a:solidFill>
                <a:latin typeface="Arial"/>
              </a:rPr>
              <a:t>Control rights drive allocation</a:t>
            </a:r>
          </a:p>
        </p:txBody>
      </p:sp>
      <p:sp>
        <p:nvSpPr>
          <p:cNvPr id="10" name="TextBox 9"/>
          <p:cNvSpPr txBox="1"/>
          <p:nvPr/>
        </p:nvSpPr>
        <p:spPr>
          <a:xfrm>
            <a:off x="749808" y="2450592"/>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150" b="1" i="1">
                <a:solidFill>
                  <a:srgbClr val="DC2626"/>
                </a:solidFill>
                <a:latin typeface="Arial"/>
              </a:rPr>
              <a:t>Shleifer &amp; Vishny (1994)</a:t>
            </a:r>
          </a:p>
        </p:txBody>
      </p:sp>
      <p:sp>
        <p:nvSpPr>
          <p:cNvPr id="11" name="TextBox 10"/>
          <p:cNvSpPr txBox="1"/>
          <p:nvPr/>
        </p:nvSpPr>
        <p:spPr>
          <a:xfrm>
            <a:off x="749808" y="2761488"/>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250" b="0" i="0">
                <a:solidFill>
                  <a:srgbClr val="0F172A"/>
                </a:solidFill>
                <a:latin typeface="Arial"/>
              </a:rPr>
              <a:t>State control steers firms toward political goals, away from value.</a:t>
            </a:r>
          </a:p>
        </p:txBody>
      </p:sp>
      <p:sp>
        <p:nvSpPr>
          <p:cNvPr id="12" name="Rectangle 11"/>
          <p:cNvSpPr/>
          <p:nvPr/>
        </p:nvSpPr>
        <p:spPr>
          <a:xfrm>
            <a:off x="4293108"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93108" y="1737360"/>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94276" y="1883664"/>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450" b="1" i="0">
                <a:solidFill>
                  <a:srgbClr val="0F172A"/>
                </a:solidFill>
                <a:latin typeface="Arial"/>
              </a:rPr>
              <a:t>State vs. private ownership</a:t>
            </a:r>
          </a:p>
        </p:txBody>
      </p:sp>
      <p:sp>
        <p:nvSpPr>
          <p:cNvPr id="15" name="TextBox 14"/>
          <p:cNvSpPr txBox="1"/>
          <p:nvPr/>
        </p:nvSpPr>
        <p:spPr>
          <a:xfrm>
            <a:off x="4494276" y="2450592"/>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150" b="1" i="1">
                <a:solidFill>
                  <a:srgbClr val="DC2626"/>
                </a:solidFill>
                <a:latin typeface="Arial"/>
              </a:rPr>
              <a:t>Megginson &amp; Netter (2001)</a:t>
            </a:r>
          </a:p>
        </p:txBody>
      </p:sp>
      <p:sp>
        <p:nvSpPr>
          <p:cNvPr id="16" name="TextBox 15"/>
          <p:cNvSpPr txBox="1"/>
          <p:nvPr/>
        </p:nvSpPr>
        <p:spPr>
          <a:xfrm>
            <a:off x="4494276" y="2761488"/>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250" b="0" i="0">
                <a:solidFill>
                  <a:srgbClr val="0F172A"/>
                </a:solidFill>
                <a:latin typeface="Arial"/>
              </a:rPr>
              <a:t>Privatised firms outperform; mixed-ownership firms do not catch up.</a:t>
            </a:r>
          </a:p>
        </p:txBody>
      </p:sp>
      <p:sp>
        <p:nvSpPr>
          <p:cNvPr id="17" name="Rectangle 16"/>
          <p:cNvSpPr/>
          <p:nvPr/>
        </p:nvSpPr>
        <p:spPr>
          <a:xfrm>
            <a:off x="8037576"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37576" y="173736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38744" y="1883664"/>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450" b="1" i="0">
                <a:solidFill>
                  <a:srgbClr val="0F172A"/>
                </a:solidFill>
                <a:latin typeface="Arial"/>
              </a:rPr>
              <a:t>Agency &amp; founder alignment</a:t>
            </a:r>
          </a:p>
        </p:txBody>
      </p:sp>
      <p:sp>
        <p:nvSpPr>
          <p:cNvPr id="20" name="TextBox 19"/>
          <p:cNvSpPr txBox="1"/>
          <p:nvPr/>
        </p:nvSpPr>
        <p:spPr>
          <a:xfrm>
            <a:off x="8238744" y="2450592"/>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150" b="1" i="1">
                <a:solidFill>
                  <a:srgbClr val="2563EB"/>
                </a:solidFill>
                <a:latin typeface="Arial"/>
              </a:rPr>
              <a:t>Jensen &amp; Meckling (1976)</a:t>
            </a:r>
          </a:p>
        </p:txBody>
      </p:sp>
      <p:sp>
        <p:nvSpPr>
          <p:cNvPr id="21" name="TextBox 20"/>
          <p:cNvSpPr txBox="1"/>
          <p:nvPr/>
        </p:nvSpPr>
        <p:spPr>
          <a:xfrm>
            <a:off x="8238744" y="2761488"/>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250" b="0" i="0">
                <a:solidFill>
                  <a:srgbClr val="0F172A"/>
                </a:solidFill>
                <a:latin typeface="Arial"/>
              </a:rPr>
              <a:t>Concentrated founder ownership removes the principal–agent conflict.</a:t>
            </a:r>
          </a:p>
        </p:txBody>
      </p:sp>
      <p:sp>
        <p:nvSpPr>
          <p:cNvPr id="22" name="Rectangle 21"/>
          <p:cNvSpPr/>
          <p:nvPr/>
        </p:nvSpPr>
        <p:spPr>
          <a:xfrm>
            <a:off x="548640"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48640" y="3794759"/>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9808" y="3941063"/>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450" b="1" i="0">
                <a:solidFill>
                  <a:srgbClr val="0F172A"/>
                </a:solidFill>
                <a:latin typeface="Arial"/>
              </a:rPr>
              <a:t>Quid pro quo transfer</a:t>
            </a:r>
          </a:p>
        </p:txBody>
      </p:sp>
      <p:sp>
        <p:nvSpPr>
          <p:cNvPr id="25" name="TextBox 24"/>
          <p:cNvSpPr txBox="1"/>
          <p:nvPr/>
        </p:nvSpPr>
        <p:spPr>
          <a:xfrm>
            <a:off x="749808" y="4507991"/>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150" b="1" i="1">
                <a:solidFill>
                  <a:srgbClr val="DC2626"/>
                </a:solidFill>
                <a:latin typeface="Arial"/>
              </a:rPr>
              <a:t>Holmes et al. (2015) · Fan et al. (2007)</a:t>
            </a:r>
          </a:p>
        </p:txBody>
      </p:sp>
      <p:sp>
        <p:nvSpPr>
          <p:cNvPr id="26" name="TextBox 25"/>
          <p:cNvSpPr txBox="1"/>
          <p:nvPr/>
        </p:nvSpPr>
        <p:spPr>
          <a:xfrm>
            <a:off x="749808" y="4818887"/>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250" b="0" i="0">
                <a:solidFill>
                  <a:srgbClr val="0F172A"/>
                </a:solidFill>
                <a:latin typeface="Arial"/>
              </a:rPr>
              <a:t>Tech-for-access; politically connected firms lag ~18% post-IPO.</a:t>
            </a:r>
          </a:p>
        </p:txBody>
      </p:sp>
      <p:sp>
        <p:nvSpPr>
          <p:cNvPr id="27" name="Rectangle 26"/>
          <p:cNvSpPr/>
          <p:nvPr/>
        </p:nvSpPr>
        <p:spPr>
          <a:xfrm>
            <a:off x="4293108"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293108" y="3794759"/>
            <a:ext cx="82296" cy="1874519"/>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494276" y="3941063"/>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450" b="1" i="0">
                <a:solidFill>
                  <a:srgbClr val="0F172A"/>
                </a:solidFill>
                <a:latin typeface="Arial"/>
              </a:rPr>
              <a:t>Springboard M&amp;A</a:t>
            </a:r>
          </a:p>
        </p:txBody>
      </p:sp>
      <p:sp>
        <p:nvSpPr>
          <p:cNvPr id="30" name="TextBox 29"/>
          <p:cNvSpPr txBox="1"/>
          <p:nvPr/>
        </p:nvSpPr>
        <p:spPr>
          <a:xfrm>
            <a:off x="4494276" y="4507991"/>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150" b="1" i="1">
                <a:solidFill>
                  <a:srgbClr val="06B6D4"/>
                </a:solidFill>
                <a:latin typeface="Arial"/>
              </a:rPr>
              <a:t>Luo &amp; Tung (2007)</a:t>
            </a:r>
          </a:p>
        </p:txBody>
      </p:sp>
      <p:sp>
        <p:nvSpPr>
          <p:cNvPr id="31" name="TextBox 30"/>
          <p:cNvSpPr txBox="1"/>
          <p:nvPr/>
        </p:nvSpPr>
        <p:spPr>
          <a:xfrm>
            <a:off x="4494276" y="4818887"/>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250" b="0" i="0">
                <a:solidFill>
                  <a:srgbClr val="0F172A"/>
                </a:solidFill>
                <a:latin typeface="Arial"/>
              </a:rPr>
              <a:t>Emerging-market firms acquire abroad to leap latecomer disadvantages.</a:t>
            </a:r>
          </a:p>
        </p:txBody>
      </p:sp>
      <p:sp>
        <p:nvSpPr>
          <p:cNvPr id="32" name="Rectangle 31"/>
          <p:cNvSpPr/>
          <p:nvPr/>
        </p:nvSpPr>
        <p:spPr>
          <a:xfrm>
            <a:off x="8037576"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037576" y="3794759"/>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38744" y="3941063"/>
            <a:ext cx="3264408" cy="457200"/>
          </a:xfrm>
          <a:prstGeom prst="rect">
            <a:avLst/>
          </a:prstGeom>
          <a:noFill/>
        </p:spPr>
        <p:txBody>
          <a:bodyPr wrap="square" lIns="0" tIns="0" rIns="0" bIns="0" anchor="t">
            <a:spAutoFit/>
          </a:bodyPr>
          <a:lstStyle/>
          <a:p>
            <a:pPr algn="l">
              <a:lnSpc>
                <a:spcPct val="95000"/>
              </a:lnSpc>
              <a:spcBef>
                <a:spcPts val="0"/>
              </a:spcBef>
              <a:spcAft>
                <a:spcPts val="200"/>
              </a:spcAft>
            </a:pPr>
            <a:r>
              <a:rPr sz="1450" b="1" i="0">
                <a:solidFill>
                  <a:srgbClr val="0F172A"/>
                </a:solidFill>
                <a:latin typeface="Arial"/>
              </a:rPr>
              <a:t>Dynamic capabilities</a:t>
            </a:r>
          </a:p>
        </p:txBody>
      </p:sp>
      <p:sp>
        <p:nvSpPr>
          <p:cNvPr id="35" name="TextBox 34"/>
          <p:cNvSpPr txBox="1"/>
          <p:nvPr/>
        </p:nvSpPr>
        <p:spPr>
          <a:xfrm>
            <a:off x="8238744" y="4507991"/>
            <a:ext cx="3264408" cy="274320"/>
          </a:xfrm>
          <a:prstGeom prst="rect">
            <a:avLst/>
          </a:prstGeom>
          <a:noFill/>
        </p:spPr>
        <p:txBody>
          <a:bodyPr wrap="square" lIns="0" tIns="0" rIns="0" bIns="0" anchor="t">
            <a:spAutoFit/>
          </a:bodyPr>
          <a:lstStyle/>
          <a:p>
            <a:pPr algn="l">
              <a:lnSpc>
                <a:spcPct val="100000"/>
              </a:lnSpc>
              <a:spcBef>
                <a:spcPts val="0"/>
              </a:spcBef>
              <a:spcAft>
                <a:spcPts val="200"/>
              </a:spcAft>
            </a:pPr>
            <a:r>
              <a:rPr sz="1150" b="1" i="1">
                <a:solidFill>
                  <a:srgbClr val="2563EB"/>
                </a:solidFill>
                <a:latin typeface="Arial"/>
              </a:rPr>
              <a:t>Teece et al. (1997)</a:t>
            </a:r>
          </a:p>
        </p:txBody>
      </p:sp>
      <p:sp>
        <p:nvSpPr>
          <p:cNvPr id="36" name="TextBox 35"/>
          <p:cNvSpPr txBox="1"/>
          <p:nvPr/>
        </p:nvSpPr>
        <p:spPr>
          <a:xfrm>
            <a:off x="8238744" y="4818887"/>
            <a:ext cx="3264408" cy="777240"/>
          </a:xfrm>
          <a:prstGeom prst="rect">
            <a:avLst/>
          </a:prstGeom>
          <a:noFill/>
        </p:spPr>
        <p:txBody>
          <a:bodyPr wrap="square" lIns="0" tIns="0" rIns="0" bIns="0" anchor="t">
            <a:spAutoFit/>
          </a:bodyPr>
          <a:lstStyle/>
          <a:p>
            <a:pPr algn="l">
              <a:lnSpc>
                <a:spcPct val="100000"/>
              </a:lnSpc>
              <a:spcBef>
                <a:spcPts val="0"/>
              </a:spcBef>
              <a:spcAft>
                <a:spcPts val="200"/>
              </a:spcAft>
            </a:pPr>
            <a:r>
              <a:rPr sz="1250" b="0" i="0">
                <a:solidFill>
                  <a:srgbClr val="0F172A"/>
                </a:solidFill>
                <a:latin typeface="Arial"/>
              </a:rPr>
              <a:t>Path-dependent tacit knowledge is the source of non-imitable advantage.</a:t>
            </a:r>
          </a:p>
        </p:txBody>
      </p:sp>
      <p:sp>
        <p:nvSpPr>
          <p:cNvPr id="37" name="TextBox 36"/>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38" name="TextBox 37"/>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ANALYTICAL FRAMEWORK</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Three models tested against four dimensions — a 3 × 4 matrix</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155448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1783080"/>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9" name="Rectangle 8"/>
          <p:cNvSpPr/>
          <p:nvPr/>
        </p:nvSpPr>
        <p:spPr>
          <a:xfrm>
            <a:off x="2103120" y="1783080"/>
            <a:ext cx="260604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76272" y="1783080"/>
            <a:ext cx="245973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Governance</a:t>
            </a:r>
          </a:p>
        </p:txBody>
      </p:sp>
      <p:sp>
        <p:nvSpPr>
          <p:cNvPr id="11" name="Rectangle 10"/>
          <p:cNvSpPr/>
          <p:nvPr/>
        </p:nvSpPr>
        <p:spPr>
          <a:xfrm>
            <a:off x="4709160" y="1783080"/>
            <a:ext cx="233172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82312" y="1783080"/>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Financing</a:t>
            </a:r>
          </a:p>
        </p:txBody>
      </p:sp>
      <p:sp>
        <p:nvSpPr>
          <p:cNvPr id="13" name="Rectangle 12"/>
          <p:cNvSpPr/>
          <p:nvPr/>
        </p:nvSpPr>
        <p:spPr>
          <a:xfrm>
            <a:off x="7040880" y="1783080"/>
            <a:ext cx="233172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14032" y="1783080"/>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Capability</a:t>
            </a:r>
          </a:p>
        </p:txBody>
      </p:sp>
      <p:sp>
        <p:nvSpPr>
          <p:cNvPr id="15" name="Rectangle 14"/>
          <p:cNvSpPr/>
          <p:nvPr/>
        </p:nvSpPr>
        <p:spPr>
          <a:xfrm>
            <a:off x="9372600" y="1783080"/>
            <a:ext cx="224028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45752" y="1783080"/>
            <a:ext cx="209397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Viability</a:t>
            </a:r>
          </a:p>
        </p:txBody>
      </p:sp>
      <p:sp>
        <p:nvSpPr>
          <p:cNvPr id="17" name="Rectangle 16"/>
          <p:cNvSpPr/>
          <p:nvPr/>
        </p:nvSpPr>
        <p:spPr>
          <a:xfrm>
            <a:off x="548640" y="2624328"/>
            <a:ext cx="1554480" cy="841248"/>
          </a:xfrm>
          <a:prstGeom prst="rect">
            <a:avLst/>
          </a:prstGeom>
          <a:solidFill>
            <a:srgbClr val="DC2626"/>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 y="2624328"/>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19" name="Rectangle 18"/>
          <p:cNvSpPr/>
          <p:nvPr/>
        </p:nvSpPr>
        <p:spPr>
          <a:xfrm>
            <a:off x="2103120" y="2624328"/>
            <a:ext cx="260604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176272" y="2624328"/>
            <a:ext cx="245973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State / SASAC + Party</a:t>
            </a:r>
          </a:p>
        </p:txBody>
      </p:sp>
      <p:sp>
        <p:nvSpPr>
          <p:cNvPr id="21" name="Rectangle 20"/>
          <p:cNvSpPr/>
          <p:nvPr/>
        </p:nvSpPr>
        <p:spPr>
          <a:xfrm>
            <a:off x="4709160" y="2624328"/>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82312" y="2624328"/>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JV dividends</a:t>
            </a:r>
          </a:p>
          <a:p>
            <a:pPr algn="ctr">
              <a:lnSpc>
                <a:spcPct val="95000"/>
              </a:lnSpc>
              <a:spcBef>
                <a:spcPts val="0"/>
              </a:spcBef>
              <a:spcAft>
                <a:spcPts val="200"/>
              </a:spcAft>
            </a:pPr>
            <a:r>
              <a:rPr sz="1350" b="0" i="0">
                <a:solidFill>
                  <a:srgbClr val="0F172A"/>
                </a:solidFill>
                <a:latin typeface="Arial"/>
              </a:rPr>
              <a:t>(capital-light)</a:t>
            </a:r>
          </a:p>
        </p:txBody>
      </p:sp>
      <p:sp>
        <p:nvSpPr>
          <p:cNvPr id="23" name="Rectangle 22"/>
          <p:cNvSpPr/>
          <p:nvPr/>
        </p:nvSpPr>
        <p:spPr>
          <a:xfrm>
            <a:off x="7040880" y="2624328"/>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14032" y="2624328"/>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Mandatory transfer</a:t>
            </a:r>
          </a:p>
        </p:txBody>
      </p:sp>
      <p:sp>
        <p:nvSpPr>
          <p:cNvPr id="25" name="Rectangle 24"/>
          <p:cNvSpPr/>
          <p:nvPr/>
        </p:nvSpPr>
        <p:spPr>
          <a:xfrm>
            <a:off x="9372600" y="2624328"/>
            <a:ext cx="224028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445752" y="2624328"/>
            <a:ext cx="209397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Most exposed</a:t>
            </a:r>
          </a:p>
        </p:txBody>
      </p:sp>
      <p:sp>
        <p:nvSpPr>
          <p:cNvPr id="27" name="Rectangle 26"/>
          <p:cNvSpPr/>
          <p:nvPr/>
        </p:nvSpPr>
        <p:spPr>
          <a:xfrm>
            <a:off x="548640" y="3465576"/>
            <a:ext cx="1554480" cy="841248"/>
          </a:xfrm>
          <a:prstGeom prst="rect">
            <a:avLst/>
          </a:prstGeom>
          <a:solidFill>
            <a:srgbClr val="2563EB"/>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1792" y="3465576"/>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29" name="Rectangle 28"/>
          <p:cNvSpPr/>
          <p:nvPr/>
        </p:nvSpPr>
        <p:spPr>
          <a:xfrm>
            <a:off x="2103120" y="3465576"/>
            <a:ext cx="260604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176272" y="3465576"/>
            <a:ext cx="245973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Founder-led</a:t>
            </a:r>
          </a:p>
          <a:p>
            <a:pPr algn="ctr">
              <a:lnSpc>
                <a:spcPct val="95000"/>
              </a:lnSpc>
              <a:spcBef>
                <a:spcPts val="0"/>
              </a:spcBef>
              <a:spcAft>
                <a:spcPts val="200"/>
              </a:spcAft>
            </a:pPr>
            <a:r>
              <a:rPr sz="1350" b="0" i="0">
                <a:solidFill>
                  <a:srgbClr val="0F172A"/>
                </a:solidFill>
                <a:latin typeface="Arial"/>
              </a:rPr>
              <a:t>(Wang ~17%)</a:t>
            </a:r>
          </a:p>
        </p:txBody>
      </p:sp>
      <p:sp>
        <p:nvSpPr>
          <p:cNvPr id="31" name="Rectangle 30"/>
          <p:cNvSpPr/>
          <p:nvPr/>
        </p:nvSpPr>
        <p:spPr>
          <a:xfrm>
            <a:off x="4709160" y="3465576"/>
            <a:ext cx="233172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782312" y="3465576"/>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Self-financing</a:t>
            </a:r>
          </a:p>
          <a:p>
            <a:pPr algn="ctr">
              <a:lnSpc>
                <a:spcPct val="95000"/>
              </a:lnSpc>
              <a:spcBef>
                <a:spcPts val="0"/>
              </a:spcBef>
              <a:spcAft>
                <a:spcPts val="200"/>
              </a:spcAft>
            </a:pPr>
            <a:r>
              <a:rPr sz="1350" b="0" i="0">
                <a:solidFill>
                  <a:srgbClr val="0F172A"/>
                </a:solidFill>
                <a:latin typeface="Arial"/>
              </a:rPr>
              <a:t>(operating cash)</a:t>
            </a:r>
          </a:p>
        </p:txBody>
      </p:sp>
      <p:sp>
        <p:nvSpPr>
          <p:cNvPr id="33" name="Rectangle 32"/>
          <p:cNvSpPr/>
          <p:nvPr/>
        </p:nvSpPr>
        <p:spPr>
          <a:xfrm>
            <a:off x="7040880" y="3465576"/>
            <a:ext cx="233172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114032" y="3465576"/>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Organic build</a:t>
            </a:r>
          </a:p>
        </p:txBody>
      </p:sp>
      <p:sp>
        <p:nvSpPr>
          <p:cNvPr id="35" name="Rectangle 34"/>
          <p:cNvSpPr/>
          <p:nvPr/>
        </p:nvSpPr>
        <p:spPr>
          <a:xfrm>
            <a:off x="9372600" y="3465576"/>
            <a:ext cx="224028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445752" y="3465576"/>
            <a:ext cx="209397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Strongest</a:t>
            </a:r>
          </a:p>
        </p:txBody>
      </p:sp>
      <p:sp>
        <p:nvSpPr>
          <p:cNvPr id="37" name="Rectangle 36"/>
          <p:cNvSpPr/>
          <p:nvPr/>
        </p:nvSpPr>
        <p:spPr>
          <a:xfrm>
            <a:off x="548640" y="4306824"/>
            <a:ext cx="1554480" cy="841248"/>
          </a:xfrm>
          <a:prstGeom prst="rect">
            <a:avLst/>
          </a:prstGeom>
          <a:solidFill>
            <a:srgbClr val="06B6D4"/>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1792" y="4306824"/>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39" name="Rectangle 38"/>
          <p:cNvSpPr/>
          <p:nvPr/>
        </p:nvSpPr>
        <p:spPr>
          <a:xfrm>
            <a:off x="2103120" y="4306824"/>
            <a:ext cx="260604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76272" y="4306824"/>
            <a:ext cx="245973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Founder-led</a:t>
            </a:r>
          </a:p>
          <a:p>
            <a:pPr algn="ctr">
              <a:lnSpc>
                <a:spcPct val="95000"/>
              </a:lnSpc>
              <a:spcBef>
                <a:spcPts val="0"/>
              </a:spcBef>
              <a:spcAft>
                <a:spcPts val="200"/>
              </a:spcAft>
            </a:pPr>
            <a:r>
              <a:rPr sz="1350" b="0" i="0">
                <a:solidFill>
                  <a:srgbClr val="0F172A"/>
                </a:solidFill>
                <a:latin typeface="Arial"/>
              </a:rPr>
              <a:t>(Li ~41%)</a:t>
            </a:r>
          </a:p>
        </p:txBody>
      </p:sp>
      <p:sp>
        <p:nvSpPr>
          <p:cNvPr id="41" name="Rectangle 40"/>
          <p:cNvSpPr/>
          <p:nvPr/>
        </p:nvSpPr>
        <p:spPr>
          <a:xfrm>
            <a:off x="4709160" y="4306824"/>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782312" y="4306824"/>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Leveraged M&amp;A</a:t>
            </a:r>
          </a:p>
        </p:txBody>
      </p:sp>
      <p:sp>
        <p:nvSpPr>
          <p:cNvPr id="43" name="Rectangle 42"/>
          <p:cNvSpPr/>
          <p:nvPr/>
        </p:nvSpPr>
        <p:spPr>
          <a:xfrm>
            <a:off x="7040880" y="4306824"/>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114032" y="4306824"/>
            <a:ext cx="218541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Acquisition + co-dev</a:t>
            </a:r>
          </a:p>
        </p:txBody>
      </p:sp>
      <p:sp>
        <p:nvSpPr>
          <p:cNvPr id="45" name="Rectangle 44"/>
          <p:cNvSpPr/>
          <p:nvPr/>
        </p:nvSpPr>
        <p:spPr>
          <a:xfrm>
            <a:off x="9372600" y="4306824"/>
            <a:ext cx="224028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445752" y="4306824"/>
            <a:ext cx="2093976" cy="841248"/>
          </a:xfrm>
          <a:prstGeom prst="rect">
            <a:avLst/>
          </a:prstGeom>
          <a:noFill/>
        </p:spPr>
        <p:txBody>
          <a:bodyPr wrap="square" lIns="0" tIns="0" rIns="0" bIns="0" anchor="ctr">
            <a:spAutoFit/>
          </a:bodyPr>
          <a:lstStyle/>
          <a:p>
            <a:pPr algn="ctr">
              <a:lnSpc>
                <a:spcPct val="95000"/>
              </a:lnSpc>
              <a:spcBef>
                <a:spcPts val="0"/>
              </a:spcBef>
              <a:spcAft>
                <a:spcPts val="200"/>
              </a:spcAft>
            </a:pPr>
            <a:r>
              <a:rPr sz="1350" b="0" i="0">
                <a:solidFill>
                  <a:srgbClr val="0F172A"/>
                </a:solidFill>
                <a:latin typeface="Arial"/>
              </a:rPr>
              <a:t>Most asymmetric</a:t>
            </a:r>
          </a:p>
        </p:txBody>
      </p:sp>
      <p:sp>
        <p:nvSpPr>
          <p:cNvPr id="47" name="TextBox 46"/>
          <p:cNvSpPr txBox="1"/>
          <p:nvPr/>
        </p:nvSpPr>
        <p:spPr>
          <a:xfrm>
            <a:off x="548640" y="2624328"/>
            <a:ext cx="1554480" cy="841248"/>
          </a:xfrm>
          <a:prstGeom prst="rect">
            <a:avLst/>
          </a:prstGeom>
          <a:noFill/>
        </p:spPr>
        <p:txBody>
          <a:bodyPr wrap="square" lIns="0" tIns="0" rIns="0" bIns="0" anchor="ctr">
            <a:spAutoFit/>
          </a:bodyPr>
          <a:lstStyle/>
          <a:p>
            <a:pPr algn="ctr">
              <a:lnSpc>
                <a:spcPct val="100000"/>
              </a:lnSpc>
              <a:spcBef>
                <a:spcPts val="0"/>
              </a:spcBef>
              <a:spcAft>
                <a:spcPts val="200"/>
              </a:spcAft>
            </a:pPr>
            <a:r>
              <a:rPr sz="1400" b="1" i="0">
                <a:solidFill>
                  <a:srgbClr val="FFFFFF"/>
                </a:solidFill>
                <a:latin typeface="Arial"/>
              </a:rPr>
              <a:t>SAIC</a:t>
            </a:r>
          </a:p>
        </p:txBody>
      </p:sp>
      <p:sp>
        <p:nvSpPr>
          <p:cNvPr id="48" name="TextBox 47"/>
          <p:cNvSpPr txBox="1"/>
          <p:nvPr/>
        </p:nvSpPr>
        <p:spPr>
          <a:xfrm>
            <a:off x="548640" y="3465576"/>
            <a:ext cx="1554480" cy="841248"/>
          </a:xfrm>
          <a:prstGeom prst="rect">
            <a:avLst/>
          </a:prstGeom>
          <a:noFill/>
        </p:spPr>
        <p:txBody>
          <a:bodyPr wrap="square" lIns="0" tIns="0" rIns="0" bIns="0" anchor="ctr">
            <a:spAutoFit/>
          </a:bodyPr>
          <a:lstStyle/>
          <a:p>
            <a:pPr algn="ctr">
              <a:lnSpc>
                <a:spcPct val="100000"/>
              </a:lnSpc>
              <a:spcBef>
                <a:spcPts val="0"/>
              </a:spcBef>
              <a:spcAft>
                <a:spcPts val="200"/>
              </a:spcAft>
            </a:pPr>
            <a:r>
              <a:rPr sz="1400" b="1" i="0">
                <a:solidFill>
                  <a:srgbClr val="FFFFFF"/>
                </a:solidFill>
                <a:latin typeface="Arial"/>
              </a:rPr>
              <a:t>BYD</a:t>
            </a:r>
          </a:p>
        </p:txBody>
      </p:sp>
      <p:sp>
        <p:nvSpPr>
          <p:cNvPr id="49" name="TextBox 48"/>
          <p:cNvSpPr txBox="1"/>
          <p:nvPr/>
        </p:nvSpPr>
        <p:spPr>
          <a:xfrm>
            <a:off x="548640" y="4306824"/>
            <a:ext cx="1554480" cy="841248"/>
          </a:xfrm>
          <a:prstGeom prst="rect">
            <a:avLst/>
          </a:prstGeom>
          <a:noFill/>
        </p:spPr>
        <p:txBody>
          <a:bodyPr wrap="square" lIns="0" tIns="0" rIns="0" bIns="0" anchor="ctr">
            <a:spAutoFit/>
          </a:bodyPr>
          <a:lstStyle/>
          <a:p>
            <a:pPr algn="ctr">
              <a:lnSpc>
                <a:spcPct val="100000"/>
              </a:lnSpc>
              <a:spcBef>
                <a:spcPts val="0"/>
              </a:spcBef>
              <a:spcAft>
                <a:spcPts val="200"/>
              </a:spcAft>
            </a:pPr>
            <a:r>
              <a:rPr sz="1400" b="1" i="0">
                <a:solidFill>
                  <a:srgbClr val="FFFFFF"/>
                </a:solidFill>
                <a:latin typeface="Arial"/>
              </a:rPr>
              <a:t>Geely</a:t>
            </a:r>
          </a:p>
        </p:txBody>
      </p:sp>
      <p:sp>
        <p:nvSpPr>
          <p:cNvPr id="50" name="TextBox 49"/>
          <p:cNvSpPr txBox="1"/>
          <p:nvPr/>
        </p:nvSpPr>
        <p:spPr>
          <a:xfrm>
            <a:off x="548640" y="5440680"/>
            <a:ext cx="11064240" cy="548640"/>
          </a:xfrm>
          <a:prstGeom prst="rect">
            <a:avLst/>
          </a:prstGeom>
          <a:noFill/>
        </p:spPr>
        <p:txBody>
          <a:bodyPr wrap="square" lIns="0" tIns="0" rIns="0" bIns="0" anchor="t">
            <a:spAutoFit/>
          </a:bodyPr>
          <a:lstStyle/>
          <a:p>
            <a:pPr algn="l">
              <a:lnSpc>
                <a:spcPct val="105000"/>
              </a:lnSpc>
              <a:spcBef>
                <a:spcPts val="0"/>
              </a:spcBef>
              <a:spcAft>
                <a:spcPts val="200"/>
              </a:spcAft>
            </a:pPr>
            <a:r>
              <a:rPr sz="1400" b="1" i="0">
                <a:solidFill>
                  <a:srgbClr val="0F172A"/>
                </a:solidFill>
                <a:latin typeface="Arial"/>
              </a:rPr>
              <a:t>Reading the matrix: the firm that is least adaptable in governance is also the most exposed in viability — the columns are linked, not independent.</a:t>
            </a:r>
          </a:p>
        </p:txBody>
      </p:sp>
      <p:sp>
        <p:nvSpPr>
          <p:cNvPr id="51" name="TextBox 50"/>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Anchors: Shleifer &amp; Vishny (1994) · Megginson &amp; Netter (2001) · Teece et al. (1997) · Luo &amp; Tung (2007) · Fan et al. (2007)</a:t>
            </a:r>
          </a:p>
        </p:txBody>
      </p:sp>
      <p:sp>
        <p:nvSpPr>
          <p:cNvPr id="52" name="TextBox 5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53" name="TextBox 5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1 · GOVERNANCE</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Who controls the firm — and what they optimise — diverges sharply</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SAIC — dual state principal</a:t>
            </a:r>
          </a:p>
        </p:txBody>
      </p:sp>
      <p:sp>
        <p:nvSpPr>
          <p:cNvPr id="10" name="TextBox 9"/>
          <p:cNvSpPr txBox="1"/>
          <p:nvPr/>
        </p:nvSpPr>
        <p:spPr>
          <a:xfrm>
            <a:off x="713232"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SASAC owns ~73%; the Party mandate is written into the charter</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Optimises beyond shareholder value: jobs, policy, prestige</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Connected firms lag ~18% post-IPO (Fan et al., 2007)</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Cannot exit unprofitable JVs without state sign-off</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Slow capital reallocation → strategic rigidity</a:t>
            </a:r>
          </a:p>
        </p:txBody>
      </p:sp>
      <p:sp>
        <p:nvSpPr>
          <p:cNvPr id="11" name="Rectangle 10"/>
          <p:cNvSpPr/>
          <p:nvPr/>
        </p:nvSpPr>
        <p:spPr>
          <a:xfrm>
            <a:off x="4279392"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BYD — founder control</a:t>
            </a:r>
          </a:p>
        </p:txBody>
      </p:sp>
      <p:sp>
        <p:nvSpPr>
          <p:cNvPr id="14" name="TextBox 13"/>
          <p:cNvSpPr txBox="1"/>
          <p:nvPr/>
        </p:nvSpPr>
        <p:spPr>
          <a:xfrm>
            <a:off x="4443984"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Wang Chuanfu ~17%; founding team &gt; 1/3 of votes</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No JV dependency; one clear commercial objective</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Founder control aids breakthrough innovation (Zhang et al., 2025)</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Exited combustion engines in 2022 — decided alone</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Fastest decision cycle of the three</a:t>
            </a:r>
          </a:p>
        </p:txBody>
      </p:sp>
      <p:sp>
        <p:nvSpPr>
          <p:cNvPr id="15" name="Rectangle 14"/>
          <p:cNvSpPr/>
          <p:nvPr/>
        </p:nvSpPr>
        <p:spPr>
          <a:xfrm>
            <a:off x="8010144"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Geely — founder apex</a:t>
            </a:r>
          </a:p>
        </p:txBody>
      </p:sp>
      <p:sp>
        <p:nvSpPr>
          <p:cNvPr id="18" name="TextBox 17"/>
          <p:cNvSpPr txBox="1"/>
          <p:nvPr/>
        </p:nvSpPr>
        <p:spPr>
          <a:xfrm>
            <a:off x="8174736"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Li Shufu ~41% attributable via ZGH (64.4% combined)</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No state committee or JV-partner consent at the top</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Agile in M&amp;A, but coordination cost across brands</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Volvo / Polestar / Lotus add portfolio complexity</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Loss-making subsidiaries = contingent liability</a:t>
            </a:r>
          </a:p>
        </p:txBody>
      </p:sp>
      <p:sp>
        <p:nvSpPr>
          <p:cNvPr id="19" name="TextBox 18"/>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Theory: Shleifer &amp; Vishny (1994) · Fan et al. (2007) · Jensen &amp; Meckling (1976) · Megginson &amp; Netter (2001)</a:t>
            </a:r>
          </a:p>
        </p:txBody>
      </p:sp>
      <p:sp>
        <p:nvSpPr>
          <p:cNvPr id="20" name="TextBox 19"/>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1" name="TextBox 20"/>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1 · GOVERNANCE SYNTHESIS</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EU tariff gap prices governance risk — an outside validation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6868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1737360"/>
            <a:ext cx="329184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DC2626"/>
                </a:solidFill>
                <a:latin typeface="Arial"/>
              </a:rPr>
              <a:t>35.3%</a:t>
            </a:r>
          </a:p>
        </p:txBody>
      </p:sp>
      <p:sp>
        <p:nvSpPr>
          <p:cNvPr id="10" name="TextBox 9"/>
          <p:cNvSpPr txBox="1"/>
          <p:nvPr/>
        </p:nvSpPr>
        <p:spPr>
          <a:xfrm>
            <a:off x="86868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600" b="1" i="0">
                <a:solidFill>
                  <a:srgbClr val="0F172A"/>
                </a:solidFill>
                <a:latin typeface="Arial"/>
              </a:rPr>
              <a:t>SAIC</a:t>
            </a:r>
          </a:p>
        </p:txBody>
      </p:sp>
      <p:sp>
        <p:nvSpPr>
          <p:cNvPr id="11" name="TextBox 10"/>
          <p:cNvSpPr txBox="1"/>
          <p:nvPr/>
        </p:nvSpPr>
        <p:spPr>
          <a:xfrm>
            <a:off x="978408" y="3154680"/>
            <a:ext cx="3072384" cy="502920"/>
          </a:xfrm>
          <a:prstGeom prst="rect">
            <a:avLst/>
          </a:prstGeom>
          <a:noFill/>
        </p:spPr>
        <p:txBody>
          <a:bodyPr wrap="square" lIns="0" tIns="0" rIns="0" bIns="0" anchor="t">
            <a:spAutoFit/>
          </a:bodyPr>
          <a:lstStyle/>
          <a:p>
            <a:pPr algn="ctr">
              <a:lnSpc>
                <a:spcPct val="100000"/>
              </a:lnSpc>
              <a:spcBef>
                <a:spcPts val="0"/>
              </a:spcBef>
              <a:spcAft>
                <a:spcPts val="200"/>
              </a:spcAft>
            </a:pPr>
            <a:r>
              <a:rPr sz="1200" b="0" i="1">
                <a:solidFill>
                  <a:srgbClr val="64748B"/>
                </a:solidFill>
                <a:latin typeface="Arial"/>
              </a:rPr>
              <a:t>State-owned;</a:t>
            </a:r>
          </a:p>
          <a:p>
            <a:pPr algn="ctr">
              <a:lnSpc>
                <a:spcPct val="100000"/>
              </a:lnSpc>
              <a:spcBef>
                <a:spcPts val="0"/>
              </a:spcBef>
              <a:spcAft>
                <a:spcPts val="200"/>
              </a:spcAft>
            </a:pPr>
            <a:r>
              <a:rPr sz="1200" b="0" i="1">
                <a:solidFill>
                  <a:srgbClr val="64748B"/>
                </a:solidFill>
                <a:latin typeface="Arial"/>
              </a:rPr>
              <a:t>highest subsidy finding</a:t>
            </a:r>
          </a:p>
        </p:txBody>
      </p:sp>
      <p:sp>
        <p:nvSpPr>
          <p:cNvPr id="12" name="Rectangle 11"/>
          <p:cNvSpPr/>
          <p:nvPr/>
        </p:nvSpPr>
        <p:spPr>
          <a:xfrm>
            <a:off x="438912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89120" y="1737360"/>
            <a:ext cx="329184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2563EB"/>
                </a:solidFill>
                <a:latin typeface="Arial"/>
              </a:rPr>
              <a:t>17.0%</a:t>
            </a:r>
          </a:p>
        </p:txBody>
      </p:sp>
      <p:sp>
        <p:nvSpPr>
          <p:cNvPr id="15" name="TextBox 14"/>
          <p:cNvSpPr txBox="1"/>
          <p:nvPr/>
        </p:nvSpPr>
        <p:spPr>
          <a:xfrm>
            <a:off x="438912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600" b="1" i="0">
                <a:solidFill>
                  <a:srgbClr val="0F172A"/>
                </a:solidFill>
                <a:latin typeface="Arial"/>
              </a:rPr>
              <a:t>BYD</a:t>
            </a:r>
          </a:p>
        </p:txBody>
      </p:sp>
      <p:sp>
        <p:nvSpPr>
          <p:cNvPr id="16" name="TextBox 15"/>
          <p:cNvSpPr txBox="1"/>
          <p:nvPr/>
        </p:nvSpPr>
        <p:spPr>
          <a:xfrm>
            <a:off x="4498848" y="3154680"/>
            <a:ext cx="3072384" cy="502920"/>
          </a:xfrm>
          <a:prstGeom prst="rect">
            <a:avLst/>
          </a:prstGeom>
          <a:noFill/>
        </p:spPr>
        <p:txBody>
          <a:bodyPr wrap="square" lIns="0" tIns="0" rIns="0" bIns="0" anchor="t">
            <a:spAutoFit/>
          </a:bodyPr>
          <a:lstStyle/>
          <a:p>
            <a:pPr algn="ctr">
              <a:lnSpc>
                <a:spcPct val="100000"/>
              </a:lnSpc>
              <a:spcBef>
                <a:spcPts val="0"/>
              </a:spcBef>
              <a:spcAft>
                <a:spcPts val="200"/>
              </a:spcAft>
            </a:pPr>
            <a:r>
              <a:rPr sz="1200" b="0" i="1">
                <a:solidFill>
                  <a:srgbClr val="64748B"/>
                </a:solidFill>
                <a:latin typeface="Arial"/>
              </a:rPr>
              <a:t>Founder-led;</a:t>
            </a:r>
          </a:p>
          <a:p>
            <a:pPr algn="ctr">
              <a:lnSpc>
                <a:spcPct val="100000"/>
              </a:lnSpc>
              <a:spcBef>
                <a:spcPts val="0"/>
              </a:spcBef>
              <a:spcAft>
                <a:spcPts val="200"/>
              </a:spcAft>
            </a:pPr>
            <a:r>
              <a:rPr sz="1200" b="0" i="1">
                <a:solidFill>
                  <a:srgbClr val="64748B"/>
                </a:solidFill>
                <a:latin typeface="Arial"/>
              </a:rPr>
              <a:t>lowest state finding</a:t>
            </a:r>
          </a:p>
        </p:txBody>
      </p:sp>
      <p:sp>
        <p:nvSpPr>
          <p:cNvPr id="17" name="Rectangle 16"/>
          <p:cNvSpPr/>
          <p:nvPr/>
        </p:nvSpPr>
        <p:spPr>
          <a:xfrm>
            <a:off x="790956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909560" y="1737360"/>
            <a:ext cx="329184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90956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06B6D4"/>
                </a:solidFill>
                <a:latin typeface="Arial"/>
              </a:rPr>
              <a:t>18.8%</a:t>
            </a:r>
          </a:p>
        </p:txBody>
      </p:sp>
      <p:sp>
        <p:nvSpPr>
          <p:cNvPr id="20" name="TextBox 19"/>
          <p:cNvSpPr txBox="1"/>
          <p:nvPr/>
        </p:nvSpPr>
        <p:spPr>
          <a:xfrm>
            <a:off x="790956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600" b="1" i="0">
                <a:solidFill>
                  <a:srgbClr val="0F172A"/>
                </a:solidFill>
                <a:latin typeface="Arial"/>
              </a:rPr>
              <a:t>Geely</a:t>
            </a:r>
          </a:p>
        </p:txBody>
      </p:sp>
      <p:sp>
        <p:nvSpPr>
          <p:cNvPr id="21" name="TextBox 20"/>
          <p:cNvSpPr txBox="1"/>
          <p:nvPr/>
        </p:nvSpPr>
        <p:spPr>
          <a:xfrm>
            <a:off x="8019288" y="3154680"/>
            <a:ext cx="3072384" cy="502920"/>
          </a:xfrm>
          <a:prstGeom prst="rect">
            <a:avLst/>
          </a:prstGeom>
          <a:noFill/>
        </p:spPr>
        <p:txBody>
          <a:bodyPr wrap="square" lIns="0" tIns="0" rIns="0" bIns="0" anchor="t">
            <a:spAutoFit/>
          </a:bodyPr>
          <a:lstStyle/>
          <a:p>
            <a:pPr algn="ctr">
              <a:lnSpc>
                <a:spcPct val="100000"/>
              </a:lnSpc>
              <a:spcBef>
                <a:spcPts val="0"/>
              </a:spcBef>
              <a:spcAft>
                <a:spcPts val="200"/>
              </a:spcAft>
            </a:pPr>
            <a:r>
              <a:rPr sz="1200" b="0" i="1">
                <a:solidFill>
                  <a:srgbClr val="64748B"/>
                </a:solidFill>
                <a:latin typeface="Arial"/>
              </a:rPr>
              <a:t>Private;</a:t>
            </a:r>
          </a:p>
          <a:p>
            <a:pPr algn="ctr">
              <a:lnSpc>
                <a:spcPct val="100000"/>
              </a:lnSpc>
              <a:spcBef>
                <a:spcPts val="0"/>
              </a:spcBef>
              <a:spcAft>
                <a:spcPts val="200"/>
              </a:spcAft>
            </a:pPr>
            <a:r>
              <a:rPr sz="1200" b="0" i="1">
                <a:solidFill>
                  <a:srgbClr val="64748B"/>
                </a:solidFill>
                <a:latin typeface="Arial"/>
              </a:rPr>
              <a:t>moderate state finding</a:t>
            </a:r>
          </a:p>
        </p:txBody>
      </p:sp>
      <p:sp>
        <p:nvSpPr>
          <p:cNvPr id="22" name="TextBox 21"/>
          <p:cNvSpPr txBox="1"/>
          <p:nvPr/>
        </p:nvSpPr>
        <p:spPr>
          <a:xfrm>
            <a:off x="548640" y="4069080"/>
            <a:ext cx="11064240" cy="1737360"/>
          </a:xfrm>
          <a:prstGeom prst="rect">
            <a:avLst/>
          </a:prstGeom>
          <a:noFill/>
        </p:spPr>
        <p:txBody>
          <a:bodyPr wrap="square" lIns="0" tIns="0" rIns="0" bIns="0">
            <a:spAutoFit/>
          </a:bodyPr>
          <a:lstStyle/>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An independent regulator — the European Commission — priced SAIC's state dependence at an 18.3-point premium over BYD, partly on “facts available” after the group withheld financing data.</a:t>
            </a:r>
          </a:p>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Adaptability rises as control concentrates: JV boards (bilateral consent) → state oversight → founder control.</a:t>
            </a:r>
          </a:p>
          <a:p>
            <a:pPr>
              <a:lnSpc>
                <a:spcPct val="105000"/>
              </a:lnSpc>
              <a:spcBef>
                <a:spcPts val="0"/>
              </a:spcBef>
              <a:spcAft>
                <a:spcPts val="900"/>
              </a:spcAft>
              <a:buNone/>
            </a:pPr>
            <a:r>
              <a:rPr sz="1500">
                <a:solidFill>
                  <a:srgbClr val="2563EB"/>
                </a:solidFill>
                <a:latin typeface="Arial"/>
              </a:rPr>
              <a:t>–  </a:t>
            </a:r>
            <a:r>
              <a:rPr sz="1500">
                <a:solidFill>
                  <a:srgbClr val="0F172A"/>
                </a:solidFill>
                <a:latin typeface="Arial"/>
              </a:rPr>
              <a:t>Core message: governance is a first-order determinant of competitive position, not an administrative footnote.</a:t>
            </a:r>
          </a:p>
        </p:txBody>
      </p:sp>
      <p:sp>
        <p:nvSpPr>
          <p:cNvPr id="23" name="TextBox 22"/>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European Commission (2024), Implementing Regulation (EU) 2024/2754 · Megginson &amp; Netter (2001)</a:t>
            </a:r>
          </a:p>
        </p:txBody>
      </p:sp>
      <p:sp>
        <p:nvSpPr>
          <p:cNvPr id="24" name="TextBox 23"/>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5" name="TextBox 24"/>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2 · FINANCING</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Capital structure decides who survives the downturn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Capital-light JV</a:t>
            </a:r>
          </a:p>
        </p:txBody>
      </p:sp>
      <p:sp>
        <p:nvSpPr>
          <p:cNvPr id="10" name="TextBox 9"/>
          <p:cNvSpPr txBox="1"/>
          <p:nvPr/>
        </p:nvSpPr>
        <p:spPr>
          <a:xfrm>
            <a:off x="713232" y="2478024"/>
            <a:ext cx="3264408" cy="243230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Risk externalised to 50/50 JV partners</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SAIC-GM sales −56.5% triggered impairments</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Net profit −88% (2024); ROE just 0.58%</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Bound to absorb losses it cannot restructure</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 a capital-light model became a capital trap</a:t>
            </a:r>
          </a:p>
        </p:txBody>
      </p:sp>
      <p:sp>
        <p:nvSpPr>
          <p:cNvPr id="11" name="Rectangle 10"/>
          <p:cNvSpPr/>
          <p:nvPr/>
        </p:nvSpPr>
        <p:spPr>
          <a:xfrm>
            <a:off x="4279392"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Self-financing</a:t>
            </a:r>
          </a:p>
        </p:txBody>
      </p:sp>
      <p:sp>
        <p:nvSpPr>
          <p:cNvPr id="14" name="TextBox 13"/>
          <p:cNvSpPr txBox="1"/>
          <p:nvPr/>
        </p:nvSpPr>
        <p:spPr>
          <a:xfrm>
            <a:off x="4443984" y="2478024"/>
            <a:ext cx="3264408" cy="243230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Funded from operating cash, not lenders</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R&amp;D (RMB 54.2 bn) exceeded net profit (40.3 bn)</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USD 5.6 bn raise with sovereign wealth funds</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Net-cash position = resilience in a downturn</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 resilient, but growth capped by internal cash</a:t>
            </a:r>
          </a:p>
        </p:txBody>
      </p:sp>
      <p:sp>
        <p:nvSpPr>
          <p:cNvPr id="15" name="Rectangle 14"/>
          <p:cNvSpPr/>
          <p:nvPr/>
        </p:nvSpPr>
        <p:spPr>
          <a:xfrm>
            <a:off x="8010144"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Leveraged M&amp;A</a:t>
            </a:r>
          </a:p>
        </p:txBody>
      </p:sp>
      <p:sp>
        <p:nvSpPr>
          <p:cNvPr id="18" name="TextBox 17"/>
          <p:cNvSpPr txBox="1"/>
          <p:nvPr/>
        </p:nvSpPr>
        <p:spPr>
          <a:xfrm>
            <a:off x="8174736" y="2478024"/>
            <a:ext cx="3264408" cy="243230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Debt-financed acquisitions buy capability fast</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Volvo (2010) for RMB 10.2 bn; then Lynk &amp; Co</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Gearing rose 8.8% → 19.8% (FY2025)</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Operating cash flow RMB 47.3 bn gives headroom</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 speed, at the cost of balance-sheet exposure</a:t>
            </a:r>
          </a:p>
        </p:txBody>
      </p:sp>
      <p:sp>
        <p:nvSpPr>
          <p:cNvPr id="19" name="Rectangle 18"/>
          <p:cNvSpPr/>
          <p:nvPr/>
        </p:nvSpPr>
        <p:spPr>
          <a:xfrm>
            <a:off x="548640" y="5285232"/>
            <a:ext cx="11064240"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5285232"/>
            <a:ext cx="10698480" cy="777240"/>
          </a:xfrm>
          <a:prstGeom prst="rect">
            <a:avLst/>
          </a:prstGeom>
          <a:noFill/>
        </p:spPr>
        <p:txBody>
          <a:bodyPr wrap="square" lIns="0" tIns="0" rIns="0" bIns="0" anchor="ctr">
            <a:spAutoFit/>
          </a:bodyPr>
          <a:lstStyle/>
          <a:p>
            <a:pPr algn="l">
              <a:lnSpc>
                <a:spcPct val="105000"/>
              </a:lnSpc>
              <a:spcBef>
                <a:spcPts val="0"/>
              </a:spcBef>
              <a:spcAft>
                <a:spcPts val="200"/>
              </a:spcAft>
            </a:pPr>
            <a:r>
              <a:rPr sz="1350" b="1" i="0">
                <a:solidFill>
                  <a:srgbClr val="FFFFFF"/>
                </a:solidFill>
                <a:latin typeface="Arial"/>
              </a:rPr>
              <a:t>Risk-sharing captures upside in growth but exposes the firm in a downturn; self-financing trades growth speed for resilience; leverage trades balance-sheet safety for strategic speed.</a:t>
            </a:r>
          </a:p>
        </p:txBody>
      </p:sp>
      <p:sp>
        <p:nvSpPr>
          <p:cNvPr id="21" name="TextBox 20"/>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SAIC AR 2024/2025 · BYD AR 2024/2025 · Geely AR 2024/2025 · Balcet et al. (2012)</a:t>
            </a:r>
          </a:p>
        </p:txBody>
      </p:sp>
      <p:sp>
        <p:nvSpPr>
          <p:cNvPr id="22" name="TextBox 2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2 · FINANCIAL PROFILE</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numbers confirm it: BYD self-funds, SAIC leans on eroding JV rents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291840"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1691640"/>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50" b="1" i="0">
                <a:solidFill>
                  <a:srgbClr val="FFFFFF"/>
                </a:solidFill>
                <a:latin typeface="Arial"/>
              </a:rPr>
              <a:t>Metric (FY24 / FY25)</a:t>
            </a:r>
          </a:p>
        </p:txBody>
      </p:sp>
      <p:sp>
        <p:nvSpPr>
          <p:cNvPr id="9" name="Rectangle 8"/>
          <p:cNvSpPr/>
          <p:nvPr/>
        </p:nvSpPr>
        <p:spPr>
          <a:xfrm>
            <a:off x="3840480" y="1691640"/>
            <a:ext cx="2587752"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913632" y="169164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SAIC</a:t>
            </a:r>
          </a:p>
        </p:txBody>
      </p:sp>
      <p:sp>
        <p:nvSpPr>
          <p:cNvPr id="11" name="Rectangle 10"/>
          <p:cNvSpPr/>
          <p:nvPr/>
        </p:nvSpPr>
        <p:spPr>
          <a:xfrm>
            <a:off x="6428232" y="1691640"/>
            <a:ext cx="2587752"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01384" y="169164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BYD</a:t>
            </a:r>
          </a:p>
        </p:txBody>
      </p:sp>
      <p:sp>
        <p:nvSpPr>
          <p:cNvPr id="13" name="Rectangle 12"/>
          <p:cNvSpPr/>
          <p:nvPr/>
        </p:nvSpPr>
        <p:spPr>
          <a:xfrm>
            <a:off x="9015984" y="1691640"/>
            <a:ext cx="2596896"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89136" y="1691640"/>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Geely</a:t>
            </a:r>
          </a:p>
        </p:txBody>
      </p:sp>
      <p:sp>
        <p:nvSpPr>
          <p:cNvPr id="15" name="Rectangle 14"/>
          <p:cNvSpPr/>
          <p:nvPr/>
        </p:nvSpPr>
        <p:spPr>
          <a:xfrm>
            <a:off x="548640" y="2203704"/>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2203704"/>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00" b="1" i="0">
                <a:solidFill>
                  <a:srgbClr val="0F172A"/>
                </a:solidFill>
                <a:latin typeface="Arial"/>
              </a:rPr>
              <a:t>Revenue (RMB bn)</a:t>
            </a:r>
          </a:p>
        </p:txBody>
      </p:sp>
      <p:sp>
        <p:nvSpPr>
          <p:cNvPr id="17" name="Rectangle 16"/>
          <p:cNvSpPr/>
          <p:nvPr/>
        </p:nvSpPr>
        <p:spPr>
          <a:xfrm>
            <a:off x="3840480" y="2203704"/>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13632" y="2203704"/>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627.6 / 656.2</a:t>
            </a:r>
          </a:p>
        </p:txBody>
      </p:sp>
      <p:sp>
        <p:nvSpPr>
          <p:cNvPr id="19" name="Rectangle 18"/>
          <p:cNvSpPr/>
          <p:nvPr/>
        </p:nvSpPr>
        <p:spPr>
          <a:xfrm>
            <a:off x="6428232" y="2203704"/>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01384" y="2203704"/>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777.1 / 804.0</a:t>
            </a:r>
          </a:p>
        </p:txBody>
      </p:sp>
      <p:sp>
        <p:nvSpPr>
          <p:cNvPr id="21" name="Rectangle 20"/>
          <p:cNvSpPr/>
          <p:nvPr/>
        </p:nvSpPr>
        <p:spPr>
          <a:xfrm>
            <a:off x="9015984" y="2203704"/>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089136" y="2203704"/>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240.2 / 345.2</a:t>
            </a:r>
          </a:p>
        </p:txBody>
      </p:sp>
      <p:sp>
        <p:nvSpPr>
          <p:cNvPr id="23" name="Rectangle 22"/>
          <p:cNvSpPr/>
          <p:nvPr/>
        </p:nvSpPr>
        <p:spPr>
          <a:xfrm>
            <a:off x="548640" y="2715768"/>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1792" y="2715768"/>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00" b="1" i="0">
                <a:solidFill>
                  <a:srgbClr val="0F172A"/>
                </a:solidFill>
                <a:latin typeface="Arial"/>
              </a:rPr>
              <a:t>Gross margin</a:t>
            </a:r>
          </a:p>
        </p:txBody>
      </p:sp>
      <p:sp>
        <p:nvSpPr>
          <p:cNvPr id="25" name="Rectangle 24"/>
          <p:cNvSpPr/>
          <p:nvPr/>
        </p:nvSpPr>
        <p:spPr>
          <a:xfrm>
            <a:off x="3840480" y="2715768"/>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13632" y="2715768"/>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9.4% / 10.1%</a:t>
            </a:r>
          </a:p>
        </p:txBody>
      </p:sp>
      <p:sp>
        <p:nvSpPr>
          <p:cNvPr id="27" name="Rectangle 26"/>
          <p:cNvSpPr/>
          <p:nvPr/>
        </p:nvSpPr>
        <p:spPr>
          <a:xfrm>
            <a:off x="6428232" y="2715768"/>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01384" y="2715768"/>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19.4% / 17.7%</a:t>
            </a:r>
          </a:p>
        </p:txBody>
      </p:sp>
      <p:sp>
        <p:nvSpPr>
          <p:cNvPr id="29" name="Rectangle 28"/>
          <p:cNvSpPr/>
          <p:nvPr/>
        </p:nvSpPr>
        <p:spPr>
          <a:xfrm>
            <a:off x="9015984" y="2715768"/>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089136" y="2715768"/>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15.9% / 16.6%</a:t>
            </a:r>
          </a:p>
        </p:txBody>
      </p:sp>
      <p:sp>
        <p:nvSpPr>
          <p:cNvPr id="31" name="Rectangle 30"/>
          <p:cNvSpPr/>
          <p:nvPr/>
        </p:nvSpPr>
        <p:spPr>
          <a:xfrm>
            <a:off x="548640" y="3227832"/>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1792" y="3227832"/>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00" b="1" i="0">
                <a:solidFill>
                  <a:srgbClr val="0F172A"/>
                </a:solidFill>
                <a:latin typeface="Arial"/>
              </a:rPr>
              <a:t>Net profit (RMB bn)</a:t>
            </a:r>
          </a:p>
        </p:txBody>
      </p:sp>
      <p:sp>
        <p:nvSpPr>
          <p:cNvPr id="33" name="Rectangle 32"/>
          <p:cNvSpPr/>
          <p:nvPr/>
        </p:nvSpPr>
        <p:spPr>
          <a:xfrm>
            <a:off x="3840480" y="3227832"/>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913632" y="3227832"/>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1.7 / 10.1</a:t>
            </a:r>
          </a:p>
        </p:txBody>
      </p:sp>
      <p:sp>
        <p:nvSpPr>
          <p:cNvPr id="35" name="Rectangle 34"/>
          <p:cNvSpPr/>
          <p:nvPr/>
        </p:nvSpPr>
        <p:spPr>
          <a:xfrm>
            <a:off x="6428232" y="3227832"/>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01384" y="3227832"/>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40.3 / 32.6</a:t>
            </a:r>
          </a:p>
        </p:txBody>
      </p:sp>
      <p:sp>
        <p:nvSpPr>
          <p:cNvPr id="37" name="Rectangle 36"/>
          <p:cNvSpPr/>
          <p:nvPr/>
        </p:nvSpPr>
        <p:spPr>
          <a:xfrm>
            <a:off x="9015984" y="3227832"/>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089136" y="3227832"/>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16.8 / 16.9</a:t>
            </a:r>
          </a:p>
        </p:txBody>
      </p:sp>
      <p:sp>
        <p:nvSpPr>
          <p:cNvPr id="39" name="Rectangle 38"/>
          <p:cNvSpPr/>
          <p:nvPr/>
        </p:nvSpPr>
        <p:spPr>
          <a:xfrm>
            <a:off x="548640" y="3739896"/>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21792" y="3739896"/>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00" b="1" i="0">
                <a:solidFill>
                  <a:srgbClr val="0F172A"/>
                </a:solidFill>
                <a:latin typeface="Arial"/>
              </a:rPr>
              <a:t>Return on equity</a:t>
            </a:r>
          </a:p>
        </p:txBody>
      </p:sp>
      <p:sp>
        <p:nvSpPr>
          <p:cNvPr id="41" name="Rectangle 40"/>
          <p:cNvSpPr/>
          <p:nvPr/>
        </p:nvSpPr>
        <p:spPr>
          <a:xfrm>
            <a:off x="3840480" y="3739896"/>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913632" y="3739896"/>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0.58% / 3.43%</a:t>
            </a:r>
          </a:p>
        </p:txBody>
      </p:sp>
      <p:sp>
        <p:nvSpPr>
          <p:cNvPr id="43" name="Rectangle 42"/>
          <p:cNvSpPr/>
          <p:nvPr/>
        </p:nvSpPr>
        <p:spPr>
          <a:xfrm>
            <a:off x="6428232" y="3739896"/>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01384" y="3739896"/>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21.7% / 13.2%</a:t>
            </a:r>
          </a:p>
        </p:txBody>
      </p:sp>
      <p:sp>
        <p:nvSpPr>
          <p:cNvPr id="45" name="Rectangle 44"/>
          <p:cNvSpPr/>
          <p:nvPr/>
        </p:nvSpPr>
        <p:spPr>
          <a:xfrm>
            <a:off x="9015984" y="3739896"/>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089136" y="3739896"/>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19.2% / 18.2%</a:t>
            </a:r>
          </a:p>
        </p:txBody>
      </p:sp>
      <p:sp>
        <p:nvSpPr>
          <p:cNvPr id="47" name="Rectangle 46"/>
          <p:cNvSpPr/>
          <p:nvPr/>
        </p:nvSpPr>
        <p:spPr>
          <a:xfrm>
            <a:off x="548640" y="4251960"/>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1792" y="4251960"/>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00" b="1" i="0">
                <a:solidFill>
                  <a:srgbClr val="0F172A"/>
                </a:solidFill>
                <a:latin typeface="Arial"/>
              </a:rPr>
              <a:t>R&amp;D expense (RMB bn)</a:t>
            </a:r>
          </a:p>
        </p:txBody>
      </p:sp>
      <p:sp>
        <p:nvSpPr>
          <p:cNvPr id="49" name="Rectangle 48"/>
          <p:cNvSpPr/>
          <p:nvPr/>
        </p:nvSpPr>
        <p:spPr>
          <a:xfrm>
            <a:off x="3840480" y="4251960"/>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913632" y="425196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35.2 / 33.6</a:t>
            </a:r>
          </a:p>
        </p:txBody>
      </p:sp>
      <p:sp>
        <p:nvSpPr>
          <p:cNvPr id="51" name="Rectangle 50"/>
          <p:cNvSpPr/>
          <p:nvPr/>
        </p:nvSpPr>
        <p:spPr>
          <a:xfrm>
            <a:off x="6428232" y="4251960"/>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501384" y="425196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54.2 / 63.4</a:t>
            </a:r>
          </a:p>
        </p:txBody>
      </p:sp>
      <p:sp>
        <p:nvSpPr>
          <p:cNvPr id="53" name="Rectangle 52"/>
          <p:cNvSpPr/>
          <p:nvPr/>
        </p:nvSpPr>
        <p:spPr>
          <a:xfrm>
            <a:off x="9015984" y="4251960"/>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089136" y="4251960"/>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10.4 / 17.6</a:t>
            </a:r>
          </a:p>
        </p:txBody>
      </p:sp>
      <p:sp>
        <p:nvSpPr>
          <p:cNvPr id="55" name="Rectangle 54"/>
          <p:cNvSpPr/>
          <p:nvPr/>
        </p:nvSpPr>
        <p:spPr>
          <a:xfrm>
            <a:off x="548640" y="4764024"/>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21792" y="4764024"/>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00" b="1" i="0">
                <a:solidFill>
                  <a:srgbClr val="0F172A"/>
                </a:solidFill>
                <a:latin typeface="Arial"/>
              </a:rPr>
              <a:t>Operating cash flow</a:t>
            </a:r>
          </a:p>
        </p:txBody>
      </p:sp>
      <p:sp>
        <p:nvSpPr>
          <p:cNvPr id="57" name="Rectangle 56"/>
          <p:cNvSpPr/>
          <p:nvPr/>
        </p:nvSpPr>
        <p:spPr>
          <a:xfrm>
            <a:off x="3840480" y="4764024"/>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913632" y="4764024"/>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69.3 / 34.3</a:t>
            </a:r>
          </a:p>
        </p:txBody>
      </p:sp>
      <p:sp>
        <p:nvSpPr>
          <p:cNvPr id="59" name="Rectangle 58"/>
          <p:cNvSpPr/>
          <p:nvPr/>
        </p:nvSpPr>
        <p:spPr>
          <a:xfrm>
            <a:off x="6428232" y="4764024"/>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501384" y="4764024"/>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133.5 / 59.1</a:t>
            </a:r>
          </a:p>
        </p:txBody>
      </p:sp>
      <p:sp>
        <p:nvSpPr>
          <p:cNvPr id="61" name="Rectangle 60"/>
          <p:cNvSpPr/>
          <p:nvPr/>
        </p:nvSpPr>
        <p:spPr>
          <a:xfrm>
            <a:off x="9015984" y="4764024"/>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089136" y="4764024"/>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26.5 / 47.3</a:t>
            </a:r>
          </a:p>
        </p:txBody>
      </p:sp>
      <p:sp>
        <p:nvSpPr>
          <p:cNvPr id="63" name="Rectangle 62"/>
          <p:cNvSpPr/>
          <p:nvPr/>
        </p:nvSpPr>
        <p:spPr>
          <a:xfrm>
            <a:off x="548640" y="5276088"/>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21792" y="5276088"/>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00" b="1" i="0">
                <a:solidFill>
                  <a:srgbClr val="0F172A"/>
                </a:solidFill>
                <a:latin typeface="Arial"/>
              </a:rPr>
              <a:t>EU anti-subsidy tariff</a:t>
            </a:r>
          </a:p>
        </p:txBody>
      </p:sp>
      <p:sp>
        <p:nvSpPr>
          <p:cNvPr id="65" name="Rectangle 64"/>
          <p:cNvSpPr/>
          <p:nvPr/>
        </p:nvSpPr>
        <p:spPr>
          <a:xfrm>
            <a:off x="3840480" y="5276088"/>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913632" y="5276088"/>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35.3%</a:t>
            </a:r>
          </a:p>
        </p:txBody>
      </p:sp>
      <p:sp>
        <p:nvSpPr>
          <p:cNvPr id="67" name="Rectangle 66"/>
          <p:cNvSpPr/>
          <p:nvPr/>
        </p:nvSpPr>
        <p:spPr>
          <a:xfrm>
            <a:off x="6428232" y="5276088"/>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501384" y="5276088"/>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17.0%</a:t>
            </a:r>
          </a:p>
        </p:txBody>
      </p:sp>
      <p:sp>
        <p:nvSpPr>
          <p:cNvPr id="69" name="Rectangle 68"/>
          <p:cNvSpPr/>
          <p:nvPr/>
        </p:nvSpPr>
        <p:spPr>
          <a:xfrm>
            <a:off x="9015984" y="5276088"/>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9089136" y="5276088"/>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00" b="0" i="0">
                <a:solidFill>
                  <a:srgbClr val="0F172A"/>
                </a:solidFill>
                <a:latin typeface="Arial"/>
              </a:rPr>
              <a:t>18.8%</a:t>
            </a:r>
          </a:p>
        </p:txBody>
      </p:sp>
      <p:sp>
        <p:nvSpPr>
          <p:cNvPr id="71" name="Rectangle 70"/>
          <p:cNvSpPr/>
          <p:nvPr/>
        </p:nvSpPr>
        <p:spPr>
          <a:xfrm>
            <a:off x="3840480" y="1691640"/>
            <a:ext cx="2587752"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840480" y="1691640"/>
            <a:ext cx="2587752"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SAIC</a:t>
            </a:r>
          </a:p>
        </p:txBody>
      </p:sp>
      <p:sp>
        <p:nvSpPr>
          <p:cNvPr id="73" name="Rectangle 72"/>
          <p:cNvSpPr/>
          <p:nvPr/>
        </p:nvSpPr>
        <p:spPr>
          <a:xfrm>
            <a:off x="6428232" y="1691640"/>
            <a:ext cx="2587752" cy="51206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428232" y="1691640"/>
            <a:ext cx="2587752"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BYD</a:t>
            </a:r>
          </a:p>
        </p:txBody>
      </p:sp>
      <p:sp>
        <p:nvSpPr>
          <p:cNvPr id="75" name="Rectangle 74"/>
          <p:cNvSpPr/>
          <p:nvPr/>
        </p:nvSpPr>
        <p:spPr>
          <a:xfrm>
            <a:off x="9015984" y="1691640"/>
            <a:ext cx="2596896" cy="512064"/>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9015984" y="1691640"/>
            <a:ext cx="2596896"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Geely</a:t>
            </a:r>
          </a:p>
        </p:txBody>
      </p:sp>
      <p:sp>
        <p:nvSpPr>
          <p:cNvPr id="77" name="TextBox 76"/>
          <p:cNvSpPr txBox="1"/>
          <p:nvPr/>
        </p:nvSpPr>
        <p:spPr>
          <a:xfrm>
            <a:off x="548640" y="5806440"/>
            <a:ext cx="11064240" cy="411480"/>
          </a:xfrm>
          <a:prstGeom prst="rect">
            <a:avLst/>
          </a:prstGeom>
          <a:noFill/>
        </p:spPr>
        <p:txBody>
          <a:bodyPr wrap="square" lIns="0" tIns="0" rIns="0" bIns="0" anchor="t">
            <a:spAutoFit/>
          </a:bodyPr>
          <a:lstStyle/>
          <a:p>
            <a:pPr algn="l">
              <a:lnSpc>
                <a:spcPct val="100000"/>
              </a:lnSpc>
              <a:spcBef>
                <a:spcPts val="0"/>
              </a:spcBef>
              <a:spcAft>
                <a:spcPts val="200"/>
              </a:spcAft>
            </a:pPr>
            <a:r>
              <a:rPr sz="1300" b="1" i="0">
                <a:solidFill>
                  <a:srgbClr val="0F172A"/>
                </a:solidFill>
                <a:latin typeface="Arial"/>
              </a:rPr>
              <a:t>BYD's R&amp;D exceeds its net profit; SAIC's headline 2025 recovery is mostly the absence of 2024 write-downs, not a structural turnaround.</a:t>
            </a:r>
          </a:p>
        </p:txBody>
      </p:sp>
      <p:sp>
        <p:nvSpPr>
          <p:cNvPr id="78" name="TextBox 77"/>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Table 1 (paper, §3.4) · Annual Reports SAIC/BYD/Geely 2024 &amp; 2025 · EU Reg. 2024/2754</a:t>
            </a:r>
          </a:p>
        </p:txBody>
      </p:sp>
      <p:sp>
        <p:nvSpPr>
          <p:cNvPr id="79" name="TextBox 7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80" name="TextBox 7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3 · CAPABILITY BUILDING</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How a firm learns determines what it can do next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SAIC — mandatory transfer</a:t>
            </a:r>
          </a:p>
        </p:txBody>
      </p:sp>
      <p:sp>
        <p:nvSpPr>
          <p:cNvPr id="10" name="TextBox 9"/>
          <p:cNvSpPr txBox="1"/>
          <p:nvPr/>
        </p:nvSpPr>
        <p:spPr>
          <a:xfrm>
            <a:off x="713232"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Tech-for-access through state-mandated JVs</a:t>
            </a:r>
          </a:p>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+8.3% product quality from quid pro quo (Bai et al., 2025)</a:t>
            </a:r>
          </a:p>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But JV rents suppressed own R&amp;D — “like opium” (Howell, 2018)</a:t>
            </a:r>
          </a:p>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No proprietary EV platform when the cycle turned</a:t>
            </a:r>
          </a:p>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Capability paradox: scale without sovereignty</a:t>
            </a:r>
          </a:p>
        </p:txBody>
      </p:sp>
      <p:sp>
        <p:nvSpPr>
          <p:cNvPr id="11" name="Rectangle 10"/>
          <p:cNvSpPr/>
          <p:nvPr/>
        </p:nvSpPr>
        <p:spPr>
          <a:xfrm>
            <a:off x="4279392"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BYD — organic build</a:t>
            </a:r>
          </a:p>
        </p:txBody>
      </p:sp>
      <p:sp>
        <p:nvSpPr>
          <p:cNvPr id="14" name="TextBox 13"/>
          <p:cNvSpPr txBox="1"/>
          <p:nvPr/>
        </p:nvSpPr>
        <p:spPr>
          <a:xfrm>
            <a:off x="4443984"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Battery → power electronics → software, in-house</a:t>
            </a:r>
          </a:p>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Built ahead of state policy (Whitfield &amp; Wuttke, 2026)</a:t>
            </a:r>
          </a:p>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Tacit, path-dependent knowledge — non-imitable (Teece et al., 1997)</a:t>
            </a:r>
          </a:p>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Slowest to build, but the deepest and most durable</a:t>
            </a:r>
          </a:p>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Full vertical stack = a structural moat</a:t>
            </a:r>
          </a:p>
        </p:txBody>
      </p:sp>
      <p:sp>
        <p:nvSpPr>
          <p:cNvPr id="15" name="Rectangle 14"/>
          <p:cNvSpPr/>
          <p:nvPr/>
        </p:nvSpPr>
        <p:spPr>
          <a:xfrm>
            <a:off x="8010144"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Geely — acquisition + co-dev</a:t>
            </a:r>
          </a:p>
        </p:txBody>
      </p:sp>
      <p:sp>
        <p:nvSpPr>
          <p:cNvPr id="18" name="TextBox 17"/>
          <p:cNvSpPr txBox="1"/>
          <p:nvPr/>
        </p:nvSpPr>
        <p:spPr>
          <a:xfrm>
            <a:off x="8174736"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Volvo (2010): brand and engineering depth at once</a:t>
            </a:r>
          </a:p>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CMA platform = genuine cross-brand co-development</a:t>
            </a:r>
          </a:p>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Patent convergence confirms co-creation (Konda et al., 2022)</a:t>
            </a:r>
          </a:p>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Fastest of the three to global technology parity</a:t>
            </a:r>
          </a:p>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Risk: depends on arm's-length partner relations</a:t>
            </a:r>
          </a:p>
        </p:txBody>
      </p:sp>
      <p:sp>
        <p:nvSpPr>
          <p:cNvPr id="19" name="TextBox 18"/>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Bai et al. (2025) · Howell (2018) · Teece et al. (1997) · Whitfield &amp; Wuttke (2026) · Konda et al. (2022)</a:t>
            </a:r>
          </a:p>
        </p:txBody>
      </p:sp>
      <p:sp>
        <p:nvSpPr>
          <p:cNvPr id="20" name="TextBox 19"/>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1" name="TextBox 20"/>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3 · SPEED VS. DEPTH</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Capability building trades speed against depth against independence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2697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SAIC — fast, but shallow</a:t>
            </a:r>
          </a:p>
        </p:txBody>
      </p:sp>
      <p:sp>
        <p:nvSpPr>
          <p:cNvPr id="10" name="TextBox 9"/>
          <p:cNvSpPr txBox="1"/>
          <p:nvPr/>
        </p:nvSpPr>
        <p:spPr>
          <a:xfrm>
            <a:off x="713232" y="2478024"/>
            <a:ext cx="3264408" cy="174650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JV transfer delivered quality fastest (+8.3%, Bai et al., 2025)</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But rent cannibalisation suppressed own innovation (Howell, 2018)</a:t>
            </a:r>
          </a:p>
          <a:p>
            <a:pPr>
              <a:lnSpc>
                <a:spcPct val="105000"/>
              </a:lnSpc>
              <a:spcBef>
                <a:spcPts val="0"/>
              </a:spcBef>
              <a:spcAft>
                <a:spcPts val="500"/>
              </a:spcAft>
              <a:buNone/>
            </a:pPr>
            <a:r>
              <a:rPr sz="1250">
                <a:solidFill>
                  <a:srgbClr val="DC2626"/>
                </a:solidFill>
                <a:latin typeface="Arial"/>
              </a:rPr>
              <a:t>–  </a:t>
            </a:r>
            <a:r>
              <a:rPr sz="1250">
                <a:solidFill>
                  <a:srgbClr val="0F172A"/>
                </a:solidFill>
                <a:latin typeface="Arial"/>
              </a:rPr>
              <a:t>No proprietary EV platform when the cycle turned</a:t>
            </a:r>
          </a:p>
        </p:txBody>
      </p:sp>
      <p:sp>
        <p:nvSpPr>
          <p:cNvPr id="11" name="Rectangle 10"/>
          <p:cNvSpPr/>
          <p:nvPr/>
        </p:nvSpPr>
        <p:spPr>
          <a:xfrm>
            <a:off x="4279392" y="1691640"/>
            <a:ext cx="3593592" cy="2697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Geely — fast and deep</a:t>
            </a:r>
          </a:p>
        </p:txBody>
      </p:sp>
      <p:sp>
        <p:nvSpPr>
          <p:cNvPr id="14" name="TextBox 13"/>
          <p:cNvSpPr txBox="1"/>
          <p:nvPr/>
        </p:nvSpPr>
        <p:spPr>
          <a:xfrm>
            <a:off x="4443984" y="2478024"/>
            <a:ext cx="3264408" cy="174650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Acquisition compressed the capability timeline</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Converted purchase into genuine co-development (CMA platform)</a:t>
            </a:r>
          </a:p>
          <a:p>
            <a:pPr>
              <a:lnSpc>
                <a:spcPct val="105000"/>
              </a:lnSpc>
              <a:spcBef>
                <a:spcPts val="0"/>
              </a:spcBef>
              <a:spcAft>
                <a:spcPts val="500"/>
              </a:spcAft>
              <a:buNone/>
            </a:pPr>
            <a:r>
              <a:rPr sz="1250">
                <a:solidFill>
                  <a:srgbClr val="06B6D4"/>
                </a:solidFill>
                <a:latin typeface="Arial"/>
              </a:rPr>
              <a:t>–  </a:t>
            </a:r>
            <a:r>
              <a:rPr sz="1250">
                <a:solidFill>
                  <a:srgbClr val="0F172A"/>
                </a:solidFill>
                <a:latin typeface="Arial"/>
              </a:rPr>
              <a:t>Measurable patent convergence (Konda et al., 2022)</a:t>
            </a:r>
          </a:p>
        </p:txBody>
      </p:sp>
      <p:sp>
        <p:nvSpPr>
          <p:cNvPr id="15" name="Rectangle 14"/>
          <p:cNvSpPr/>
          <p:nvPr/>
        </p:nvSpPr>
        <p:spPr>
          <a:xfrm>
            <a:off x="8010144" y="1691640"/>
            <a:ext cx="3593592" cy="2697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BYD — slow, but deepest</a:t>
            </a:r>
          </a:p>
        </p:txBody>
      </p:sp>
      <p:sp>
        <p:nvSpPr>
          <p:cNvPr id="18" name="TextBox 17"/>
          <p:cNvSpPr txBox="1"/>
          <p:nvPr/>
        </p:nvSpPr>
        <p:spPr>
          <a:xfrm>
            <a:off x="8174736" y="2478024"/>
            <a:ext cx="3264408" cy="1746504"/>
          </a:xfrm>
          <a:prstGeom prst="rect">
            <a:avLst/>
          </a:prstGeom>
          <a:noFill/>
        </p:spPr>
        <p:txBody>
          <a:bodyPr wrap="square" lIns="0" tIns="0" rIns="0" bIns="0">
            <a:spAutoFit/>
          </a:bodyPr>
          <a:lstStyle/>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Three decades, cell chemistry → vehicle software</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Path-dependent tacit knowledge — non-imitable (Teece et al., 1997)</a:t>
            </a:r>
          </a:p>
          <a:p>
            <a:pPr>
              <a:lnSpc>
                <a:spcPct val="105000"/>
              </a:lnSpc>
              <a:spcBef>
                <a:spcPts val="0"/>
              </a:spcBef>
              <a:spcAft>
                <a:spcPts val="500"/>
              </a:spcAft>
              <a:buNone/>
            </a:pPr>
            <a:r>
              <a:rPr sz="1250">
                <a:solidFill>
                  <a:srgbClr val="2563EB"/>
                </a:solidFill>
                <a:latin typeface="Arial"/>
              </a:rPr>
              <a:t>–  </a:t>
            </a:r>
            <a:r>
              <a:rPr sz="1250">
                <a:solidFill>
                  <a:srgbClr val="0F172A"/>
                </a:solidFill>
                <a:latin typeface="Arial"/>
              </a:rPr>
              <a:t>Slowest to build, but structurally hardest to copy</a:t>
            </a:r>
          </a:p>
        </p:txBody>
      </p:sp>
      <p:sp>
        <p:nvSpPr>
          <p:cNvPr id="19" name="Rectangle 18"/>
          <p:cNvSpPr/>
          <p:nvPr/>
        </p:nvSpPr>
        <p:spPr>
          <a:xfrm>
            <a:off x="548640" y="4617720"/>
            <a:ext cx="11064240" cy="1234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4754880"/>
            <a:ext cx="10607040" cy="411480"/>
          </a:xfrm>
          <a:prstGeom prst="rect">
            <a:avLst/>
          </a:prstGeom>
          <a:noFill/>
        </p:spPr>
        <p:txBody>
          <a:bodyPr wrap="square" lIns="0" tIns="0" rIns="0" bIns="0" anchor="t">
            <a:spAutoFit/>
          </a:bodyPr>
          <a:lstStyle/>
          <a:p>
            <a:pPr algn="l">
              <a:lnSpc>
                <a:spcPct val="100000"/>
              </a:lnSpc>
              <a:spcBef>
                <a:spcPts val="0"/>
              </a:spcBef>
              <a:spcAft>
                <a:spcPts val="200"/>
              </a:spcAft>
            </a:pPr>
            <a:r>
              <a:rPr sz="1500" b="1" i="0">
                <a:solidFill>
                  <a:srgbClr val="06B6D4"/>
                </a:solidFill>
                <a:latin typeface="Arial"/>
              </a:rPr>
              <a:t>The proof in utilisation</a:t>
            </a:r>
          </a:p>
        </p:txBody>
      </p:sp>
      <p:sp>
        <p:nvSpPr>
          <p:cNvPr id="21" name="TextBox 20"/>
          <p:cNvSpPr txBox="1"/>
          <p:nvPr/>
        </p:nvSpPr>
        <p:spPr>
          <a:xfrm>
            <a:off x="777240" y="5138928"/>
            <a:ext cx="10607040" cy="640080"/>
          </a:xfrm>
          <a:prstGeom prst="rect">
            <a:avLst/>
          </a:prstGeom>
          <a:noFill/>
        </p:spPr>
        <p:txBody>
          <a:bodyPr wrap="square" lIns="0" tIns="0" rIns="0" bIns="0" anchor="t">
            <a:spAutoFit/>
          </a:bodyPr>
          <a:lstStyle/>
          <a:p>
            <a:pPr algn="l">
              <a:lnSpc>
                <a:spcPct val="110000"/>
              </a:lnSpc>
              <a:spcBef>
                <a:spcPts val="0"/>
              </a:spcBef>
              <a:spcAft>
                <a:spcPts val="200"/>
              </a:spcAft>
            </a:pPr>
            <a:r>
              <a:rPr sz="1300" b="0" i="0">
                <a:solidFill>
                  <a:srgbClr val="FFFFFF"/>
                </a:solidFill>
                <a:latin typeface="Arial"/>
              </a:rPr>
              <a:t>SAIC-GM plants run at 37% capacity and VW's MEB plant at 14% (2025) — mandatory transfer built scale fast but shallow, and dependency hardened into a capability deficit. Organic depth (BYD) and co-development (Geely) preserved autonomy.</a:t>
            </a:r>
          </a:p>
        </p:txBody>
      </p:sp>
      <p:sp>
        <p:nvSpPr>
          <p:cNvPr id="22" name="TextBox 21"/>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Bai et al. (2025) · Howell (2018) · Konda et al. (2022) · Teece et al. (1997) · SAIC Motor (2026)</a:t>
            </a:r>
          </a:p>
        </p:txBody>
      </p:sp>
      <p:sp>
        <p:nvSpPr>
          <p:cNvPr id="23" name="TextBox 22"/>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4" name="TextBox 23"/>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4 · LONG-TERM VIABILITY</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EV transition tests which model was built to adapt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SAIC — most exposed</a:t>
            </a:r>
          </a:p>
        </p:txBody>
      </p:sp>
      <p:sp>
        <p:nvSpPr>
          <p:cNvPr id="10" name="TextBox 9"/>
          <p:cNvSpPr txBox="1"/>
          <p:nvPr/>
        </p:nvSpPr>
        <p:spPr>
          <a:xfrm>
            <a:off x="713232"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JV plants at 14–37% capacity — dependency now deficit</a:t>
            </a:r>
          </a:p>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But the own-brand pivot has real substance:</a:t>
            </a:r>
          </a:p>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NEV 1.643 m units (+33%), with zero direct subsidies</a:t>
            </a:r>
          </a:p>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SHANGJIE with Huawei; first mass semi-solid battery</a:t>
            </a:r>
          </a:p>
          <a:p>
            <a:pPr>
              <a:lnSpc>
                <a:spcPct val="105000"/>
              </a:lnSpc>
              <a:spcBef>
                <a:spcPts val="0"/>
              </a:spcBef>
              <a:spcAft>
                <a:spcPts val="500"/>
              </a:spcAft>
              <a:buNone/>
            </a:pPr>
            <a:r>
              <a:rPr sz="1200">
                <a:solidFill>
                  <a:srgbClr val="DC2626"/>
                </a:solidFill>
                <a:latin typeface="Arial"/>
              </a:rPr>
              <a:t>–  </a:t>
            </a:r>
            <a:r>
              <a:rPr sz="1200">
                <a:solidFill>
                  <a:srgbClr val="0F172A"/>
                </a:solidFill>
                <a:latin typeface="Arial"/>
              </a:rPr>
              <a:t>A race: eroding JV rents vs. thin own-brand margin</a:t>
            </a:r>
          </a:p>
        </p:txBody>
      </p:sp>
      <p:sp>
        <p:nvSpPr>
          <p:cNvPr id="11" name="Rectangle 10"/>
          <p:cNvSpPr/>
          <p:nvPr/>
        </p:nvSpPr>
        <p:spPr>
          <a:xfrm>
            <a:off x="4279392"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BYD — strongest position</a:t>
            </a:r>
          </a:p>
        </p:txBody>
      </p:sp>
      <p:sp>
        <p:nvSpPr>
          <p:cNvPr id="14" name="TextBox 13"/>
          <p:cNvSpPr txBox="1"/>
          <p:nvPr/>
        </p:nvSpPr>
        <p:spPr>
          <a:xfrm>
            <a:off x="4443984"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No combustion engines since 2022</a:t>
            </a:r>
          </a:p>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World #1 NEV maker for four straight years</a:t>
            </a:r>
          </a:p>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&gt;1 m exports in 2025 (+140%); 119 countries</a:t>
            </a:r>
          </a:p>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Self-funded EV scale-up; lowest tariff (17%)</a:t>
            </a:r>
          </a:p>
          <a:p>
            <a:pPr>
              <a:lnSpc>
                <a:spcPct val="105000"/>
              </a:lnSpc>
              <a:spcBef>
                <a:spcPts val="0"/>
              </a:spcBef>
              <a:spcAft>
                <a:spcPts val="500"/>
              </a:spcAft>
              <a:buNone/>
            </a:pPr>
            <a:r>
              <a:rPr sz="1200">
                <a:solidFill>
                  <a:srgbClr val="2563EB"/>
                </a:solidFill>
                <a:latin typeface="Arial"/>
              </a:rPr>
              <a:t>–  </a:t>
            </a:r>
            <a:r>
              <a:rPr sz="1200">
                <a:solidFill>
                  <a:srgbClr val="0F172A"/>
                </a:solidFill>
                <a:latin typeface="Arial"/>
              </a:rPr>
              <a:t>Margin pressure: gross margin 19.4% → 17.7%</a:t>
            </a:r>
          </a:p>
        </p:txBody>
      </p:sp>
      <p:sp>
        <p:nvSpPr>
          <p:cNvPr id="15" name="Rectangle 14"/>
          <p:cNvSpPr/>
          <p:nvPr/>
        </p:nvSpPr>
        <p:spPr>
          <a:xfrm>
            <a:off x="8010144"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Geely — most asymmetric</a:t>
            </a:r>
          </a:p>
        </p:txBody>
      </p:sp>
      <p:sp>
        <p:nvSpPr>
          <p:cNvPr id="18" name="TextBox 17"/>
          <p:cNvSpPr txBox="1"/>
          <p:nvPr/>
        </p:nvSpPr>
        <p:spPr>
          <a:xfrm>
            <a:off x="8174736" y="2478024"/>
            <a:ext cx="3264408" cy="2843784"/>
          </a:xfrm>
          <a:prstGeom prst="rect">
            <a:avLst/>
          </a:prstGeom>
          <a:noFill/>
        </p:spPr>
        <p:txBody>
          <a:bodyPr wrap="square" lIns="0" tIns="0" rIns="0" bIns="0">
            <a:spAutoFit/>
          </a:bodyPr>
          <a:lstStyle/>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NEV share 51.5% in H1 2025 (+126%)</a:t>
            </a:r>
          </a:p>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3.02 m deliveries FY2025; H1 adj. profit +102%</a:t>
            </a:r>
          </a:p>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Operating cash flow RMB 47.3 bn = headroom</a:t>
            </a:r>
          </a:p>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But platforms depend on Volvo / Smart partners</a:t>
            </a:r>
          </a:p>
          <a:p>
            <a:pPr>
              <a:lnSpc>
                <a:spcPct val="105000"/>
              </a:lnSpc>
              <a:spcBef>
                <a:spcPts val="0"/>
              </a:spcBef>
              <a:spcAft>
                <a:spcPts val="500"/>
              </a:spcAft>
              <a:buNone/>
            </a:pPr>
            <a:r>
              <a:rPr sz="1200">
                <a:solidFill>
                  <a:srgbClr val="06B6D4"/>
                </a:solidFill>
                <a:latin typeface="Arial"/>
              </a:rPr>
              <a:t>–  </a:t>
            </a:r>
            <a:r>
              <a:rPr sz="1200">
                <a:solidFill>
                  <a:srgbClr val="0F172A"/>
                </a:solidFill>
                <a:latin typeface="Arial"/>
              </a:rPr>
              <a:t>Polestar &amp; Lotus losses = contingent liability</a:t>
            </a:r>
          </a:p>
        </p:txBody>
      </p:sp>
      <p:sp>
        <p:nvSpPr>
          <p:cNvPr id="19" name="TextBox 18"/>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Annual Reports 2025 (FY2024) &amp; 2026 (FY2025) · Geely interim results H1 2025 · European Commission (2024)</a:t>
            </a:r>
          </a:p>
        </p:txBody>
      </p:sp>
      <p:sp>
        <p:nvSpPr>
          <p:cNvPr id="20" name="TextBox 19"/>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1" name="TextBox 20"/>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45720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VERDICT</a:t>
            </a:r>
          </a:p>
        </p:txBody>
      </p:sp>
      <p:sp>
        <p:nvSpPr>
          <p:cNvPr id="5" name="TextBox 4"/>
          <p:cNvSpPr txBox="1"/>
          <p:nvPr/>
        </p:nvSpPr>
        <p:spPr>
          <a:xfrm>
            <a:off x="548640" y="777240"/>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FFFFFF"/>
                </a:solidFill>
                <a:latin typeface="Arial"/>
              </a:rPr>
              <a:t>BYD's founder-led vertical integration is the model most likely</a:t>
            </a:r>
          </a:p>
          <a:p>
            <a:pPr algn="l">
              <a:lnSpc>
                <a:spcPct val="100000"/>
              </a:lnSpc>
              <a:spcBef>
                <a:spcPts val="0"/>
              </a:spcBef>
              <a:spcAft>
                <a:spcPts val="200"/>
              </a:spcAft>
            </a:pPr>
            <a:r>
              <a:rPr sz="2600" b="1" i="0">
                <a:solidFill>
                  <a:srgbClr val="FFFFFF"/>
                </a:solidFill>
                <a:latin typeface="Arial"/>
              </a:rPr>
              <a:t>to create long-term shareholder value</a:t>
            </a:r>
          </a:p>
        </p:txBody>
      </p:sp>
      <p:sp>
        <p:nvSpPr>
          <p:cNvPr id="6" name="Rectangle 5"/>
          <p:cNvSpPr/>
          <p:nvPr/>
        </p:nvSpPr>
        <p:spPr>
          <a:xfrm>
            <a:off x="548640"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21.7%</a:t>
            </a:r>
          </a:p>
        </p:txBody>
      </p:sp>
      <p:sp>
        <p:nvSpPr>
          <p:cNvPr id="8" name="TextBox 7"/>
          <p:cNvSpPr txBox="1"/>
          <p:nvPr/>
        </p:nvSpPr>
        <p:spPr>
          <a:xfrm>
            <a:off x="685800"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CBD5E1"/>
                </a:solidFill>
                <a:latin typeface="Arial"/>
              </a:rPr>
              <a:t>highest ROE of the three</a:t>
            </a:r>
          </a:p>
          <a:p>
            <a:pPr algn="ctr">
              <a:lnSpc>
                <a:spcPct val="100000"/>
              </a:lnSpc>
              <a:spcBef>
                <a:spcPts val="0"/>
              </a:spcBef>
              <a:spcAft>
                <a:spcPts val="200"/>
              </a:spcAft>
            </a:pPr>
            <a:r>
              <a:rPr sz="1200" b="0" i="0">
                <a:solidFill>
                  <a:srgbClr val="CBD5E1"/>
                </a:solidFill>
                <a:latin typeface="Arial"/>
              </a:rPr>
              <a:t>firms (FY2024)</a:t>
            </a:r>
          </a:p>
        </p:txBody>
      </p:sp>
      <p:sp>
        <p:nvSpPr>
          <p:cNvPr id="9" name="Rectangle 8"/>
          <p:cNvSpPr/>
          <p:nvPr/>
        </p:nvSpPr>
        <p:spPr>
          <a:xfrm>
            <a:off x="4279392"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79392"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4 yrs</a:t>
            </a:r>
          </a:p>
        </p:txBody>
      </p:sp>
      <p:sp>
        <p:nvSpPr>
          <p:cNvPr id="11" name="TextBox 10"/>
          <p:cNvSpPr txBox="1"/>
          <p:nvPr/>
        </p:nvSpPr>
        <p:spPr>
          <a:xfrm>
            <a:off x="4416552"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CBD5E1"/>
                </a:solidFill>
                <a:latin typeface="Arial"/>
              </a:rPr>
              <a:t>consecutive global NEV</a:t>
            </a:r>
          </a:p>
          <a:p>
            <a:pPr algn="ctr">
              <a:lnSpc>
                <a:spcPct val="100000"/>
              </a:lnSpc>
              <a:spcBef>
                <a:spcPts val="0"/>
              </a:spcBef>
              <a:spcAft>
                <a:spcPts val="200"/>
              </a:spcAft>
            </a:pPr>
            <a:r>
              <a:rPr sz="1200" b="0" i="0">
                <a:solidFill>
                  <a:srgbClr val="CBD5E1"/>
                </a:solidFill>
                <a:latin typeface="Arial"/>
              </a:rPr>
              <a:t>market leader</a:t>
            </a:r>
          </a:p>
        </p:txBody>
      </p:sp>
      <p:sp>
        <p:nvSpPr>
          <p:cNvPr id="12" name="Rectangle 11"/>
          <p:cNvSpPr/>
          <p:nvPr/>
        </p:nvSpPr>
        <p:spPr>
          <a:xfrm>
            <a:off x="8010144"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10144"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USD 5.6 bn</a:t>
            </a:r>
          </a:p>
        </p:txBody>
      </p:sp>
      <p:sp>
        <p:nvSpPr>
          <p:cNvPr id="14" name="TextBox 13"/>
          <p:cNvSpPr txBox="1"/>
          <p:nvPr/>
        </p:nvSpPr>
        <p:spPr>
          <a:xfrm>
            <a:off x="8147304"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CBD5E1"/>
                </a:solidFill>
                <a:latin typeface="Arial"/>
              </a:rPr>
              <a:t>2025 raise incl. sovereign</a:t>
            </a:r>
          </a:p>
          <a:p>
            <a:pPr algn="ctr">
              <a:lnSpc>
                <a:spcPct val="100000"/>
              </a:lnSpc>
              <a:spcBef>
                <a:spcPts val="0"/>
              </a:spcBef>
              <a:spcAft>
                <a:spcPts val="200"/>
              </a:spcAft>
            </a:pPr>
            <a:r>
              <a:rPr sz="1200" b="0" i="0">
                <a:solidFill>
                  <a:srgbClr val="CBD5E1"/>
                </a:solidFill>
                <a:latin typeface="Arial"/>
              </a:rPr>
              <a:t>wealth funds</a:t>
            </a:r>
          </a:p>
        </p:txBody>
      </p:sp>
      <p:sp>
        <p:nvSpPr>
          <p:cNvPr id="15" name="Rectangle 14"/>
          <p:cNvSpPr/>
          <p:nvPr/>
        </p:nvSpPr>
        <p:spPr>
          <a:xfrm>
            <a:off x="548640" y="3977639"/>
            <a:ext cx="11064240" cy="14630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48640" y="3977639"/>
            <a:ext cx="82296" cy="14630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160520"/>
            <a:ext cx="10607040" cy="1143000"/>
          </a:xfrm>
          <a:prstGeom prst="rect">
            <a:avLst/>
          </a:prstGeom>
          <a:noFill/>
        </p:spPr>
        <p:txBody>
          <a:bodyPr wrap="square" lIns="0" tIns="0" rIns="0" bIns="0" anchor="t">
            <a:spAutoFit/>
          </a:bodyPr>
          <a:lstStyle/>
          <a:p>
            <a:pPr algn="l">
              <a:lnSpc>
                <a:spcPct val="115000"/>
              </a:lnSpc>
              <a:spcBef>
                <a:spcPts val="0"/>
              </a:spcBef>
              <a:spcAft>
                <a:spcPts val="200"/>
              </a:spcAft>
            </a:pPr>
            <a:r>
              <a:rPr sz="1450" b="0" i="0">
                <a:solidFill>
                  <a:srgbClr val="FFFFFF"/>
                </a:solidFill>
                <a:latin typeface="Arial"/>
              </a:rPr>
              <a:t>Why BYD — and why not simply “vertical integration is best”: the model wins because it aligns concentrated, commercially-oriented control with a self-financing structure that stays resilient when markets contract — not because integration is inherently superior. The advantage is governance and capital discipline working together.</a:t>
            </a:r>
          </a:p>
        </p:txBody>
      </p:sp>
      <p:sp>
        <p:nvSpPr>
          <p:cNvPr id="18" name="TextBox 17"/>
          <p:cNvSpPr txBox="1"/>
          <p:nvPr/>
        </p:nvSpPr>
        <p:spPr>
          <a:xfrm>
            <a:off x="548640" y="5669280"/>
            <a:ext cx="11064240" cy="36576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Consistent with Allen et al. (2024): privately governed Chinese firms structurally outperform state-controlled peers. ROE compressed to 13.2% in FY2025 under price-war pressure.</a:t>
            </a:r>
          </a:p>
        </p:txBody>
      </p:sp>
      <p:sp>
        <p:nvSpPr>
          <p:cNvPr id="19" name="TextBox 1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0" name="TextBox 1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GENERALIZABLE LESSONS</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Three transferable lessons on governance and value in high-growth markets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10972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7830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2563EB"/>
                </a:solidFill>
                <a:latin typeface="Arial"/>
              </a:rPr>
              <a:t>1</a:t>
            </a:r>
          </a:p>
        </p:txBody>
      </p:sp>
      <p:sp>
        <p:nvSpPr>
          <p:cNvPr id="10" name="TextBox 9"/>
          <p:cNvSpPr txBox="1"/>
          <p:nvPr/>
        </p:nvSpPr>
        <p:spPr>
          <a:xfrm>
            <a:off x="1828800" y="19476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650" b="1" i="0">
                <a:solidFill>
                  <a:srgbClr val="0F172A"/>
                </a:solidFill>
                <a:latin typeface="Arial"/>
              </a:rPr>
              <a:t>Capability mode determines durability across technology cycles</a:t>
            </a:r>
          </a:p>
        </p:txBody>
      </p:sp>
      <p:sp>
        <p:nvSpPr>
          <p:cNvPr id="11" name="TextBox 10"/>
          <p:cNvSpPr txBox="1"/>
          <p:nvPr/>
        </p:nvSpPr>
        <p:spPr>
          <a:xfrm>
            <a:off x="1828800" y="2350008"/>
            <a:ext cx="9509760" cy="548640"/>
          </a:xfrm>
          <a:prstGeom prst="rect">
            <a:avLst/>
          </a:prstGeom>
          <a:noFill/>
        </p:spPr>
        <p:txBody>
          <a:bodyPr wrap="square" lIns="0" tIns="0" rIns="0" bIns="0" anchor="t">
            <a:spAutoFit/>
          </a:bodyPr>
          <a:lstStyle/>
          <a:p>
            <a:pPr algn="l">
              <a:lnSpc>
                <a:spcPct val="105000"/>
              </a:lnSpc>
              <a:spcBef>
                <a:spcPts val="0"/>
              </a:spcBef>
              <a:spcAft>
                <a:spcPts val="200"/>
              </a:spcAft>
            </a:pPr>
            <a:r>
              <a:rPr sz="1300" b="0" i="0">
                <a:solidFill>
                  <a:srgbClr val="0F172A"/>
                </a:solidFill>
                <a:latin typeface="Arial"/>
              </a:rPr>
              <a:t>Mandatory transfer buys short-run quality but displaces the autonomous innovation the next cycle needs; organic and voluntary modes preserve it.</a:t>
            </a:r>
          </a:p>
        </p:txBody>
      </p:sp>
      <p:sp>
        <p:nvSpPr>
          <p:cNvPr id="12" name="Rectangle 11"/>
          <p:cNvSpPr/>
          <p:nvPr/>
        </p:nvSpPr>
        <p:spPr>
          <a:xfrm>
            <a:off x="548640" y="31546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3154680"/>
            <a:ext cx="109728" cy="11887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31546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DC2626"/>
                </a:solidFill>
                <a:latin typeface="Arial"/>
              </a:rPr>
              <a:t>2</a:t>
            </a:r>
          </a:p>
        </p:txBody>
      </p:sp>
      <p:sp>
        <p:nvSpPr>
          <p:cNvPr id="15" name="TextBox 14"/>
          <p:cNvSpPr txBox="1"/>
          <p:nvPr/>
        </p:nvSpPr>
        <p:spPr>
          <a:xfrm>
            <a:off x="1828800" y="33192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650" b="1" i="0">
                <a:solidFill>
                  <a:srgbClr val="0F172A"/>
                </a:solidFill>
                <a:latin typeface="Arial"/>
              </a:rPr>
              <a:t>Governance is a first-order determinant of strategic adaptability</a:t>
            </a:r>
          </a:p>
        </p:txBody>
      </p:sp>
      <p:sp>
        <p:nvSpPr>
          <p:cNvPr id="16" name="TextBox 15"/>
          <p:cNvSpPr txBox="1"/>
          <p:nvPr/>
        </p:nvSpPr>
        <p:spPr>
          <a:xfrm>
            <a:off x="1828800" y="3721608"/>
            <a:ext cx="9509760" cy="548640"/>
          </a:xfrm>
          <a:prstGeom prst="rect">
            <a:avLst/>
          </a:prstGeom>
          <a:noFill/>
        </p:spPr>
        <p:txBody>
          <a:bodyPr wrap="square" lIns="0" tIns="0" rIns="0" bIns="0" anchor="t">
            <a:spAutoFit/>
          </a:bodyPr>
          <a:lstStyle/>
          <a:p>
            <a:pPr algn="l">
              <a:lnSpc>
                <a:spcPct val="105000"/>
              </a:lnSpc>
              <a:spcBef>
                <a:spcPts val="0"/>
              </a:spcBef>
              <a:spcAft>
                <a:spcPts val="200"/>
              </a:spcAft>
            </a:pPr>
            <a:r>
              <a:rPr sz="1300" b="0" i="0">
                <a:solidFill>
                  <a:srgbClr val="0F172A"/>
                </a:solidFill>
                <a:latin typeface="Arial"/>
              </a:rPr>
              <a:t>Control concentrated with commercial principals adapts faster. When change outpaces the decision cycle, governance becomes the binding constraint.</a:t>
            </a:r>
          </a:p>
        </p:txBody>
      </p:sp>
      <p:sp>
        <p:nvSpPr>
          <p:cNvPr id="17" name="Rectangle 16"/>
          <p:cNvSpPr/>
          <p:nvPr/>
        </p:nvSpPr>
        <p:spPr>
          <a:xfrm>
            <a:off x="548640" y="45262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4526280"/>
            <a:ext cx="109728" cy="11887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5262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06B6D4"/>
                </a:solidFill>
                <a:latin typeface="Arial"/>
              </a:rPr>
              <a:t>3</a:t>
            </a:r>
          </a:p>
        </p:txBody>
      </p:sp>
      <p:sp>
        <p:nvSpPr>
          <p:cNvPr id="20" name="TextBox 19"/>
          <p:cNvSpPr txBox="1"/>
          <p:nvPr/>
        </p:nvSpPr>
        <p:spPr>
          <a:xfrm>
            <a:off x="1828800" y="46908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650" b="1" i="0">
                <a:solidFill>
                  <a:srgbClr val="0F172A"/>
                </a:solidFill>
                <a:latin typeface="Arial"/>
              </a:rPr>
              <a:t>Capital structure determines resilience when markets contract</a:t>
            </a:r>
          </a:p>
        </p:txBody>
      </p:sp>
      <p:sp>
        <p:nvSpPr>
          <p:cNvPr id="21" name="TextBox 20"/>
          <p:cNvSpPr txBox="1"/>
          <p:nvPr/>
        </p:nvSpPr>
        <p:spPr>
          <a:xfrm>
            <a:off x="1828800" y="5093208"/>
            <a:ext cx="9509760" cy="548640"/>
          </a:xfrm>
          <a:prstGeom prst="rect">
            <a:avLst/>
          </a:prstGeom>
          <a:noFill/>
        </p:spPr>
        <p:txBody>
          <a:bodyPr wrap="square" lIns="0" tIns="0" rIns="0" bIns="0" anchor="t">
            <a:spAutoFit/>
          </a:bodyPr>
          <a:lstStyle/>
          <a:p>
            <a:pPr algn="l">
              <a:lnSpc>
                <a:spcPct val="105000"/>
              </a:lnSpc>
              <a:spcBef>
                <a:spcPts val="0"/>
              </a:spcBef>
              <a:spcAft>
                <a:spcPts val="200"/>
              </a:spcAft>
            </a:pPr>
            <a:r>
              <a:rPr sz="1300" b="0" i="0">
                <a:solidFill>
                  <a:srgbClr val="0F172A"/>
                </a:solidFill>
                <a:latin typeface="Arial"/>
              </a:rPr>
              <a:t>Risk-sharing captures upside in growth but exposes the firm in downturns; self-financing trades speed for resilience, leverage trades safety for speed.</a:t>
            </a:r>
          </a:p>
        </p:txBody>
      </p:sp>
      <p:sp>
        <p:nvSpPr>
          <p:cNvPr id="22" name="TextBox 2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45720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CONCLUSION</a:t>
            </a:r>
          </a:p>
        </p:txBody>
      </p:sp>
      <p:sp>
        <p:nvSpPr>
          <p:cNvPr id="5" name="TextBox 4"/>
          <p:cNvSpPr txBox="1"/>
          <p:nvPr/>
        </p:nvSpPr>
        <p:spPr>
          <a:xfrm>
            <a:off x="548640" y="868680"/>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800" b="1" i="0">
                <a:solidFill>
                  <a:srgbClr val="FFFFFF"/>
                </a:solidFill>
                <a:latin typeface="Arial"/>
              </a:rPr>
              <a:t>Governance is not a footnote to strategy — it is strategy</a:t>
            </a:r>
          </a:p>
        </p:txBody>
      </p:sp>
      <p:sp>
        <p:nvSpPr>
          <p:cNvPr id="6" name="Rectangle 5"/>
          <p:cNvSpPr/>
          <p:nvPr/>
        </p:nvSpPr>
        <p:spPr>
          <a:xfrm>
            <a:off x="548640" y="1783080"/>
            <a:ext cx="6675120"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667512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965960"/>
            <a:ext cx="3474720" cy="731520"/>
          </a:xfrm>
          <a:prstGeom prst="rect">
            <a:avLst/>
          </a:prstGeom>
          <a:noFill/>
        </p:spPr>
        <p:txBody>
          <a:bodyPr wrap="square" lIns="0" tIns="0" rIns="0" bIns="0" anchor="t">
            <a:spAutoFit/>
          </a:bodyPr>
          <a:lstStyle/>
          <a:p>
            <a:pPr algn="l">
              <a:lnSpc>
                <a:spcPct val="100000"/>
              </a:lnSpc>
              <a:spcBef>
                <a:spcPts val="0"/>
              </a:spcBef>
              <a:spcAft>
                <a:spcPts val="200"/>
              </a:spcAft>
            </a:pPr>
            <a:r>
              <a:rPr sz="6000" b="1" i="0">
                <a:solidFill>
                  <a:srgbClr val="06B6D4"/>
                </a:solidFill>
                <a:latin typeface="Arial"/>
              </a:rPr>
              <a:t>“</a:t>
            </a:r>
          </a:p>
        </p:txBody>
      </p:sp>
      <p:sp>
        <p:nvSpPr>
          <p:cNvPr id="9" name="TextBox 8"/>
          <p:cNvSpPr txBox="1"/>
          <p:nvPr/>
        </p:nvSpPr>
        <p:spPr>
          <a:xfrm>
            <a:off x="822960" y="2697480"/>
            <a:ext cx="6126480" cy="2560320"/>
          </a:xfrm>
          <a:prstGeom prst="rect">
            <a:avLst/>
          </a:prstGeom>
          <a:noFill/>
        </p:spPr>
        <p:txBody>
          <a:bodyPr wrap="square" lIns="0" tIns="0" rIns="0" bIns="0" anchor="t">
            <a:spAutoFit/>
          </a:bodyPr>
          <a:lstStyle/>
          <a:p>
            <a:pPr algn="l">
              <a:lnSpc>
                <a:spcPct val="112000"/>
              </a:lnSpc>
              <a:spcBef>
                <a:spcPts val="0"/>
              </a:spcBef>
              <a:spcAft>
                <a:spcPts val="200"/>
              </a:spcAft>
            </a:pPr>
            <a:r>
              <a:rPr sz="2200" b="1" i="1">
                <a:solidFill>
                  <a:srgbClr val="FFFFFF"/>
                </a:solidFill>
                <a:latin typeface="Arial"/>
              </a:rPr>
              <a:t>When technology moves faster than firms can decide, governance is no longer a footnote to strategy — it is strategy.</a:t>
            </a:r>
          </a:p>
        </p:txBody>
      </p:sp>
      <p:sp>
        <p:nvSpPr>
          <p:cNvPr id="10" name="TextBox 9"/>
          <p:cNvSpPr txBox="1"/>
          <p:nvPr/>
        </p:nvSpPr>
        <p:spPr>
          <a:xfrm>
            <a:off x="7589520" y="1920240"/>
            <a:ext cx="4023360" cy="36576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What the evidence shows</a:t>
            </a:r>
          </a:p>
        </p:txBody>
      </p:sp>
      <p:sp>
        <p:nvSpPr>
          <p:cNvPr id="11" name="TextBox 10"/>
          <p:cNvSpPr txBox="1"/>
          <p:nvPr/>
        </p:nvSpPr>
        <p:spPr>
          <a:xfrm>
            <a:off x="7589520" y="2377440"/>
            <a:ext cx="4023360" cy="3017520"/>
          </a:xfrm>
          <a:prstGeom prst="rect">
            <a:avLst/>
          </a:prstGeom>
          <a:noFill/>
        </p:spPr>
        <p:txBody>
          <a:bodyPr wrap="square" lIns="0" tIns="0" rIns="0" bIns="0">
            <a:spAutoFit/>
          </a:bodyPr>
          <a:lstStyle/>
          <a:p>
            <a:pPr>
              <a:lnSpc>
                <a:spcPct val="105000"/>
              </a:lnSpc>
              <a:spcBef>
                <a:spcPts val="0"/>
              </a:spcBef>
              <a:spcAft>
                <a:spcPts val="1000"/>
              </a:spcAft>
              <a:buNone/>
            </a:pPr>
            <a:r>
              <a:rPr sz="1300">
                <a:solidFill>
                  <a:srgbClr val="06B6D4"/>
                </a:solidFill>
                <a:latin typeface="Arial"/>
              </a:rPr>
              <a:t>–  </a:t>
            </a:r>
            <a:r>
              <a:rPr sz="1300">
                <a:solidFill>
                  <a:srgbClr val="E2E8F0"/>
                </a:solidFill>
                <a:latin typeface="Arial"/>
              </a:rPr>
              <a:t>The JV model fell not to a better technology, but to a better way of allocating control and capital.</a:t>
            </a:r>
          </a:p>
          <a:p>
            <a:pPr>
              <a:lnSpc>
                <a:spcPct val="105000"/>
              </a:lnSpc>
              <a:spcBef>
                <a:spcPts val="0"/>
              </a:spcBef>
              <a:spcAft>
                <a:spcPts val="1000"/>
              </a:spcAft>
              <a:buNone/>
            </a:pPr>
            <a:r>
              <a:rPr sz="1300">
                <a:solidFill>
                  <a:srgbClr val="06B6D4"/>
                </a:solidFill>
                <a:latin typeface="Arial"/>
              </a:rPr>
              <a:t>–  </a:t>
            </a:r>
            <a:r>
              <a:rPr sz="1300">
                <a:solidFill>
                  <a:srgbClr val="E2E8F0"/>
                </a:solidFill>
                <a:latin typeface="Arial"/>
              </a:rPr>
              <a:t>BYD — founder control + self-financing — was the most adaptive combination in the transition.</a:t>
            </a:r>
          </a:p>
          <a:p>
            <a:pPr>
              <a:lnSpc>
                <a:spcPct val="105000"/>
              </a:lnSpc>
              <a:spcBef>
                <a:spcPts val="0"/>
              </a:spcBef>
              <a:spcAft>
                <a:spcPts val="1000"/>
              </a:spcAft>
              <a:buNone/>
            </a:pPr>
            <a:r>
              <a:rPr sz="1300">
                <a:solidFill>
                  <a:srgbClr val="06B6D4"/>
                </a:solidFill>
                <a:latin typeface="Arial"/>
              </a:rPr>
              <a:t>–  </a:t>
            </a:r>
            <a:r>
              <a:rPr sz="1300">
                <a:solidFill>
                  <a:srgbClr val="E2E8F0"/>
                </a:solidFill>
                <a:latin typeface="Arial"/>
              </a:rPr>
              <a:t>SAIC's state model optimises beyond shareholder value: a permanent structural discount.</a:t>
            </a:r>
          </a:p>
          <a:p>
            <a:pPr>
              <a:lnSpc>
                <a:spcPct val="105000"/>
              </a:lnSpc>
              <a:spcBef>
                <a:spcPts val="0"/>
              </a:spcBef>
              <a:spcAft>
                <a:spcPts val="1000"/>
              </a:spcAft>
              <a:buNone/>
            </a:pPr>
            <a:r>
              <a:rPr sz="1300">
                <a:solidFill>
                  <a:srgbClr val="06B6D4"/>
                </a:solidFill>
                <a:latin typeface="Arial"/>
              </a:rPr>
              <a:t>–  </a:t>
            </a:r>
            <a:r>
              <a:rPr sz="1300">
                <a:solidFill>
                  <a:srgbClr val="E2E8F0"/>
                </a:solidFill>
                <a:latin typeface="Arial"/>
              </a:rPr>
              <a:t>2020–2025 is a natural experiment: governance, more than endowment, decides who wins.</a:t>
            </a:r>
          </a:p>
        </p:txBody>
      </p:sp>
      <p:sp>
        <p:nvSpPr>
          <p:cNvPr id="12" name="TextBox 1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3" name="TextBox 1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LIMITATIONS &amp; FUTURE RESEARCH</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Scope conditions and where the analysis could be extended</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5440680" cy="3520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5440680"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D97706"/>
                </a:solidFill>
                <a:latin typeface="Arial"/>
              </a:rPr>
              <a:t>Limitations</a:t>
            </a:r>
          </a:p>
        </p:txBody>
      </p:sp>
      <p:sp>
        <p:nvSpPr>
          <p:cNvPr id="10" name="TextBox 9"/>
          <p:cNvSpPr txBox="1"/>
          <p:nvPr/>
        </p:nvSpPr>
        <p:spPr>
          <a:xfrm>
            <a:off x="731520" y="2423160"/>
            <a:ext cx="5074920" cy="1056508"/>
          </a:xfrm>
          <a:prstGeom prst="rect">
            <a:avLst/>
          </a:prstGeom>
          <a:noFill/>
        </p:spPr>
        <p:txBody>
          <a:bodyPr wrap="square" lIns="0" tIns="0" rIns="0" bIns="0">
            <a:spAutoFit/>
          </a:bodyPr>
          <a:lstStyle/>
          <a:p>
            <a:pPr>
              <a:lnSpc>
                <a:spcPct val="105000"/>
              </a:lnSpc>
              <a:spcBef>
                <a:spcPts val="0"/>
              </a:spcBef>
              <a:spcAft>
                <a:spcPts val="900"/>
              </a:spcAft>
              <a:buNone/>
            </a:pPr>
            <a:r>
              <a:rPr sz="1300" dirty="0">
                <a:solidFill>
                  <a:srgbClr val="D97706"/>
                </a:solidFill>
                <a:latin typeface="Arial"/>
              </a:rPr>
              <a:t>–  </a:t>
            </a:r>
            <a:r>
              <a:rPr sz="1300" dirty="0">
                <a:solidFill>
                  <a:srgbClr val="0F172A"/>
                </a:solidFill>
                <a:latin typeface="Arial"/>
              </a:rPr>
              <a:t>Three firms, one industry, one country — limited statistical </a:t>
            </a:r>
            <a:r>
              <a:rPr sz="1300" dirty="0" err="1">
                <a:solidFill>
                  <a:srgbClr val="0F172A"/>
                </a:solidFill>
                <a:latin typeface="Arial"/>
              </a:rPr>
              <a:t>generalisability</a:t>
            </a:r>
            <a:r>
              <a:rPr sz="1300" dirty="0">
                <a:solidFill>
                  <a:srgbClr val="0F172A"/>
                </a:solidFill>
                <a:latin typeface="Arial"/>
              </a:rPr>
              <a:t>.</a:t>
            </a:r>
          </a:p>
          <a:p>
            <a:pPr>
              <a:lnSpc>
                <a:spcPct val="105000"/>
              </a:lnSpc>
              <a:spcBef>
                <a:spcPts val="0"/>
              </a:spcBef>
              <a:spcAft>
                <a:spcPts val="900"/>
              </a:spcAft>
              <a:buNone/>
            </a:pPr>
            <a:r>
              <a:rPr sz="1300" dirty="0">
                <a:solidFill>
                  <a:srgbClr val="D97706"/>
                </a:solidFill>
                <a:latin typeface="Arial"/>
              </a:rPr>
              <a:t>–  </a:t>
            </a:r>
            <a:r>
              <a:rPr sz="1300" dirty="0">
                <a:solidFill>
                  <a:srgbClr val="0F172A"/>
                </a:solidFill>
                <a:latin typeface="Arial"/>
              </a:rPr>
              <a:t>Short post-EV window; the transition is still unfolding.</a:t>
            </a:r>
          </a:p>
          <a:p>
            <a:pPr>
              <a:lnSpc>
                <a:spcPct val="105000"/>
              </a:lnSpc>
              <a:spcBef>
                <a:spcPts val="0"/>
              </a:spcBef>
              <a:spcAft>
                <a:spcPts val="900"/>
              </a:spcAft>
              <a:buNone/>
            </a:pPr>
            <a:endParaRPr sz="1300" dirty="0">
              <a:solidFill>
                <a:srgbClr val="0F172A"/>
              </a:solidFill>
              <a:latin typeface="Arial"/>
            </a:endParaRPr>
          </a:p>
        </p:txBody>
      </p:sp>
      <p:sp>
        <p:nvSpPr>
          <p:cNvPr id="11" name="Rectangle 10"/>
          <p:cNvSpPr/>
          <p:nvPr/>
        </p:nvSpPr>
        <p:spPr>
          <a:xfrm>
            <a:off x="6172200" y="1783080"/>
            <a:ext cx="5440680" cy="3520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783080"/>
            <a:ext cx="54406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2563EB"/>
                </a:solidFill>
                <a:latin typeface="Arial"/>
              </a:rPr>
              <a:t>Future research</a:t>
            </a:r>
          </a:p>
        </p:txBody>
      </p:sp>
      <p:sp>
        <p:nvSpPr>
          <p:cNvPr id="14" name="TextBox 13"/>
          <p:cNvSpPr txBox="1"/>
          <p:nvPr/>
        </p:nvSpPr>
        <p:spPr>
          <a:xfrm>
            <a:off x="6355080" y="2423160"/>
            <a:ext cx="5074920" cy="1592039"/>
          </a:xfrm>
          <a:prstGeom prst="rect">
            <a:avLst/>
          </a:prstGeom>
          <a:noFill/>
        </p:spPr>
        <p:txBody>
          <a:bodyPr wrap="square" lIns="0" tIns="0" rIns="0" bIns="0">
            <a:spAutoFit/>
          </a:bodyPr>
          <a:lstStyle/>
          <a:p>
            <a:pPr>
              <a:lnSpc>
                <a:spcPct val="105000"/>
              </a:lnSpc>
              <a:spcBef>
                <a:spcPts val="0"/>
              </a:spcBef>
              <a:spcAft>
                <a:spcPts val="900"/>
              </a:spcAft>
              <a:buNone/>
            </a:pPr>
            <a:r>
              <a:rPr sz="1300" dirty="0">
                <a:solidFill>
                  <a:srgbClr val="2563EB"/>
                </a:solidFill>
                <a:latin typeface="Arial"/>
              </a:rPr>
              <a:t>–</a:t>
            </a:r>
            <a:r>
              <a:rPr lang="de-DE" sz="1300" dirty="0">
                <a:solidFill>
                  <a:srgbClr val="0F172A"/>
                </a:solidFill>
                <a:latin typeface="Arial"/>
              </a:rPr>
              <a:t>  F</a:t>
            </a:r>
            <a:r>
              <a:rPr sz="1300" dirty="0" err="1">
                <a:solidFill>
                  <a:srgbClr val="0F172A"/>
                </a:solidFill>
                <a:latin typeface="Arial"/>
              </a:rPr>
              <a:t>ourth</a:t>
            </a:r>
            <a:r>
              <a:rPr sz="1300" dirty="0">
                <a:solidFill>
                  <a:srgbClr val="0F172A"/>
                </a:solidFill>
                <a:latin typeface="Arial"/>
              </a:rPr>
              <a:t> archetype (NIO, capital-market model) for a fuller typology.</a:t>
            </a:r>
          </a:p>
          <a:p>
            <a:pPr>
              <a:lnSpc>
                <a:spcPct val="105000"/>
              </a:lnSpc>
              <a:spcBef>
                <a:spcPts val="0"/>
              </a:spcBef>
              <a:spcAft>
                <a:spcPts val="900"/>
              </a:spcAft>
              <a:buNone/>
            </a:pPr>
            <a:r>
              <a:rPr sz="1300" dirty="0">
                <a:solidFill>
                  <a:srgbClr val="2563EB"/>
                </a:solidFill>
                <a:latin typeface="Arial"/>
              </a:rPr>
              <a:t>–  </a:t>
            </a:r>
            <a:r>
              <a:rPr sz="1300" dirty="0">
                <a:solidFill>
                  <a:srgbClr val="0F172A"/>
                </a:solidFill>
                <a:latin typeface="Arial"/>
              </a:rPr>
              <a:t>Track outcomes over a longer EV cycle to test durability of the ranking.</a:t>
            </a:r>
          </a:p>
          <a:p>
            <a:pPr>
              <a:lnSpc>
                <a:spcPct val="105000"/>
              </a:lnSpc>
              <a:spcBef>
                <a:spcPts val="0"/>
              </a:spcBef>
              <a:spcAft>
                <a:spcPts val="900"/>
              </a:spcAft>
              <a:buNone/>
            </a:pPr>
            <a:r>
              <a:rPr sz="1300" dirty="0">
                <a:solidFill>
                  <a:srgbClr val="2563EB"/>
                </a:solidFill>
                <a:latin typeface="Arial"/>
              </a:rPr>
              <a:t>–  </a:t>
            </a:r>
            <a:r>
              <a:rPr sz="1300" dirty="0">
                <a:solidFill>
                  <a:srgbClr val="0F172A"/>
                </a:solidFill>
                <a:latin typeface="Arial"/>
              </a:rPr>
              <a:t>Build a formal governance index and test it across more emerging markets</a:t>
            </a:r>
          </a:p>
          <a:p>
            <a:pPr>
              <a:lnSpc>
                <a:spcPct val="105000"/>
              </a:lnSpc>
              <a:spcBef>
                <a:spcPts val="0"/>
              </a:spcBef>
              <a:spcAft>
                <a:spcPts val="900"/>
              </a:spcAft>
              <a:buNone/>
            </a:pPr>
            <a:r>
              <a:rPr sz="1300" dirty="0">
                <a:solidFill>
                  <a:srgbClr val="2563EB"/>
                </a:solidFill>
                <a:latin typeface="Arial"/>
              </a:rPr>
              <a:t>–  </a:t>
            </a:r>
            <a:r>
              <a:rPr sz="1300" dirty="0">
                <a:solidFill>
                  <a:srgbClr val="0F172A"/>
                </a:solidFill>
                <a:latin typeface="Arial"/>
              </a:rPr>
              <a:t>Examine how EU tariffs reshape each model's export strategy.</a:t>
            </a:r>
          </a:p>
        </p:txBody>
      </p:sp>
      <p:sp>
        <p:nvSpPr>
          <p:cNvPr id="15" name="TextBox 14"/>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6" name="TextBox 15"/>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AI ANNEX · ARCHITECTURE &amp; WORKFLOW</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AI as research infrastructure — a layered agent system, not a chatbot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69164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2563EB"/>
                </a:solidFill>
                <a:latin typeface="Arial"/>
              </a:rPr>
              <a:t>PLATFORM: CLAUDE CODE (ANTHROPIC)</a:t>
            </a:r>
          </a:p>
        </p:txBody>
      </p:sp>
      <p:sp>
        <p:nvSpPr>
          <p:cNvPr id="8" name="Rectangle 7"/>
          <p:cNvSpPr/>
          <p:nvPr/>
        </p:nvSpPr>
        <p:spPr>
          <a:xfrm>
            <a:off x="548640" y="2011680"/>
            <a:ext cx="5440680" cy="9144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48640" y="2011680"/>
            <a:ext cx="82296"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2130552"/>
            <a:ext cx="5074920" cy="32004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F172A"/>
                </a:solidFill>
                <a:latin typeface="Arial"/>
              </a:rPr>
              <a:t>claude-sonnet-4-6</a:t>
            </a:r>
          </a:p>
        </p:txBody>
      </p:sp>
      <p:sp>
        <p:nvSpPr>
          <p:cNvPr id="11" name="TextBox 10"/>
          <p:cNvSpPr txBox="1"/>
          <p:nvPr/>
        </p:nvSpPr>
        <p:spPr>
          <a:xfrm>
            <a:off x="731520" y="2468880"/>
            <a:ext cx="5074920" cy="411480"/>
          </a:xfrm>
          <a:prstGeom prst="rect">
            <a:avLst/>
          </a:prstGeom>
          <a:noFill/>
        </p:spPr>
        <p:txBody>
          <a:bodyPr wrap="square" lIns="0" tIns="0" rIns="0" bIns="0" anchor="t">
            <a:spAutoFit/>
          </a:bodyPr>
          <a:lstStyle/>
          <a:p>
            <a:pPr algn="l">
              <a:lnSpc>
                <a:spcPct val="100000"/>
              </a:lnSpc>
              <a:spcBef>
                <a:spcPts val="0"/>
              </a:spcBef>
              <a:spcAft>
                <a:spcPts val="200"/>
              </a:spcAft>
            </a:pPr>
            <a:r>
              <a:rPr sz="1250" b="0" i="0">
                <a:solidFill>
                  <a:srgbClr val="0F172A"/>
                </a:solidFill>
                <a:latin typeface="Arial"/>
              </a:rPr>
              <a:t>Primary: ingestion, drafting, APA checks, comparison table</a:t>
            </a:r>
          </a:p>
        </p:txBody>
      </p:sp>
      <p:sp>
        <p:nvSpPr>
          <p:cNvPr id="12" name="Rectangle 11"/>
          <p:cNvSpPr/>
          <p:nvPr/>
        </p:nvSpPr>
        <p:spPr>
          <a:xfrm>
            <a:off x="6172200" y="2011680"/>
            <a:ext cx="5440680" cy="9144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2011680"/>
            <a:ext cx="82296"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55080" y="2130552"/>
            <a:ext cx="5074920" cy="32004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F172A"/>
                </a:solidFill>
                <a:latin typeface="Arial"/>
              </a:rPr>
              <a:t>claude-opus-4</a:t>
            </a:r>
          </a:p>
        </p:txBody>
      </p:sp>
      <p:sp>
        <p:nvSpPr>
          <p:cNvPr id="15" name="TextBox 14"/>
          <p:cNvSpPr txBox="1"/>
          <p:nvPr/>
        </p:nvSpPr>
        <p:spPr>
          <a:xfrm>
            <a:off x="6355080" y="2468880"/>
            <a:ext cx="5074920" cy="411480"/>
          </a:xfrm>
          <a:prstGeom prst="rect">
            <a:avLst/>
          </a:prstGeom>
          <a:noFill/>
        </p:spPr>
        <p:txBody>
          <a:bodyPr wrap="square" lIns="0" tIns="0" rIns="0" bIns="0" anchor="t">
            <a:spAutoFit/>
          </a:bodyPr>
          <a:lstStyle/>
          <a:p>
            <a:pPr algn="l">
              <a:lnSpc>
                <a:spcPct val="100000"/>
              </a:lnSpc>
              <a:spcBef>
                <a:spcPts val="0"/>
              </a:spcBef>
              <a:spcAft>
                <a:spcPts val="200"/>
              </a:spcAft>
            </a:pPr>
            <a:r>
              <a:rPr sz="1250" b="0" i="0">
                <a:solidFill>
                  <a:srgbClr val="0F172A"/>
                </a:solidFill>
                <a:latin typeface="Arial"/>
              </a:rPr>
              <a:t>Selective: cross-case reasoning, central argument, logic checks</a:t>
            </a:r>
          </a:p>
        </p:txBody>
      </p:sp>
      <p:sp>
        <p:nvSpPr>
          <p:cNvPr id="16" name="TextBox 15"/>
          <p:cNvSpPr txBox="1"/>
          <p:nvPr/>
        </p:nvSpPr>
        <p:spPr>
          <a:xfrm>
            <a:off x="548640" y="315468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2563EB"/>
                </a:solidFill>
                <a:latin typeface="Arial"/>
              </a:rPr>
              <a:t>FIVE SPECIALISED AGENTS</a:t>
            </a:r>
          </a:p>
        </p:txBody>
      </p:sp>
      <p:sp>
        <p:nvSpPr>
          <p:cNvPr id="17" name="Rectangle 16"/>
          <p:cNvSpPr/>
          <p:nvPr/>
        </p:nvSpPr>
        <p:spPr>
          <a:xfrm>
            <a:off x="548640"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3611880"/>
            <a:ext cx="1901952"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6B6D4"/>
                </a:solidFill>
                <a:latin typeface="Arial"/>
              </a:rPr>
              <a:t>wiki-ingest</a:t>
            </a:r>
          </a:p>
        </p:txBody>
      </p:sp>
      <p:sp>
        <p:nvSpPr>
          <p:cNvPr id="20" name="TextBox 19"/>
          <p:cNvSpPr txBox="1"/>
          <p:nvPr/>
        </p:nvSpPr>
        <p:spPr>
          <a:xfrm>
            <a:off x="658368" y="3977639"/>
            <a:ext cx="1901952" cy="640080"/>
          </a:xfrm>
          <a:prstGeom prst="rect">
            <a:avLst/>
          </a:prstGeom>
          <a:noFill/>
        </p:spPr>
        <p:txBody>
          <a:bodyPr wrap="square" lIns="0" tIns="0" rIns="0" bIns="0" anchor="t">
            <a:spAutoFit/>
          </a:bodyPr>
          <a:lstStyle/>
          <a:p>
            <a:pPr algn="l">
              <a:lnSpc>
                <a:spcPct val="100000"/>
              </a:lnSpc>
              <a:spcBef>
                <a:spcPts val="0"/>
              </a:spcBef>
              <a:spcAft>
                <a:spcPts val="200"/>
              </a:spcAft>
            </a:pPr>
            <a:r>
              <a:rPr sz="1150" b="0" i="0">
                <a:solidFill>
                  <a:srgbClr val="0F172A"/>
                </a:solidFill>
                <a:latin typeface="Arial"/>
              </a:rPr>
              <a:t>structured</a:t>
            </a:r>
          </a:p>
          <a:p>
            <a:pPr algn="l">
              <a:lnSpc>
                <a:spcPct val="100000"/>
              </a:lnSpc>
              <a:spcBef>
                <a:spcPts val="0"/>
              </a:spcBef>
              <a:spcAft>
                <a:spcPts val="200"/>
              </a:spcAft>
            </a:pPr>
            <a:r>
              <a:rPr sz="1150" b="0" i="0">
                <a:solidFill>
                  <a:srgbClr val="0F172A"/>
                </a:solidFill>
                <a:latin typeface="Arial"/>
              </a:rPr>
              <a:t>ingest of sources</a:t>
            </a:r>
          </a:p>
        </p:txBody>
      </p:sp>
      <p:sp>
        <p:nvSpPr>
          <p:cNvPr id="21" name="Rectangle 20"/>
          <p:cNvSpPr/>
          <p:nvPr/>
        </p:nvSpPr>
        <p:spPr>
          <a:xfrm>
            <a:off x="2761488"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61488"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871216" y="3611880"/>
            <a:ext cx="1901952"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6B6D4"/>
                </a:solidFill>
                <a:latin typeface="Arial"/>
              </a:rPr>
              <a:t>wiki-query</a:t>
            </a:r>
          </a:p>
        </p:txBody>
      </p:sp>
      <p:sp>
        <p:nvSpPr>
          <p:cNvPr id="24" name="TextBox 23"/>
          <p:cNvSpPr txBox="1"/>
          <p:nvPr/>
        </p:nvSpPr>
        <p:spPr>
          <a:xfrm>
            <a:off x="2871216" y="3977639"/>
            <a:ext cx="1901952" cy="640080"/>
          </a:xfrm>
          <a:prstGeom prst="rect">
            <a:avLst/>
          </a:prstGeom>
          <a:noFill/>
        </p:spPr>
        <p:txBody>
          <a:bodyPr wrap="square" lIns="0" tIns="0" rIns="0" bIns="0" anchor="t">
            <a:spAutoFit/>
          </a:bodyPr>
          <a:lstStyle/>
          <a:p>
            <a:pPr algn="l">
              <a:lnSpc>
                <a:spcPct val="100000"/>
              </a:lnSpc>
              <a:spcBef>
                <a:spcPts val="0"/>
              </a:spcBef>
              <a:spcAft>
                <a:spcPts val="200"/>
              </a:spcAft>
            </a:pPr>
            <a:r>
              <a:rPr sz="1150" b="0" i="0">
                <a:solidFill>
                  <a:srgbClr val="0F172A"/>
                </a:solidFill>
                <a:latin typeface="Arial"/>
              </a:rPr>
              <a:t>retrieval from</a:t>
            </a:r>
          </a:p>
          <a:p>
            <a:pPr algn="l">
              <a:lnSpc>
                <a:spcPct val="100000"/>
              </a:lnSpc>
              <a:spcBef>
                <a:spcPts val="0"/>
              </a:spcBef>
              <a:spcAft>
                <a:spcPts val="200"/>
              </a:spcAft>
            </a:pPr>
            <a:r>
              <a:rPr sz="1150" b="0" i="0">
                <a:solidFill>
                  <a:srgbClr val="0F172A"/>
                </a:solidFill>
                <a:latin typeface="Arial"/>
              </a:rPr>
              <a:t>the knowledge base</a:t>
            </a:r>
          </a:p>
        </p:txBody>
      </p:sp>
      <p:sp>
        <p:nvSpPr>
          <p:cNvPr id="25" name="Rectangle 24"/>
          <p:cNvSpPr/>
          <p:nvPr/>
        </p:nvSpPr>
        <p:spPr>
          <a:xfrm>
            <a:off x="4974336"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974336"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84064" y="3611880"/>
            <a:ext cx="1901952"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6B6D4"/>
                </a:solidFill>
                <a:latin typeface="Arial"/>
              </a:rPr>
              <a:t>wiki-lint</a:t>
            </a:r>
          </a:p>
        </p:txBody>
      </p:sp>
      <p:sp>
        <p:nvSpPr>
          <p:cNvPr id="28" name="TextBox 27"/>
          <p:cNvSpPr txBox="1"/>
          <p:nvPr/>
        </p:nvSpPr>
        <p:spPr>
          <a:xfrm>
            <a:off x="5084064" y="3977639"/>
            <a:ext cx="1901952" cy="640080"/>
          </a:xfrm>
          <a:prstGeom prst="rect">
            <a:avLst/>
          </a:prstGeom>
          <a:noFill/>
        </p:spPr>
        <p:txBody>
          <a:bodyPr wrap="square" lIns="0" tIns="0" rIns="0" bIns="0" anchor="t">
            <a:spAutoFit/>
          </a:bodyPr>
          <a:lstStyle/>
          <a:p>
            <a:pPr algn="l">
              <a:lnSpc>
                <a:spcPct val="100000"/>
              </a:lnSpc>
              <a:spcBef>
                <a:spcPts val="0"/>
              </a:spcBef>
              <a:spcAft>
                <a:spcPts val="200"/>
              </a:spcAft>
            </a:pPr>
            <a:r>
              <a:rPr sz="1150" b="0" i="0">
                <a:solidFill>
                  <a:srgbClr val="0F172A"/>
                </a:solidFill>
                <a:latin typeface="Arial"/>
              </a:rPr>
              <a:t>links, contradictions,</a:t>
            </a:r>
          </a:p>
          <a:p>
            <a:pPr algn="l">
              <a:lnSpc>
                <a:spcPct val="100000"/>
              </a:lnSpc>
              <a:spcBef>
                <a:spcPts val="0"/>
              </a:spcBef>
              <a:spcAft>
                <a:spcPts val="200"/>
              </a:spcAft>
            </a:pPr>
            <a:r>
              <a:rPr sz="1150" b="0" i="0">
                <a:solidFill>
                  <a:srgbClr val="0F172A"/>
                </a:solidFill>
                <a:latin typeface="Arial"/>
              </a:rPr>
              <a:t>stale data</a:t>
            </a:r>
          </a:p>
        </p:txBody>
      </p:sp>
      <p:sp>
        <p:nvSpPr>
          <p:cNvPr id="29" name="Rectangle 28"/>
          <p:cNvSpPr/>
          <p:nvPr/>
        </p:nvSpPr>
        <p:spPr>
          <a:xfrm>
            <a:off x="7187184"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187184"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296912" y="3611880"/>
            <a:ext cx="1901952"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6B6D4"/>
                </a:solidFill>
                <a:latin typeface="Arial"/>
              </a:rPr>
              <a:t>verify-claims</a:t>
            </a:r>
          </a:p>
        </p:txBody>
      </p:sp>
      <p:sp>
        <p:nvSpPr>
          <p:cNvPr id="32" name="TextBox 31"/>
          <p:cNvSpPr txBox="1"/>
          <p:nvPr/>
        </p:nvSpPr>
        <p:spPr>
          <a:xfrm>
            <a:off x="7296912" y="3977639"/>
            <a:ext cx="1901952" cy="640080"/>
          </a:xfrm>
          <a:prstGeom prst="rect">
            <a:avLst/>
          </a:prstGeom>
          <a:noFill/>
        </p:spPr>
        <p:txBody>
          <a:bodyPr wrap="square" lIns="0" tIns="0" rIns="0" bIns="0" anchor="t">
            <a:spAutoFit/>
          </a:bodyPr>
          <a:lstStyle/>
          <a:p>
            <a:pPr algn="l">
              <a:lnSpc>
                <a:spcPct val="100000"/>
              </a:lnSpc>
              <a:spcBef>
                <a:spcPts val="0"/>
              </a:spcBef>
              <a:spcAft>
                <a:spcPts val="200"/>
              </a:spcAft>
            </a:pPr>
            <a:r>
              <a:rPr sz="1150" b="0" i="0">
                <a:solidFill>
                  <a:srgbClr val="0F172A"/>
                </a:solidFill>
                <a:latin typeface="Arial"/>
              </a:rPr>
              <a:t>trace claims to</a:t>
            </a:r>
          </a:p>
          <a:p>
            <a:pPr algn="l">
              <a:lnSpc>
                <a:spcPct val="100000"/>
              </a:lnSpc>
              <a:spcBef>
                <a:spcPts val="0"/>
              </a:spcBef>
              <a:spcAft>
                <a:spcPts val="200"/>
              </a:spcAft>
            </a:pPr>
            <a:r>
              <a:rPr sz="1150" b="0" i="0">
                <a:solidFill>
                  <a:srgbClr val="0F172A"/>
                </a:solidFill>
                <a:latin typeface="Arial"/>
              </a:rPr>
              <a:t>primary sources</a:t>
            </a:r>
          </a:p>
        </p:txBody>
      </p:sp>
      <p:sp>
        <p:nvSpPr>
          <p:cNvPr id="33" name="Rectangle 32"/>
          <p:cNvSpPr/>
          <p:nvPr/>
        </p:nvSpPr>
        <p:spPr>
          <a:xfrm>
            <a:off x="9400032"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9400032"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509760" y="3611880"/>
            <a:ext cx="1901952"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6B6D4"/>
                </a:solidFill>
                <a:latin typeface="Arial"/>
              </a:rPr>
              <a:t>find-references</a:t>
            </a:r>
          </a:p>
        </p:txBody>
      </p:sp>
      <p:sp>
        <p:nvSpPr>
          <p:cNvPr id="36" name="TextBox 35"/>
          <p:cNvSpPr txBox="1"/>
          <p:nvPr/>
        </p:nvSpPr>
        <p:spPr>
          <a:xfrm>
            <a:off x="9509760" y="3977639"/>
            <a:ext cx="1901952" cy="640080"/>
          </a:xfrm>
          <a:prstGeom prst="rect">
            <a:avLst/>
          </a:prstGeom>
          <a:noFill/>
        </p:spPr>
        <p:txBody>
          <a:bodyPr wrap="square" lIns="0" tIns="0" rIns="0" bIns="0" anchor="t">
            <a:spAutoFit/>
          </a:bodyPr>
          <a:lstStyle/>
          <a:p>
            <a:pPr algn="l">
              <a:lnSpc>
                <a:spcPct val="100000"/>
              </a:lnSpc>
              <a:spcBef>
                <a:spcPts val="0"/>
              </a:spcBef>
              <a:spcAft>
                <a:spcPts val="200"/>
              </a:spcAft>
            </a:pPr>
            <a:r>
              <a:rPr sz="1150" b="0" i="0">
                <a:solidFill>
                  <a:srgbClr val="0F172A"/>
                </a:solidFill>
                <a:latin typeface="Arial"/>
              </a:rPr>
              <a:t>find supporting</a:t>
            </a:r>
          </a:p>
          <a:p>
            <a:pPr algn="l">
              <a:lnSpc>
                <a:spcPct val="100000"/>
              </a:lnSpc>
              <a:spcBef>
                <a:spcPts val="0"/>
              </a:spcBef>
              <a:spcAft>
                <a:spcPts val="200"/>
              </a:spcAft>
            </a:pPr>
            <a:r>
              <a:rPr sz="1150" b="0" i="0">
                <a:solidFill>
                  <a:srgbClr val="0F172A"/>
                </a:solidFill>
                <a:latin typeface="Arial"/>
              </a:rPr>
              <a:t>literature</a:t>
            </a:r>
          </a:p>
        </p:txBody>
      </p:sp>
      <p:sp>
        <p:nvSpPr>
          <p:cNvPr id="37" name="TextBox 36"/>
          <p:cNvSpPr txBox="1"/>
          <p:nvPr/>
        </p:nvSpPr>
        <p:spPr>
          <a:xfrm>
            <a:off x="548640" y="4983480"/>
            <a:ext cx="11064240" cy="822960"/>
          </a:xfrm>
          <a:prstGeom prst="rect">
            <a:avLst/>
          </a:prstGeom>
          <a:noFill/>
        </p:spPr>
        <p:txBody>
          <a:bodyPr wrap="square" lIns="0" tIns="0" rIns="0" bIns="0" anchor="t">
            <a:spAutoFit/>
          </a:bodyPr>
          <a:lstStyle/>
          <a:p>
            <a:pPr algn="l">
              <a:lnSpc>
                <a:spcPct val="110000"/>
              </a:lnSpc>
              <a:spcBef>
                <a:spcPts val="0"/>
              </a:spcBef>
              <a:spcAft>
                <a:spcPts val="200"/>
              </a:spcAft>
            </a:pPr>
            <a:r>
              <a:rPr sz="1300" b="0" i="0">
                <a:solidFill>
                  <a:srgbClr val="0F172A"/>
                </a:solidFill>
                <a:latin typeface="Arial"/>
              </a:rPr>
              <a:t>Shared git repository: one wiki subfolder per case (SAIC / BYD / Geely) plus a shared layer (EU regulation, IEA data). Rule: git pull before every session, git push after — so the tool could read all three case wikis at once and compare them directly, with no manual hand-offs.</a:t>
            </a:r>
          </a:p>
        </p:txBody>
      </p:sp>
      <p:sp>
        <p:nvSpPr>
          <p:cNvPr id="38" name="TextBox 37"/>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39" name="TextBox 38"/>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AI ANNEX · VALUE &amp; QUALITY CONTROL</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Most valuable: catching three real data errors before submission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1783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74519"/>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16A34A"/>
                </a:solidFill>
                <a:latin typeface="Arial"/>
              </a:rPr>
              <a:t>Error 1 · EU tariff</a:t>
            </a:r>
          </a:p>
        </p:txBody>
      </p:sp>
      <p:sp>
        <p:nvSpPr>
          <p:cNvPr id="10" name="TextBox 9"/>
          <p:cNvSpPr txBox="1"/>
          <p:nvPr/>
        </p:nvSpPr>
        <p:spPr>
          <a:xfrm>
            <a:off x="713232" y="2286000"/>
            <a:ext cx="3291840" cy="1097280"/>
          </a:xfrm>
          <a:prstGeom prst="rect">
            <a:avLst/>
          </a:prstGeom>
          <a:noFill/>
        </p:spPr>
        <p:txBody>
          <a:bodyPr wrap="square" lIns="0" tIns="0" rIns="0" bIns="0" anchor="t">
            <a:spAutoFit/>
          </a:bodyPr>
          <a:lstStyle/>
          <a:p>
            <a:pPr algn="l">
              <a:lnSpc>
                <a:spcPct val="105000"/>
              </a:lnSpc>
              <a:spcBef>
                <a:spcPts val="0"/>
              </a:spcBef>
              <a:spcAft>
                <a:spcPts val="200"/>
              </a:spcAft>
            </a:pPr>
            <a:r>
              <a:rPr sz="1250" b="0" i="0">
                <a:solidFill>
                  <a:srgbClr val="0F172A"/>
                </a:solidFill>
                <a:latin typeface="Arial"/>
              </a:rPr>
              <a:t>Provisional 36.3% → final 35.3% for SAIC, traced to the regulation.</a:t>
            </a:r>
          </a:p>
        </p:txBody>
      </p:sp>
      <p:sp>
        <p:nvSpPr>
          <p:cNvPr id="11" name="Rectangle 10"/>
          <p:cNvSpPr/>
          <p:nvPr/>
        </p:nvSpPr>
        <p:spPr>
          <a:xfrm>
            <a:off x="4279392" y="1691640"/>
            <a:ext cx="3593592" cy="1783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74519"/>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16A34A"/>
                </a:solidFill>
                <a:latin typeface="Arial"/>
              </a:rPr>
              <a:t>Error 2 · Currency unit</a:t>
            </a:r>
          </a:p>
        </p:txBody>
      </p:sp>
      <p:sp>
        <p:nvSpPr>
          <p:cNvPr id="14" name="TextBox 13"/>
          <p:cNvSpPr txBox="1"/>
          <p:nvPr/>
        </p:nvSpPr>
        <p:spPr>
          <a:xfrm>
            <a:off x="4443984" y="2286000"/>
            <a:ext cx="3291840" cy="1097280"/>
          </a:xfrm>
          <a:prstGeom prst="rect">
            <a:avLst/>
          </a:prstGeom>
          <a:noFill/>
        </p:spPr>
        <p:txBody>
          <a:bodyPr wrap="square" lIns="0" tIns="0" rIns="0" bIns="0" anchor="t">
            <a:spAutoFit/>
          </a:bodyPr>
          <a:lstStyle/>
          <a:p>
            <a:pPr algn="l">
              <a:lnSpc>
                <a:spcPct val="105000"/>
              </a:lnSpc>
              <a:spcBef>
                <a:spcPts val="0"/>
              </a:spcBef>
              <a:spcAft>
                <a:spcPts val="200"/>
              </a:spcAft>
            </a:pPr>
            <a:r>
              <a:rPr sz="1250" b="0" i="0">
                <a:solidFill>
                  <a:srgbClr val="0F172A"/>
                </a:solidFill>
                <a:latin typeface="Arial"/>
              </a:rPr>
              <a:t>A net-profit figure inflated 10× by a unit ambiguity in a secondary source.</a:t>
            </a:r>
          </a:p>
        </p:txBody>
      </p:sp>
      <p:sp>
        <p:nvSpPr>
          <p:cNvPr id="15" name="Rectangle 14"/>
          <p:cNvSpPr/>
          <p:nvPr/>
        </p:nvSpPr>
        <p:spPr>
          <a:xfrm>
            <a:off x="8010144" y="1691640"/>
            <a:ext cx="3593592" cy="1783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74519"/>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16A34A"/>
                </a:solidFill>
                <a:latin typeface="Arial"/>
              </a:rPr>
              <a:t>Error 3 · Share count</a:t>
            </a:r>
          </a:p>
        </p:txBody>
      </p:sp>
      <p:sp>
        <p:nvSpPr>
          <p:cNvPr id="18" name="TextBox 17"/>
          <p:cNvSpPr txBox="1"/>
          <p:nvPr/>
        </p:nvSpPr>
        <p:spPr>
          <a:xfrm>
            <a:off x="8174736" y="2286000"/>
            <a:ext cx="3291840" cy="1097280"/>
          </a:xfrm>
          <a:prstGeom prst="rect">
            <a:avLst/>
          </a:prstGeom>
          <a:noFill/>
        </p:spPr>
        <p:txBody>
          <a:bodyPr wrap="square" lIns="0" tIns="0" rIns="0" bIns="0" anchor="t">
            <a:spAutoFit/>
          </a:bodyPr>
          <a:lstStyle/>
          <a:p>
            <a:pPr algn="l">
              <a:lnSpc>
                <a:spcPct val="105000"/>
              </a:lnSpc>
              <a:spcBef>
                <a:spcPts val="0"/>
              </a:spcBef>
              <a:spcAft>
                <a:spcPts val="200"/>
              </a:spcAft>
            </a:pPr>
            <a:r>
              <a:rPr sz="1250" b="0" i="0">
                <a:solidFill>
                  <a:srgbClr val="0F172A"/>
                </a:solidFill>
                <a:latin typeface="Arial"/>
              </a:rPr>
              <a:t>A BYD EPS figure built on the wrong share count, fixed via the audited report.</a:t>
            </a:r>
          </a:p>
        </p:txBody>
      </p:sp>
      <p:sp>
        <p:nvSpPr>
          <p:cNvPr id="19" name="TextBox 18"/>
          <p:cNvSpPr txBox="1"/>
          <p:nvPr/>
        </p:nvSpPr>
        <p:spPr>
          <a:xfrm>
            <a:off x="548640" y="370332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2563EB"/>
                </a:solidFill>
                <a:latin typeface="Arial"/>
              </a:rPr>
              <a:t>WHAT WORKED IN PRACTICE</a:t>
            </a:r>
          </a:p>
        </p:txBody>
      </p:sp>
      <p:sp>
        <p:nvSpPr>
          <p:cNvPr id="20" name="TextBox 19"/>
          <p:cNvSpPr txBox="1"/>
          <p:nvPr/>
        </p:nvSpPr>
        <p:spPr>
          <a:xfrm>
            <a:off x="548640" y="4023360"/>
            <a:ext cx="11064240" cy="1828800"/>
          </a:xfrm>
          <a:prstGeom prst="rect">
            <a:avLst/>
          </a:prstGeom>
          <a:noFill/>
        </p:spPr>
        <p:txBody>
          <a:bodyPr wrap="square" lIns="0" tIns="0" rIns="0" bIns="0">
            <a:spAutoFit/>
          </a:bodyPr>
          <a:lstStyle/>
          <a:p>
            <a:pPr>
              <a:lnSpc>
                <a:spcPct val="105000"/>
              </a:lnSpc>
              <a:spcBef>
                <a:spcPts val="0"/>
              </a:spcBef>
              <a:spcAft>
                <a:spcPts val="800"/>
              </a:spcAft>
              <a:buNone/>
            </a:pPr>
            <a:r>
              <a:rPr sz="1300">
                <a:solidFill>
                  <a:srgbClr val="2563EB"/>
                </a:solidFill>
                <a:latin typeface="Arial"/>
              </a:rPr>
              <a:t>–  </a:t>
            </a:r>
            <a:r>
              <a:rPr sz="1300">
                <a:solidFill>
                  <a:srgbClr val="0F172A"/>
                </a:solidFill>
                <a:latin typeface="Arial"/>
              </a:rPr>
              <a:t>Source discipline: every source rated by journal quality (Q1–Q5) × relevance (R1–R4); arguments built on Q1/Q2 only, with a per-case writing guide for consistency.</a:t>
            </a:r>
          </a:p>
          <a:p>
            <a:pPr>
              <a:lnSpc>
                <a:spcPct val="105000"/>
              </a:lnSpc>
              <a:spcBef>
                <a:spcPts val="0"/>
              </a:spcBef>
              <a:spcAft>
                <a:spcPts val="800"/>
              </a:spcAft>
              <a:buNone/>
            </a:pPr>
            <a:r>
              <a:rPr sz="1300">
                <a:solidFill>
                  <a:srgbClr val="2563EB"/>
                </a:solidFill>
                <a:latin typeface="Arial"/>
              </a:rPr>
              <a:t>–  </a:t>
            </a:r>
            <a:r>
              <a:rPr sz="1300">
                <a:solidFill>
                  <a:srgbClr val="0F172A"/>
                </a:solidFill>
                <a:latin typeface="Arial"/>
              </a:rPr>
              <a:t>Best prompt pattern: “review this as a Dozent looking for overclaims, logical gaps and APA errors.”</a:t>
            </a:r>
          </a:p>
          <a:p>
            <a:pPr>
              <a:lnSpc>
                <a:spcPct val="105000"/>
              </a:lnSpc>
              <a:spcBef>
                <a:spcPts val="0"/>
              </a:spcBef>
              <a:spcAft>
                <a:spcPts val="800"/>
              </a:spcAft>
              <a:buNone/>
            </a:pPr>
            <a:r>
              <a:rPr sz="1300">
                <a:solidFill>
                  <a:srgbClr val="2563EB"/>
                </a:solidFill>
                <a:latin typeface="Arial"/>
              </a:rPr>
              <a:t>–  </a:t>
            </a:r>
            <a:r>
              <a:rPr sz="1300">
                <a:solidFill>
                  <a:srgbClr val="0F172A"/>
                </a:solidFill>
                <a:latin typeface="Arial"/>
              </a:rPr>
              <a:t>Fact-checking: isolate one claim and ask it to quote the exact source passage before it enters the draft.</a:t>
            </a:r>
          </a:p>
          <a:p>
            <a:pPr>
              <a:lnSpc>
                <a:spcPct val="105000"/>
              </a:lnSpc>
              <a:spcBef>
                <a:spcPts val="0"/>
              </a:spcBef>
              <a:spcAft>
                <a:spcPts val="800"/>
              </a:spcAft>
              <a:buNone/>
            </a:pPr>
            <a:r>
              <a:rPr sz="1300">
                <a:solidFill>
                  <a:srgbClr val="2563EB"/>
                </a:solidFill>
                <a:latin typeface="Arial"/>
              </a:rPr>
              <a:t>–  </a:t>
            </a:r>
            <a:r>
              <a:rPr sz="1300">
                <a:solidFill>
                  <a:srgbClr val="0F172A"/>
                </a:solidFill>
                <a:latin typeface="Arial"/>
              </a:rPr>
              <a:t>Cross-case work was reliable only with explicit wiki access — “compare X using only verified wiki data,” not free recall.</a:t>
            </a:r>
          </a:p>
        </p:txBody>
      </p:sp>
      <p:sp>
        <p:nvSpPr>
          <p:cNvPr id="21" name="TextBox 20"/>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All three corrections traced back to the PwC- / Ernst &amp; Young-audited annual reports.</a:t>
            </a:r>
          </a:p>
        </p:txBody>
      </p:sp>
      <p:sp>
        <p:nvSpPr>
          <p:cNvPr id="22" name="TextBox 2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AI ANNEX · LIMITS, COST &amp; JUDGMENT</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Useful but bounded — and the thinking stayed human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544068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5440680"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D97706"/>
                </a:solidFill>
                <a:latin typeface="Arial"/>
              </a:rPr>
              <a:t>Real limitations</a:t>
            </a:r>
          </a:p>
        </p:txBody>
      </p:sp>
      <p:sp>
        <p:nvSpPr>
          <p:cNvPr id="10" name="TextBox 9"/>
          <p:cNvSpPr txBox="1"/>
          <p:nvPr/>
        </p:nvSpPr>
        <p:spPr>
          <a:xfrm>
            <a:off x="731520" y="2423160"/>
            <a:ext cx="5074920" cy="2468880"/>
          </a:xfrm>
          <a:prstGeom prst="rect">
            <a:avLst/>
          </a:prstGeom>
          <a:noFill/>
        </p:spPr>
        <p:txBody>
          <a:bodyPr wrap="square" lIns="0" tIns="0" rIns="0" bIns="0">
            <a:spAutoFit/>
          </a:bodyPr>
          <a:lstStyle/>
          <a:p>
            <a:pPr>
              <a:lnSpc>
                <a:spcPct val="105000"/>
              </a:lnSpc>
              <a:spcBef>
                <a:spcPts val="0"/>
              </a:spcBef>
              <a:spcAft>
                <a:spcPts val="800"/>
              </a:spcAft>
              <a:buNone/>
            </a:pPr>
            <a:r>
              <a:rPr sz="1250">
                <a:solidFill>
                  <a:srgbClr val="D97706"/>
                </a:solidFill>
                <a:latin typeface="Arial"/>
              </a:rPr>
              <a:t>–  </a:t>
            </a:r>
            <a:r>
              <a:rPr sz="1250">
                <a:solidFill>
                  <a:srgbClr val="0F172A"/>
                </a:solidFill>
                <a:latin typeface="Arial"/>
              </a:rPr>
              <a:t>No access to paywalled journals (e.g. AER behind the Goethe paywall).</a:t>
            </a:r>
          </a:p>
          <a:p>
            <a:pPr>
              <a:lnSpc>
                <a:spcPct val="105000"/>
              </a:lnSpc>
              <a:spcBef>
                <a:spcPts val="0"/>
              </a:spcBef>
              <a:spcAft>
                <a:spcPts val="800"/>
              </a:spcAft>
              <a:buNone/>
            </a:pPr>
            <a:r>
              <a:rPr sz="1250">
                <a:solidFill>
                  <a:srgbClr val="D97706"/>
                </a:solidFill>
                <a:latin typeface="Arial"/>
              </a:rPr>
              <a:t>–  </a:t>
            </a:r>
            <a:r>
              <a:rPr sz="1250">
                <a:solidFill>
                  <a:srgbClr val="0F172A"/>
                </a:solidFill>
                <a:latin typeface="Arial"/>
              </a:rPr>
              <a:t>Geely PDFs were not machine-readable → more manual web research.</a:t>
            </a:r>
          </a:p>
          <a:p>
            <a:pPr>
              <a:lnSpc>
                <a:spcPct val="105000"/>
              </a:lnSpc>
              <a:spcBef>
                <a:spcPts val="0"/>
              </a:spcBef>
              <a:spcAft>
                <a:spcPts val="800"/>
              </a:spcAft>
              <a:buNone/>
            </a:pPr>
            <a:r>
              <a:rPr sz="1250">
                <a:solidFill>
                  <a:srgbClr val="D97706"/>
                </a:solidFill>
                <a:latin typeface="Arial"/>
              </a:rPr>
              <a:t>–  </a:t>
            </a:r>
            <a:r>
              <a:rPr sz="1250">
                <a:solidFill>
                  <a:srgbClr val="0F172A"/>
                </a:solidFill>
                <a:latin typeface="Arial"/>
              </a:rPr>
              <a:t>Token / context limits hit quickly on the stronger model in long sessions.</a:t>
            </a:r>
          </a:p>
          <a:p>
            <a:pPr>
              <a:lnSpc>
                <a:spcPct val="105000"/>
              </a:lnSpc>
              <a:spcBef>
                <a:spcPts val="0"/>
              </a:spcBef>
              <a:spcAft>
                <a:spcPts val="800"/>
              </a:spcAft>
              <a:buNone/>
            </a:pPr>
            <a:r>
              <a:rPr sz="1250">
                <a:solidFill>
                  <a:srgbClr val="D97706"/>
                </a:solidFill>
                <a:latin typeface="Arial"/>
              </a:rPr>
              <a:t>–  </a:t>
            </a:r>
            <a:r>
              <a:rPr sz="1250">
                <a:solidFill>
                  <a:srgbClr val="0F172A"/>
                </a:solidFill>
                <a:latin typeface="Arial"/>
              </a:rPr>
              <a:t>Output was often verbose and needed active editing; some DOIs were wrong.</a:t>
            </a:r>
          </a:p>
        </p:txBody>
      </p:sp>
      <p:sp>
        <p:nvSpPr>
          <p:cNvPr id="11" name="Rectangle 10"/>
          <p:cNvSpPr/>
          <p:nvPr/>
        </p:nvSpPr>
        <p:spPr>
          <a:xfrm>
            <a:off x="6172200" y="1783080"/>
            <a:ext cx="544068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783080"/>
            <a:ext cx="54406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2563EB"/>
                </a:solidFill>
                <a:latin typeface="Arial"/>
              </a:rPr>
              <a:t>Lessons &amp; cost</a:t>
            </a:r>
          </a:p>
        </p:txBody>
      </p:sp>
      <p:sp>
        <p:nvSpPr>
          <p:cNvPr id="14" name="TextBox 13"/>
          <p:cNvSpPr txBox="1"/>
          <p:nvPr/>
        </p:nvSpPr>
        <p:spPr>
          <a:xfrm>
            <a:off x="6355080" y="2423160"/>
            <a:ext cx="5074920" cy="2468880"/>
          </a:xfrm>
          <a:prstGeom prst="rect">
            <a:avLst/>
          </a:prstGeom>
          <a:noFill/>
        </p:spPr>
        <p:txBody>
          <a:bodyPr wrap="square" lIns="0" tIns="0" rIns="0" bIns="0">
            <a:spAutoFit/>
          </a:bodyPr>
          <a:lstStyle/>
          <a:p>
            <a:pPr>
              <a:lnSpc>
                <a:spcPct val="105000"/>
              </a:lnSpc>
              <a:spcBef>
                <a:spcPts val="0"/>
              </a:spcBef>
              <a:spcAft>
                <a:spcPts val="800"/>
              </a:spcAft>
              <a:buNone/>
            </a:pPr>
            <a:r>
              <a:rPr sz="1250">
                <a:solidFill>
                  <a:srgbClr val="2563EB"/>
                </a:solidFill>
                <a:latin typeface="Arial"/>
              </a:rPr>
              <a:t>–  </a:t>
            </a:r>
            <a:r>
              <a:rPr sz="1250">
                <a:solidFill>
                  <a:srgbClr val="0F172A"/>
                </a:solidFill>
                <a:latin typeface="Arial"/>
              </a:rPr>
              <a:t>A learning curve: several hours to use the agent system productively, not as a chat tool.</a:t>
            </a:r>
          </a:p>
          <a:p>
            <a:pPr>
              <a:lnSpc>
                <a:spcPct val="105000"/>
              </a:lnSpc>
              <a:spcBef>
                <a:spcPts val="0"/>
              </a:spcBef>
              <a:spcAft>
                <a:spcPts val="800"/>
              </a:spcAft>
              <a:buNone/>
            </a:pPr>
            <a:r>
              <a:rPr sz="1250">
                <a:solidFill>
                  <a:srgbClr val="2563EB"/>
                </a:solidFill>
                <a:latin typeface="Arial"/>
              </a:rPr>
              <a:t>–  </a:t>
            </a:r>
            <a:r>
              <a:rPr sz="1250">
                <a:solidFill>
                  <a:srgbClr val="0F172A"/>
                </a:solidFill>
                <a:latin typeface="Arial"/>
              </a:rPr>
              <a:t>AI output always needs critical review — early drafts contained overclaims.</a:t>
            </a:r>
          </a:p>
          <a:p>
            <a:pPr>
              <a:lnSpc>
                <a:spcPct val="105000"/>
              </a:lnSpc>
              <a:spcBef>
                <a:spcPts val="0"/>
              </a:spcBef>
              <a:spcAft>
                <a:spcPts val="800"/>
              </a:spcAft>
              <a:buNone/>
            </a:pPr>
            <a:r>
              <a:rPr sz="1250">
                <a:solidFill>
                  <a:srgbClr val="2563EB"/>
                </a:solidFill>
                <a:latin typeface="Arial"/>
              </a:rPr>
              <a:t>–  </a:t>
            </a:r>
            <a:r>
              <a:rPr sz="1250">
                <a:solidFill>
                  <a:srgbClr val="0F172A"/>
                </a:solidFill>
                <a:latin typeface="Arial"/>
              </a:rPr>
              <a:t>Cost: Claude Pro at ~€21/month per member; no per-query charge, no paid data services.</a:t>
            </a:r>
          </a:p>
          <a:p>
            <a:pPr>
              <a:lnSpc>
                <a:spcPct val="105000"/>
              </a:lnSpc>
              <a:spcBef>
                <a:spcPts val="0"/>
              </a:spcBef>
              <a:spcAft>
                <a:spcPts val="800"/>
              </a:spcAft>
              <a:buNone/>
            </a:pPr>
            <a:r>
              <a:rPr sz="1250">
                <a:solidFill>
                  <a:srgbClr val="2563EB"/>
                </a:solidFill>
                <a:latin typeface="Arial"/>
              </a:rPr>
              <a:t>–  </a:t>
            </a:r>
            <a:r>
              <a:rPr sz="1250">
                <a:solidFill>
                  <a:srgbClr val="0F172A"/>
                </a:solidFill>
                <a:latin typeface="Arial"/>
              </a:rPr>
              <a:t>Framing that worked: a source-quality enforcer and critical reviewer, not a writer.</a:t>
            </a:r>
          </a:p>
        </p:txBody>
      </p:sp>
      <p:sp>
        <p:nvSpPr>
          <p:cNvPr id="15" name="Rectangle 14"/>
          <p:cNvSpPr/>
          <p:nvPr/>
        </p:nvSpPr>
        <p:spPr>
          <a:xfrm>
            <a:off x="548640" y="5257800"/>
            <a:ext cx="11064240" cy="640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5257800"/>
            <a:ext cx="10698480" cy="640080"/>
          </a:xfrm>
          <a:prstGeom prst="rect">
            <a:avLst/>
          </a:prstGeom>
          <a:noFill/>
        </p:spPr>
        <p:txBody>
          <a:bodyPr wrap="square" lIns="0" tIns="0" rIns="0" bIns="0" anchor="ctr">
            <a:spAutoFit/>
          </a:bodyPr>
          <a:lstStyle/>
          <a:p>
            <a:pPr algn="l">
              <a:lnSpc>
                <a:spcPct val="100000"/>
              </a:lnSpc>
              <a:spcBef>
                <a:spcPts val="0"/>
              </a:spcBef>
              <a:spcAft>
                <a:spcPts val="200"/>
              </a:spcAft>
            </a:pPr>
            <a:r>
              <a:rPr sz="1350" b="1" i="0">
                <a:solidFill>
                  <a:srgbClr val="FFFFFF"/>
                </a:solidFill>
                <a:latin typeface="Arial"/>
              </a:rPr>
              <a:t>Bottom line: AI compressed research time and caught errors — but every judgment, argument and conclusion remained the authors' own.</a:t>
            </a:r>
          </a:p>
        </p:txBody>
      </p:sp>
      <p:sp>
        <p:nvSpPr>
          <p:cNvPr id="17" name="TextBox 16"/>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8" name="TextBox 17"/>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REFERENCES</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Key sources (APA 7)</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691640"/>
            <a:ext cx="5440680" cy="4572000"/>
          </a:xfrm>
          <a:prstGeom prst="rect">
            <a:avLst/>
          </a:prstGeom>
          <a:noFill/>
        </p:spPr>
        <p:txBody>
          <a:bodyPr wrap="square" lIns="0" tIns="0" rIns="0" bIns="0">
            <a:spAutoFit/>
          </a:bodyPr>
          <a:lstStyle/>
          <a:p>
            <a:pPr>
              <a:lnSpc>
                <a:spcPct val="100000"/>
              </a:lnSpc>
              <a:spcBef>
                <a:spcPts val="0"/>
              </a:spcBef>
              <a:spcAft>
                <a:spcPts val="700"/>
              </a:spcAft>
              <a:buNone/>
            </a:pPr>
            <a:r>
              <a:rPr sz="1050">
                <a:solidFill>
                  <a:srgbClr val="0F172A"/>
                </a:solidFill>
                <a:latin typeface="Arial"/>
              </a:rPr>
              <a:t>Allen, F., Qian, J., Shan, C., &amp; Zhu, J. L. (2024). Dissecting the long-term performance of the Chinese stock market. Journal of Finance, 79(2).</a:t>
            </a:r>
          </a:p>
          <a:p>
            <a:pPr>
              <a:lnSpc>
                <a:spcPct val="100000"/>
              </a:lnSpc>
              <a:spcBef>
                <a:spcPts val="0"/>
              </a:spcBef>
              <a:spcAft>
                <a:spcPts val="700"/>
              </a:spcAft>
              <a:buNone/>
            </a:pPr>
            <a:r>
              <a:rPr sz="1050">
                <a:solidFill>
                  <a:srgbClr val="0F172A"/>
                </a:solidFill>
                <a:latin typeface="Arial"/>
              </a:rPr>
              <a:t>Bai, J., Barwick, P. J., Cao, S., &amp; Li, S. (2025). Quid pro quo, knowledge spillovers, and industrial quality upgrading. American Economic Review, 115(11).</a:t>
            </a:r>
          </a:p>
          <a:p>
            <a:pPr>
              <a:lnSpc>
                <a:spcPct val="100000"/>
              </a:lnSpc>
              <a:spcBef>
                <a:spcPts val="0"/>
              </a:spcBef>
              <a:spcAft>
                <a:spcPts val="700"/>
              </a:spcAft>
              <a:buNone/>
            </a:pPr>
            <a:r>
              <a:rPr sz="1050">
                <a:solidFill>
                  <a:srgbClr val="0F172A"/>
                </a:solidFill>
                <a:latin typeface="Arial"/>
              </a:rPr>
              <a:t>Balcet, G., Wang, H., &amp; Richet, X. (2012). Geely: A trajectory of catching up and asset-seeking growth. IJATM, 12(4).</a:t>
            </a:r>
          </a:p>
          <a:p>
            <a:pPr>
              <a:lnSpc>
                <a:spcPct val="100000"/>
              </a:lnSpc>
              <a:spcBef>
                <a:spcPts val="0"/>
              </a:spcBef>
              <a:spcAft>
                <a:spcPts val="700"/>
              </a:spcAft>
              <a:buNone/>
            </a:pPr>
            <a:r>
              <a:rPr sz="1050">
                <a:solidFill>
                  <a:srgbClr val="0F172A"/>
                </a:solidFill>
                <a:latin typeface="Arial"/>
              </a:rPr>
              <a:t>European Commission. (2024). Implementing Regulation (EU) 2024/2754. Official Journal of the EU.</a:t>
            </a:r>
          </a:p>
          <a:p>
            <a:pPr>
              <a:lnSpc>
                <a:spcPct val="100000"/>
              </a:lnSpc>
              <a:spcBef>
                <a:spcPts val="0"/>
              </a:spcBef>
              <a:spcAft>
                <a:spcPts val="700"/>
              </a:spcAft>
              <a:buNone/>
            </a:pPr>
            <a:r>
              <a:rPr sz="1050">
                <a:solidFill>
                  <a:srgbClr val="0F172A"/>
                </a:solidFill>
                <a:latin typeface="Arial"/>
              </a:rPr>
              <a:t>Fan, J. P. H., Wong, T. J., &amp; Zhang, T. (2007). Politically connected CEOs and post-IPO performance. JFE, 84(2).</a:t>
            </a:r>
          </a:p>
          <a:p>
            <a:pPr>
              <a:lnSpc>
                <a:spcPct val="100000"/>
              </a:lnSpc>
              <a:spcBef>
                <a:spcPts val="0"/>
              </a:spcBef>
              <a:spcAft>
                <a:spcPts val="700"/>
              </a:spcAft>
              <a:buNone/>
            </a:pPr>
            <a:r>
              <a:rPr sz="1050">
                <a:solidFill>
                  <a:srgbClr val="0F172A"/>
                </a:solidFill>
                <a:latin typeface="Arial"/>
              </a:rPr>
              <a:t>Holmes, T. J., McGrattan, E. R., &amp; Prescott, E. C. (2015). Quid pro quo: Technology capital transfers for market access in China. RES, 82(3).</a:t>
            </a:r>
          </a:p>
          <a:p>
            <a:pPr>
              <a:lnSpc>
                <a:spcPct val="100000"/>
              </a:lnSpc>
              <a:spcBef>
                <a:spcPts val="0"/>
              </a:spcBef>
              <a:spcAft>
                <a:spcPts val="700"/>
              </a:spcAft>
              <a:buNone/>
            </a:pPr>
            <a:r>
              <a:rPr sz="1050">
                <a:solidFill>
                  <a:srgbClr val="0F172A"/>
                </a:solidFill>
                <a:latin typeface="Arial"/>
              </a:rPr>
              <a:t>Howell, S. T. (2018). Joint ventures and technology adoption: A Chinese industrial policy that backfired. Research Policy, 47(8).</a:t>
            </a:r>
          </a:p>
          <a:p>
            <a:pPr>
              <a:lnSpc>
                <a:spcPct val="100000"/>
              </a:lnSpc>
              <a:spcBef>
                <a:spcPts val="0"/>
              </a:spcBef>
              <a:spcAft>
                <a:spcPts val="700"/>
              </a:spcAft>
              <a:buNone/>
            </a:pPr>
            <a:r>
              <a:rPr sz="1050">
                <a:solidFill>
                  <a:srgbClr val="0F172A"/>
                </a:solidFill>
                <a:latin typeface="Arial"/>
              </a:rPr>
              <a:t>Jensen, M. C., &amp; Meckling, W. H. (1976). Theory of the firm. JFE, 3(4).</a:t>
            </a:r>
          </a:p>
          <a:p>
            <a:pPr>
              <a:lnSpc>
                <a:spcPct val="100000"/>
              </a:lnSpc>
              <a:spcBef>
                <a:spcPts val="0"/>
              </a:spcBef>
              <a:spcAft>
                <a:spcPts val="700"/>
              </a:spcAft>
              <a:buNone/>
            </a:pPr>
            <a:r>
              <a:rPr sz="1050">
                <a:solidFill>
                  <a:srgbClr val="0F172A"/>
                </a:solidFill>
                <a:latin typeface="Arial"/>
              </a:rPr>
              <a:t>Konda, P., Slepnikov, D., &amp; Jin, J. (2022). From transaction to co-creation in Geely's acquisition of Volvo Cars. AJTI, 31(3).</a:t>
            </a:r>
          </a:p>
        </p:txBody>
      </p:sp>
      <p:sp>
        <p:nvSpPr>
          <p:cNvPr id="8" name="TextBox 7"/>
          <p:cNvSpPr txBox="1"/>
          <p:nvPr/>
        </p:nvSpPr>
        <p:spPr>
          <a:xfrm>
            <a:off x="6172200" y="1691640"/>
            <a:ext cx="5440680" cy="4572000"/>
          </a:xfrm>
          <a:prstGeom prst="rect">
            <a:avLst/>
          </a:prstGeom>
          <a:noFill/>
        </p:spPr>
        <p:txBody>
          <a:bodyPr wrap="square" lIns="0" tIns="0" rIns="0" bIns="0">
            <a:spAutoFit/>
          </a:bodyPr>
          <a:lstStyle/>
          <a:p>
            <a:pPr>
              <a:lnSpc>
                <a:spcPct val="100000"/>
              </a:lnSpc>
              <a:spcBef>
                <a:spcPts val="0"/>
              </a:spcBef>
              <a:spcAft>
                <a:spcPts val="700"/>
              </a:spcAft>
              <a:buNone/>
            </a:pPr>
            <a:r>
              <a:rPr sz="1050">
                <a:solidFill>
                  <a:srgbClr val="0F172A"/>
                </a:solidFill>
                <a:latin typeface="Arial"/>
              </a:rPr>
              <a:t>Luo, Y., &amp; Tung, R. L. (2007). International expansion of emerging market enterprises: A springboard perspective. JIBS, 38(4).</a:t>
            </a:r>
          </a:p>
          <a:p>
            <a:pPr>
              <a:lnSpc>
                <a:spcPct val="100000"/>
              </a:lnSpc>
              <a:spcBef>
                <a:spcPts val="0"/>
              </a:spcBef>
              <a:spcAft>
                <a:spcPts val="700"/>
              </a:spcAft>
              <a:buNone/>
            </a:pPr>
            <a:r>
              <a:rPr sz="1050">
                <a:solidFill>
                  <a:srgbClr val="0F172A"/>
                </a:solidFill>
                <a:latin typeface="Arial"/>
              </a:rPr>
              <a:t>Megginson, W. L., &amp; Netter, J. M. (2001). From state to market: A survey of empirical studies on privatization. JEL, 39(2).</a:t>
            </a:r>
          </a:p>
          <a:p>
            <a:pPr>
              <a:lnSpc>
                <a:spcPct val="100000"/>
              </a:lnSpc>
              <a:spcBef>
                <a:spcPts val="0"/>
              </a:spcBef>
              <a:spcAft>
                <a:spcPts val="700"/>
              </a:spcAft>
              <a:buNone/>
            </a:pPr>
            <a:r>
              <a:rPr sz="1050">
                <a:solidFill>
                  <a:srgbClr val="0F172A"/>
                </a:solidFill>
                <a:latin typeface="Arial"/>
              </a:rPr>
              <a:t>Shleifer, A., &amp; Vishny, R. W. (1994). Politicians and firms. Quarterly Journal of Economics, 109(4).</a:t>
            </a:r>
          </a:p>
          <a:p>
            <a:pPr>
              <a:lnSpc>
                <a:spcPct val="100000"/>
              </a:lnSpc>
              <a:spcBef>
                <a:spcPts val="0"/>
              </a:spcBef>
              <a:spcAft>
                <a:spcPts val="700"/>
              </a:spcAft>
              <a:buNone/>
            </a:pPr>
            <a:r>
              <a:rPr sz="1050">
                <a:solidFill>
                  <a:srgbClr val="0F172A"/>
                </a:solidFill>
                <a:latin typeface="Arial"/>
              </a:rPr>
              <a:t>Teece, D. J., Pisano, G., &amp; Shuen, A. (1997). Dynamic capabilities and strategic management. SMJ, 18(7).</a:t>
            </a:r>
          </a:p>
          <a:p>
            <a:pPr>
              <a:lnSpc>
                <a:spcPct val="100000"/>
              </a:lnSpc>
              <a:spcBef>
                <a:spcPts val="0"/>
              </a:spcBef>
              <a:spcAft>
                <a:spcPts val="700"/>
              </a:spcAft>
              <a:buNone/>
            </a:pPr>
            <a:r>
              <a:rPr sz="1050">
                <a:solidFill>
                  <a:srgbClr val="0F172A"/>
                </a:solidFill>
                <a:latin typeface="Arial"/>
              </a:rPr>
              <a:t>Whitfield, L., &amp; Wuttke, T. (2026). China's technological catch-up and leapfrogging in electric vehicles. Progress in Economic Geography, 4.</a:t>
            </a:r>
          </a:p>
          <a:p>
            <a:pPr>
              <a:lnSpc>
                <a:spcPct val="100000"/>
              </a:lnSpc>
              <a:spcBef>
                <a:spcPts val="0"/>
              </a:spcBef>
              <a:spcAft>
                <a:spcPts val="700"/>
              </a:spcAft>
              <a:buNone/>
            </a:pPr>
            <a:r>
              <a:rPr sz="1050">
                <a:solidFill>
                  <a:srgbClr val="0F172A"/>
                </a:solidFill>
                <a:latin typeface="Arial"/>
              </a:rPr>
              <a:t>Zhang, Z.-Q., Tang, B.-J., Su, Z., &amp; Zhang, Y. (2025). Founder control and breakthrough innovation. China Economic Review, 94.</a:t>
            </a:r>
          </a:p>
          <a:p>
            <a:pPr>
              <a:lnSpc>
                <a:spcPct val="100000"/>
              </a:lnSpc>
              <a:spcBef>
                <a:spcPts val="0"/>
              </a:spcBef>
              <a:spcAft>
                <a:spcPts val="700"/>
              </a:spcAft>
              <a:buNone/>
            </a:pPr>
            <a:r>
              <a:rPr sz="1050">
                <a:solidFill>
                  <a:srgbClr val="0F172A"/>
                </a:solidFill>
                <a:latin typeface="Arial"/>
              </a:rPr>
              <a:t>Zheng, Q., Noorderhaven, N., &amp; Du, J. (2022). Making the unlikely marriage work. Journal of World Business, 57(2).</a:t>
            </a:r>
          </a:p>
          <a:p>
            <a:pPr>
              <a:lnSpc>
                <a:spcPct val="100000"/>
              </a:lnSpc>
              <a:spcBef>
                <a:spcPts val="0"/>
              </a:spcBef>
              <a:spcAft>
                <a:spcPts val="700"/>
              </a:spcAft>
              <a:buNone/>
            </a:pPr>
            <a:r>
              <a:rPr sz="1050">
                <a:solidFill>
                  <a:srgbClr val="0F172A"/>
                </a:solidFill>
                <a:latin typeface="Arial"/>
              </a:rPr>
              <a:t>International Energy Agency. (2026). Global EV Outlook 2026. IEA.</a:t>
            </a:r>
          </a:p>
          <a:p>
            <a:pPr>
              <a:lnSpc>
                <a:spcPct val="100000"/>
              </a:lnSpc>
              <a:spcBef>
                <a:spcPts val="0"/>
              </a:spcBef>
              <a:spcAft>
                <a:spcPts val="700"/>
              </a:spcAft>
              <a:buNone/>
            </a:pPr>
            <a:r>
              <a:rPr sz="1050">
                <a:solidFill>
                  <a:srgbClr val="0F172A"/>
                </a:solidFill>
                <a:latin typeface="Arial"/>
              </a:rPr>
              <a:t>Annual Reports: SAIC Motor (2025, 2026); BYD (2025, 2026); Geely Automobile Holdings (2025, 2026).</a:t>
            </a:r>
          </a:p>
        </p:txBody>
      </p:sp>
      <p:sp>
        <p:nvSpPr>
          <p:cNvPr id="9" name="TextBox 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0" name="TextBox 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7998</Words>
  <Application>Microsoft Office PowerPoint</Application>
  <PresentationFormat>Breitbild</PresentationFormat>
  <Paragraphs>428</Paragraphs>
  <Slides>20</Slides>
  <Notes>20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20</vt:i4>
      </vt:variant>
    </vt:vector>
  </HeadingPairs>
  <TitlesOfParts>
    <vt:vector size="23" baseType="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ve1kgbs242@goetheuniversitaet.onmicrosoft.com</cp:lastModifiedBy>
  <cp:revision>2</cp:revision>
  <dcterms:created xsi:type="dcterms:W3CDTF">2013-01-27T09:14:16Z</dcterms:created>
  <dcterms:modified xsi:type="dcterms:W3CDTF">2026-06-29T09:16:37Z</dcterms:modified>
  <cp:category/>
</cp:coreProperties>
</file>