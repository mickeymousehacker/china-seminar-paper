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76" r:id="rId2"/>
    <p:sldId id="282" r:id="rId3"/>
    <p:sldId id="278" r:id="rId4"/>
    <p:sldId id="279" r:id="rId5"/>
    <p:sldId id="281" r:id="rId6"/>
    <p:sldId id="280" r:id="rId7"/>
    <p:sldId id="283" r:id="rId8"/>
    <p:sldId id="284" r:id="rId9"/>
    <p:sldId id="285" r:id="rId10"/>
    <p:sldId id="286" r:id="rId11"/>
    <p:sldId id="287" r:id="rId12"/>
    <p:sldId id="288" r:id="rId13"/>
    <p:sldId id="289" r:id="rId14"/>
    <p:sldId id="290" r:id="rId15"/>
    <p:sldId id="291" r:id="rId16"/>
    <p:sldId id="292" r:id="rId17"/>
    <p:sldId id="293" r:id="rId18"/>
    <p:sldId id="295" r:id="rId19"/>
    <p:sldId id="275"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00" autoAdjust="0"/>
    <p:restoredTop sz="84206" autoAdjust="0"/>
  </p:normalViewPr>
  <p:slideViewPr>
    <p:cSldViewPr snapToGrid="0" snapToObjects="1">
      <p:cViewPr varScale="1">
        <p:scale>
          <a:sx n="92" d="100"/>
          <a:sy n="92" d="100"/>
        </p:scale>
        <p:origin x="91"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Our paper asks one question: how do you build a car company in China that creates lasting value for its owners? We study three real firms with three different models - SAIC, BYD, and Geely. I will show the framework, compare them across four dimensions, give our verdict, and end with how we used AI. Let's start with why this matters now.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thirty years there was one way to build cars at scale in China: foreign technology for market access, with a state firm as partner. That model is now breaking apart. EVs are already 55% of China's market, Chinese makers sell about 60% of the world's EVs, and the EU even taxes the three firms differently - 35.3% for SAIC against 17% for BYD. So our question is simple: which ownership and financing model builds lasting value? Next, what the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lines of theory all point the same way. Agency theory says a founder-owner removes the conflict between owners and managers. Shleifer and </a:t>
            </a:r>
            <a:r>
              <a:rPr lang="en-GB" dirty="0" err="1"/>
              <a:t>Vishny</a:t>
            </a:r>
            <a:r>
              <a:rPr lang="en-GB" dirty="0"/>
              <a:t> say that in state firms, control pushes money toward political goals, not shareholders. And the data - including Allen et al. on China - show state firms do worse over time. So even before the cases, the prediction is clear: concentrated, commercial control should win. Let's test it, starting with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Governance is about who holds control and what they want. SAIC is state-led: SASAC owns about 73%, the Party mandate is in the charter, and 50/50 JV boards need both sides to agree - so it moves slowly. BYD's founder and team hold over a third of the votes, so he could exit petrol cars alone in 2022. Geely's founder controls the top and is fast on deals, but pays a cost for managing many brands. The pattern: commercial founder control acts fastest. Next, how each firm pays for growth.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money story in one number: return on equity in 2024. SAIC is almost flat at 0.6%, BYD is 21.7%, Geely 19.2%. This gap is structural, not luck. SAIC's trouble began when SAIC-GM sales fell 56% - that triggered write-downs and an 88% profit drop, and without one-off items the result was still negative. To be honest, BYD's return fell to 13% in 2025 under the price war, but it stays self-funded. Next, who carries the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Same goal - fund growth - but the risk lands on different people. SAIC pushed the risk onto its 50/50 JV partners; that felt safe until sales fell and it had to absorb losses it could not fix - a capital trap. BYD funds itself from its own cash and spends more on R&amp;D than it earns, so it needs no lenders. Geely borrows to buy capability fast, which works while profits hold. The EU even put the highest tariff on SAIC, 35.3%, partly because the group held back its financing data. Next, how each firm builds technology.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build capability, each with a different staying power. SAIC took technology through joint ventures - fast for quality, but the easy money killed its own innovation, so it had no EV platform ready. Geely bought Volvo and turned it into real shared engineering. BYD built everything itself over decades, from battery cells to software - slow, but very hard to copy. The way you build it decides how long the advantage lasts. Next, the EV transition as the real 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EV shift tested every past choice. SAIC is most exposed - its JV plants run at just 14 to 37% - but its own brand shows real progress: EV sales up 33% with no direct subsidies, and a new platform with Huawei. So SAIC's future is a race between falling JV income and a thin own-brand margin, and its state structure decides how fast it can move. BYD is strongest: no petrol cars since 2022, and the world's top EV maker for four years. Geely is the adaptive middle - strong sales, but levered and dependent on partners. Next, the lessons we draw.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the three cases we draw three lessons that travel beyond cars. One: how you build capability decides how long it lasts when technology changes. Two: governance sets the speed of change - when technology moves faster than your decisions, governance becomes the limit. Three: your capital structure decides if you survive a downturn - self-financing trades speed for safety, debt does the opposite. These hold in any fast, uncertain market. Now our verdict.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answer: BYD is most likely to create lasting shareholder value. It has the highest return, four years as the top EV maker, and a 5.6-billion-dollar raise that sovereign funds joined. But the point is not that building everything yourself is magic. BYD wins because it combines commercial founder control with a self-funded balance sheet that stays strong in a downturn. Next, our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33EA-C7D6-FD95-61B4-6DD200105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A5F47-56C8-9387-57F2-0BF1B843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9704-4CEC-396C-4B8C-6AF538AF2693}"/>
              </a:ext>
            </a:extLst>
          </p:cNvPr>
          <p:cNvSpPr>
            <a:spLocks noGrp="1"/>
          </p:cNvSpPr>
          <p:nvPr>
            <p:ph type="body" idx="1"/>
          </p:nvPr>
        </p:nvSpPr>
        <p:spPr/>
        <p:txBody>
          <a:bodyPr/>
          <a:lstStyle/>
          <a:p>
            <a:r>
              <a:rPr lang="en-GB" dirty="0"/>
              <a:t>This slide is our verdict — and the numbers speak clearly. SAIC, the state-controlled JV, earns just 0.58% return on equity. BYD and Geely both sit above 19%. That gap is not a coincidence — it's structural. The EU tariff makes the same point from the outside. SAIC got hit with 35.3% — more than double BYD and Geely. Brussels essentially confirmed what the financials already show. One thing to note: BYD's profit declined slightly — but that's aggressive pricing in a competitive market, not a governance problem.</a:t>
            </a:r>
          </a:p>
          <a:p>
            <a:r>
              <a:rPr lang="en-GB" dirty="0"/>
              <a:t>The takeaway is simple: across every metric on this slide, private founder control wins.</a:t>
            </a:r>
          </a:p>
        </p:txBody>
      </p:sp>
      <p:sp>
        <p:nvSpPr>
          <p:cNvPr id="4" name="Slide Number Placeholder 3">
            <a:extLst>
              <a:ext uri="{FF2B5EF4-FFF2-40B4-BE49-F238E27FC236}">
                <a16:creationId xmlns:a16="http://schemas.microsoft.com/office/drawing/2014/main" id="{FFF1B766-FDBA-CCCD-1876-6746E8287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466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deeper point. Governance is not something you adjust after picking a strategy - it is what lets any strategy happen at all. The old JV model did not lose to a better battery; it lost to a better way of sharing control and capital. And to be fair: BYD's lead depends on the same discipline that built it, now under price-war pressure. The 2020 to 2025 transition is a natural experiment, and it shows governance - more than technology - decides who wins. Now, briefly, how we used AI.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did not use a simple chatbot. We ran Claude Code as a layered system: a main model for most work and a stronger one for the hard analysis. Five small agents each did one job - ingest sources, search them, check links, verify claims, and find references. Everything sat in one shared git wiki we could read across all three cases at once. Next, how we kept the evidence disciplined.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covers how we managed our data across the three cases. We used a shared git repository with one folder per company — SAIC, BYD, and Geely — plus a shared folder for common data like EU regulations and IEA figures. The rule was simple: pull before you start, push when you're done. That kept everyone in sync without any manual file sharing. Claude Code could read all three wikis at the same time — which made cross-case comparisons much easier. No copying, no emailing files around. We had one merge conflict during the project. We resolved it with git stash — straightforward, no data lost.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lang="en-GB" dirty="0"/>
              <a:t>We rated every source on two things: how strong the journal is, and how close it is to our case. We built arguments only on the top tiers. We also kept a short writing guide per case with the verified numbers and citations, so all three of us stayed consistent. This stopped weak sources from supporting strong claims. Next, the most useful part.</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1F852-F6FB-C81D-5A41-85852B775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F1E70-3F06-49E7-0892-92645E208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B565D-7CDA-D038-636B-4F2DAD030B39}"/>
              </a:ext>
            </a:extLst>
          </p:cNvPr>
          <p:cNvSpPr>
            <a:spLocks noGrp="1"/>
          </p:cNvSpPr>
          <p:nvPr>
            <p:ph type="body" idx="1"/>
          </p:nvPr>
        </p:nvSpPr>
        <p:spPr/>
        <p:txBody>
          <a:bodyPr/>
          <a:lstStyle/>
          <a:p>
            <a:r>
              <a:rPr lang="en-GB" dirty="0"/>
              <a:t>The most valuable move was telling the model to act as a strict reviewer and to check each fact against its source. This caught three real data errors before they reached the paper: a wrong EU tariff, a profit figure inflated ten times by a unit mix-up, and an EPS on the wrong share count. We traced all three back to the audited annual reports. Next, the limits and the cost.</a:t>
            </a:r>
          </a:p>
        </p:txBody>
      </p:sp>
      <p:sp>
        <p:nvSpPr>
          <p:cNvPr id="4" name="Slide Number Placeholder 3">
            <a:extLst>
              <a:ext uri="{FF2B5EF4-FFF2-40B4-BE49-F238E27FC236}">
                <a16:creationId xmlns:a16="http://schemas.microsoft.com/office/drawing/2014/main" id="{531F51C1-B23A-22AB-AB62-A7EF181EF5A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88103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looks at where AI actually added value in our research process. The biggest win was handling the sheer volume of sources. Across three companies, that's a lot of annual reports, regulatory filings, and data points — more than you'd want to cross-check by hand. AI also helped as a critical reviewer. It flagged when a claim wasn't fully backed by the data — which kept our analysis honest.</a:t>
            </a:r>
          </a:p>
          <a:p>
            <a:r>
              <a:rPr lang="en-GB" dirty="0"/>
              <a:t>And it caught three concrete errors before we submitted. A wrong EU tariff figure, a net profit inflated by a currency mislabel, and an EPS based on the wrong share count. All three were traced back and corrected using the audited annual reports from E&amp;Y and PwC.</a:t>
            </a:r>
          </a:p>
          <a:p>
            <a:r>
              <a:rPr lang="en-GB" dirty="0"/>
              <a:t>Those aren't small things — any one of them could have undermined our numbers.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stayed honest about the limits. It cannot open paywalled journals, and Geely's PDFs were not readable, so that case used more web sources. Long sessions hit memory limits and sometimes repeated themselves, and the text was often too wordy and needed editing. The cost was small - about 21 euros a month each, with no extra charges. The key line: judgment and interpretation stayed fully with us. Finally, our sources.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our main sources, in APA style. The theory comes from Shleifer and </a:t>
            </a:r>
            <a:r>
              <a:rPr lang="en-GB" dirty="0" err="1"/>
              <a:t>Vishny</a:t>
            </a:r>
            <a:r>
              <a:rPr lang="en-GB" dirty="0"/>
              <a:t>, Jensen and Meckling, and Teece; the China evidence from Bai, Howell, and Holmes. Company figures come from the audited annual reports of all three firms, plus the EU regulation and the IEA. </a:t>
            </a:r>
            <a:r>
              <a:rPr lang="en-GB"/>
              <a:t>Thank you - we are happy to take your questions.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SASAC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Optimizes state + commercial goals → slow</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L="152400" marR="0" lvl="0" indent="-152400" algn="l" defTabSz="914400" rtl="0" eaLnBrk="1" fontAlgn="auto" latinLnBrk="0" hangingPunct="1">
              <a:lnSpc>
                <a:spcPct val="100000"/>
              </a:lnSpc>
              <a:spcBef>
                <a:spcPts val="0"/>
              </a:spcBef>
              <a:spcAft>
                <a:spcPts val="900"/>
              </a:spcAft>
              <a:buClrTx/>
              <a:buSzPct val="100000"/>
              <a:buFontTx/>
              <a:buChar char="•"/>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SAIC — capital trap:</a:t>
            </a:r>
            <a:r>
              <a:rPr lang="en-US" sz="1150" dirty="0">
                <a:solidFill>
                  <a:srgbClr val="1E293B"/>
                </a:solidFill>
                <a:latin typeface="Arial" pitchFamily="34" charset="0"/>
                <a:ea typeface="Arial" pitchFamily="34" charset="-122"/>
                <a:cs typeface="Arial" pitchFamily="34" charset="-120"/>
              </a:rPr>
              <a:t> 50/50 risk-sharing inverted; 2024 net profit −88%, ROE 0.58% with no control to restructure.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
        <p:nvSpPr>
          <p:cNvPr id="50" name="Text 17">
            <a:extLst>
              <a:ext uri="{FF2B5EF4-FFF2-40B4-BE49-F238E27FC236}">
                <a16:creationId xmlns:a16="http://schemas.microsoft.com/office/drawing/2014/main" id="{A40ED70B-5706-27A3-1990-2ACC083D40A9}"/>
              </a:ext>
            </a:extLst>
          </p:cNvPr>
          <p:cNvSpPr/>
          <p:nvPr/>
        </p:nvSpPr>
        <p:spPr>
          <a:xfrm>
            <a:off x="502920" y="3915169"/>
            <a:ext cx="8280350" cy="692051"/>
          </a:xfrm>
          <a:prstGeom prst="rect">
            <a:avLst/>
          </a:prstGeom>
          <a:solidFill>
            <a:srgbClr val="0F172A"/>
          </a:solidFill>
          <a:ln/>
        </p:spPr>
        <p:txBody>
          <a:bodyPr wrap="square" rtlCol="0" anchor="ctr"/>
          <a:lstStyle/>
          <a:p>
            <a:pPr marL="0" indent="0">
              <a:buNone/>
            </a:pPr>
            <a:endParaRPr lang="en-US" dirty="0"/>
          </a:p>
        </p:txBody>
      </p:sp>
      <p:sp>
        <p:nvSpPr>
          <p:cNvPr id="52" name="Text 18">
            <a:extLst>
              <a:ext uri="{FF2B5EF4-FFF2-40B4-BE49-F238E27FC236}">
                <a16:creationId xmlns:a16="http://schemas.microsoft.com/office/drawing/2014/main" id="{A0BB4929-D26A-4511-67B7-B2B82FBEE923}"/>
              </a:ext>
            </a:extLst>
          </p:cNvPr>
          <p:cNvSpPr/>
          <p:nvPr/>
        </p:nvSpPr>
        <p:spPr>
          <a:xfrm>
            <a:off x="706071" y="4054769"/>
            <a:ext cx="8031531" cy="412849"/>
          </a:xfrm>
          <a:prstGeom prst="rect">
            <a:avLst/>
          </a:prstGeom>
          <a:noFill/>
          <a:ln/>
        </p:spPr>
        <p:txBody>
          <a:bodyPr wrap="square" lIns="0" tIns="0" rIns="0" bIns="0" rtlCol="0" anchor="t"/>
          <a:lstStyle/>
          <a:p>
            <a:pPr marL="0" indent="0" algn="l">
              <a:lnSpc>
                <a:spcPts val="1625"/>
              </a:lnSpc>
              <a:buNone/>
            </a:pPr>
            <a:r>
              <a:rPr lang="en-US" sz="1250" b="1" dirty="0">
                <a:solidFill>
                  <a:srgbClr val="06B6D4"/>
                </a:solidFill>
                <a:latin typeface="Arial" pitchFamily="34" charset="0"/>
                <a:ea typeface="Arial" pitchFamily="34" charset="-122"/>
                <a:cs typeface="Arial" pitchFamily="34" charset="-120"/>
              </a:rPr>
              <a:t>Research gap:</a:t>
            </a:r>
            <a:r>
              <a:rPr lang="en-US" sz="1250" dirty="0">
                <a:solidFill>
                  <a:srgbClr val="FFFFFF"/>
                </a:solidFill>
                <a:latin typeface="Arial" pitchFamily="34" charset="0"/>
                <a:ea typeface="Arial" pitchFamily="34" charset="-122"/>
                <a:cs typeface="Arial" pitchFamily="34" charset="-120"/>
              </a:rPr>
              <a:t> no prior work compares all three acquisition modes under a single technology discontinuity — this paper's contribution.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17969"/>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706088"/>
            <a:ext cx="7918133" cy="379512"/>
          </a:xfrm>
          <a:prstGeom prst="rect">
            <a:avLst/>
          </a:prstGeom>
          <a:noFill/>
          <a:ln/>
        </p:spPr>
        <p:txBody>
          <a:bodyPr wrap="square" lIns="0" tIns="0" rIns="0" bIns="0" rtlCol="0" anchor="t"/>
          <a:lstStyle/>
          <a:p>
            <a:pPr>
              <a:lnSpc>
                <a:spcPts val="1495"/>
              </a:lnSpc>
            </a:pPr>
            <a:r>
              <a:rPr lang="en-US" sz="1150" dirty="0">
                <a:solidFill>
                  <a:srgbClr val="1E293B"/>
                </a:solidFill>
                <a:latin typeface="Arial" pitchFamily="34" charset="0"/>
                <a:ea typeface="Arial" pitchFamily="34" charset="-122"/>
                <a:cs typeface="Arial" pitchFamily="34" charset="-120"/>
              </a:rPr>
              <a:t>JV plants run at 14–37% capacity — dependency hardened into deficit. Yet own-brand NEV reached 1.643 m units (+33%) with zero direct subsidies; 'JV 2.0' repurposes idle JV plants (SAIC SHANGJIE with Huawei, first mass-market semi-solid battery). Viability is now a race between eroding JV rents and a still-thin own-brand margin — bounded by how fast state governance lets capital move.</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483AD8-1182-6961-5B2A-22C320BC5A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D10C80-AF00-07BE-93A9-29E3E63768BA}"/>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0CDB0E2-9D28-D079-57C1-E1B9F73926A3}"/>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000" dirty="0"/>
          </a:p>
        </p:txBody>
      </p:sp>
      <p:sp>
        <p:nvSpPr>
          <p:cNvPr id="4" name="Shape 2">
            <a:extLst>
              <a:ext uri="{FF2B5EF4-FFF2-40B4-BE49-F238E27FC236}">
                <a16:creationId xmlns:a16="http://schemas.microsoft.com/office/drawing/2014/main" id="{8C448FC5-4621-8F13-9F07-0A899274417F}"/>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DBF35B9-77B8-3ED9-6BEC-6B4ACF123CEB}"/>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27D91C88-BE0C-3419-63EC-E3D9A019D39E}"/>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Grafik 35">
            <a:extLst>
              <a:ext uri="{FF2B5EF4-FFF2-40B4-BE49-F238E27FC236}">
                <a16:creationId xmlns:a16="http://schemas.microsoft.com/office/drawing/2014/main" id="{D0EF95A0-FE44-E97B-FC38-A9A10D4D745F}"/>
              </a:ext>
            </a:extLst>
          </p:cNvPr>
          <p:cNvPicPr>
            <a:picLocks noChangeAspect="1"/>
          </p:cNvPicPr>
          <p:nvPr/>
        </p:nvPicPr>
        <p:blipFill>
          <a:blip r:embed="rId3"/>
          <a:stretch>
            <a:fillRect/>
          </a:stretch>
        </p:blipFill>
        <p:spPr>
          <a:xfrm>
            <a:off x="411480" y="1431036"/>
            <a:ext cx="7980026" cy="3760435"/>
          </a:xfrm>
          <a:prstGeom prst="rect">
            <a:avLst/>
          </a:prstGeom>
        </p:spPr>
      </p:pic>
    </p:spTree>
    <p:extLst>
      <p:ext uri="{BB962C8B-B14F-4D97-AF65-F5344CB8AC3E}">
        <p14:creationId xmlns:p14="http://schemas.microsoft.com/office/powerpoint/2010/main" val="195861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8"/>
            <a:ext cx="2920901" cy="400050"/>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000"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
            <a:extLst>
              <a:ext uri="{FF2B5EF4-FFF2-40B4-BE49-F238E27FC236}">
                <a16:creationId xmlns:a16="http://schemas.microsoft.com/office/drawing/2014/main" id="{48035EEB-7F4A-51DA-0FD5-B120A84A2CC2}"/>
              </a:ext>
            </a:extLst>
          </p:cNvPr>
          <p:cNvSpPr/>
          <p:nvPr/>
        </p:nvSpPr>
        <p:spPr>
          <a:xfrm>
            <a:off x="502920" y="149215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2" name="Text 3">
            <a:extLst>
              <a:ext uri="{FF2B5EF4-FFF2-40B4-BE49-F238E27FC236}">
                <a16:creationId xmlns:a16="http://schemas.microsoft.com/office/drawing/2014/main" id="{BA7F00AB-A470-6075-30FF-CC9A52BCBC7C}"/>
              </a:ext>
            </a:extLst>
          </p:cNvPr>
          <p:cNvSpPr/>
          <p:nvPr/>
        </p:nvSpPr>
        <p:spPr>
          <a:xfrm>
            <a:off x="502920" y="1819126"/>
            <a:ext cx="3962400" cy="1529655"/>
          </a:xfrm>
          <a:prstGeom prst="rect">
            <a:avLst/>
          </a:prstGeom>
          <a:solidFill>
            <a:srgbClr val="0F172A"/>
          </a:solidFill>
          <a:ln/>
        </p:spPr>
        <p:txBody>
          <a:bodyPr wrap="square" rtlCol="0" anchor="ctr"/>
          <a:lstStyle/>
          <a:p>
            <a:pPr marL="0" indent="0">
              <a:buNone/>
            </a:pPr>
            <a:endParaRPr lang="en-US" dirty="0"/>
          </a:p>
        </p:txBody>
      </p:sp>
      <p:sp>
        <p:nvSpPr>
          <p:cNvPr id="54" name="Text 4">
            <a:extLst>
              <a:ext uri="{FF2B5EF4-FFF2-40B4-BE49-F238E27FC236}">
                <a16:creationId xmlns:a16="http://schemas.microsoft.com/office/drawing/2014/main" id="{FABC788A-6C31-6A69-10A8-823536026B69}"/>
              </a:ext>
            </a:extLst>
          </p:cNvPr>
          <p:cNvSpPr/>
          <p:nvPr/>
        </p:nvSpPr>
        <p:spPr>
          <a:xfrm>
            <a:off x="706071" y="199682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56" name="Text 5">
            <a:extLst>
              <a:ext uri="{FF2B5EF4-FFF2-40B4-BE49-F238E27FC236}">
                <a16:creationId xmlns:a16="http://schemas.microsoft.com/office/drawing/2014/main" id="{A4B00112-FA32-45B8-3E73-79476FA57626}"/>
              </a:ext>
            </a:extLst>
          </p:cNvPr>
          <p:cNvSpPr/>
          <p:nvPr/>
        </p:nvSpPr>
        <p:spPr>
          <a:xfrm>
            <a:off x="706071" y="223167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58" name="Text 6">
            <a:extLst>
              <a:ext uri="{FF2B5EF4-FFF2-40B4-BE49-F238E27FC236}">
                <a16:creationId xmlns:a16="http://schemas.microsoft.com/office/drawing/2014/main" id="{C03D925C-56EC-ECE8-959C-91B77229E556}"/>
              </a:ext>
            </a:extLst>
          </p:cNvPr>
          <p:cNvSpPr/>
          <p:nvPr/>
        </p:nvSpPr>
        <p:spPr>
          <a:xfrm>
            <a:off x="706071" y="24665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60" name="Text 7">
            <a:extLst>
              <a:ext uri="{FF2B5EF4-FFF2-40B4-BE49-F238E27FC236}">
                <a16:creationId xmlns:a16="http://schemas.microsoft.com/office/drawing/2014/main" id="{2169690D-3584-8825-7DE3-1E112A4EAB15}"/>
              </a:ext>
            </a:extLst>
          </p:cNvPr>
          <p:cNvSpPr/>
          <p:nvPr/>
        </p:nvSpPr>
        <p:spPr>
          <a:xfrm>
            <a:off x="706071" y="27013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62" name="Text 8">
            <a:extLst>
              <a:ext uri="{FF2B5EF4-FFF2-40B4-BE49-F238E27FC236}">
                <a16:creationId xmlns:a16="http://schemas.microsoft.com/office/drawing/2014/main" id="{D6A29FC5-DD57-AEA7-EDC6-E93209490C0D}"/>
              </a:ext>
            </a:extLst>
          </p:cNvPr>
          <p:cNvSpPr/>
          <p:nvPr/>
        </p:nvSpPr>
        <p:spPr>
          <a:xfrm>
            <a:off x="706071" y="293623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64" name="Text 9">
            <a:extLst>
              <a:ext uri="{FF2B5EF4-FFF2-40B4-BE49-F238E27FC236}">
                <a16:creationId xmlns:a16="http://schemas.microsoft.com/office/drawing/2014/main" id="{E2B64F65-9694-700D-D183-0D5768BD80AF}"/>
              </a:ext>
            </a:extLst>
          </p:cNvPr>
          <p:cNvSpPr/>
          <p:nvPr/>
        </p:nvSpPr>
        <p:spPr>
          <a:xfrm>
            <a:off x="4871621" y="149215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66" name="Text 10">
            <a:extLst>
              <a:ext uri="{FF2B5EF4-FFF2-40B4-BE49-F238E27FC236}">
                <a16:creationId xmlns:a16="http://schemas.microsoft.com/office/drawing/2014/main" id="{80705E64-932F-F0B2-E249-5D9F34DBCEE2}"/>
              </a:ext>
            </a:extLst>
          </p:cNvPr>
          <p:cNvSpPr/>
          <p:nvPr/>
        </p:nvSpPr>
        <p:spPr>
          <a:xfrm>
            <a:off x="4871621" y="181912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Claude Code read all three wikis at once direct cross-case comparison, no manual sharing.</a:t>
            </a:r>
            <a:endParaRPr lang="en-US" sz="1250" dirty="0"/>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68" name="Text 11">
            <a:extLst>
              <a:ext uri="{FF2B5EF4-FFF2-40B4-BE49-F238E27FC236}">
                <a16:creationId xmlns:a16="http://schemas.microsoft.com/office/drawing/2014/main" id="{D1DD3D36-E1A6-B14C-4903-59B1A464CEDC}"/>
              </a:ext>
            </a:extLst>
          </p:cNvPr>
          <p:cNvSpPr/>
          <p:nvPr/>
        </p:nvSpPr>
        <p:spPr>
          <a:xfrm>
            <a:off x="502920" y="487025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F86F9A-9BFC-8E73-440C-DAF8866D00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207F40-024E-8E57-F45E-A9E39E110524}"/>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EA5B664-3513-42F3-436C-01D0D936489C}"/>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The "critical reviewer" prompt caught three data errors before submission</a:t>
            </a:r>
            <a:endParaRPr lang="en-US" sz="2000" dirty="0"/>
          </a:p>
        </p:txBody>
      </p:sp>
      <p:sp>
        <p:nvSpPr>
          <p:cNvPr id="4" name="Shape 2">
            <a:extLst>
              <a:ext uri="{FF2B5EF4-FFF2-40B4-BE49-F238E27FC236}">
                <a16:creationId xmlns:a16="http://schemas.microsoft.com/office/drawing/2014/main" id="{767B12B2-C242-736D-DB21-3FA177929FE0}"/>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5284B75-2010-C086-ABFA-016CBF66A342}"/>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DBDE520F-E136-BB58-CD0F-05A9BDE2D48A}"/>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2">
            <a:extLst>
              <a:ext uri="{FF2B5EF4-FFF2-40B4-BE49-F238E27FC236}">
                <a16:creationId xmlns:a16="http://schemas.microsoft.com/office/drawing/2014/main" id="{179455F4-F581-540B-A750-C311E7A94DE5}"/>
              </a:ext>
            </a:extLst>
          </p:cNvPr>
          <p:cNvSpPr/>
          <p:nvPr/>
        </p:nvSpPr>
        <p:spPr>
          <a:xfrm>
            <a:off x="502920" y="4340507"/>
            <a:ext cx="8280350" cy="381000"/>
          </a:xfrm>
          <a:prstGeom prst="rect">
            <a:avLst/>
          </a:prstGeom>
          <a:solidFill>
            <a:srgbClr val="0F172A"/>
          </a:solidFill>
          <a:ln/>
        </p:spPr>
        <p:txBody>
          <a:bodyPr wrap="square" rtlCol="0" anchor="ctr"/>
          <a:lstStyle/>
          <a:p>
            <a:pPr marL="0" indent="0">
              <a:buNone/>
            </a:pPr>
            <a:endParaRPr lang="en-US" dirty="0"/>
          </a:p>
        </p:txBody>
      </p:sp>
      <p:sp>
        <p:nvSpPr>
          <p:cNvPr id="13" name="Text 3">
            <a:extLst>
              <a:ext uri="{FF2B5EF4-FFF2-40B4-BE49-F238E27FC236}">
                <a16:creationId xmlns:a16="http://schemas.microsoft.com/office/drawing/2014/main" id="{7B294C8B-68DE-AB9A-8441-F30FA664CC2F}"/>
              </a:ext>
            </a:extLst>
          </p:cNvPr>
          <p:cNvSpPr/>
          <p:nvPr/>
        </p:nvSpPr>
        <p:spPr>
          <a:xfrm>
            <a:off x="706071" y="4454807"/>
            <a:ext cx="8031531" cy="152400"/>
          </a:xfrm>
          <a:prstGeom prst="rect">
            <a:avLst/>
          </a:prstGeom>
          <a:noFill/>
          <a:ln/>
        </p:spPr>
        <p:txBody>
          <a:bodyPr wrap="square" lIns="0" tIns="0" rIns="0" bIns="0" rtlCol="0" anchor="t"/>
          <a:lstStyle/>
          <a:p>
            <a:pPr marL="0" indent="0" algn="l">
              <a:buNone/>
            </a:pPr>
            <a:r>
              <a:rPr lang="en-US" sz="1100" dirty="0">
                <a:solidFill>
                  <a:srgbClr val="FFFFFF"/>
                </a:solidFill>
                <a:latin typeface="Arial" pitchFamily="34" charset="0"/>
                <a:ea typeface="Arial" pitchFamily="34" charset="-122"/>
                <a:cs typeface="Arial" pitchFamily="34" charset="-120"/>
              </a:rPr>
              <a:t>All three traced back to PwC- or Ernst &amp; Young-audited annual reports before entering the paper.</a:t>
            </a:r>
            <a:endParaRPr lang="en-US" sz="1100" dirty="0"/>
          </a:p>
        </p:txBody>
      </p:sp>
      <p:sp>
        <p:nvSpPr>
          <p:cNvPr id="17" name="Text 4">
            <a:extLst>
              <a:ext uri="{FF2B5EF4-FFF2-40B4-BE49-F238E27FC236}">
                <a16:creationId xmlns:a16="http://schemas.microsoft.com/office/drawing/2014/main" id="{95C97D40-7152-C8BF-9EE7-B5C90F3F5F17}"/>
              </a:ext>
            </a:extLst>
          </p:cNvPr>
          <p:cNvSpPr/>
          <p:nvPr/>
        </p:nvSpPr>
        <p:spPr>
          <a:xfrm>
            <a:off x="502920" y="477240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graphicFrame>
        <p:nvGraphicFramePr>
          <p:cNvPr id="21" name="Table 0">
            <a:extLst>
              <a:ext uri="{FF2B5EF4-FFF2-40B4-BE49-F238E27FC236}">
                <a16:creationId xmlns:a16="http://schemas.microsoft.com/office/drawing/2014/main" id="{0B57548A-E9CE-F747-9588-9E4E1D2AAC6D}"/>
              </a:ext>
            </a:extLst>
          </p:cNvPr>
          <p:cNvGraphicFramePr>
            <a:graphicFrameLocks noGrp="1"/>
          </p:cNvGraphicFramePr>
          <p:nvPr>
            <p:extLst>
              <p:ext uri="{D42A27DB-BD31-4B8C-83A1-F6EECF244321}">
                <p14:modId xmlns:p14="http://schemas.microsoft.com/office/powerpoint/2010/main" val="4179168995"/>
              </p:ext>
            </p:extLst>
          </p:nvPr>
        </p:nvGraphicFramePr>
        <p:xfrm>
          <a:off x="502920" y="1537329"/>
          <a:ext cx="8280351" cy="2387500"/>
        </p:xfrm>
        <a:graphic>
          <a:graphicData uri="http://schemas.openxmlformats.org/drawingml/2006/table">
            <a:tbl>
              <a:tblPr/>
              <a:tblGrid>
                <a:gridCol w="2484105">
                  <a:extLst>
                    <a:ext uri="{9D8B030D-6E8A-4147-A177-3AD203B41FA5}">
                      <a16:colId xmlns:a16="http://schemas.microsoft.com/office/drawing/2014/main" val="20000"/>
                    </a:ext>
                  </a:extLst>
                </a:gridCol>
                <a:gridCol w="2898123">
                  <a:extLst>
                    <a:ext uri="{9D8B030D-6E8A-4147-A177-3AD203B41FA5}">
                      <a16:colId xmlns:a16="http://schemas.microsoft.com/office/drawing/2014/main" val="20001"/>
                    </a:ext>
                  </a:extLst>
                </a:gridCol>
                <a:gridCol w="2898123">
                  <a:extLst>
                    <a:ext uri="{9D8B030D-6E8A-4147-A177-3AD203B41FA5}">
                      <a16:colId xmlns:a16="http://schemas.microsoft.com/office/drawing/2014/main" val="20002"/>
                    </a:ext>
                  </a:extLst>
                </a:gridCol>
              </a:tblGrid>
              <a:tr h="596875">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Data point</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Initial (wrong)</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Corrected (audited)</a:t>
                      </a:r>
                      <a:endParaRPr lang="en-US" sz="110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EU countervailing tariff</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36.3% (provisional)</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35.3% (final regulation)</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Net profit figure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~10× inflated (currency unit)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Corrected via audited report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96875">
                <a:tc>
                  <a:txBody>
                    <a:bodyPr/>
                    <a:lstStyle/>
                    <a:p>
                      <a:pPr marL="0" indent="0" algn="l">
                        <a:buNone/>
                      </a:pPr>
                      <a:r>
                        <a:rPr lang="en-US" sz="1050" b="1" dirty="0">
                          <a:solidFill>
                            <a:srgbClr val="1E293B"/>
                          </a:solidFill>
                          <a:latin typeface="Arial" pitchFamily="34" charset="0"/>
                          <a:ea typeface="Arial" pitchFamily="34" charset="-122"/>
                          <a:cs typeface="Arial" pitchFamily="34" charset="-120"/>
                        </a:rPr>
                        <a:t>Earnings per share</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DC2626"/>
                          </a:solidFill>
                          <a:latin typeface="Arial" pitchFamily="34" charset="0"/>
                          <a:ea typeface="Arial" pitchFamily="34" charset="-122"/>
                          <a:cs typeface="Arial" pitchFamily="34" charset="-120"/>
                        </a:rPr>
                        <a:t>Wrong share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l">
                        <a:buNone/>
                      </a:pPr>
                      <a:r>
                        <a:rPr lang="en-US" sz="1050" dirty="0">
                          <a:solidFill>
                            <a:srgbClr val="06B6D4"/>
                          </a:solidFill>
                          <a:latin typeface="Arial" pitchFamily="34" charset="0"/>
                          <a:ea typeface="Arial" pitchFamily="34" charset="-122"/>
                          <a:cs typeface="Arial" pitchFamily="34" charset="-120"/>
                        </a:rPr>
                        <a:t>Recomputed on correct count</a:t>
                      </a:r>
                      <a:endParaRPr lang="en-US" sz="1050" dirty="0">
                        <a:latin typeface="Arial" charset="0"/>
                        <a:ea typeface="Arial" charset="0"/>
                        <a:cs typeface="Arial" charset="0"/>
                      </a:endParaRPr>
                    </a:p>
                  </a:txBody>
                  <a:tcPr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30496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 2">
            <a:extLst>
              <a:ext uri="{FF2B5EF4-FFF2-40B4-BE49-F238E27FC236}">
                <a16:creationId xmlns:a16="http://schemas.microsoft.com/office/drawing/2014/main" id="{A5ACDD48-3E6E-C56F-DFC5-418BCD5EC59E}"/>
              </a:ext>
            </a:extLst>
          </p:cNvPr>
          <p:cNvSpPr/>
          <p:nvPr/>
        </p:nvSpPr>
        <p:spPr>
          <a:xfrm>
            <a:off x="502920" y="1572451"/>
            <a:ext cx="3962400" cy="2133600"/>
          </a:xfrm>
          <a:prstGeom prst="rect">
            <a:avLst/>
          </a:prstGeom>
          <a:solidFill>
            <a:srgbClr val="F8FAFC"/>
          </a:solidFill>
          <a:ln/>
        </p:spPr>
        <p:txBody>
          <a:bodyPr wrap="square" rtlCol="0" anchor="ctr"/>
          <a:lstStyle/>
          <a:p>
            <a:pPr marL="0" indent="0">
              <a:buNone/>
            </a:pPr>
            <a:endParaRPr lang="en-US" dirty="0"/>
          </a:p>
        </p:txBody>
      </p:sp>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48182"/>
            <a:ext cx="8138160" cy="402083"/>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Advantages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9016" y="1640269"/>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Where it helped most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9016" y="1969453"/>
            <a:ext cx="4114800" cy="158292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1100"/>
              </a:spcAft>
              <a:buClrTx/>
              <a:buSzPct val="100000"/>
              <a:buFont typeface="Arial" panose="020B0604020202020204" pitchFamily="34" charset="0"/>
              <a:buChar char="•"/>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Ingested &amp; indexed sources across all three cases.</a:t>
            </a:r>
          </a:p>
          <a:p>
            <a:pPr marL="171450" indent="-171450">
              <a:spcAft>
                <a:spcPts val="1100"/>
              </a:spcAft>
              <a:buSzPct val="100000"/>
              <a:buFont typeface="Arial" panose="020B0604020202020204" pitchFamily="34" charset="0"/>
              <a:buChar char="•"/>
              <a:defRPr/>
            </a:pPr>
            <a:r>
              <a:rPr lang="en-US" sz="1200" dirty="0">
                <a:solidFill>
                  <a:srgbClr val="1E293B"/>
                </a:solidFill>
                <a:latin typeface="Arial" pitchFamily="34" charset="0"/>
                <a:cs typeface="Arial" pitchFamily="34" charset="-120"/>
              </a:rPr>
              <a:t>Critical-reviewer framing</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ea typeface="Arial" pitchFamily="34" charset="-122"/>
                <a:cs typeface="Arial" pitchFamily="34" charset="-120"/>
              </a:rPr>
              <a:t>Handled research volume unmanageable by hand</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Evidence-bounded comparison</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Single-claim verification</a:t>
            </a:r>
            <a:endParaRPr lang="en-US" sz="1200" dirty="0"/>
          </a:p>
          <a:p>
            <a:pPr marL="171450" marR="0" lvl="0" indent="-171450" algn="l" defTabSz="914400" rtl="0" eaLnBrk="1" fontAlgn="auto" latinLnBrk="0" hangingPunct="1">
              <a:lnSpc>
                <a:spcPct val="100000"/>
              </a:lnSpc>
              <a:spcBef>
                <a:spcPts val="0"/>
              </a:spcBef>
              <a:spcAft>
                <a:spcPts val="11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892040" y="1572768"/>
            <a:ext cx="3749040" cy="3063240"/>
          </a:xfrm>
          <a:prstGeom prst="roundRect">
            <a:avLst>
              <a:gd name="adj" fmla="val 2388"/>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892040" y="1572768"/>
            <a:ext cx="374904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572768"/>
            <a:ext cx="3474720" cy="4206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 data errors caught before submission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74920" y="2148840"/>
            <a:ext cx="3429000" cy="2286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1  Provisional EU tariff → corrected to the final regulatory figure.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2  Net profit inflated by a currency-unit ambiguity in a secondary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3  EPS based on a wrong share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All traced back to the audited (E&amp;Y / PwC) annual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3">
            <a:extLst>
              <a:ext uri="{FF2B5EF4-FFF2-40B4-BE49-F238E27FC236}">
                <a16:creationId xmlns:a16="http://schemas.microsoft.com/office/drawing/2014/main" id="{20C77BFA-E8BD-4948-1C97-350B78E8D1A6}"/>
              </a:ext>
            </a:extLst>
          </p:cNvPr>
          <p:cNvSpPr/>
          <p:nvPr/>
        </p:nvSpPr>
        <p:spPr>
          <a:xfrm>
            <a:off x="502920" y="1596264"/>
            <a:ext cx="3962400" cy="0"/>
          </a:xfrm>
          <a:prstGeom prst="line">
            <a:avLst/>
          </a:prstGeom>
          <a:noFill/>
          <a:ln w="47625">
            <a:solidFill>
              <a:srgbClr val="2563EB"/>
            </a:solidFill>
            <a:prstDash val="solid"/>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Slight variations in data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On high-performance modes like Opus token limits were met fairly quick</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4315</Words>
  <Application>Microsoft Office PowerPoint</Application>
  <PresentationFormat>Bildschirmpräsentation (16:9)</PresentationFormat>
  <Paragraphs>306</Paragraphs>
  <Slides>19</Slides>
  <Notes>19</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19</vt:i4>
      </vt:variant>
    </vt:vector>
  </HeadingPairs>
  <TitlesOfParts>
    <vt:vector size="24" baseType="lpstr">
      <vt:lpstr>Aptos</vt: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Batu</cp:lastModifiedBy>
  <cp:revision>3</cp:revision>
  <dcterms:created xsi:type="dcterms:W3CDTF">2026-06-25T15:09:39Z</dcterms:created>
  <dcterms:modified xsi:type="dcterms:W3CDTF">2026-06-27T16:19:14Z</dcterms:modified>
</cp:coreProperties>
</file>