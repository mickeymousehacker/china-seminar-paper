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ROE FY2024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SAIC</c:v>
                  </c:pt>
                  <c:pt idx="1">
                    <c:v>BYD</c:v>
                  </c:pt>
                  <c:pt idx="2">
                    <c:v>Geely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0.58</c:v>
                </c:pt>
                <c:pt idx="1">
                  <c:v>21.7</c:v>
                </c:pt>
                <c:pt idx="2">
                  <c:v>19.2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DF1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Return on equity, FY2024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Chinese automakers, three governance models, one question: which ownership and financing structure best creates long-term shareholder value? Central claim: governance, more than initial technological endowment, determines who enters the EV era from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and its relevance. EVs are 55% of China's market; JV-dependent firms are losing share while independents lead globally. The EU has even turned governance into a trade variable. Objective stated explicitly. Transition to the theoretical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governance lens. Control rights drive allocation (Shleifer-Vishny); concentrated ownership removes agency costs (Jensen-Meckling); political connection and mixed ownership empirically underperform (Fan et al.; Megginson-Netter). Transition to capability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ways to build capability, each with a different durability profile under technological discontinuity. Note the research gap: no prior work compares all three under one paradigm shift. That gap is our contribution. Transition into the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for the next five slides: three firms as columns, four dimensions as rows, one regulatory regime isolating ownership. One dimension per slide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Governance. SAIC's control is split across SASAC, the Party mandate, and 50/50 JV boards; BYD's founder control enabled the unilateral 2022 ICE exit; Geely is agile but pays multi-brand coordination cost. The EU tariff prices the difference. Transition to financing.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Financing. The capital-light JV model captured upside in growth but became a capital trap in 2024 when SAIC had to absorb losses without control: ROE collapsed to 0.58%. BYD self-finances; Geely leverages for speed. Transition to capability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 of capability acquisition sets durability. BYD slowest but non-imitable (Teece); Geely fast and genuine co-development (CMA, patent convergence); SAIC fast to quality but rent cannibalization left no proprietary EV platforms. Transition to viability.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 transition as a structural audit. SAIC's plants run far below capacity; BYD enters from strength; Geely's core executes but carries periphery risk at Polestar and Lotus. Transition to the synthesis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One-glance synthesis: across all four dimensions, private founder control outperforms. SAIC's 0.58% ROE and 35.3% tariff are the signature of state-JV dependency. Note Geely FY2024 is as originally reported. Transition to the joint lessons.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Placeholder. Lesson 1 will argue that the mode of capability acquisition determines durability across technology cycles. Final wording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Placeholder. Lesson 2 will argue that governance structure is a first-order determinant of strategic adaptability. Final wording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Placeholder. Lesson 3 will argue that capital structure determines resilience when markets contract. Final wording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work was done. A layered agent system on Claude Code, not a single chatbot: Sonnet for the bulk, Opus for cross-case analysis; five specialized agents over a persistent shared wiki.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Collaboration. One shared git repository, a folder per case plus a shared layer; pull before, push after. Claude Code read all three wikis at once, enabling direct cross-case comparison. One merge conflict, resolved with git stash.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discipline. Every source rated on journal quality (Q1-Q5) and direct relevance (R1-R4); arguments anchored only on Q1/Q2. A per-case writing guide kept data and citations consistent across sessions and authors.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use, not blind trust. Asking the model to act as a critical reviewer and to verify each claim against its source caught three real data errors before submission, all traced to audited annual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platform delivered most: research volume that would be unmanageable manually, and persistence that survived a hardware shutdown with full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honest balance. Real limits: no paywalled journals, non-readable Geely PDFs, token limits, and AI formulations needing review. Cost was modest at ~21 euros per month. Judgment stayed with the authors.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References. Full citations for all sources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84150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 PAPER · M&amp;A AS TRANSFORMER OF THE AUTOMOTIVE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4901" y="958751"/>
            <a:ext cx="8031682" cy="839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4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as the First-Order Driver of Long-Term Value in China's EV Transition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2026444"/>
            <a:ext cx="1117550" cy="5075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2305794"/>
            <a:ext cx="803168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 Motor · BYD · Geely — three ownership models, one technological discontinuity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2952006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Ort · Batughan Maus · Chiara Stubner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3228231"/>
            <a:ext cx="8031682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Goethe-University Frankfurt · Chair of Banking and Finance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3430786"/>
            <a:ext cx="8031682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Prof. Dr. Mark Wahrenburg · 29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30-year JV consensus is unraveling as EVs reach 55% of China's market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1057573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244501"/>
            <a:ext cx="4724400" cy="194697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82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three decades the only proven model: foreign technology for market access, with a state-owned enterprise as partner (Holmes et al. 2015).</a:t>
            </a:r>
            <a:endParaRPr lang="en-US" sz="1300" dirty="0"/>
          </a:p>
          <a:p>
            <a:pPr algn="l" marL="95250" indent="-95250">
              <a:lnSpc>
                <a:spcPts val="182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model is now unraveling — JV-dependent firms lose domestic share while independents become global leaders.</a:t>
            </a:r>
            <a:endParaRPr lang="en-US" sz="1300" dirty="0"/>
          </a:p>
          <a:p>
            <a:pPr algn="l" marL="95250" indent="-95250">
              <a:lnSpc>
                <a:spcPts val="182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</a:t>
            </a:r>
            <a:pPr algn="l" indent="0" marL="0">
              <a:lnSpc>
                <a:spcPts val="182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which governance and financing structure best creates long-term shareholder value?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62451" y="1219051"/>
            <a:ext cx="3276600" cy="858589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600551" y="1219051"/>
            <a:ext cx="0" cy="858589"/>
          </a:xfrm>
          <a:prstGeom prst="line">
            <a:avLst/>
          </a:prstGeom>
          <a:noFill/>
          <a:ln w="762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16352" y="1358652"/>
            <a:ext cx="290189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816352" y="1771352"/>
            <a:ext cx="290189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share of new-car sales in China, 2025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62451" y="2311301"/>
            <a:ext cx="3276600" cy="858589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00551" y="2311301"/>
            <a:ext cx="0" cy="858589"/>
          </a:xfrm>
          <a:prstGeom prst="line">
            <a:avLst/>
          </a:prstGeom>
          <a:noFill/>
          <a:ln w="762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16352" y="2450902"/>
            <a:ext cx="290189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816352" y="2863602"/>
            <a:ext cx="290189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global EV sales supplied by Chinese makers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62451" y="3403402"/>
            <a:ext cx="3276600" cy="772864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600551" y="3403402"/>
            <a:ext cx="0" cy="772864"/>
          </a:xfrm>
          <a:prstGeom prst="line">
            <a:avLst/>
          </a:prstGeom>
          <a:noFill/>
          <a:ln w="762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16352" y="3543002"/>
            <a:ext cx="290189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35.3 / 17.0 / 18.8%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816352" y="3869978"/>
            <a:ext cx="290189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countervailing duty: SAIC / BYD / Geely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1750" y="4546402"/>
            <a:ext cx="5004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IEA, Global EV Outlook (2026); European Commission (2024); Holmes et al. (2015)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theory predicts state control depresses long-term firm value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1057573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269802"/>
            <a:ext cx="4038600" cy="147310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1750" y="1293614"/>
            <a:ext cx="40386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901" y="1482477"/>
            <a:ext cx="37049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Shleifer &amp; Vishny (1994)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1758702"/>
            <a:ext cx="3704945" cy="63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rights, not cash-flow rights, drive resource allocation — political principals pursue goals beyond shareholder value.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73501" y="1269802"/>
            <a:ext cx="4038600" cy="147310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73501" y="1293614"/>
            <a:ext cx="40386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6651" y="1482477"/>
            <a:ext cx="37049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Jensen &amp; Meckling (1976)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6651" y="1758702"/>
            <a:ext cx="3704945" cy="63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 owner-management aligns incentives and removes the principal-agent conflict of dispersed ownership.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1750" y="2920901"/>
            <a:ext cx="4038600" cy="147310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1750" y="2944713"/>
            <a:ext cx="40386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901" y="3133576"/>
            <a:ext cx="37049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Fan, Wong &amp; Zhang (2007)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4901" y="3409801"/>
            <a:ext cx="3704945" cy="42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Politically connected Chinese firms underperform peers by ~18% in three-year post-IPO returns.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73501" y="2920901"/>
            <a:ext cx="4038600" cy="147310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73501" y="2944713"/>
            <a:ext cx="40386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6651" y="3133576"/>
            <a:ext cx="37049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Megginson &amp; Netter (2001)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6651" y="3409801"/>
            <a:ext cx="3704945" cy="63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Mixed-ownership enterprises systematically underperform fully privatized firms in profitability and efficiency.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1750" y="4698802"/>
            <a:ext cx="32680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frame for the governance dimension (Chapter 2)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are built three ways — each with a different durability profile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1057573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320701"/>
            <a:ext cx="2603450" cy="190500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1750" y="1344513"/>
            <a:ext cx="2603450" cy="0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2250" y="1546027"/>
            <a:ext cx="22668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transfer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2250" y="1806327"/>
            <a:ext cx="2266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 / quid pro quo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2250" y="2060228"/>
            <a:ext cx="2266899" cy="770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tech for market access; an implicit "technology tax" leads firms to withhold their best capabilities (Holmes et al. 2015).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63801" y="1320701"/>
            <a:ext cx="2603450" cy="19050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63801" y="1344513"/>
            <a:ext cx="260345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4301" y="1546027"/>
            <a:ext cx="22668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accumulation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54301" y="1806327"/>
            <a:ext cx="2266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integration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54301" y="2060228"/>
            <a:ext cx="2266899" cy="770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Path-dependent tacit knowledge in routines that cannot be licensed or hired — structurally non-imitable (Teece et al. 1997).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95851" y="1320701"/>
            <a:ext cx="2603450" cy="1905000"/>
          </a:xfrm>
          <a:prstGeom prst="rect">
            <a:avLst/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95851" y="1344513"/>
            <a:ext cx="2603450" cy="0"/>
          </a:xfrm>
          <a:prstGeom prst="line">
            <a:avLst/>
          </a:prstGeom>
          <a:noFill/>
          <a:ln w="47625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6351" y="1546027"/>
            <a:ext cx="22668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Springboard M&amp;A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86351" y="1806327"/>
            <a:ext cx="2266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acquisition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86351" y="2060228"/>
            <a:ext cx="2266899" cy="770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 developed-market assets to leapfrog latecomer disadvantages in technology and brands (Luo &amp; Tung 2007).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1750" y="3479602"/>
            <a:ext cx="8280350" cy="6920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4901" y="3619202"/>
            <a:ext cx="8031531" cy="41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gap:</a:t>
            </a:r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prior work compares all three acquisition modes under a single technology discontinuity — this paper's contribution.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1750" y="4698802"/>
            <a:ext cx="36029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frame for the capability-building dimension (Chapter 4)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models, four dimensions, one regulatory regime isolating ownership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1057573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4698802"/>
            <a:ext cx="61488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framework comparing SAIC Motor, BYD, and Geely across the paper's four dimensions (Chapters 2–5)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750" y="1286024"/>
          <a:ext cx="8280350" cy="3098750"/>
        </p:xfrm>
        <a:graphic>
          <a:graphicData uri="http://schemas.openxmlformats.org/drawingml/2006/table">
            <a:tbl>
              <a:tblPr/>
              <a:tblGrid>
                <a:gridCol w="1821677"/>
                <a:gridCol w="2152891"/>
                <a:gridCol w="2152891"/>
                <a:gridCol w="2152891"/>
              </a:tblGrid>
              <a:tr h="619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SAIC Motor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(JV / SOE)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(Private / Vertical)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Geely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(Private / M&amp;A)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619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/ Party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(SASAC 63.71%)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(Wang ~17%)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 + M&amp;A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(Li Shufu)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JV capital-light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Self-financed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Leveraged acquisition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Mandatory transfer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Organic 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Acquisition + co-dev.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Long-term viability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Eroding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control adapts fastest; the EU prices the difference at 35.3% vs 17%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1057573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4749701"/>
            <a:ext cx="5289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SAIC Motor (2026); BYD (2025); European Commission (2024); Shleifer &amp; Vishny (1994)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750" y="1286024"/>
          <a:ext cx="8280350" cy="2946350"/>
        </p:xfrm>
        <a:graphic>
          <a:graphicData uri="http://schemas.openxmlformats.org/drawingml/2006/table">
            <a:tbl>
              <a:tblPr/>
              <a:tblGrid>
                <a:gridCol w="1573267"/>
                <a:gridCol w="2235695"/>
                <a:gridCol w="2235695"/>
                <a:gridCol w="2235695"/>
              </a:tblGrid>
              <a:tr h="589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SAIC Motor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Geely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5892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SASAC 63.71% + Party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Wang Chuanfu ~17%, team &gt;1/3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 Shufu, apex holding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 function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+ political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Bilateral JV consensus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Unilateral (ICE exit 2022)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Agile, multi-brand cost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anti-subsidy tariff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Capital-light JV efficiency became a capital trap when sales collapsed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1057573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10051" y="1295251"/>
            <a:ext cx="34975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distribution under stress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10051" y="1609576"/>
            <a:ext cx="3429000" cy="181987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18"/>
              </a:lnSpc>
              <a:spcAft>
                <a:spcPts val="11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 — capital trap:</a:t>
            </a:r>
            <a:pPr algn="l" indent="0" marL="0">
              <a:lnSpc>
                <a:spcPts val="1518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50/50 risk-sharing inverted; 2024 net profit −88%, ROE 0.58% with no control to restructure.</a:t>
            </a:r>
            <a:endParaRPr lang="en-US" sz="1150" dirty="0"/>
          </a:p>
          <a:p>
            <a:pPr algn="l" marL="88900" indent="-88900">
              <a:lnSpc>
                <a:spcPts val="1518"/>
              </a:lnSpc>
              <a:spcAft>
                <a:spcPts val="11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— self-financed:</a:t>
            </a:r>
            <a:pPr algn="l" indent="0" marL="0">
              <a:lnSpc>
                <a:spcPts val="1518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R&amp;D (RMB 54.2 bn) exceeded net profit (40.3 bn); no external debt service.</a:t>
            </a:r>
            <a:endParaRPr lang="en-US" sz="1150" dirty="0"/>
          </a:p>
          <a:p>
            <a:pPr algn="l" marL="88900" indent="-88900">
              <a:lnSpc>
                <a:spcPts val="1518"/>
              </a:lnSpc>
              <a:spcAft>
                <a:spcPts val="11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— leverage-for-speed:</a:t>
            </a:r>
            <a:pPr algn="l" indent="0" marL="0">
              <a:lnSpc>
                <a:spcPts val="1518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highest strategic return, but gearing rose 8.8% → 19.8%.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31750" y="4698802"/>
            <a:ext cx="44346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equity, FY2024. Source: SAIC Motor (2025); BYD (2025); Geely (2026)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31750" y="1311473"/>
          <a:ext cx="4521101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versus depth: BYD's organic stack is the slowest to build but the least imitable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1057573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965002"/>
            <a:ext cx="47411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Higher proprietary / autonomous depth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1750" y="1219051"/>
            <a:ext cx="2260550" cy="146045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68501" y="1219051"/>
            <a:ext cx="2260550" cy="1460450"/>
          </a:xfrm>
          <a:prstGeom prst="rect">
            <a:avLst/>
          </a:prstGeom>
          <a:solidFill>
            <a:srgbClr val="ECFEFF"/>
          </a:solidFill>
          <a:ln w="9525">
            <a:solidFill>
              <a:srgbClr val="CFFAF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1750" y="2755702"/>
            <a:ext cx="2260550" cy="146045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68501" y="2755702"/>
            <a:ext cx="2260550" cy="146045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55650" y="1536502"/>
            <a:ext cx="812750" cy="812750"/>
          </a:xfrm>
          <a:prstGeom prst="roundRect">
            <a:avLst>
              <a:gd name="adj" fmla="val 11250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57150" dist="26941" dir="2700000">
              <a:srgbClr val="0f172a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87673" y="1842790"/>
            <a:ext cx="3555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17850" y="156195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06B6D4"/>
          </a:solidFill>
          <a:ln/>
          <a:effectLst>
            <a:outerShdw sx="100000" sy="100000" kx="0" ky="0" algn="bl" rotWithShape="0" blurRad="57150" dist="26941" dir="2700000">
              <a:srgbClr val="0f172a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73971" y="1842939"/>
            <a:ext cx="458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17850" y="3098602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DC2626"/>
          </a:solidFill>
          <a:ln/>
          <a:effectLst>
            <a:outerShdw sx="100000" sy="100000" kx="0" ky="0" algn="bl" rotWithShape="0" blurRad="57150" dist="26941" dir="2700000">
              <a:srgbClr val="0f172a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01653" y="3379589"/>
            <a:ext cx="4022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5268" y="4343251"/>
            <a:ext cx="47411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← Speed of capability acquisition → Fast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62451" y="1168301"/>
            <a:ext cx="33421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62451" y="1482626"/>
            <a:ext cx="3276600" cy="237232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18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— slow but deep:</a:t>
            </a:r>
            <a:pPr algn="l" indent="0" marL="0">
              <a:lnSpc>
                <a:spcPts val="1518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three decades from cell chemistry to vehicle software; path-dependent, non-imitable (Teece et al. 1997).</a:t>
            </a:r>
            <a:endParaRPr lang="en-US" sz="1150" dirty="0"/>
          </a:p>
          <a:p>
            <a:pPr algn="l" marL="88900" indent="-88900">
              <a:lnSpc>
                <a:spcPts val="1518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— fast and deep:</a:t>
            </a:r>
            <a:pPr algn="l" indent="0" marL="0">
              <a:lnSpc>
                <a:spcPts val="1518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acquisition compressed the timeline; CMA co-development, patent convergence (Konda et al. 2022).</a:t>
            </a:r>
            <a:endParaRPr lang="en-US" sz="1150" dirty="0"/>
          </a:p>
          <a:p>
            <a:pPr algn="l" marL="88900" indent="-88900">
              <a:lnSpc>
                <a:spcPts val="1518"/>
              </a:lnSpc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 — fast but shallow:</a:t>
            </a:r>
            <a:pPr algn="l" indent="0" marL="0">
              <a:lnSpc>
                <a:spcPts val="1518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8.3% quality gain via JV transfer, yet rent cannibalization left no proprietary EV platforms (Bai et al. 2025; Howell 2018).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1750" y="4698802"/>
            <a:ext cx="52831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Bai et al. (2025); Zheng et al. (2022); Konda et al. (2022); Teece, Pisano &amp; Shuen (1997)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 transition is a structural audit — SAIC fails it, BYD passes, Geely adapts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1057573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320701"/>
            <a:ext cx="8280350" cy="96515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4613" y="1320701"/>
            <a:ext cx="0" cy="965150"/>
          </a:xfrm>
          <a:prstGeom prst="line">
            <a:avLst/>
          </a:prstGeom>
          <a:noFill/>
          <a:ln w="85725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6075" y="1460302"/>
            <a:ext cx="7918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 — capability dependency has become capability deficit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6075" y="1711077"/>
            <a:ext cx="7918133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SAIC-GM at 37% capacity utilisation, VW's MEB plant at 14%; the "JV 2.0" pivot with Huawei arrives years after BYD's lead.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1750" y="2438251"/>
            <a:ext cx="8280350" cy="96515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4613" y="2438251"/>
            <a:ext cx="0" cy="965150"/>
          </a:xfrm>
          <a:prstGeom prst="line">
            <a:avLst/>
          </a:prstGeom>
          <a:noFill/>
          <a:ln w="857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075" y="2577852"/>
            <a:ext cx="7918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— strongest structural position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6075" y="2828627"/>
            <a:ext cx="7918133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Exited ICE in 2022; &gt;1 million exports in 2025 (+140%), 119 countries, fourth year as global NEV leader, USD 5.6 bn capital raised.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1750" y="3555802"/>
            <a:ext cx="8280350" cy="96515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4613" y="3555802"/>
            <a:ext cx="0" cy="965150"/>
          </a:xfrm>
          <a:prstGeom prst="line">
            <a:avLst/>
          </a:prstGeom>
          <a:noFill/>
          <a:ln w="85725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075" y="3695402"/>
            <a:ext cx="7918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— core executing, risk in the periphery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6075" y="3946178"/>
            <a:ext cx="7918133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51.5% NEV share in H1 2025 and +102% adjusted profit; contingent liabilities at Polestar and Lotus remain the open question.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1750" y="4698802"/>
            <a:ext cx="29738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SAIC Motor (2026); BYD (2026); Geely (2026)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four dimensions, private founder control outperforms state and JV models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1057573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4521101"/>
            <a:ext cx="8280350" cy="48250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150" y="4609951"/>
            <a:ext cx="81350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SAIC's 0.58% ROE and 35.3% EU tariff are the quantitative signature of state-JV dependency; BYD and Geely both clear 18%+ ROE.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4978301"/>
            <a:ext cx="6310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SAIC Motor AR 2024/2025; BYD AR 2024/2025; Geely AR 2024/2025. Geely FY2024 as originally reported.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750" y="1260574"/>
          <a:ext cx="8280350" cy="2819400"/>
        </p:xfrm>
        <a:graphic>
          <a:graphicData uri="http://schemas.openxmlformats.org/drawingml/2006/table">
            <a:tbl>
              <a:tblPr/>
              <a:tblGrid>
                <a:gridCol w="2484105"/>
                <a:gridCol w="1931806"/>
                <a:gridCol w="1931806"/>
                <a:gridCol w="1932634"/>
              </a:tblGrid>
              <a:tr h="4027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  (FY2024 → FY2025)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SAIC Motor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(JV / SOE)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(Private / Vertical)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Geely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(Private / M&amp;A)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(RMB bn)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627.6 → 656.2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777.1 → 804.0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240.2 → 345.2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19.4% → 17.7%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15.9% → 16.6%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Profit (RMB bn)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 → 10.1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40.3 → 32.6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16.8 → 16.9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 on Equity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0.58% → 3.43%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21.7% → 13.2%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19.2% → 18.2%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Gearing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−36% → +25%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8.8% → 19.8%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Anti-Subsidy Tariff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JOINT LESSONS &amp; 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4901" y="679400"/>
            <a:ext cx="8031682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34901" y="1739801"/>
            <a:ext cx="8031682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 of capability acquisition determines durability across technology cycles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4901" y="2643932"/>
            <a:ext cx="1015901" cy="5075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2923282"/>
            <a:ext cx="7874198" cy="94684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dolor sit amet, consectetur adipiscing elit, sed do eiusmod tempor incididunt.</a:t>
            </a:r>
            <a:endParaRPr lang="en-US" sz="1300" dirty="0"/>
          </a:p>
          <a:p>
            <a:pPr algn="l" marL="101600" indent="-1016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 enim ad minim veniam, quis nostrud exercitation ullamco laboris nisi ut aliquip ex ea.</a:t>
            </a:r>
            <a:endParaRPr lang="en-US" sz="1300" dirty="0"/>
          </a:p>
          <a:p>
            <a:pPr algn="l" marL="101600" indent="-1016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Duis aute irure dolor in reprehenderit in voluptate velit esse cillum dolore.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4648051"/>
            <a:ext cx="38660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[Placeholder — final wording pending; conclusions not yet finalised]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JOINT LESSONS &amp; 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4901" y="679400"/>
            <a:ext cx="8031682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34901" y="1739801"/>
            <a:ext cx="8031682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structure is a first-order determinant of strategic adaptability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4901" y="2643932"/>
            <a:ext cx="1015901" cy="5075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2923282"/>
            <a:ext cx="7874198" cy="94684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dolor sit amet, consectetur adipiscing elit, sed do eiusmod tempor incididunt.</a:t>
            </a:r>
            <a:endParaRPr lang="en-US" sz="1300" dirty="0"/>
          </a:p>
          <a:p>
            <a:pPr algn="l" marL="101600" indent="-1016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 enim ad minim veniam, quis nostrud exercitation ullamco laboris nisi ut aliquip ex ea.</a:t>
            </a:r>
            <a:endParaRPr lang="en-US" sz="1300" dirty="0"/>
          </a:p>
          <a:p>
            <a:pPr algn="l" marL="101600" indent="-1016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Duis aute irure dolor in reprehenderit in voluptate velit esse cillum dolore.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4648051"/>
            <a:ext cx="38660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[Placeholder — final wording pending; conclusions not yet finalised]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JOINT LESSONS &amp; 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4901" y="679400"/>
            <a:ext cx="8031682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34901" y="1739801"/>
            <a:ext cx="8031682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structure determines resilience when markets contract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4901" y="2643932"/>
            <a:ext cx="1015901" cy="5075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2923282"/>
            <a:ext cx="7874198" cy="94684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dolor sit amet, consectetur adipiscing elit, sed do eiusmod tempor incididunt.</a:t>
            </a:r>
            <a:endParaRPr lang="en-US" sz="1300" dirty="0"/>
          </a:p>
          <a:p>
            <a:pPr algn="l" marL="101600" indent="-1016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 enim ad minim veniam, quis nostrud exercitation ullamco laboris nisi ut aliquip ex ea.</a:t>
            </a:r>
            <a:endParaRPr lang="en-US" sz="1300" dirty="0"/>
          </a:p>
          <a:p>
            <a:pPr algn="l" marL="101600" indent="-1016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Duis aute irure dolor in reprehenderit in voluptate velit esse cillum dolore.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4648051"/>
            <a:ext cx="38660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[Placeholder — final wording pending; conclusions not yet finalised]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layered agent system, not a single chatbot, carried the research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1057573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295251"/>
            <a:ext cx="609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6750" y="1498402"/>
            <a:ext cx="2920901" cy="4000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14451" y="1612702"/>
            <a:ext cx="26168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claude-sonnet-4-6 · primary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10051" y="1498402"/>
            <a:ext cx="3429000" cy="5715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752" y="1612702"/>
            <a:ext cx="31350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claude-opus-4 · cross-case &amp; argument logic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1750" y="2235101"/>
            <a:ext cx="15695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1750" y="2438251"/>
            <a:ext cx="1549301" cy="9906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1750" y="2457301"/>
            <a:ext cx="1549301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251" y="2590651"/>
            <a:ext cx="1373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wiki-ingest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3251" y="2781151"/>
            <a:ext cx="1373225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ingest of PDFs &amp; web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8150" y="2438251"/>
            <a:ext cx="1549301" cy="9906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108150" y="2457301"/>
            <a:ext cx="1549301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09651" y="2590651"/>
            <a:ext cx="1373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wiki-query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09651" y="2781151"/>
            <a:ext cx="1373225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from the knowledge 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84550" y="2438251"/>
            <a:ext cx="1549301" cy="9906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784550" y="2457301"/>
            <a:ext cx="1549301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051" y="2590651"/>
            <a:ext cx="1373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wiki-lint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86051" y="2781151"/>
            <a:ext cx="1373225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links, contradictions, stale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60950" y="2438251"/>
            <a:ext cx="1549301" cy="9906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460950" y="2457301"/>
            <a:ext cx="1549301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62451" y="2590651"/>
            <a:ext cx="1373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verify-claims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62451" y="2781151"/>
            <a:ext cx="1373225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claims to primary sources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7350" y="2438251"/>
            <a:ext cx="1549301" cy="9906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7137350" y="2457301"/>
            <a:ext cx="1549301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8851" y="2590651"/>
            <a:ext cx="1373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find-references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38851" y="2781151"/>
            <a:ext cx="1373225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supporting literature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1750" y="3733651"/>
            <a:ext cx="14219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STORE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1750" y="3936802"/>
            <a:ext cx="8280350" cy="450652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4901" y="4076402"/>
            <a:ext cx="803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git wiki knowledge base — read across all three cases simultaneously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1750" y="4698802"/>
            <a:ext cx="4574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Claude Code (Anthropic). Agents deployed via the apm package manager.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git wiki let three cases be compared without manual data hand-offs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1057573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320701"/>
            <a:ext cx="40416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repository, four layers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1750" y="1647676"/>
            <a:ext cx="3962400" cy="152965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825377"/>
            <a:ext cx="36272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research/wiki/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4901" y="2060228"/>
            <a:ext cx="36272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saic-motor/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4901" y="2295079"/>
            <a:ext cx="36272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byd/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4901" y="2529929"/>
            <a:ext cx="36272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geely/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4901" y="2764780"/>
            <a:ext cx="36272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  EU reg · IEA 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00451" y="1320701"/>
            <a:ext cx="39897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that kept it clean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451" y="1647676"/>
            <a:ext cx="3911501" cy="1384548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</a:t>
            </a:r>
            <a:pPr algn="l"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 pull before every session, git push after.</a:t>
            </a:r>
            <a:endParaRPr lang="en-US" sz="1250" dirty="0"/>
          </a:p>
          <a:p>
            <a:pPr algn="l" marL="95250" indent="-9525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read all three wikis at once — direct cross-case comparison, no manual sharing.</a:t>
            </a:r>
            <a:endParaRPr lang="en-US" sz="1250" dirty="0"/>
          </a:p>
          <a:p>
            <a:pPr algn="l" marL="95250" indent="-9525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merge conflict resolved with git stash before pulling the remote state.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1750" y="4698802"/>
            <a:ext cx="44715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group members, one shared repository; each case in a dedicated subfolder.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two-axis source rating kept every claim anchored to the best evidence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1057573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295251"/>
            <a:ext cx="3962400" cy="21336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1750" y="1319064"/>
            <a:ext cx="39624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901" y="1520577"/>
            <a:ext cx="3627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quality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1834902"/>
            <a:ext cx="3556099" cy="98762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495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ABS A* (AER, QJE, JFE)</a:t>
            </a:r>
            <a:endParaRPr lang="en-US" sz="1150" dirty="0"/>
          </a:p>
          <a:p>
            <a:pPr algn="l" marL="95250" indent="-95250">
              <a:lnSpc>
                <a:spcPts val="1495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ABS A</a:t>
            </a:r>
            <a:endParaRPr lang="en-US" sz="1150" dirty="0"/>
          </a:p>
          <a:p>
            <a:pPr algn="l" marL="95250" indent="-95250">
              <a:lnSpc>
                <a:spcPts val="1495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ABS B</a:t>
            </a:r>
            <a:endParaRPr lang="en-US" sz="1150" dirty="0"/>
          </a:p>
          <a:p>
            <a:pPr algn="l" marL="95250" indent="-95250">
              <a:lnSpc>
                <a:spcPts val="1495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Q4–Q5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lower / unreviewed web material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49701" y="1295251"/>
            <a:ext cx="3962400" cy="21336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49701" y="1319064"/>
            <a:ext cx="3962400" cy="0"/>
          </a:xfrm>
          <a:prstGeom prst="line">
            <a:avLst/>
          </a:prstGeom>
          <a:noFill/>
          <a:ln w="47625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2851" y="1520577"/>
            <a:ext cx="3627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relevance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2851" y="1834902"/>
            <a:ext cx="3556099" cy="98762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495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company named as a case study</a:t>
            </a:r>
            <a:endParaRPr lang="en-US" sz="1150" dirty="0"/>
          </a:p>
          <a:p>
            <a:pPr algn="l" marL="95250" indent="-95250">
              <a:lnSpc>
                <a:spcPts val="1495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Chinese automotive industry</a:t>
            </a:r>
            <a:endParaRPr lang="en-US" sz="1150" dirty="0"/>
          </a:p>
          <a:p>
            <a:pPr algn="l" marL="95250" indent="-95250">
              <a:lnSpc>
                <a:spcPts val="1495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theoretical framework</a:t>
            </a:r>
            <a:endParaRPr lang="en-US" sz="1150" dirty="0"/>
          </a:p>
          <a:p>
            <a:pPr algn="l" marL="95250" indent="-95250">
              <a:lnSpc>
                <a:spcPts val="1495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background context only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1750" y="3581251"/>
            <a:ext cx="8280350" cy="67538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4901" y="3720852"/>
            <a:ext cx="803153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guide: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verified data points, source assignment, and citation conventions consolidated per case — one trusted starting point across sessions and authors.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1750" y="4698802"/>
            <a:ext cx="50774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consulted at the start of every writing session; arguments built on Q1/Q2 anchors only.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"critical reviewer" prompt caught three data errors before submission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1057573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4089202"/>
            <a:ext cx="8280350" cy="3810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4203502"/>
            <a:ext cx="803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traced back to PwC- or Ernst &amp; Young-audited annual reports before entering the paper.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4521101"/>
            <a:ext cx="6222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prompt patterns: "act as a critical academic reviewer"; "verify this claim against its source before using it".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750" y="1286024"/>
          <a:ext cx="8280350" cy="2387501"/>
        </p:xfrm>
        <a:graphic>
          <a:graphicData uri="http://schemas.openxmlformats.org/drawingml/2006/table">
            <a:tbl>
              <a:tblPr/>
              <a:tblGrid>
                <a:gridCol w="2484105"/>
                <a:gridCol w="2898123"/>
                <a:gridCol w="2898123"/>
              </a:tblGrid>
              <a:tr h="5968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 (wrong)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Corrected (audited)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968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countervailing tariff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36.3% (provisional)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35.3% (final regulation)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68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profit figure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~10× inflated (currency unit)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Corrected via audited report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68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Earnings per share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share count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Recomputed on correct count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30 papers and 1,500+ pages made queryable in one persistent base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1057573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498402"/>
            <a:ext cx="2539901" cy="19050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777752"/>
            <a:ext cx="212435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60350" y="2549277"/>
            <a:ext cx="2124355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papers ingested across the three cases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01901" y="1498402"/>
            <a:ext cx="2539901" cy="19050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30501" y="1777752"/>
            <a:ext cx="212435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530501" y="2549277"/>
            <a:ext cx="2124355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of papers and annual reports indexed and searchable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051" y="1498402"/>
            <a:ext cx="2539901" cy="19050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651" y="1777752"/>
            <a:ext cx="212435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651" y="2549277"/>
            <a:ext cx="2124355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base recovered after a hardware shutdown — no rebuild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750" y="4368701"/>
            <a:ext cx="6679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valuable where research volume would have been unmanageable manually; persistence proved practically important.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but bounded — and inexpensive at roughly €21 per month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1750" y="750987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295251"/>
            <a:ext cx="4038600" cy="2006501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1750" y="1319064"/>
            <a:ext cx="40386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901" y="1507927"/>
            <a:ext cx="37049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was most helpful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1822252"/>
            <a:ext cx="3632299" cy="746968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research volume unmanageable by hand</a:t>
            </a:r>
            <a:endParaRPr lang="en-US" sz="1150" dirty="0"/>
          </a:p>
          <a:p>
            <a:pPr algn="l" marL="95250" indent="-9525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three genuine data errors pre-submission</a:t>
            </a:r>
            <a:endParaRPr lang="en-US" sz="1150" dirty="0"/>
          </a:p>
          <a:p>
            <a:pPr algn="l" marL="95250" indent="-9525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base survived a hardware failure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73501" y="1295251"/>
            <a:ext cx="4038600" cy="2006501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73501" y="1319064"/>
            <a:ext cx="4038600" cy="0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6651" y="1507927"/>
            <a:ext cx="37049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limitations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6651" y="1822252"/>
            <a:ext cx="3632299" cy="121533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to paywalled journals</a:t>
            </a:r>
            <a:endParaRPr lang="en-US" sz="1150" dirty="0"/>
          </a:p>
          <a:p>
            <a:pPr algn="l" marL="95250" indent="-9525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Geely's PDFs not machine-readable → more web research</a:t>
            </a:r>
            <a:endParaRPr lang="en-US" sz="1150" dirty="0"/>
          </a:p>
          <a:p>
            <a:pPr algn="l" marL="95250" indent="-9525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limits hit quickly on the stronger model</a:t>
            </a:r>
            <a:endParaRPr lang="en-US" sz="1150" dirty="0"/>
          </a:p>
          <a:p>
            <a:pPr algn="l" marL="95250" indent="-9525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formulations needed active critical review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1750" y="3505051"/>
            <a:ext cx="8280350" cy="46970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4901" y="3644652"/>
            <a:ext cx="80315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Pro at ~€21 / month per member · no per-query charges · no paid third-party data services.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1750" y="4698802"/>
            <a:ext cx="50253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judgment, argumentation, and all interpretive decisions remained with the authors.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1750" y="742801"/>
            <a:ext cx="8280499" cy="253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219051"/>
            <a:ext cx="41193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Bai, J., Barwick, P. J., Cao, S., &amp; Li, S. (2025). Quid pro quo, knowledge spillovers, and industrial quality upgrading.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Economic Review, 115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(11), 3825–3852.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711077"/>
            <a:ext cx="41193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Commission. (2024).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Implementing Regulation (EU) 2024/2754.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Official Journal of the EU.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2060228"/>
            <a:ext cx="41193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Fan, J. P. H., Wong, T. J., &amp; Zhang, T. (2007). Politically connected CEOs, corporate governance, and post-IPO performance.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of Financial Economics, 84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(2), 330–357.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1750" y="2552254"/>
            <a:ext cx="41193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Holmes, T. J., McGrattan, E. R., &amp; Prescott, E. C. (2015). Quid pro quo: Technology capital transfers for market access in China.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of Economic Studies, 82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(3), 1154–1193.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1750" y="3044279"/>
            <a:ext cx="41193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Howell, S. T. (2018). Joint ventures and technology adoption: A Chinese industrial policy that backfired.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Policy, 47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(8), 1448–1462.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1750" y="3393430"/>
            <a:ext cx="41193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Inkpen, A. C., &amp; Beamish, P. W. (1997). Knowledge, bargaining power, and the instability of international joint ventures.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AMR, 22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(1), 177–202.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1750" y="3742581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Energy Agency. (2026).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EV Outlook 2026.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IEA.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1750" y="3948857"/>
            <a:ext cx="41193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Jensen, M. C., &amp; Meckling, W. H. (1976). Theory of the firm.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of Financial Economics, 3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(4), 305–360.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1750" y="4298007"/>
            <a:ext cx="41193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Konda, P., Slepnikov, D., &amp; Jin, J. (2022). From transaction to co-creation in Geely's acquisition of Volvo Cars.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 Journal of Technology Innovation, 31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73501" y="1219051"/>
            <a:ext cx="41193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Luo, Y., &amp; Tung, R. L. (2007). International expansion of emerging market enterprises: A springboard perspective.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JIBS, 38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(4), 481–498.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73501" y="1568202"/>
            <a:ext cx="41193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Megginson, W. L., &amp; Netter, J. M. (2001). From state to market: A survey of empirical studies on privatization.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of Economic Literature, 39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(2), 321–389.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3501" y="2060228"/>
            <a:ext cx="41193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Shleifer, A., &amp; Vishny, R. W. (1994). Politicians and firms.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Journal of Economics, 109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(4), 995–1025.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73501" y="2409379"/>
            <a:ext cx="41193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Teece, D. J., Pisano, G., &amp; Shuen, A. (1997). Dynamic capabilities and strategic management.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Management Journal, 18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(7), 509–533.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73501" y="2758529"/>
            <a:ext cx="41193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X., Zhao, W., &amp; Ruet, J. (2022). Specialised vertical integration.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IJATM, 22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(2), 178–201.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73501" y="3107680"/>
            <a:ext cx="41193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Whitfield, L., &amp; Wuttke, T. (2026). China's technological catch-up and leapfrogging in electric vehicles.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in Economic Geography, 4.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73501" y="3456831"/>
            <a:ext cx="41193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Zhang, Z.-Q., Tang, B.-J., Su, Z., &amp; Zhang, Y. (2025). Founder control and breakthrough innovation.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Economic Review, 94.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73501" y="3805982"/>
            <a:ext cx="41193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Zheng, Q., Noorderhaven, N., &amp; Du, J. (2022). Making the unlikely marriage work. 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of World Business, 57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73501" y="4155132"/>
            <a:ext cx="41193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reports:</a:t>
            </a:r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SAIC Motor (2025, 2026); BYD (2025, 2026); Geely (2025, 2026).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EV Governance — Seminar Presentation</dc:title>
  <dc:subject>PptxGenJS Presentation</dc:subject>
  <dc:creator>Ort, Maus, Stubner</dc:creator>
  <cp:lastModifiedBy>Ort, Maus, Stubner</cp:lastModifiedBy>
  <cp:revision>1</cp:revision>
  <dcterms:created xsi:type="dcterms:W3CDTF">2026-06-25T15:09:39Z</dcterms:created>
  <dcterms:modified xsi:type="dcterms:W3CDTF">2026-06-25T15:09:39Z</dcterms:modified>
</cp:coreProperties>
</file>