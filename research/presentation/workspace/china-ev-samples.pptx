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Chinese automakers, three governance models, one question: which ownership and financing structure best creates long-term shareholder value? The central claim — governance, more than initial technological endowment, determines who enters the EV era from strength. Transition to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 of capability acquisition sets a durability profile. BYD's organic path is slowest but produces non-imitable tacit knowledge (Teece). Geely bought speed AND achieved genuine co-development (CMA platform, patent convergence). SAIC's JV transfer was fast to production quality but rent cannibalization left it without proprietary EV platforms. This 2x2 is the visual core of the discussion. Transition to the synthesis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One-glance synthesis. The pattern is consistent across all four dimensions: private founder control (BYD, Geely) clears 18%+ ROE while state-JV SAIC collapses to 0.58% and carries the 35.3% EU tariff — more than double its peers. Note Geely FY2024 is as-originally-reported. Transition to the joint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34901" y="584150"/>
            <a:ext cx="8031682" cy="171450"/>
          </a:xfrm>
          <a:prstGeom prst="rect">
            <a:avLst/>
          </a:prstGeom>
          <a:noFill/>
          <a:ln/>
        </p:spPr>
        <p:txBody>
          <a:bodyPr wrap="square" lIns="0" tIns="0" rIns="0" bIns="0" rtlCol="0" anchor="t"/>
          <a:lstStyle/>
          <a:p>
            <a:pPr algn="l" indent="0" marL="0">
              <a:spcAft>
                <a:spcPts val="1600"/>
              </a:spcAft>
              <a:buNone/>
            </a:pPr>
            <a:r>
              <a:rPr lang="en-US" sz="1200" b="1" dirty="0">
                <a:solidFill>
                  <a:srgbClr val="06B6D4"/>
                </a:solidFill>
                <a:latin typeface="Arial" pitchFamily="34" charset="0"/>
                <a:ea typeface="Arial" pitchFamily="34" charset="-122"/>
                <a:cs typeface="Arial" pitchFamily="34" charset="-120"/>
              </a:rPr>
              <a:t>SEMINAR PAPER · M&amp;A AS TRANSFORMER OF THE AUTOMOTIVE INDUSTRY</a:t>
            </a:r>
            <a:endParaRPr lang="en-US" sz="1200" dirty="0"/>
          </a:p>
        </p:txBody>
      </p:sp>
      <p:sp>
        <p:nvSpPr>
          <p:cNvPr id="3" name="Text 1"/>
          <p:cNvSpPr/>
          <p:nvPr/>
        </p:nvSpPr>
        <p:spPr>
          <a:xfrm>
            <a:off x="634901" y="958751"/>
            <a:ext cx="8031682" cy="839093"/>
          </a:xfrm>
          <a:prstGeom prst="rect">
            <a:avLst/>
          </a:prstGeom>
          <a:noFill/>
          <a:ln/>
        </p:spPr>
        <p:txBody>
          <a:bodyPr wrap="square" lIns="0" tIns="0" rIns="0" bIns="0" rtlCol="0" anchor="t"/>
          <a:lstStyle/>
          <a:p>
            <a:pPr algn="l" indent="0" marL="0">
              <a:lnSpc>
                <a:spcPts val="3304"/>
              </a:lnSpc>
              <a:buNone/>
            </a:pPr>
            <a:r>
              <a:rPr lang="en-US" sz="2800" b="1" dirty="0">
                <a:solidFill>
                  <a:srgbClr val="FFFFFF"/>
                </a:solidFill>
                <a:latin typeface="Arial" pitchFamily="34" charset="0"/>
                <a:ea typeface="Arial" pitchFamily="34" charset="-122"/>
                <a:cs typeface="Arial" pitchFamily="34" charset="-120"/>
              </a:rPr>
              <a:t>Governance as the First-Order Driver of Long-Term Value in China's EV Transition</a:t>
            </a:r>
            <a:endParaRPr lang="en-US" sz="2800" dirty="0"/>
          </a:p>
        </p:txBody>
      </p:sp>
      <p:sp>
        <p:nvSpPr>
          <p:cNvPr id="4" name="Text 2"/>
          <p:cNvSpPr/>
          <p:nvPr/>
        </p:nvSpPr>
        <p:spPr>
          <a:xfrm>
            <a:off x="634901" y="2026444"/>
            <a:ext cx="1117550" cy="50750"/>
          </a:xfrm>
          <a:prstGeom prst="rect">
            <a:avLst/>
          </a:prstGeom>
          <a:solidFill>
            <a:srgbClr val="2563EB"/>
          </a:solidFill>
          <a:ln/>
        </p:spPr>
        <p:txBody>
          <a:bodyPr wrap="square" rtlCol="0" anchor="ctr"/>
          <a:lstStyle/>
          <a:p>
            <a:pPr indent="0" marL="0">
              <a:buNone/>
            </a:pPr>
            <a:endParaRPr lang="en-US" dirty="0"/>
          </a:p>
        </p:txBody>
      </p:sp>
      <p:sp>
        <p:nvSpPr>
          <p:cNvPr id="5" name="Text 3"/>
          <p:cNvSpPr/>
          <p:nvPr/>
        </p:nvSpPr>
        <p:spPr>
          <a:xfrm>
            <a:off x="634901" y="2305794"/>
            <a:ext cx="8031682" cy="214461"/>
          </a:xfrm>
          <a:prstGeom prst="rect">
            <a:avLst/>
          </a:prstGeom>
          <a:noFill/>
          <a:ln/>
        </p:spPr>
        <p:txBody>
          <a:bodyPr wrap="square" lIns="0" tIns="0" rIns="0" bIns="0" rtlCol="0" anchor="t"/>
          <a:lstStyle/>
          <a:p>
            <a:pPr algn="l" indent="0" marL="0">
              <a:lnSpc>
                <a:spcPts val="1690"/>
              </a:lnSpc>
              <a:buNone/>
            </a:pPr>
            <a:r>
              <a:rPr lang="en-US" sz="1300" dirty="0">
                <a:solidFill>
                  <a:srgbClr val="93C5FD"/>
                </a:solidFill>
                <a:latin typeface="Arial" pitchFamily="34" charset="0"/>
                <a:ea typeface="Arial" pitchFamily="34" charset="-122"/>
                <a:cs typeface="Arial" pitchFamily="34" charset="-120"/>
              </a:rPr>
              <a:t>SAIC Motor · BYD · Geely — three ownership models, one technological discontinuity</a:t>
            </a:r>
            <a:endParaRPr lang="en-US" sz="1300" dirty="0"/>
          </a:p>
        </p:txBody>
      </p:sp>
      <p:sp>
        <p:nvSpPr>
          <p:cNvPr id="6" name="Text 4"/>
          <p:cNvSpPr/>
          <p:nvPr/>
        </p:nvSpPr>
        <p:spPr>
          <a:xfrm>
            <a:off x="634901" y="2952006"/>
            <a:ext cx="8031682" cy="200025"/>
          </a:xfrm>
          <a:prstGeom prst="rect">
            <a:avLst/>
          </a:prstGeom>
          <a:noFill/>
          <a:ln/>
        </p:spPr>
        <p:txBody>
          <a:bodyPr wrap="square" lIns="0" tIns="0" rIns="0" bIns="0" rtlCol="0" anchor="t"/>
          <a:lstStyle/>
          <a:p>
            <a:pPr algn="l" indent="0" marL="0">
              <a:buNone/>
            </a:pPr>
            <a:r>
              <a:rPr lang="en-US" sz="1300" b="1" dirty="0">
                <a:solidFill>
                  <a:srgbClr val="E2E8F0"/>
                </a:solidFill>
                <a:latin typeface="Arial" pitchFamily="34" charset="0"/>
                <a:ea typeface="Arial" pitchFamily="34" charset="-122"/>
                <a:cs typeface="Arial" pitchFamily="34" charset="-120"/>
              </a:rPr>
              <a:t>Julia Ort · Batughan Maus · Chiara Stubner</a:t>
            </a:r>
            <a:endParaRPr lang="en-US" sz="1300" dirty="0"/>
          </a:p>
        </p:txBody>
      </p:sp>
      <p:sp>
        <p:nvSpPr>
          <p:cNvPr id="7" name="Text 5"/>
          <p:cNvSpPr/>
          <p:nvPr/>
        </p:nvSpPr>
        <p:spPr>
          <a:xfrm>
            <a:off x="634901" y="3228231"/>
            <a:ext cx="8031682" cy="202555"/>
          </a:xfrm>
          <a:prstGeom prst="rect">
            <a:avLst/>
          </a:prstGeom>
          <a:noFill/>
          <a:ln/>
        </p:spPr>
        <p:txBody>
          <a:bodyPr wrap="square" lIns="0" tIns="0" rIns="0" bIns="0" rtlCol="0" anchor="t"/>
          <a:lstStyle/>
          <a:p>
            <a:pPr algn="l" indent="0" marL="0">
              <a:lnSpc>
                <a:spcPts val="1595"/>
              </a:lnSpc>
              <a:buNone/>
            </a:pPr>
            <a:r>
              <a:rPr lang="en-US" sz="1100" dirty="0">
                <a:solidFill>
                  <a:srgbClr val="94A3B8"/>
                </a:solidFill>
                <a:latin typeface="Arial" pitchFamily="34" charset="0"/>
                <a:ea typeface="Arial" pitchFamily="34" charset="-122"/>
                <a:cs typeface="Arial" pitchFamily="34" charset="-120"/>
              </a:rPr>
              <a:t>Goethe-University Frankfurt · Chair of Banking and Finance</a:t>
            </a:r>
            <a:endParaRPr lang="en-US" sz="1100" dirty="0"/>
          </a:p>
        </p:txBody>
      </p:sp>
      <p:sp>
        <p:nvSpPr>
          <p:cNvPr id="8" name="Text 6"/>
          <p:cNvSpPr/>
          <p:nvPr/>
        </p:nvSpPr>
        <p:spPr>
          <a:xfrm>
            <a:off x="634901" y="3430786"/>
            <a:ext cx="8031682" cy="202555"/>
          </a:xfrm>
          <a:prstGeom prst="rect">
            <a:avLst/>
          </a:prstGeom>
          <a:noFill/>
          <a:ln/>
        </p:spPr>
        <p:txBody>
          <a:bodyPr wrap="square" lIns="0" tIns="0" rIns="0" bIns="0" rtlCol="0" anchor="t"/>
          <a:lstStyle/>
          <a:p>
            <a:pPr algn="l" indent="0" marL="0">
              <a:lnSpc>
                <a:spcPts val="1595"/>
              </a:lnSpc>
              <a:buNone/>
            </a:pPr>
            <a:r>
              <a:rPr lang="en-US" sz="1100" dirty="0">
                <a:solidFill>
                  <a:srgbClr val="94A3B8"/>
                </a:solidFill>
                <a:latin typeface="Arial" pitchFamily="34" charset="0"/>
                <a:ea typeface="Arial" pitchFamily="34" charset="-122"/>
                <a:cs typeface="Arial" pitchFamily="34" charset="-120"/>
              </a:rPr>
              <a:t>Supervisor: Prof. Dr. Mark Wahrenburg · 29 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algn="l" indent="0" marL="0">
              <a:lnSpc>
                <a:spcPts val="2415"/>
              </a:lnSpc>
              <a:buNone/>
            </a:pPr>
            <a:r>
              <a:rPr lang="en-US" sz="2100" b="1" dirty="0">
                <a:solidFill>
                  <a:srgbClr val="0F172A"/>
                </a:solidFill>
                <a:latin typeface="Arial" pitchFamily="34" charset="0"/>
                <a:ea typeface="Arial" pitchFamily="34" charset="-122"/>
                <a:cs typeface="Arial" pitchFamily="34" charset="-120"/>
              </a:rPr>
              <a:t>Speed versus depth: BYD's organic stack is the slowest to build but the least imitable</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indent="0" marL="0">
              <a:buNone/>
            </a:pPr>
            <a:endParaRPr lang="en-US" dirty="0"/>
          </a:p>
        </p:txBody>
      </p:sp>
      <p:sp>
        <p:nvSpPr>
          <p:cNvPr id="4" name="Text 2"/>
          <p:cNvSpPr/>
          <p:nvPr/>
        </p:nvSpPr>
        <p:spPr>
          <a:xfrm>
            <a:off x="431750" y="965002"/>
            <a:ext cx="4741164" cy="133350"/>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 Higher proprietary / autonomous depth</a:t>
            </a:r>
            <a:endParaRPr lang="en-US" sz="950" dirty="0"/>
          </a:p>
        </p:txBody>
      </p:sp>
      <p:sp>
        <p:nvSpPr>
          <p:cNvPr id="5" name="Text 3"/>
          <p:cNvSpPr/>
          <p:nvPr/>
        </p:nvSpPr>
        <p:spPr>
          <a:xfrm>
            <a:off x="431750" y="1219051"/>
            <a:ext cx="2260550" cy="1460450"/>
          </a:xfrm>
          <a:prstGeom prst="rect">
            <a:avLst/>
          </a:prstGeom>
          <a:solidFill>
            <a:srgbClr val="EFF6FF"/>
          </a:solidFill>
          <a:ln w="9525">
            <a:solidFill>
              <a:srgbClr val="DBEAFE"/>
            </a:solidFill>
          </a:ln>
        </p:spPr>
        <p:txBody>
          <a:bodyPr wrap="square" rtlCol="0" anchor="ctr"/>
          <a:lstStyle/>
          <a:p>
            <a:pPr indent="0" marL="0">
              <a:buNone/>
            </a:pPr>
            <a:endParaRPr lang="en-US" dirty="0"/>
          </a:p>
        </p:txBody>
      </p:sp>
      <p:sp>
        <p:nvSpPr>
          <p:cNvPr id="6" name="Text 4"/>
          <p:cNvSpPr/>
          <p:nvPr/>
        </p:nvSpPr>
        <p:spPr>
          <a:xfrm>
            <a:off x="2768501" y="1219051"/>
            <a:ext cx="2260550" cy="1460450"/>
          </a:xfrm>
          <a:prstGeom prst="rect">
            <a:avLst/>
          </a:prstGeom>
          <a:solidFill>
            <a:srgbClr val="ECFEFF"/>
          </a:solidFill>
          <a:ln w="9525">
            <a:solidFill>
              <a:srgbClr val="CFFAFE"/>
            </a:solidFill>
          </a:ln>
        </p:spPr>
        <p:txBody>
          <a:bodyPr wrap="square" rtlCol="0" anchor="ctr"/>
          <a:lstStyle/>
          <a:p>
            <a:pPr indent="0" marL="0">
              <a:buNone/>
            </a:pPr>
            <a:endParaRPr lang="en-US" dirty="0"/>
          </a:p>
        </p:txBody>
      </p:sp>
      <p:sp>
        <p:nvSpPr>
          <p:cNvPr id="7" name="Text 5"/>
          <p:cNvSpPr/>
          <p:nvPr/>
        </p:nvSpPr>
        <p:spPr>
          <a:xfrm>
            <a:off x="431750" y="2755702"/>
            <a:ext cx="2260550" cy="1460450"/>
          </a:xfrm>
          <a:prstGeom prst="rect">
            <a:avLst/>
          </a:prstGeom>
          <a:solidFill>
            <a:srgbClr val="F1F5F9"/>
          </a:solidFill>
          <a:ln w="9525">
            <a:solidFill>
              <a:srgbClr val="E2E8F0"/>
            </a:solidFill>
          </a:ln>
        </p:spPr>
        <p:txBody>
          <a:bodyPr wrap="square" rtlCol="0" anchor="ctr"/>
          <a:lstStyle/>
          <a:p>
            <a:pPr indent="0" marL="0">
              <a:buNone/>
            </a:pPr>
            <a:endParaRPr lang="en-US" dirty="0"/>
          </a:p>
        </p:txBody>
      </p:sp>
      <p:sp>
        <p:nvSpPr>
          <p:cNvPr id="8" name="Text 6"/>
          <p:cNvSpPr/>
          <p:nvPr/>
        </p:nvSpPr>
        <p:spPr>
          <a:xfrm>
            <a:off x="2768501" y="2755702"/>
            <a:ext cx="2260550" cy="1460450"/>
          </a:xfrm>
          <a:prstGeom prst="rect">
            <a:avLst/>
          </a:prstGeom>
          <a:solidFill>
            <a:srgbClr val="FEF2F2"/>
          </a:solidFill>
          <a:ln w="9525">
            <a:solidFill>
              <a:srgbClr val="FECACA"/>
            </a:solidFill>
          </a:ln>
        </p:spPr>
        <p:txBody>
          <a:bodyPr wrap="square" rtlCol="0" anchor="ctr"/>
          <a:lstStyle/>
          <a:p>
            <a:pPr indent="0" marL="0">
              <a:buNone/>
            </a:pPr>
            <a:endParaRPr lang="en-US" dirty="0"/>
          </a:p>
        </p:txBody>
      </p:sp>
      <p:sp>
        <p:nvSpPr>
          <p:cNvPr id="9" name="Text 7"/>
          <p:cNvSpPr/>
          <p:nvPr/>
        </p:nvSpPr>
        <p:spPr>
          <a:xfrm>
            <a:off x="1155650" y="1536502"/>
            <a:ext cx="812750" cy="812750"/>
          </a:xfrm>
          <a:prstGeom prst="roundRect">
            <a:avLst>
              <a:gd name="adj" fmla="val 112507"/>
            </a:avLst>
          </a:prstGeom>
          <a:solidFill>
            <a:srgbClr val="2563EB"/>
          </a:solidFill>
          <a:ln/>
          <a:effectLst>
            <a:outerShdw sx="100000" sy="100000" kx="0" ky="0" algn="bl" rotWithShape="0" blurRad="57150" dist="26941" dir="2700000">
              <a:srgbClr val="0f172a">
                <a:alpha val="22000"/>
              </a:srgbClr>
            </a:outerShdw>
          </a:effectLst>
        </p:spPr>
        <p:txBody>
          <a:bodyPr wrap="square" rtlCol="0" anchor="ctr"/>
          <a:lstStyle/>
          <a:p>
            <a:pPr indent="0" marL="0">
              <a:buNone/>
            </a:pPr>
            <a:endParaRPr lang="en-US" dirty="0"/>
          </a:p>
        </p:txBody>
      </p:sp>
      <p:sp>
        <p:nvSpPr>
          <p:cNvPr id="10" name="Text 8"/>
          <p:cNvSpPr/>
          <p:nvPr/>
        </p:nvSpPr>
        <p:spPr>
          <a:xfrm>
            <a:off x="1387673" y="1842790"/>
            <a:ext cx="355527"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BYD</a:t>
            </a:r>
            <a:endParaRPr lang="en-US" sz="1300" dirty="0"/>
          </a:p>
        </p:txBody>
      </p:sp>
      <p:sp>
        <p:nvSpPr>
          <p:cNvPr id="11" name="Text 9"/>
          <p:cNvSpPr/>
          <p:nvPr/>
        </p:nvSpPr>
        <p:spPr>
          <a:xfrm>
            <a:off x="3517850" y="1561951"/>
            <a:ext cx="762000" cy="762000"/>
          </a:xfrm>
          <a:prstGeom prst="roundRect">
            <a:avLst>
              <a:gd name="adj" fmla="val 120000"/>
            </a:avLst>
          </a:prstGeom>
          <a:solidFill>
            <a:srgbClr val="06B6D4"/>
          </a:solidFill>
          <a:ln/>
          <a:effectLst>
            <a:outerShdw sx="100000" sy="100000" kx="0" ky="0" algn="bl" rotWithShape="0" blurRad="57150" dist="26941" dir="2700000">
              <a:srgbClr val="0f172a">
                <a:alpha val="22000"/>
              </a:srgbClr>
            </a:outerShdw>
          </a:effectLst>
        </p:spPr>
        <p:txBody>
          <a:bodyPr wrap="square" rtlCol="0" anchor="ctr"/>
          <a:lstStyle/>
          <a:p>
            <a:pPr indent="0" marL="0">
              <a:buNone/>
            </a:pPr>
            <a:endParaRPr lang="en-US" dirty="0"/>
          </a:p>
        </p:txBody>
      </p:sp>
      <p:sp>
        <p:nvSpPr>
          <p:cNvPr id="12" name="Text 10"/>
          <p:cNvSpPr/>
          <p:nvPr/>
        </p:nvSpPr>
        <p:spPr>
          <a:xfrm>
            <a:off x="3673971" y="1842939"/>
            <a:ext cx="458754"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Geely</a:t>
            </a:r>
            <a:endParaRPr lang="en-US" sz="1300" dirty="0"/>
          </a:p>
        </p:txBody>
      </p:sp>
      <p:sp>
        <p:nvSpPr>
          <p:cNvPr id="13" name="Text 11"/>
          <p:cNvSpPr/>
          <p:nvPr/>
        </p:nvSpPr>
        <p:spPr>
          <a:xfrm>
            <a:off x="3517850" y="3098602"/>
            <a:ext cx="762000" cy="762000"/>
          </a:xfrm>
          <a:prstGeom prst="roundRect">
            <a:avLst>
              <a:gd name="adj" fmla="val 120000"/>
            </a:avLst>
          </a:prstGeom>
          <a:solidFill>
            <a:srgbClr val="DC2626"/>
          </a:solidFill>
          <a:ln/>
          <a:effectLst>
            <a:outerShdw sx="100000" sy="100000" kx="0" ky="0" algn="bl" rotWithShape="0" blurRad="57150" dist="26941" dir="2700000">
              <a:srgbClr val="0f172a">
                <a:alpha val="22000"/>
              </a:srgbClr>
            </a:outerShdw>
          </a:effectLst>
        </p:spPr>
        <p:txBody>
          <a:bodyPr wrap="square" rtlCol="0" anchor="ctr"/>
          <a:lstStyle/>
          <a:p>
            <a:pPr indent="0" marL="0">
              <a:buNone/>
            </a:pPr>
            <a:endParaRPr lang="en-US" dirty="0"/>
          </a:p>
        </p:txBody>
      </p:sp>
      <p:sp>
        <p:nvSpPr>
          <p:cNvPr id="14" name="Text 12"/>
          <p:cNvSpPr/>
          <p:nvPr/>
        </p:nvSpPr>
        <p:spPr>
          <a:xfrm>
            <a:off x="3701653" y="3379589"/>
            <a:ext cx="402282"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SAIC</a:t>
            </a:r>
            <a:endParaRPr lang="en-US" sz="1300" dirty="0"/>
          </a:p>
        </p:txBody>
      </p:sp>
      <p:sp>
        <p:nvSpPr>
          <p:cNvPr id="15" name="Text 13"/>
          <p:cNvSpPr/>
          <p:nvPr/>
        </p:nvSpPr>
        <p:spPr>
          <a:xfrm>
            <a:off x="385268" y="4343251"/>
            <a:ext cx="4741164" cy="133350"/>
          </a:xfrm>
          <a:prstGeom prst="rect">
            <a:avLst/>
          </a:prstGeom>
          <a:noFill/>
          <a:ln/>
        </p:spPr>
        <p:txBody>
          <a:bodyPr wrap="square" lIns="0" tIns="0" rIns="0" bIns="0" rtlCol="0" anchor="t"/>
          <a:lstStyle/>
          <a:p>
            <a:pPr algn="ctr" indent="0" marL="0">
              <a:buNone/>
            </a:pPr>
            <a:r>
              <a:rPr lang="en-US" sz="950" b="1" dirty="0">
                <a:solidFill>
                  <a:srgbClr val="475569"/>
                </a:solidFill>
                <a:latin typeface="Arial" pitchFamily="34" charset="0"/>
                <a:ea typeface="Arial" pitchFamily="34" charset="-122"/>
                <a:cs typeface="Arial" pitchFamily="34" charset="-120"/>
              </a:rPr>
              <a:t>Slow ← Speed of capability acquisition → Fast</a:t>
            </a:r>
            <a:endParaRPr lang="en-US" sz="950" dirty="0"/>
          </a:p>
        </p:txBody>
      </p:sp>
      <p:sp>
        <p:nvSpPr>
          <p:cNvPr id="16" name="Text 14"/>
          <p:cNvSpPr/>
          <p:nvPr/>
        </p:nvSpPr>
        <p:spPr>
          <a:xfrm>
            <a:off x="5562451" y="1168301"/>
            <a:ext cx="3342132" cy="200025"/>
          </a:xfrm>
          <a:prstGeom prst="rect">
            <a:avLst/>
          </a:prstGeom>
          <a:noFill/>
          <a:ln/>
        </p:spPr>
        <p:txBody>
          <a:bodyPr wrap="square" lIns="0" tIns="0" rIns="0" bIns="0" rtlCol="0" anchor="t"/>
          <a:lstStyle/>
          <a:p>
            <a:pPr algn="l" indent="0" marL="0">
              <a:spcAft>
                <a:spcPts val="900"/>
              </a:spcAft>
              <a:buNone/>
            </a:pPr>
            <a:r>
              <a:rPr lang="en-US" sz="1300" b="1" dirty="0">
                <a:solidFill>
                  <a:srgbClr val="2563EB"/>
                </a:solidFill>
                <a:latin typeface="Arial" pitchFamily="34" charset="0"/>
                <a:ea typeface="Arial" pitchFamily="34" charset="-122"/>
                <a:cs typeface="Arial" pitchFamily="34" charset="-120"/>
              </a:rPr>
              <a:t>What to take away</a:t>
            </a:r>
            <a:endParaRPr lang="en-US" sz="1300" dirty="0"/>
          </a:p>
        </p:txBody>
      </p:sp>
      <p:sp>
        <p:nvSpPr>
          <p:cNvPr id="17" name="Text 15"/>
          <p:cNvSpPr/>
          <p:nvPr/>
        </p:nvSpPr>
        <p:spPr>
          <a:xfrm>
            <a:off x="5562451" y="1482626"/>
            <a:ext cx="3276600" cy="2372320"/>
          </a:xfrm>
          <a:prstGeom prst="rect">
            <a:avLst/>
          </a:prstGeom>
          <a:noFill/>
          <a:ln/>
        </p:spPr>
        <p:txBody>
          <a:bodyPr wrap="square" lIns="88900" tIns="0" rIns="0" bIns="0" rtlCol="0" anchor="t"/>
          <a:lstStyle/>
          <a:p>
            <a:pPr algn="l" marL="88900" indent="-88900">
              <a:lnSpc>
                <a:spcPts val="1518"/>
              </a:lnSpc>
              <a:spcAft>
                <a:spcPts val="1000"/>
              </a:spcAft>
              <a:buSzPct val="100000"/>
              <a:buChar char="•"/>
            </a:pPr>
            <a:r>
              <a:rPr lang="en-US" sz="1150" b="1" dirty="0">
                <a:solidFill>
                  <a:srgbClr val="1E293B"/>
                </a:solidFill>
                <a:latin typeface="Arial" pitchFamily="34" charset="0"/>
                <a:ea typeface="Arial" pitchFamily="34" charset="-122"/>
                <a:cs typeface="Arial" pitchFamily="34" charset="-120"/>
              </a:rPr>
              <a:t>BYD — slow but deep:</a:t>
            </a:r>
            <a:pPr algn="l" indent="0" marL="0">
              <a:lnSpc>
                <a:spcPts val="1518"/>
              </a:lnSpc>
              <a:spcAft>
                <a:spcPts val="1000"/>
              </a:spcAft>
              <a:buNone/>
            </a:pPr>
            <a:r>
              <a:rPr lang="en-US" sz="1150" dirty="0">
                <a:solidFill>
                  <a:srgbClr val="1E293B"/>
                </a:solidFill>
                <a:latin typeface="Arial" pitchFamily="34" charset="0"/>
                <a:ea typeface="Arial" pitchFamily="34" charset="-122"/>
                <a:cs typeface="Arial" pitchFamily="34" charset="-120"/>
              </a:rPr>
              <a:t> three decades from cell chemistry to vehicle software; path-dependent, non-imitable (Teece et al. 1997).</a:t>
            </a:r>
            <a:endParaRPr lang="en-US" sz="1150" dirty="0"/>
          </a:p>
          <a:p>
            <a:pPr algn="l" marL="88900" indent="-88900">
              <a:lnSpc>
                <a:spcPts val="1518"/>
              </a:lnSpc>
              <a:spcAft>
                <a:spcPts val="1000"/>
              </a:spcAft>
              <a:buSzPct val="100000"/>
              <a:buChar char="•"/>
            </a:pPr>
            <a:r>
              <a:rPr lang="en-US" sz="1150" b="1" dirty="0">
                <a:solidFill>
                  <a:srgbClr val="1E293B"/>
                </a:solidFill>
                <a:latin typeface="Arial" pitchFamily="34" charset="0"/>
                <a:ea typeface="Arial" pitchFamily="34" charset="-122"/>
                <a:cs typeface="Arial" pitchFamily="34" charset="-120"/>
              </a:rPr>
              <a:t>Geely — fast and deep:</a:t>
            </a:r>
            <a:pPr algn="l" indent="0" marL="0">
              <a:lnSpc>
                <a:spcPts val="1518"/>
              </a:lnSpc>
              <a:spcAft>
                <a:spcPts val="1000"/>
              </a:spcAft>
              <a:buNone/>
            </a:pPr>
            <a:r>
              <a:rPr lang="en-US" sz="1150" dirty="0">
                <a:solidFill>
                  <a:srgbClr val="1E293B"/>
                </a:solidFill>
                <a:latin typeface="Arial" pitchFamily="34" charset="0"/>
                <a:ea typeface="Arial" pitchFamily="34" charset="-122"/>
                <a:cs typeface="Arial" pitchFamily="34" charset="-120"/>
              </a:rPr>
              <a:t> acquisition compressed the timeline; CMA co-development, patent convergence (Konda et al. 2022).</a:t>
            </a:r>
            <a:endParaRPr lang="en-US" sz="1150" dirty="0"/>
          </a:p>
          <a:p>
            <a:pPr algn="l" marL="88900" indent="-88900">
              <a:lnSpc>
                <a:spcPts val="1518"/>
              </a:lnSpc>
              <a:spcAft>
                <a:spcPts val="1000"/>
              </a:spcAft>
              <a:buSzPct val="100000"/>
              <a:buChar char="•"/>
            </a:pPr>
            <a:r>
              <a:rPr lang="en-US" sz="1150" b="1" dirty="0">
                <a:solidFill>
                  <a:srgbClr val="1E293B"/>
                </a:solidFill>
                <a:latin typeface="Arial" pitchFamily="34" charset="0"/>
                <a:ea typeface="Arial" pitchFamily="34" charset="-122"/>
                <a:cs typeface="Arial" pitchFamily="34" charset="-120"/>
              </a:rPr>
              <a:t>SAIC — fast but shallow:</a:t>
            </a:r>
            <a:pPr algn="l" indent="0" marL="0">
              <a:lnSpc>
                <a:spcPts val="1518"/>
              </a:lnSpc>
              <a:spcAft>
                <a:spcPts val="1000"/>
              </a:spcAft>
              <a:buNone/>
            </a:pPr>
            <a:r>
              <a:rPr lang="en-US" sz="1150" dirty="0">
                <a:solidFill>
                  <a:srgbClr val="1E293B"/>
                </a:solidFill>
                <a:latin typeface="Arial" pitchFamily="34" charset="0"/>
                <a:ea typeface="Arial" pitchFamily="34" charset="-122"/>
                <a:cs typeface="Arial" pitchFamily="34" charset="-120"/>
              </a:rPr>
              <a:t> 8.3% quality gain via JV transfer, yet rent cannibalization left no proprietary EV platforms (Bai et al. 2025; Howell 2018).</a:t>
            </a:r>
            <a:endParaRPr lang="en-US" sz="1150" dirty="0"/>
          </a:p>
        </p:txBody>
      </p:sp>
      <p:sp>
        <p:nvSpPr>
          <p:cNvPr id="18" name="Text 16"/>
          <p:cNvSpPr/>
          <p:nvPr/>
        </p:nvSpPr>
        <p:spPr>
          <a:xfrm>
            <a:off x="431750" y="4698802"/>
            <a:ext cx="5283107" cy="133350"/>
          </a:xfrm>
          <a:prstGeom prst="rect">
            <a:avLst/>
          </a:prstGeom>
          <a:noFill/>
          <a:ln/>
        </p:spPr>
        <p:txBody>
          <a:bodyPr wrap="square" lIns="0" tIns="0" rIns="0" bIns="0" rtlCol="0" anchor="t"/>
          <a:lstStyle/>
          <a:p>
            <a:pPr algn="l" indent="0" marL="0">
              <a:buNone/>
            </a:pPr>
            <a:r>
              <a:rPr lang="en-US" sz="950" dirty="0">
                <a:solidFill>
                  <a:srgbClr val="64748B"/>
                </a:solidFill>
                <a:latin typeface="Arial" pitchFamily="34" charset="0"/>
                <a:ea typeface="Arial" pitchFamily="34" charset="-122"/>
                <a:cs typeface="Arial" pitchFamily="34" charset="-120"/>
              </a:rPr>
              <a:t>Source: Bai et al. (2025); Zheng et al. (2022); Konda et al. (2022); Teece, Pisano &amp; Shuen (1997)</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algn="l" indent="0" marL="0">
              <a:lnSpc>
                <a:spcPts val="2415"/>
              </a:lnSpc>
              <a:buNone/>
            </a:pPr>
            <a:r>
              <a:rPr lang="en-US" sz="2100" b="1" dirty="0">
                <a:solidFill>
                  <a:srgbClr val="0F172A"/>
                </a:solidFill>
                <a:latin typeface="Arial" pitchFamily="34" charset="0"/>
                <a:ea typeface="Arial" pitchFamily="34" charset="-122"/>
                <a:cs typeface="Arial" pitchFamily="34" charset="-120"/>
              </a:rPr>
              <a:t>Across all four dimensions, private founder control outperforms state and JV models</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indent="0" marL="0">
              <a:buNone/>
            </a:pPr>
            <a:endParaRPr lang="en-US" dirty="0"/>
          </a:p>
        </p:txBody>
      </p:sp>
      <p:sp>
        <p:nvSpPr>
          <p:cNvPr id="4" name="Text 2"/>
          <p:cNvSpPr/>
          <p:nvPr/>
        </p:nvSpPr>
        <p:spPr>
          <a:xfrm>
            <a:off x="431750" y="4521101"/>
            <a:ext cx="8280350" cy="482501"/>
          </a:xfrm>
          <a:prstGeom prst="rect">
            <a:avLst/>
          </a:prstGeom>
          <a:solidFill>
            <a:srgbClr val="0F172A"/>
          </a:solidFill>
          <a:ln/>
        </p:spPr>
        <p:txBody>
          <a:bodyPr wrap="square" rtlCol="0" anchor="ctr"/>
          <a:lstStyle/>
          <a:p>
            <a:pPr indent="0" marL="0">
              <a:buNone/>
            </a:pPr>
            <a:endParaRPr lang="en-US" dirty="0"/>
          </a:p>
        </p:txBody>
      </p:sp>
      <p:sp>
        <p:nvSpPr>
          <p:cNvPr id="5" name="Text 3"/>
          <p:cNvSpPr/>
          <p:nvPr/>
        </p:nvSpPr>
        <p:spPr>
          <a:xfrm>
            <a:off x="584150" y="4609951"/>
            <a:ext cx="8135061" cy="3048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SAIC's 0.58% ROE and 35.3% EU tariff are the quantitative signature of state-JV dependency; BYD and Geely both clear 18%+ ROE.</a:t>
            </a:r>
            <a:endParaRPr lang="en-US" sz="1100" dirty="0"/>
          </a:p>
        </p:txBody>
      </p:sp>
      <p:sp>
        <p:nvSpPr>
          <p:cNvPr id="6" name="Text 4"/>
          <p:cNvSpPr/>
          <p:nvPr/>
        </p:nvSpPr>
        <p:spPr>
          <a:xfrm>
            <a:off x="431750" y="4978301"/>
            <a:ext cx="6310976" cy="133350"/>
          </a:xfrm>
          <a:prstGeom prst="rect">
            <a:avLst/>
          </a:prstGeom>
          <a:noFill/>
          <a:ln/>
        </p:spPr>
        <p:txBody>
          <a:bodyPr wrap="square" lIns="0" tIns="0" rIns="0" bIns="0" rtlCol="0" anchor="t"/>
          <a:lstStyle/>
          <a:p>
            <a:pPr algn="l" indent="0" marL="0">
              <a:buNone/>
            </a:pPr>
            <a:r>
              <a:rPr lang="en-US" sz="950" dirty="0">
                <a:solidFill>
                  <a:srgbClr val="64748B"/>
                </a:solidFill>
                <a:latin typeface="Arial" pitchFamily="34" charset="0"/>
                <a:ea typeface="Arial" pitchFamily="34" charset="-122"/>
                <a:cs typeface="Arial" pitchFamily="34" charset="-120"/>
              </a:rPr>
              <a:t>Source: SAIC Motor AR 2024/2025; BYD AR 2024/2025; Geely AR 2024/2025. Geely FY2024 as originally reported.</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31750" y="1260574"/>
          <a:ext cx="8280350" cy="2819400"/>
        </p:xfrm>
        <a:graphic>
          <a:graphicData uri="http://schemas.openxmlformats.org/drawingml/2006/table">
            <a:tbl>
              <a:tblPr/>
              <a:tblGrid>
                <a:gridCol w="2484105"/>
                <a:gridCol w="1931806"/>
                <a:gridCol w="1931806"/>
                <a:gridCol w="1932634"/>
              </a:tblGrid>
              <a:tr h="402771">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Metric  (FY2024 → FY2025)</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SAIC Motor</a:t>
                      </a:r>
                      <a:endParaRPr lang="en-US" sz="1150" dirty="0">
                        <a:latin typeface="Arial" charset="0"/>
                        <a:ea typeface="Arial" charset="0"/>
                        <a:cs typeface="Arial" charset="0"/>
                      </a:endParaRPr>
                    </a:p>
                    <a:p>
                      <a:pPr algn="ctr" indent="0" marL="0">
                        <a:buNone/>
                      </a:pPr>
                      <a:r>
                        <a:rPr lang="en-US" sz="1150" b="1" dirty="0">
                          <a:solidFill>
                            <a:srgbClr val="FFFFFF"/>
                          </a:solidFill>
                          <a:latin typeface="Arial" pitchFamily="34" charset="0"/>
                          <a:ea typeface="Arial" pitchFamily="34" charset="-122"/>
                          <a:cs typeface="Arial" pitchFamily="34" charset="-120"/>
                        </a:rPr>
                        <a:t>(JV / SOE)</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DC2626"/>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BYD</a:t>
                      </a:r>
                      <a:endParaRPr lang="en-US" sz="1150" dirty="0">
                        <a:latin typeface="Arial" charset="0"/>
                        <a:ea typeface="Arial" charset="0"/>
                        <a:cs typeface="Arial" charset="0"/>
                      </a:endParaRPr>
                    </a:p>
                    <a:p>
                      <a:pPr algn="ctr" indent="0" marL="0">
                        <a:buNone/>
                      </a:pPr>
                      <a:r>
                        <a:rPr lang="en-US" sz="1150" b="1" dirty="0">
                          <a:solidFill>
                            <a:srgbClr val="FFFFFF"/>
                          </a:solidFill>
                          <a:latin typeface="Arial" pitchFamily="34" charset="0"/>
                          <a:ea typeface="Arial" pitchFamily="34" charset="-122"/>
                          <a:cs typeface="Arial" pitchFamily="34" charset="-120"/>
                        </a:rPr>
                        <a:t>(Private / Vertical)</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Geely</a:t>
                      </a:r>
                      <a:endParaRPr lang="en-US" sz="1150" dirty="0">
                        <a:latin typeface="Arial" charset="0"/>
                        <a:ea typeface="Arial" charset="0"/>
                        <a:cs typeface="Arial" charset="0"/>
                      </a:endParaRPr>
                    </a:p>
                    <a:p>
                      <a:pPr algn="ctr" indent="0" marL="0">
                        <a:buNone/>
                      </a:pPr>
                      <a:r>
                        <a:rPr lang="en-US" sz="1150" b="1" dirty="0">
                          <a:solidFill>
                            <a:srgbClr val="FFFFFF"/>
                          </a:solidFill>
                          <a:latin typeface="Arial" pitchFamily="34" charset="0"/>
                          <a:ea typeface="Arial" pitchFamily="34" charset="-122"/>
                          <a:cs typeface="Arial" pitchFamily="34" charset="-120"/>
                        </a:rPr>
                        <a:t>(Private / M&amp;A)</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6B6D4"/>
                    </a:solidFill>
                  </a:tcPr>
                </a:tc>
              </a:tr>
              <a:tr h="402771">
                <a:tc>
                  <a:txBody>
                    <a:bodyPr/>
                    <a:lstStyle/>
                    <a:p>
                      <a:pPr algn="l" indent="0" marL="0">
                        <a:buNone/>
                      </a:pPr>
                      <a:r>
                        <a:rPr lang="en-US" sz="1100" b="1" dirty="0">
                          <a:solidFill>
                            <a:srgbClr val="1E293B"/>
                          </a:solidFill>
                          <a:latin typeface="Arial" pitchFamily="34" charset="0"/>
                          <a:ea typeface="Arial" pitchFamily="34" charset="-122"/>
                          <a:cs typeface="Arial" pitchFamily="34" charset="-120"/>
                        </a:rPr>
                        <a:t>Revenue (RMB bn)</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627.6 → 656.2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777.1 → 804.0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240.2 → 345.2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02771">
                <a:tc>
                  <a:txBody>
                    <a:bodyPr/>
                    <a:lstStyle/>
                    <a:p>
                      <a:pPr algn="l" indent="0" marL="0">
                        <a:buNone/>
                      </a:pPr>
                      <a:r>
                        <a:rPr lang="en-US" sz="1100" b="1" dirty="0">
                          <a:solidFill>
                            <a:srgbClr val="1E293B"/>
                          </a:solidFill>
                          <a:latin typeface="Arial" pitchFamily="34" charset="0"/>
                          <a:ea typeface="Arial" pitchFamily="34" charset="-122"/>
                          <a:cs typeface="Arial" pitchFamily="34" charset="-120"/>
                        </a:rPr>
                        <a:t>Gross Margin</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9.4%</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19.4% → 17.7%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15.9% → 16.6%</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02771">
                <a:tc>
                  <a:txBody>
                    <a:bodyPr/>
                    <a:lstStyle/>
                    <a:p>
                      <a:pPr algn="l" indent="0" marL="0">
                        <a:buNone/>
                      </a:pPr>
                      <a:r>
                        <a:rPr lang="en-US" sz="1100" b="1" dirty="0">
                          <a:solidFill>
                            <a:srgbClr val="1E293B"/>
                          </a:solidFill>
                          <a:latin typeface="Arial" pitchFamily="34" charset="0"/>
                          <a:ea typeface="Arial" pitchFamily="34" charset="-122"/>
                          <a:cs typeface="Arial" pitchFamily="34" charset="-120"/>
                        </a:rPr>
                        <a:t>Net Profit (RMB bn)</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DC2626"/>
                          </a:solidFill>
                          <a:latin typeface="Arial" pitchFamily="34" charset="0"/>
                          <a:ea typeface="Arial" pitchFamily="34" charset="-122"/>
                          <a:cs typeface="Arial" pitchFamily="34" charset="-120"/>
                        </a:rPr>
                        <a:t>1.7 → 10.1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40.3 → 32.6</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16.8 → 16.9</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02771">
                <a:tc>
                  <a:txBody>
                    <a:bodyPr/>
                    <a:lstStyle/>
                    <a:p>
                      <a:pPr algn="l" indent="0" marL="0">
                        <a:buNone/>
                      </a:pPr>
                      <a:r>
                        <a:rPr lang="en-US" sz="1100" b="1" dirty="0">
                          <a:solidFill>
                            <a:srgbClr val="1E293B"/>
                          </a:solidFill>
                          <a:latin typeface="Arial" pitchFamily="34" charset="0"/>
                          <a:ea typeface="Arial" pitchFamily="34" charset="-122"/>
                          <a:cs typeface="Arial" pitchFamily="34" charset="-120"/>
                        </a:rPr>
                        <a:t>Return on Equity</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DC2626"/>
                          </a:solidFill>
                          <a:latin typeface="Arial" pitchFamily="34" charset="0"/>
                          <a:ea typeface="Arial" pitchFamily="34" charset="-122"/>
                          <a:cs typeface="Arial" pitchFamily="34" charset="-120"/>
                        </a:rPr>
                        <a:t>0.58% → 3.43%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21.7% → 13.2%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19.2% → 18.2%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02771">
                <a:tc>
                  <a:txBody>
                    <a:bodyPr/>
                    <a:lstStyle/>
                    <a:p>
                      <a:pPr algn="l" indent="0" marL="0">
                        <a:buNone/>
                      </a:pPr>
                      <a:r>
                        <a:rPr lang="en-US" sz="1100" b="1" dirty="0">
                          <a:solidFill>
                            <a:srgbClr val="1E293B"/>
                          </a:solidFill>
                          <a:latin typeface="Arial" pitchFamily="34" charset="0"/>
                          <a:ea typeface="Arial" pitchFamily="34" charset="-122"/>
                          <a:cs typeface="Arial" pitchFamily="34" charset="-120"/>
                        </a:rPr>
                        <a:t>Net Gearing</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n.a.</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−36% → +25%</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8.8% → 19.8%</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02771">
                <a:tc>
                  <a:txBody>
                    <a:bodyPr/>
                    <a:lstStyle/>
                    <a:p>
                      <a:pPr algn="l" indent="0" marL="0">
                        <a:buNone/>
                      </a:pPr>
                      <a:r>
                        <a:rPr lang="en-US" sz="1100" b="1" dirty="0">
                          <a:solidFill>
                            <a:srgbClr val="1E293B"/>
                          </a:solidFill>
                          <a:latin typeface="Arial" pitchFamily="34" charset="0"/>
                          <a:ea typeface="Arial" pitchFamily="34" charset="-122"/>
                          <a:cs typeface="Arial" pitchFamily="34" charset="-120"/>
                        </a:rPr>
                        <a:t>EU Anti-Subsidy Tariff</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b="1" dirty="0">
                          <a:solidFill>
                            <a:srgbClr val="DC2626"/>
                          </a:solidFill>
                          <a:latin typeface="Arial" pitchFamily="34" charset="0"/>
                          <a:ea typeface="Arial" pitchFamily="34" charset="-122"/>
                          <a:cs typeface="Arial" pitchFamily="34" charset="-120"/>
                        </a:rPr>
                        <a:t>35.3%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17.0%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Arial" pitchFamily="34" charset="0"/>
                          <a:ea typeface="Arial" pitchFamily="34" charset="-122"/>
                          <a:cs typeface="Arial" pitchFamily="34" charset="-120"/>
                        </a:rPr>
                        <a:t>18.8%</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EV Governance</dc:title>
  <dc:subject>PptxGenJS Presentation</dc:subject>
  <dc:creator>Ort, Maus, Stubner</dc:creator>
  <cp:lastModifiedBy>Ort, Maus, Stubner</cp:lastModifiedBy>
  <cp:revision>1</cp:revision>
  <dcterms:created xsi:type="dcterms:W3CDTF">2026-06-25T14:58:14Z</dcterms:created>
  <dcterms:modified xsi:type="dcterms:W3CDTF">2026-06-25T14:58:14Z</dcterms:modified>
</cp:coreProperties>
</file>