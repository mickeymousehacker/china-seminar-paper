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presentation asks one question: which way of building a car company in China</a:t>
            </a:r>
          </a:p>
          <a:p>
            <a:r>
              <a:t>creates the most value for shareholders over time. We study three real firms, each with a</a:t>
            </a:r>
          </a:p>
          <a:p>
            <a:r>
              <a:t>different ownership and money model. SAIC uses joint ventures, BYD builds everything itself,</a:t>
            </a:r>
          </a:p>
          <a:p>
            <a:r>
              <a:t>and Geely grows by buying companies. Our main finding is that governance — who controls the</a:t>
            </a:r>
          </a:p>
          <a:p>
            <a:r>
              <a:t>firm — matters more than the technology a firm starts with. Let us begin with why this</a:t>
            </a:r>
          </a:p>
          <a:p>
            <a:r>
              <a:t>question is urgent right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joint-venture era is ending, and the numbers show it. Electric vehicles are now more</a:t>
            </a:r>
          </a:p>
          <a:p>
            <a:r>
              <a:t>than half of all car sales in China, and Chinese firms make about 60 percent of the world's EVs.</a:t>
            </a:r>
          </a:p>
          <a:p>
            <a:r>
              <a:t>SAIC, the classic joint-venture firm, saw profit fall 88 percent in one year. At the same time</a:t>
            </a:r>
          </a:p>
          <a:p>
            <a:r>
              <a:t>the EU put the highest tariff on SAIC and the lowest on BYD. So the market and regulators both</a:t>
            </a:r>
          </a:p>
          <a:p>
            <a:r>
              <a:t>point to the same thing: the old model is under pressure. Next, the exact question we ask and</a:t>
            </a:r>
          </a:p>
          <a:p>
            <a:r>
              <a:t>how we study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question is simple to say but hard to answer: which structure builds the most</a:t>
            </a:r>
          </a:p>
          <a:p>
            <a:r>
              <a:t>shareholder value over time. We compare three firms that each picked a different path — joint</a:t>
            </a:r>
          </a:p>
          <a:p>
            <a:r>
              <a:t>ventures, building in-house, and buying companies. We look at each one through four lenses:</a:t>
            </a:r>
          </a:p>
          <a:p>
            <a:r>
              <a:t>governance, financing, capability building, and long-term survival. The same four lenses are</a:t>
            </a:r>
          </a:p>
          <a:p>
            <a:r>
              <a:t>used for all three firms, so the comparison is fair. Our thesis is that structure beats starting</a:t>
            </a:r>
          </a:p>
          <a:p>
            <a:r>
              <a:t>technology. Now the theory behind these lenses.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argument stands on six well-known ideas. Shleifer and Vishny and also Megginson</a:t>
            </a:r>
          </a:p>
          <a:p>
            <a:r>
              <a:t>and Netter explain why state firms tend to lag private ones. Jensen and Meckling show why a</a:t>
            </a:r>
          </a:p>
          <a:p>
            <a:r>
              <a:t>strong founder owner can act fast and align with shareholders. Holmes and Fan describe the</a:t>
            </a:r>
          </a:p>
          <a:p>
            <a:r>
              <a:t>quid-pro-quo trade and its costs for connected firms. Luo and Tung explain why a firm buys</a:t>
            </a:r>
          </a:p>
          <a:p>
            <a:r>
              <a:t>abroad to catch up, and Teece explains why deep in-house knowledge is hard to copy. Together</a:t>
            </a:r>
          </a:p>
          <a:p>
            <a:r>
              <a:t>they predict that governance shapes who adapts. Next we turn these lenses into one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matrix is the map for the whole talk. The rows are the three firms. The columns</a:t>
            </a:r>
          </a:p>
          <a:p>
            <a:r>
              <a:t>are the four lenses. Read across a row and you see one firm's full profile; read down a column</a:t>
            </a:r>
          </a:p>
          <a:p>
            <a:r>
              <a:t>and you compare the firms on one topic. The key point is that the columns are linked. The firm</a:t>
            </a:r>
          </a:p>
          <a:p>
            <a:r>
              <a:t>that is slow to decide is also the one most at risk in the EV shift. The next eight slides walk</a:t>
            </a:r>
          </a:p>
          <a:p>
            <a:r>
              <a:t>through the four columns, two slides each. We start with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Governance means two things: who holds control, and what they try to maximise. SAIC</a:t>
            </a:r>
          </a:p>
          <a:p>
            <a:r>
              <a:t>is controlled by the state, so it must serve goals beyond profit, and it cannot move fast. BYD</a:t>
            </a:r>
          </a:p>
          <a:p>
            <a:r>
              <a:t>is run by its founder, who owns a big block and can decide alone, as he did when he stopped</a:t>
            </a:r>
          </a:p>
          <a:p>
            <a:r>
              <a:t>making petrol cars in 2022. Geely is also founder-led and quick at deals, but managing many</a:t>
            </a:r>
          </a:p>
          <a:p>
            <a:r>
              <a:t>brands adds friction and risk. So control sits on a scale from political to commercial. The</a:t>
            </a:r>
          </a:p>
          <a:p>
            <a:r>
              <a:t>next slide shows that the EU put a price on exactly this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outside proof that governance matters. The EU studied state support and set</a:t>
            </a:r>
          </a:p>
          <a:p>
            <a:r>
              <a:t>duties: 35.3 percent for SAIC, 17 for BYD, 18.8 for Geely. That gap of about 18 points is not</a:t>
            </a:r>
          </a:p>
          <a:p>
            <a:r>
              <a:t>about car quality — it is about ownership. The more a firm depends on the state, the higher the</a:t>
            </a:r>
          </a:p>
          <a:p>
            <a:r>
              <a:t>tariff. This lines up with our theory: control split across political and JV partners adapts</a:t>
            </a:r>
          </a:p>
          <a:p>
            <a:r>
              <a:t>slower than founder control. Governance is now a direct cost, not paperwork. Next we follow the</a:t>
            </a:r>
          </a:p>
          <a:p>
            <a:r>
              <a:t>money: how each firm pays for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money picture, taken straight from the paper's Table 1. Look at three</a:t>
            </a:r>
          </a:p>
          <a:p>
            <a:r>
              <a:t>rows. Return on equity: BYD and Geely are near 20 percent, SAIC is below one. Research spending:</a:t>
            </a:r>
          </a:p>
          <a:p>
            <a:r>
              <a:t>BYD spends more on R&amp;D than it earns in profit, which is rare. Cash flow: BYD generates far more</a:t>
            </a:r>
          </a:p>
          <a:p>
            <a:r>
              <a:t>cash from operations than the others. SAIC's model was capital-light but turned into a capital</a:t>
            </a:r>
          </a:p>
          <a:p>
            <a:r>
              <a:t>trap when JV income fell. Geely buys speed with debt, so its gearing is climbing. Next, what</a:t>
            </a:r>
          </a:p>
          <a:p>
            <a:r>
              <a:t>this means for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money model handles a downturn differently. SAIC shared risk with partners, which</a:t>
            </a:r>
          </a:p>
          <a:p>
            <a:r>
              <a:t>felt safe, but when sales fell it still had to absorb losses it could not control — a capital</a:t>
            </a:r>
          </a:p>
          <a:p>
            <a:r>
              <a:t>trap. BYD pays for itself, so it does not depend on banks; the cost is slower growth. Geely</a:t>
            </a:r>
          </a:p>
          <a:p>
            <a:r>
              <a:t>borrows to move fast, which works while cash flow is strong but adds risk if rates or sales</a:t>
            </a:r>
          </a:p>
          <a:p>
            <a:r>
              <a:t>turn. So the choice is really about resilience versus speed. Mixed-ownership firms tend to lag</a:t>
            </a:r>
          </a:p>
          <a:p>
            <a:r>
              <a:t>private peers. Now the third lens: how each firm builds know-how.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a firm learns shapes what it can build later. SAIC got quality from its foreign</a:t>
            </a:r>
          </a:p>
          <a:p>
            <a:r>
              <a:t>partners — about 8 percent better cars — but the easy JV money killed the urge to invent its</a:t>
            </a:r>
          </a:p>
          <a:p>
            <a:r>
              <a:t>own technology, so it had no EV platform ready. BYD learned slowly and by itself, from batteries</a:t>
            </a:r>
          </a:p>
          <a:p>
            <a:r>
              <a:t>up to software; that knowledge is deep and very hard to copy. Geely bought Volvo and turned the</a:t>
            </a:r>
          </a:p>
          <a:p>
            <a:r>
              <a:t>deal into real shared engineering, like the CMA platform. So we have three speeds and three</a:t>
            </a:r>
          </a:p>
          <a:p>
            <a:r>
              <a:t>depths of learning. The next slide shows the trade-off and what it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chart sums up learning as a trade-off. The right means fast, the top means deep</a:t>
            </a:r>
          </a:p>
          <a:p>
            <a:r>
              <a:t>and independent. SAIC sits low: it learned fast but stayed shallow and dependent. BYD sits high</a:t>
            </a:r>
          </a:p>
          <a:p>
            <a:r>
              <a:t>but to the left: slow yet deep. Geely is in the middle-right: fairly fast and fairly deep. The</a:t>
            </a:r>
          </a:p>
          <a:p>
            <a:r>
              <a:t>cost of the shallow path shows in the numbers on the right — SAIC's joint-venture plants run at</a:t>
            </a:r>
          </a:p>
          <a:p>
            <a:r>
              <a:t>just 14 to 37 percent. That is dependency turning into a real deficit. Now the fourth lens: the</a:t>
            </a:r>
          </a:p>
          <a:p>
            <a:r>
              <a:t>EV transition as a test of all these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EV shift acts like an exam for past decisions. SAIC is most exposed: it is</a:t>
            </a:r>
          </a:p>
          <a:p>
            <a:r>
              <a:t>growing EV sales, but it is racing against falling joint-venture income, and the high EU tariff</a:t>
            </a:r>
          </a:p>
          <a:p>
            <a:r>
              <a:t>closes the export door. BYD is strongest: no petrol cars since 2022, world number one in NEVs,</a:t>
            </a:r>
          </a:p>
          <a:p>
            <a:r>
              <a:t>and able to fund its own growth. Geely is the mixed case: very strong sales growth, but it leans</a:t>
            </a:r>
          </a:p>
          <a:p>
            <a:r>
              <a:t>on partners for platforms and carries loss-making brands. So the same shock produces three very</a:t>
            </a:r>
          </a:p>
          <a:p>
            <a:r>
              <a:t>different results. The next slide scores them side by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scorecard puts the audit on one page. Green means strong, amber mixed, red weak.</a:t>
            </a:r>
          </a:p>
          <a:p>
            <a:r>
              <a:t>BYD is green almost everywhere — ready for EVs, strong balance sheet, fast to adapt. SAIC is</a:t>
            </a:r>
          </a:p>
          <a:p>
            <a:r>
              <a:t>mostly red, especially on adaptability, because the state structure slows it down. Geely sits in</a:t>
            </a:r>
          </a:p>
          <a:p>
            <a:r>
              <a:t>between, strong on EV products but only mixed on its balance sheet. The pattern is clear: the</a:t>
            </a:r>
          </a:p>
          <a:p>
            <a:r>
              <a:t>structure a firm chose years ago decides how fast it can move now. From here we draw the general</a:t>
            </a:r>
          </a:p>
          <a:p>
            <a:r>
              <a:t>lessons.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general lessons come out of the cases. First, how a firm builds skills decides how</a:t>
            </a:r>
          </a:p>
          <a:p>
            <a:r>
              <a:t>long it stays competitive. Forced transfer gives quick quality but leaves a firm hollow when</a:t>
            </a:r>
          </a:p>
          <a:p>
            <a:r>
              <a:t>the technology changes, as SAIC found with EVs. Second, governance sets the speed of change.</a:t>
            </a:r>
          </a:p>
          <a:p>
            <a:r>
              <a:t>The clearest proof is 2022: BYD's founder could quit petrol cars in a single year, while SAIC's</a:t>
            </a:r>
          </a:p>
          <a:p>
            <a:r>
              <a:t>state structure made the same move almost impossible. So control rights, not just resources,</a:t>
            </a:r>
          </a:p>
          <a:p>
            <a:r>
              <a:t>decide who adapts. The last lesson and our conclusion come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third lesson is about money under stress: the structure that captures gains in</a:t>
            </a:r>
          </a:p>
          <a:p>
            <a:r>
              <a:t>good times can trap a firm in bad times, and self-financing gives the best resilience. Putting</a:t>
            </a:r>
          </a:p>
          <a:p>
            <a:r>
              <a:t>all three lessons together gives our answer. BYD creates the most shareholder value: highest</a:t>
            </a:r>
          </a:p>
          <a:p>
            <a:r>
              <a:t>return on equity, four years as the top EV maker, and able to fund itself. The reason is not</a:t>
            </a:r>
          </a:p>
          <a:p>
            <a:r>
              <a:t>that vertical integration is magic. It is that BYD combines commercial founder control with a</a:t>
            </a:r>
          </a:p>
          <a:p>
            <a:r>
              <a:t>resilient balance sheet. In short: governance is strategy. Next, the limits of our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short word on limits, since questions will follow. We study three firms in one</a:t>
            </a:r>
          </a:p>
          <a:p>
            <a:r>
              <a:t>industry and one country, so we cannot claim a statistical law. The EV shift is still young, so</a:t>
            </a:r>
          </a:p>
          <a:p>
            <a:r>
              <a:t>today's ranking may move. We rely on reported numbers, and the reports mix currencies, which we</a:t>
            </a:r>
          </a:p>
          <a:p>
            <a:r>
              <a:t>had to reconcile. NIO would add a fourth model but was out of scope. Future work could add NIO,</a:t>
            </a:r>
          </a:p>
          <a:p>
            <a:r>
              <a:t>follow the firms over a longer period, and build a formal governance score. Now a brief, honest</a:t>
            </a:r>
          </a:p>
          <a:p>
            <a:r>
              <a:t>look at how we used AI in this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the AI annex, which the seminar asks us to share openly. We used Claude Code as a</a:t>
            </a:r>
          </a:p>
          <a:p>
            <a:r>
              <a:t>research tool, not a writer. Two models did the work: a fast one for most tasks and a stronger</a:t>
            </a:r>
          </a:p>
          <a:p>
            <a:r>
              <a:t>one for hard analysis. Instead of one chat, we used five small agents, each with a job, like</a:t>
            </a:r>
          </a:p>
          <a:p>
            <a:r>
              <a:t>ingesting sources or checking claims against the original. Everything lived in a shared git</a:t>
            </a:r>
          </a:p>
          <a:p>
            <a:r>
              <a:t>repo, one folder per company, with a quality rating on every source. The cost was low, about 21</a:t>
            </a:r>
          </a:p>
          <a:p>
            <a:r>
              <a:t>euros a month each. Next, where it actually helped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single most useful thing was error catching. The tool found three real data</a:t>
            </a:r>
          </a:p>
          <a:p>
            <a:r>
              <a:t>mistakes before they reached the paper: a wrong EU tariff, a profit figure inflated ten times by</a:t>
            </a:r>
          </a:p>
          <a:p>
            <a:r>
              <a:t>a unit mix-up, and an EPS based on the wrong share count. All were fixed against audited reports.</a:t>
            </a:r>
          </a:p>
          <a:p>
            <a:r>
              <a:t>On method, two habits worked best. Telling it to act like a strict professor gave sharper</a:t>
            </a:r>
          </a:p>
          <a:p>
            <a:r>
              <a:t>feedback than asking for a friendly review. And forcing it to trace each fact to the source</a:t>
            </a:r>
          </a:p>
          <a:p>
            <a:r>
              <a:t>caught the errors. The honest limits come last.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the limits, stated plainly. The tool could not open paywalled journals, could not</a:t>
            </a:r>
          </a:p>
          <a:p>
            <a:r>
              <a:t>read Geely's PDFs, invented some wrong DOIs, and sometimes mixed currencies. We fixed all of</a:t>
            </a:r>
          </a:p>
          <a:p>
            <a:r>
              <a:t>this by hand. The biggest lesson was that it took real time to learn — it is not a chat box, and</a:t>
            </a:r>
          </a:p>
          <a:p>
            <a:r>
              <a:t>its output always needs checking. Early drafts had overclaims we removed. The key principle: we</a:t>
            </a:r>
          </a:p>
          <a:p>
            <a:r>
              <a:t>used AI as a fact-checker and editor, never as a ghostwriter. Every argument is ours. Finally,</a:t>
            </a:r>
          </a:p>
          <a:p>
            <a:r>
              <a:t>our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main sources behind the talk, in APA 7 style. The core theory comes from</a:t>
            </a:r>
          </a:p>
          <a:p>
            <a:r>
              <a:t>Shleifer and Vishny, Jensen and Meckling, Teece, Luo and Tung, and Fan. The key empirical work</a:t>
            </a:r>
          </a:p>
          <a:p>
            <a:r>
              <a:t>on China is Bai, Howell, and Holmes. Company figures come from the audited annual reports of</a:t>
            </a:r>
          </a:p>
          <a:p>
            <a:r>
              <a:t>SAIC, BYD, and Geely, plus the EU regulation and the IEA outlook. The full list is in the paper.</a:t>
            </a:r>
          </a:p>
          <a:p>
            <a:r>
              <a:t>Thank you — we are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6B6D4"/>
                </a:solidFill>
                <a:latin typeface="Calibri"/>
              </a:rPr>
              <a:t>M&amp;A AS TRANSFORMER OF THE AUTOMOTIVE INDUSTRY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China Strategies in the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Automotive Industry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118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1">
                <a:solidFill>
                  <a:srgbClr val="CBD5E1"/>
                </a:solidFill>
                <a:latin typeface="Calibri"/>
              </a:rPr>
              <a:t>Which governance and financing model creates long-term shareholder value?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526280"/>
            <a:ext cx="3383280" cy="42062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539996"/>
            <a:ext cx="3383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SAIC  ·  Joint Venture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4526280"/>
            <a:ext cx="3383280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4539996"/>
            <a:ext cx="3383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BYD  ·  Vertical Integration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4526280"/>
            <a:ext cx="3383280" cy="42062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4539996"/>
            <a:ext cx="3383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Geely  ·  M&amp;A-Driven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Julia Ort  ·  Batughan Maus  ·  Chiara Stubner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Johann Wolfgang Goethe-Universität Frankfurt  ·  Chair of Banking and Finance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Prof. Dr. Mark Wahrenburg  ·  Advisor: Edoardo Pilla  ·  29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INTRODUCTION · MARKET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172A"/>
                </a:solidFill>
                <a:latin typeface="Cambria"/>
              </a:rPr>
              <a:t>The 30-year joint-venture model is breaking down as EVs take 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26974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26974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697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563EB"/>
                </a:solidFill>
                <a:latin typeface="Cambria"/>
              </a:rPr>
              <a:t>~55%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52928"/>
            <a:ext cx="24780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EV share of new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vehicle sales in China (2025)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691640"/>
            <a:ext cx="26974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691640"/>
            <a:ext cx="2697480" cy="822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2011680"/>
            <a:ext cx="2697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06B6D4"/>
                </a:solidFill>
                <a:latin typeface="Cambria"/>
              </a:rPr>
              <a:t>~60%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2852928"/>
            <a:ext cx="24780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Chinese makers' share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of global EV sales (2025)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691640"/>
            <a:ext cx="26974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691640"/>
            <a:ext cx="2697480" cy="8229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011680"/>
            <a:ext cx="2697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DC2626"/>
                </a:solidFill>
                <a:latin typeface="Cambria"/>
              </a:rPr>
              <a:t>88%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852928"/>
            <a:ext cx="24780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Drop in SAIC net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profit in 2024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1691640"/>
            <a:ext cx="26974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5400" y="1691640"/>
            <a:ext cx="2697480" cy="8229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2011680"/>
            <a:ext cx="2697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DC2626"/>
                </a:solidFill>
                <a:latin typeface="Cambria"/>
              </a:rPr>
              <a:t>56.5%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8" y="2852928"/>
            <a:ext cx="24780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Fall in SAIC-GM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sales in 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886200"/>
            <a:ext cx="110642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563EB"/>
                </a:solidFill>
                <a:latin typeface="Calibri"/>
              </a:rPr>
              <a:t>–  </a:t>
            </a:r>
            <a:r>
              <a:rPr sz="1500">
                <a:solidFill>
                  <a:srgbClr val="0F172A"/>
                </a:solidFill>
                <a:latin typeface="Calibri"/>
              </a:rPr>
              <a:t>For three decades foreign technology was traded for market access, with a state-owned partner in the middle (Holmes et al., 2015) — that logic is now obsolete.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563EB"/>
                </a:solidFill>
                <a:latin typeface="Calibri"/>
              </a:rPr>
              <a:t>–  </a:t>
            </a:r>
            <a:r>
              <a:rPr sz="1500">
                <a:solidFill>
                  <a:srgbClr val="0F172A"/>
                </a:solidFill>
                <a:latin typeface="Calibri"/>
              </a:rPr>
              <a:t>Firms that leaned on foreign partners are losing share fast; independent Chinese makers have become global leaders (Whitfield &amp; Wuttke, 2026).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563EB"/>
                </a:solidFill>
                <a:latin typeface="Calibri"/>
              </a:rPr>
              <a:t>–  </a:t>
            </a:r>
            <a:r>
              <a:rPr sz="1500">
                <a:solidFill>
                  <a:srgbClr val="0F172A"/>
                </a:solidFill>
                <a:latin typeface="Calibri"/>
              </a:rPr>
              <a:t>The EU now prices governance risk directly: countervailing duties of 35.3% on SAIC, 17.0% on BYD, 18.8% on Geely (European Commission, 2024).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64748B"/>
                </a:solidFill>
                <a:latin typeface="Calibri"/>
              </a:rPr>
              <a:t>Sources: IEA Global EV Outlook 2026 · SAIC Annual Report 2024/2025 · European Commission (2024)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China Strategies in the Automotive Industry  ·  Session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INTRODUCTION ·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172A"/>
                </a:solidFill>
                <a:latin typeface="Cambria"/>
              </a:rPr>
              <a:t>One question, three governance archetypes, four analytical dimensions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698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1">
                <a:solidFill>
                  <a:srgbClr val="FFFFFF"/>
                </a:solidFill>
                <a:latin typeface="Cambria"/>
              </a:rPr>
              <a:t>“Which governance and financing structure is most likely to create long-term shareholder value in a technology-intensive, high-growth market?”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359359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697480"/>
            <a:ext cx="3593592" cy="8229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862072"/>
            <a:ext cx="3264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DC2626"/>
                </a:solidFill>
                <a:latin typeface="Calibri"/>
              </a:rPr>
              <a:t>SAIC Motor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273552"/>
            <a:ext cx="32644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Joint-venture model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State-owned, SASAC ~73%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2697480"/>
            <a:ext cx="359359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9392" y="2697480"/>
            <a:ext cx="3593592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3984" y="2862072"/>
            <a:ext cx="3264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BYD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3273552"/>
            <a:ext cx="32644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Vertical integration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Founder-led, Wang ~17%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10144" y="2697480"/>
            <a:ext cx="359359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2697480"/>
            <a:ext cx="3593592" cy="822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2862072"/>
            <a:ext cx="3264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6B6D4"/>
                </a:solidFill>
                <a:latin typeface="Calibri"/>
              </a:rPr>
              <a:t>Geely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3273552"/>
            <a:ext cx="32644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M&amp;A-driven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Founder-led, Li ~41% attributable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60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FOUR ANALYTICAL DIMENSIONS — APPLIED TO EACH CASE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26280"/>
            <a:ext cx="2560320" cy="6400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26280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1  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526280"/>
            <a:ext cx="182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4526280"/>
            <a:ext cx="2560320" cy="6400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4526280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2  Financing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526280"/>
            <a:ext cx="182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4526280"/>
            <a:ext cx="2560320" cy="6400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4526280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3  Capability Building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526280"/>
            <a:ext cx="182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240" y="4526280"/>
            <a:ext cx="2560320" cy="6400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0" y="4526280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4  Long-term Viability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Central thesis: governance structure, more than initial technological endowment, determines long-term value creation.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China Strategies in the Automotive Industry  ·  Session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THEORY &amp;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172A"/>
                </a:solidFill>
                <a:latin typeface="Cambria"/>
              </a:rPr>
              <a:t>Six established lenses frame governance as the driver of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3593592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82296" cy="1965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56232"/>
            <a:ext cx="3264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F172A"/>
                </a:solidFill>
                <a:latin typeface="Calibri"/>
              </a:rPr>
              <a:t>Control rights drive allocation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41448"/>
            <a:ext cx="3264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1">
                <a:solidFill>
                  <a:srgbClr val="DC2626"/>
                </a:solidFill>
                <a:latin typeface="Calibri"/>
              </a:rPr>
              <a:t>Shleifer &amp; Vishny (1994)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70632"/>
            <a:ext cx="32644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State control steers firms toward political goals, away from value maximisation.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3108" y="1691640"/>
            <a:ext cx="3593592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3108" y="1691640"/>
            <a:ext cx="82296" cy="1965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4276" y="1856232"/>
            <a:ext cx="3264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F172A"/>
                </a:solidFill>
                <a:latin typeface="Calibri"/>
              </a:rPr>
              <a:t>State vs. private ownership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4276" y="2441448"/>
            <a:ext cx="3264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1">
                <a:solidFill>
                  <a:srgbClr val="DC2626"/>
                </a:solidFill>
                <a:latin typeface="Calibri"/>
              </a:rPr>
              <a:t>Megginson &amp; Netter (2001)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4276" y="2770632"/>
            <a:ext cx="32644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Privatised firms outperform; mixed-ownership firms do not catch up.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7576" y="1691640"/>
            <a:ext cx="3593592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6" y="1691640"/>
            <a:ext cx="82296" cy="1965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8744" y="1856232"/>
            <a:ext cx="3264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F172A"/>
                </a:solidFill>
                <a:latin typeface="Calibri"/>
              </a:rPr>
              <a:t>Agency &amp; founder alignment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441448"/>
            <a:ext cx="3264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1">
                <a:solidFill>
                  <a:srgbClr val="2563EB"/>
                </a:solidFill>
                <a:latin typeface="Calibri"/>
              </a:rPr>
              <a:t>Jensen &amp; Meckling (1976)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70632"/>
            <a:ext cx="32644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Concentrated founder ownership removes the principal–agent conflict.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58768"/>
            <a:ext cx="3593592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858768"/>
            <a:ext cx="82296" cy="1965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023360"/>
            <a:ext cx="3264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F172A"/>
                </a:solidFill>
                <a:latin typeface="Calibri"/>
              </a:rPr>
              <a:t>Quid pro quo transfer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608576"/>
            <a:ext cx="3264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1">
                <a:solidFill>
                  <a:srgbClr val="DC2626"/>
                </a:solidFill>
                <a:latin typeface="Calibri"/>
              </a:rPr>
              <a:t>Holmes et al. (2015); Fan et al. (2007)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937760"/>
            <a:ext cx="32644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Tech-for-access transfer; politically connected firms lag ~18% post-IPO.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3108" y="3858768"/>
            <a:ext cx="3593592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3108" y="3858768"/>
            <a:ext cx="82296" cy="19659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4276" y="4023360"/>
            <a:ext cx="3264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F172A"/>
                </a:solidFill>
                <a:latin typeface="Calibri"/>
              </a:rPr>
              <a:t>Springboard M&amp;A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4276" y="4608576"/>
            <a:ext cx="3264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1">
                <a:solidFill>
                  <a:srgbClr val="06B6D4"/>
                </a:solidFill>
                <a:latin typeface="Calibri"/>
              </a:rPr>
              <a:t>Luo &amp; Tung (2007)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4276" y="4937760"/>
            <a:ext cx="32644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Emerging-market firms acquire abroad to leap over latecomer disadvantages.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37576" y="3858768"/>
            <a:ext cx="3593592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37576" y="3858768"/>
            <a:ext cx="82296" cy="1965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38744" y="4023360"/>
            <a:ext cx="3264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F172A"/>
                </a:solidFill>
                <a:latin typeface="Calibri"/>
              </a:rPr>
              <a:t>Dynamic capabilities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8744" y="4608576"/>
            <a:ext cx="3264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1">
                <a:solidFill>
                  <a:srgbClr val="2563EB"/>
                </a:solidFill>
                <a:latin typeface="Calibri"/>
              </a:rPr>
              <a:t>Teece et al. (1997)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38744" y="4937760"/>
            <a:ext cx="32644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Path-dependent tacit knowledge is the source of non-imitable advantage.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China Strategies in the Automotive Industry  ·  Session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THEORY &amp; LITERATURE ·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172A"/>
                </a:solidFill>
                <a:latin typeface="Cambria"/>
              </a:rPr>
              <a:t>Three models tested against four dimensions — a 3 × 4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554480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783080"/>
            <a:ext cx="14081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783080"/>
            <a:ext cx="2606040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76272" y="1783080"/>
            <a:ext cx="245973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Governance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783080"/>
            <a:ext cx="2331720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82312" y="1783080"/>
            <a:ext cx="218541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Financing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783080"/>
            <a:ext cx="2331720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14032" y="1783080"/>
            <a:ext cx="218541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Capability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2600" y="1783080"/>
            <a:ext cx="2240280" cy="8412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45752" y="1783080"/>
            <a:ext cx="20939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Viability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24328"/>
            <a:ext cx="1554480" cy="841248"/>
          </a:xfrm>
          <a:prstGeom prst="rect">
            <a:avLst/>
          </a:prstGeom>
          <a:solidFill>
            <a:srgbClr val="DC2626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624328"/>
            <a:ext cx="14081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2624328"/>
            <a:ext cx="26060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76272" y="2624328"/>
            <a:ext cx="245973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State / SASAC + Party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60" y="2624328"/>
            <a:ext cx="23317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82312" y="2624328"/>
            <a:ext cx="218541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JV dividends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(capital-light)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2624328"/>
            <a:ext cx="23317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2624328"/>
            <a:ext cx="218541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Mandatory transfer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72600" y="2624328"/>
            <a:ext cx="22402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45752" y="2624328"/>
            <a:ext cx="20939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Most exposed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465576"/>
            <a:ext cx="1554480" cy="841248"/>
          </a:xfrm>
          <a:prstGeom prst="rect">
            <a:avLst/>
          </a:prstGeom>
          <a:solidFill>
            <a:srgbClr val="2563EB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3465576"/>
            <a:ext cx="14081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3465576"/>
            <a:ext cx="2606040" cy="841248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76272" y="3465576"/>
            <a:ext cx="245973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Founder-led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(Wang ~17%)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60" y="3465576"/>
            <a:ext cx="2331720" cy="841248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82312" y="3465576"/>
            <a:ext cx="218541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Self-financing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(operating cash)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0880" y="3465576"/>
            <a:ext cx="2331720" cy="841248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14032" y="3465576"/>
            <a:ext cx="218541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Organic build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72600" y="3465576"/>
            <a:ext cx="2240280" cy="841248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45752" y="3465576"/>
            <a:ext cx="20939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Strongest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306824"/>
            <a:ext cx="1554480" cy="841248"/>
          </a:xfrm>
          <a:prstGeom prst="rect">
            <a:avLst/>
          </a:prstGeom>
          <a:solidFill>
            <a:srgbClr val="06B6D4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4306824"/>
            <a:ext cx="14081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4306824"/>
            <a:ext cx="26060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76272" y="4306824"/>
            <a:ext cx="245973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Founder-led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(Li ~41%)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09160" y="4306824"/>
            <a:ext cx="23317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82312" y="4306824"/>
            <a:ext cx="218541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Leveraged M&amp;A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0" y="4306824"/>
            <a:ext cx="23317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14032" y="4306824"/>
            <a:ext cx="218541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Acquisition + co-dev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72600" y="4306824"/>
            <a:ext cx="22402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45752" y="4306824"/>
            <a:ext cx="2093976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Most asymmetric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2624328"/>
            <a:ext cx="1554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SAIC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465576"/>
            <a:ext cx="1554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BYD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306824"/>
            <a:ext cx="1554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Geely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Reading the matrix: the same firm that is least adaptable in governance is also the most exposed in viability — the columns are linked, not independent.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64748B"/>
                </a:solidFill>
                <a:latin typeface="Calibri"/>
              </a:rPr>
              <a:t>Theoretical anchors: Shleifer &amp; Vishny (1994) · Megginson &amp; Netter (2001) · Teece et al. (1997) · Luo &amp; Tung (2007) · Fan et al. (2007)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China Strategies in the Automotive Industry  ·  Session 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DIMENSION 1 ·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172A"/>
                </a:solidFill>
                <a:latin typeface="Cambria"/>
              </a:rPr>
              <a:t>Who controls the firm — and what they optimise — diverges sharply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3593592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593592" cy="8229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92808"/>
            <a:ext cx="3264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DC2626"/>
                </a:solidFill>
                <a:latin typeface="Calibri"/>
              </a:rPr>
              <a:t>SAIC — Dual state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50008"/>
            <a:ext cx="3264408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DC2626"/>
                </a:solidFill>
                <a:latin typeface="Calibri"/>
              </a:rPr>
              <a:t>–  </a:t>
            </a:r>
            <a:r>
              <a:rPr sz="1200">
                <a:solidFill>
                  <a:srgbClr val="0F172A"/>
                </a:solidFill>
                <a:latin typeface="Calibri"/>
              </a:rPr>
              <a:t>SASAC owns ~73%; CCP mandate is written into the charter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DC2626"/>
                </a:solidFill>
                <a:latin typeface="Calibri"/>
              </a:rPr>
              <a:t>–  </a:t>
            </a:r>
            <a:r>
              <a:rPr sz="1200">
                <a:solidFill>
                  <a:srgbClr val="0F172A"/>
                </a:solidFill>
                <a:latin typeface="Calibri"/>
              </a:rPr>
              <a:t>Optimises beyond shareholder value: jobs, policy, prestige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DC2626"/>
                </a:solidFill>
                <a:latin typeface="Calibri"/>
              </a:rPr>
              <a:t>–  </a:t>
            </a:r>
            <a:r>
              <a:rPr sz="1200">
                <a:solidFill>
                  <a:srgbClr val="0F172A"/>
                </a:solidFill>
                <a:latin typeface="Calibri"/>
              </a:rPr>
              <a:t>Politically connected firms lag ~18% post-IPO (Fan et al., 2007)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DC2626"/>
                </a:solidFill>
                <a:latin typeface="Calibri"/>
              </a:rPr>
              <a:t>–  </a:t>
            </a:r>
            <a:r>
              <a:rPr sz="1200">
                <a:solidFill>
                  <a:srgbClr val="0F172A"/>
                </a:solidFill>
                <a:latin typeface="Calibri"/>
              </a:rPr>
              <a:t>Cannot exit unprofitable JVs without state sign-off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DC2626"/>
                </a:solidFill>
                <a:latin typeface="Calibri"/>
              </a:rPr>
              <a:t>–  </a:t>
            </a:r>
            <a:r>
              <a:rPr sz="1200">
                <a:solidFill>
                  <a:srgbClr val="0F172A"/>
                </a:solidFill>
                <a:latin typeface="Calibri"/>
              </a:rPr>
              <a:t>Slow capital reallocation → strategic rigidity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691640"/>
            <a:ext cx="3593592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9392" y="1691640"/>
            <a:ext cx="3593592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892808"/>
            <a:ext cx="3264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BYD — Founder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2350008"/>
            <a:ext cx="3264408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2563EB"/>
                </a:solidFill>
                <a:latin typeface="Calibri"/>
              </a:rPr>
              <a:t>–  </a:t>
            </a:r>
            <a:r>
              <a:rPr sz="1200">
                <a:solidFill>
                  <a:srgbClr val="0F172A"/>
                </a:solidFill>
                <a:latin typeface="Calibri"/>
              </a:rPr>
              <a:t>Wang Chuanfu ~17%; founding team &gt;1/3 of votes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2563EB"/>
                </a:solidFill>
                <a:latin typeface="Calibri"/>
              </a:rPr>
              <a:t>–  </a:t>
            </a:r>
            <a:r>
              <a:rPr sz="1200">
                <a:solidFill>
                  <a:srgbClr val="0F172A"/>
                </a:solidFill>
                <a:latin typeface="Calibri"/>
              </a:rPr>
              <a:t>No JV dependency; one clear commercial objective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2563EB"/>
                </a:solidFill>
                <a:latin typeface="Calibri"/>
              </a:rPr>
              <a:t>–  </a:t>
            </a:r>
            <a:r>
              <a:rPr sz="1200">
                <a:solidFill>
                  <a:srgbClr val="0F172A"/>
                </a:solidFill>
                <a:latin typeface="Calibri"/>
              </a:rPr>
              <a:t>Founder control aids breakthrough innovation (Zhang et al., 2025)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2563EB"/>
                </a:solidFill>
                <a:latin typeface="Calibri"/>
              </a:rPr>
              <a:t>–  </a:t>
            </a:r>
            <a:r>
              <a:rPr sz="1200">
                <a:solidFill>
                  <a:srgbClr val="0F172A"/>
                </a:solidFill>
                <a:latin typeface="Calibri"/>
              </a:rPr>
              <a:t>ICE exit (2022) decided unilaterally, no state approval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2563EB"/>
                </a:solidFill>
                <a:latin typeface="Calibri"/>
              </a:rPr>
              <a:t>–  </a:t>
            </a:r>
            <a:r>
              <a:rPr sz="1200">
                <a:solidFill>
                  <a:srgbClr val="0F172A"/>
                </a:solidFill>
                <a:latin typeface="Calibri"/>
              </a:rPr>
              <a:t>Fastest decision cycle of the three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0144" y="1691640"/>
            <a:ext cx="3593592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1691640"/>
            <a:ext cx="3593592" cy="822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1892808"/>
            <a:ext cx="3264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6B6D4"/>
                </a:solidFill>
                <a:latin typeface="Calibri"/>
              </a:rPr>
              <a:t>Geely — Founder apex, multi-brand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4736" y="2350008"/>
            <a:ext cx="3264408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06B6D4"/>
                </a:solidFill>
                <a:latin typeface="Calibri"/>
              </a:rPr>
              <a:t>–  </a:t>
            </a:r>
            <a:r>
              <a:rPr sz="1200">
                <a:solidFill>
                  <a:srgbClr val="0F172A"/>
                </a:solidFill>
                <a:latin typeface="Calibri"/>
              </a:rPr>
              <a:t>Li Shufu ~41% attributable via ZGH (64.4% combined)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06B6D4"/>
                </a:solidFill>
                <a:latin typeface="Calibri"/>
              </a:rPr>
              <a:t>–  </a:t>
            </a:r>
            <a:r>
              <a:rPr sz="1200">
                <a:solidFill>
                  <a:srgbClr val="0F172A"/>
                </a:solidFill>
                <a:latin typeface="Calibri"/>
              </a:rPr>
              <a:t>No state committee or JV-partner consent at the top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06B6D4"/>
                </a:solidFill>
                <a:latin typeface="Calibri"/>
              </a:rPr>
              <a:t>–  </a:t>
            </a:r>
            <a:r>
              <a:rPr sz="1200">
                <a:solidFill>
                  <a:srgbClr val="0F172A"/>
                </a:solidFill>
                <a:latin typeface="Calibri"/>
              </a:rPr>
              <a:t>Agile in M&amp;A, but coordination cost across brands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06B6D4"/>
                </a:solidFill>
                <a:latin typeface="Calibri"/>
              </a:rPr>
              <a:t>–  </a:t>
            </a:r>
            <a:r>
              <a:rPr sz="1200">
                <a:solidFill>
                  <a:srgbClr val="0F172A"/>
                </a:solidFill>
                <a:latin typeface="Calibri"/>
              </a:rPr>
              <a:t>Volvo / Polestar / Lotus add complexity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06B6D4"/>
                </a:solidFill>
                <a:latin typeface="Calibri"/>
              </a:rPr>
              <a:t>–  </a:t>
            </a:r>
            <a:r>
              <a:rPr sz="1200">
                <a:solidFill>
                  <a:srgbClr val="0F172A"/>
                </a:solidFill>
                <a:latin typeface="Calibri"/>
              </a:rPr>
              <a:t>Loss-making subsidiaries = contingent liability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64748B"/>
                </a:solidFill>
                <a:latin typeface="Calibri"/>
              </a:rPr>
              <a:t>Theory: Shleifer &amp; Vishny (1994) · Fan et al. (2007) · Jensen &amp; Meckling (1976) · Megginson &amp; Netter (2001)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China Strategies in the Automotive Industry  ·  Session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DIMENSION 1 · GOVERNANCE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172A"/>
                </a:solidFill>
                <a:latin typeface="Cambria"/>
              </a:rPr>
              <a:t>The EU tariff gap prices governance risk — a third-party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91640"/>
            <a:ext cx="32918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691640"/>
            <a:ext cx="3291840" cy="8229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3291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DC2626"/>
                </a:solidFill>
                <a:latin typeface="Cambria"/>
              </a:rPr>
              <a:t>35.3%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SAIC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154680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64748B"/>
                </a:solidFill>
                <a:latin typeface="Calibri"/>
              </a:rPr>
              <a:t>State-owned;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64748B"/>
                </a:solidFill>
                <a:latin typeface="Calibri"/>
              </a:rPr>
              <a:t>highest subsidy finding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691640"/>
            <a:ext cx="32918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329184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920240"/>
            <a:ext cx="3291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2563EB"/>
                </a:solidFill>
                <a:latin typeface="Cambria"/>
              </a:rPr>
              <a:t>17.0%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7889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BYD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154680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64748B"/>
                </a:solidFill>
                <a:latin typeface="Calibri"/>
              </a:rPr>
              <a:t>Founder-led;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64748B"/>
                </a:solidFill>
                <a:latin typeface="Calibri"/>
              </a:rPr>
              <a:t>lowest state finding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1691640"/>
            <a:ext cx="32918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09560" y="1691640"/>
            <a:ext cx="3291840" cy="822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1920240"/>
            <a:ext cx="3291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06B6D4"/>
                </a:solidFill>
                <a:latin typeface="Cambria"/>
              </a:rPr>
              <a:t>18.8%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7889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Geely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3154680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64748B"/>
                </a:solidFill>
                <a:latin typeface="Calibri"/>
              </a:rPr>
              <a:t>Private;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64748B"/>
                </a:solidFill>
                <a:latin typeface="Calibri"/>
              </a:rPr>
              <a:t>moderate state finding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023360"/>
            <a:ext cx="110642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563EB"/>
                </a:solidFill>
                <a:latin typeface="Calibri"/>
              </a:rPr>
              <a:t>–  </a:t>
            </a:r>
            <a:r>
              <a:rPr sz="1500">
                <a:solidFill>
                  <a:srgbClr val="0F172A"/>
                </a:solidFill>
                <a:latin typeface="Calibri"/>
              </a:rPr>
              <a:t>An independent regulator — the European Commission — priced SAIC's state dependence at an 18.3 pp premium over BYD.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563EB"/>
                </a:solidFill>
                <a:latin typeface="Calibri"/>
              </a:rPr>
              <a:t>–  </a:t>
            </a:r>
            <a:r>
              <a:rPr sz="1500">
                <a:solidFill>
                  <a:srgbClr val="0F172A"/>
                </a:solidFill>
                <a:latin typeface="Calibri"/>
              </a:rPr>
              <a:t>Principal-agent hierarchy: JV boards (bilateral consent) &gt; SOE oversight &gt; founder control — adaptability rises down the chain.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563EB"/>
                </a:solidFill>
                <a:latin typeface="Calibri"/>
              </a:rPr>
              <a:t>–  </a:t>
            </a:r>
            <a:r>
              <a:rPr sz="1500">
                <a:solidFill>
                  <a:srgbClr val="0F172A"/>
                </a:solidFill>
                <a:latin typeface="Calibri"/>
              </a:rPr>
              <a:t>Core message: governance is a first-order determinant of strategic adaptability, not an administrative footnote.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64748B"/>
                </a:solidFill>
                <a:latin typeface="Calibri"/>
              </a:rPr>
              <a:t>European Commission (2024), Implementing Regulation (EU) 2024/2754 · Megginson &amp; Netter (2001)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China Strategies in the Automotive Industry  ·  Session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DIMENSION 2 · FINANCING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172A"/>
                </a:solidFill>
                <a:latin typeface="Cambria"/>
              </a:rPr>
              <a:t>Three financing models, three very different risk profiles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3657600" cy="502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600200"/>
            <a:ext cx="351129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Metric (FY24 / FY25)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600200"/>
            <a:ext cx="2468880" cy="502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79392" y="1600200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SAIC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600200"/>
            <a:ext cx="2468880" cy="502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48272" y="1600200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BYD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600200"/>
            <a:ext cx="2468880" cy="502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17152" y="1600200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Geely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03120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103120"/>
            <a:ext cx="351129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Gross margin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10312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9392" y="2103120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9.4% / 10.1%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210312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48272" y="2103120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19.4% / 17.7%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210312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7152" y="2103120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15.9% / 16.6%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606040"/>
            <a:ext cx="3657600" cy="502920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606040"/>
            <a:ext cx="351129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Net profit (RMB bn)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2606040"/>
            <a:ext cx="2468880" cy="502920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9392" y="2606040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1.7 / 10.1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606040"/>
            <a:ext cx="2468880" cy="502920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48272" y="2606040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40.3 / 32.6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2606040"/>
            <a:ext cx="2468880" cy="502920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2606040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16.8 / 16.9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108960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108960"/>
            <a:ext cx="351129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Return on equity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310896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79392" y="3108960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0.58% / 3.43%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310896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48272" y="3108960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21.7% / 13.2%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310896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17152" y="3108960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19.2% / 18.2%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611880"/>
            <a:ext cx="3657600" cy="502920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3611880"/>
            <a:ext cx="351129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R&amp;D expense (RMB bn)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3611880"/>
            <a:ext cx="2468880" cy="502920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79392" y="3611880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35.2 / 33.6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20" y="3611880"/>
            <a:ext cx="2468880" cy="502920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48272" y="3611880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54.2 / 63.4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0" y="3611880"/>
            <a:ext cx="2468880" cy="502920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7152" y="3611880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10.4 / 17.6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114800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" y="4114800"/>
            <a:ext cx="351129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Operating cash flow (RMB bn)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411480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79392" y="4114800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69.3 / 34.3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75120" y="411480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48272" y="4114800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133.5 / 59.1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0" y="411480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17152" y="4114800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26.5 / 47.3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4617720"/>
            <a:ext cx="3657600" cy="502920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4617720"/>
            <a:ext cx="351129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Net gearing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06240" y="4617720"/>
            <a:ext cx="2468880" cy="502920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79392" y="4617720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n.a. / n.a.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75120" y="4617720"/>
            <a:ext cx="2468880" cy="502920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48272" y="4617720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–36% / +25%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00" y="4617720"/>
            <a:ext cx="2468880" cy="502920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17152" y="4617720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8.8% / 19.8%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120640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" y="5120640"/>
            <a:ext cx="351129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EU anti-subsidy tariff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512064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79392" y="5120640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35.3%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75120" y="512064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48272" y="5120640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17.0%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0" y="512064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217152" y="5120640"/>
            <a:ext cx="23225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18.8%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06240" y="1600200"/>
            <a:ext cx="2468880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06240" y="1600200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SAIC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75120" y="1600200"/>
            <a:ext cx="24688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1600200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BYD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00" y="1600200"/>
            <a:ext cx="2468880" cy="5029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44000" y="1600200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Geely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BYD self-funds (R&amp;D &gt; net profit); SAIC leans on JV dividends that collapsed in 2024; Geely funds capability with debt (gearing rising).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64748B"/>
                </a:solidFill>
                <a:latin typeface="Calibri"/>
              </a:rPr>
              <a:t>Table 1, Section 3.4 · Annual Reports SAIC/BYD/Geely 2024 &amp; 2025 · EU Reg. 2024/2754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China Strategies in the Automotive Industry  ·  Session 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DIMENSION 2 · RISK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172A"/>
                </a:solidFill>
                <a:latin typeface="Cambria"/>
              </a:rPr>
              <a:t>Capital structure decides who survives the downturn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359359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593592" cy="8229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92808"/>
            <a:ext cx="3264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DC2626"/>
                </a:solidFill>
                <a:latin typeface="Calibri"/>
              </a:rPr>
              <a:t>Capital-light JV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50008"/>
            <a:ext cx="3264408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DC2626"/>
                </a:solidFill>
                <a:latin typeface="Calibri"/>
              </a:rPr>
              <a:t>–  </a:t>
            </a:r>
            <a:r>
              <a:rPr sz="1200">
                <a:solidFill>
                  <a:srgbClr val="0F172A"/>
                </a:solidFill>
                <a:latin typeface="Calibri"/>
              </a:rPr>
              <a:t>SAIC externalised investment risk via 50/50 JVs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DC2626"/>
                </a:solidFill>
                <a:latin typeface="Calibri"/>
              </a:rPr>
              <a:t>–  </a:t>
            </a:r>
            <a:r>
              <a:rPr sz="1200">
                <a:solidFill>
                  <a:srgbClr val="0F172A"/>
                </a:solidFill>
                <a:latin typeface="Calibri"/>
              </a:rPr>
              <a:t>Worked while markets grew — became a capital trap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DC2626"/>
                </a:solidFill>
                <a:latin typeface="Calibri"/>
              </a:rPr>
              <a:t>–  </a:t>
            </a:r>
            <a:r>
              <a:rPr sz="1200">
                <a:solidFill>
                  <a:srgbClr val="0F172A"/>
                </a:solidFill>
                <a:latin typeface="Calibri"/>
              </a:rPr>
              <a:t>SAIC-GM sales –56.5%; plants at 14–37% utilisation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DC2626"/>
                </a:solidFill>
                <a:latin typeface="Calibri"/>
              </a:rPr>
              <a:t>–  </a:t>
            </a:r>
            <a:r>
              <a:rPr sz="1200">
                <a:solidFill>
                  <a:srgbClr val="0F172A"/>
                </a:solidFill>
                <a:latin typeface="Calibri"/>
              </a:rPr>
              <a:t>Bound to absorb losses without control to restructure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691640"/>
            <a:ext cx="359359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9392" y="1691640"/>
            <a:ext cx="3593592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892808"/>
            <a:ext cx="3264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Self-financing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2350008"/>
            <a:ext cx="3264408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2563EB"/>
                </a:solidFill>
                <a:latin typeface="Calibri"/>
              </a:rPr>
              <a:t>–  </a:t>
            </a:r>
            <a:r>
              <a:rPr sz="1200">
                <a:solidFill>
                  <a:srgbClr val="0F172A"/>
                </a:solidFill>
                <a:latin typeface="Calibri"/>
              </a:rPr>
              <a:t>Funded from operating cash, not external lenders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2563EB"/>
                </a:solidFill>
                <a:latin typeface="Calibri"/>
              </a:rPr>
              <a:t>–  </a:t>
            </a:r>
            <a:r>
              <a:rPr sz="1200">
                <a:solidFill>
                  <a:srgbClr val="0F172A"/>
                </a:solidFill>
                <a:latin typeface="Calibri"/>
              </a:rPr>
              <a:t>R&amp;D &gt; net profit; net-cash position for resilience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2563EB"/>
                </a:solidFill>
                <a:latin typeface="Calibri"/>
              </a:rPr>
              <a:t>–  </a:t>
            </a:r>
            <a:r>
              <a:rPr sz="1200">
                <a:solidFill>
                  <a:srgbClr val="0F172A"/>
                </a:solidFill>
                <a:latin typeface="Calibri"/>
              </a:rPr>
              <a:t>USD 5.6 bn raise with sovereign wealth funds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2563EB"/>
                </a:solidFill>
                <a:latin typeface="Calibri"/>
              </a:rPr>
              <a:t>–  </a:t>
            </a:r>
            <a:r>
              <a:rPr sz="1200">
                <a:solidFill>
                  <a:srgbClr val="0F172A"/>
                </a:solidFill>
                <a:latin typeface="Calibri"/>
              </a:rPr>
              <a:t>Resilient — but growth capped by internal cash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0144" y="1691640"/>
            <a:ext cx="359359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1691640"/>
            <a:ext cx="3593592" cy="822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1892808"/>
            <a:ext cx="3264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6B6D4"/>
                </a:solidFill>
                <a:latin typeface="Calibri"/>
              </a:rPr>
              <a:t>Leveraged M&amp;A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4736" y="2350008"/>
            <a:ext cx="3264408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06B6D4"/>
                </a:solidFill>
                <a:latin typeface="Calibri"/>
              </a:rPr>
              <a:t>–  </a:t>
            </a:r>
            <a:r>
              <a:rPr sz="1200">
                <a:solidFill>
                  <a:srgbClr val="0F172A"/>
                </a:solidFill>
                <a:latin typeface="Calibri"/>
              </a:rPr>
              <a:t>Debt-financed acquisitions buy capability fast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06B6D4"/>
                </a:solidFill>
                <a:latin typeface="Calibri"/>
              </a:rPr>
              <a:t>–  </a:t>
            </a:r>
            <a:r>
              <a:rPr sz="1200">
                <a:solidFill>
                  <a:srgbClr val="0F172A"/>
                </a:solidFill>
                <a:latin typeface="Calibri"/>
              </a:rPr>
              <a:t>Gearing rose to 19.8% (FY25), peak 22.2% in H1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06B6D4"/>
                </a:solidFill>
                <a:latin typeface="Calibri"/>
              </a:rPr>
              <a:t>–  </a:t>
            </a:r>
            <a:r>
              <a:rPr sz="1200">
                <a:solidFill>
                  <a:srgbClr val="0F172A"/>
                </a:solidFill>
                <a:latin typeface="Calibri"/>
              </a:rPr>
              <a:t>Operating cash flow RMB 47.3 bn gives headroom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06B6D4"/>
                </a:solidFill>
                <a:latin typeface="Calibri"/>
              </a:rPr>
              <a:t>–  </a:t>
            </a:r>
            <a:r>
              <a:rPr sz="1200">
                <a:solidFill>
                  <a:srgbClr val="0F172A"/>
                </a:solidFill>
                <a:latin typeface="Calibri"/>
              </a:rPr>
              <a:t>Speed — at the cost of balance-sheet exposure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57800"/>
            <a:ext cx="11064240" cy="777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257800"/>
            <a:ext cx="10698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Capital-light captures upside in growth but traps the firm in a downturn; self-financing trades growth speed for resilience; leverage trades balance-sheet safety for strategic speed.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China Strategies in the Automotive Industry  ·  Session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DIMENSION 3 · CAPABILITY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172A"/>
                </a:solidFill>
                <a:latin typeface="Cambria"/>
              </a:rPr>
              <a:t>How a firm learns determines what it can do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3593592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593592" cy="8229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92808"/>
            <a:ext cx="3264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DC2626"/>
                </a:solidFill>
                <a:latin typeface="Calibri"/>
              </a:rPr>
              <a:t>SAIC — Mandatory transfer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50008"/>
            <a:ext cx="3264408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DC2626"/>
                </a:solidFill>
                <a:latin typeface="Calibri"/>
              </a:rPr>
              <a:t>–  </a:t>
            </a:r>
            <a:r>
              <a:rPr sz="1150">
                <a:solidFill>
                  <a:srgbClr val="0F172A"/>
                </a:solidFill>
                <a:latin typeface="Calibri"/>
              </a:rPr>
              <a:t>Tech-for-access via state-mandated JVs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DC2626"/>
                </a:solidFill>
                <a:latin typeface="Calibri"/>
              </a:rPr>
              <a:t>–  </a:t>
            </a:r>
            <a:r>
              <a:rPr sz="1150">
                <a:solidFill>
                  <a:srgbClr val="0F172A"/>
                </a:solidFill>
                <a:latin typeface="Calibri"/>
              </a:rPr>
              <a:t>+8.3% quality from quid pro quo (Bai et al., 2025)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DC2626"/>
                </a:solidFill>
                <a:latin typeface="Calibri"/>
              </a:rPr>
              <a:t>–  </a:t>
            </a:r>
            <a:r>
              <a:rPr sz="1150">
                <a:solidFill>
                  <a:srgbClr val="0F172A"/>
                </a:solidFill>
                <a:latin typeface="Calibri"/>
              </a:rPr>
              <a:t>But JV rents suppressed own R&amp;D — “like opium” (Howell, 2018)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DC2626"/>
                </a:solidFill>
                <a:latin typeface="Calibri"/>
              </a:rPr>
              <a:t>–  </a:t>
            </a:r>
            <a:r>
              <a:rPr sz="1150">
                <a:solidFill>
                  <a:srgbClr val="0F172A"/>
                </a:solidFill>
                <a:latin typeface="Calibri"/>
              </a:rPr>
              <a:t>No proprietary EV platform when the cycle turned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DC2626"/>
                </a:solidFill>
                <a:latin typeface="Calibri"/>
              </a:rPr>
              <a:t>–  </a:t>
            </a:r>
            <a:r>
              <a:rPr sz="1150">
                <a:solidFill>
                  <a:srgbClr val="0F172A"/>
                </a:solidFill>
                <a:latin typeface="Calibri"/>
              </a:rPr>
              <a:t>Capability paradox: scale without sovereignty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691640"/>
            <a:ext cx="3593592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9392" y="1691640"/>
            <a:ext cx="3593592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892808"/>
            <a:ext cx="3264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BYD — Organic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2350008"/>
            <a:ext cx="3264408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563EB"/>
                </a:solidFill>
                <a:latin typeface="Calibri"/>
              </a:rPr>
              <a:t>–  </a:t>
            </a:r>
            <a:r>
              <a:rPr sz="1150">
                <a:solidFill>
                  <a:srgbClr val="0F172A"/>
                </a:solidFill>
                <a:latin typeface="Calibri"/>
              </a:rPr>
              <a:t>Battery → power electronics → software, in-house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563EB"/>
                </a:solidFill>
                <a:latin typeface="Calibri"/>
              </a:rPr>
              <a:t>–  </a:t>
            </a:r>
            <a:r>
              <a:rPr sz="1150">
                <a:solidFill>
                  <a:srgbClr val="0F172A"/>
                </a:solidFill>
                <a:latin typeface="Calibri"/>
              </a:rPr>
              <a:t>Built ahead of state policy (Whitfield &amp; Wuttke, 2026)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563EB"/>
                </a:solidFill>
                <a:latin typeface="Calibri"/>
              </a:rPr>
              <a:t>–  </a:t>
            </a:r>
            <a:r>
              <a:rPr sz="1150">
                <a:solidFill>
                  <a:srgbClr val="0F172A"/>
                </a:solidFill>
                <a:latin typeface="Calibri"/>
              </a:rPr>
              <a:t>Tacit, path-dependent knowledge — non-imitable (Teece et al., 1997)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563EB"/>
                </a:solidFill>
                <a:latin typeface="Calibri"/>
              </a:rPr>
              <a:t>–  </a:t>
            </a:r>
            <a:r>
              <a:rPr sz="1150">
                <a:solidFill>
                  <a:srgbClr val="0F172A"/>
                </a:solidFill>
                <a:latin typeface="Calibri"/>
              </a:rPr>
              <a:t>Slowest to build, but deepest and most durable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563EB"/>
                </a:solidFill>
                <a:latin typeface="Calibri"/>
              </a:rPr>
              <a:t>–  </a:t>
            </a:r>
            <a:r>
              <a:rPr sz="1150">
                <a:solidFill>
                  <a:srgbClr val="0F172A"/>
                </a:solidFill>
                <a:latin typeface="Calibri"/>
              </a:rPr>
              <a:t>Full vertical stack = structural moat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0144" y="1691640"/>
            <a:ext cx="3593592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1691640"/>
            <a:ext cx="3593592" cy="822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1892808"/>
            <a:ext cx="3264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6B6D4"/>
                </a:solidFill>
                <a:latin typeface="Calibri"/>
              </a:rPr>
              <a:t>Geely — Acquisition + co-dev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4736" y="2350008"/>
            <a:ext cx="3264408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06B6D4"/>
                </a:solidFill>
                <a:latin typeface="Calibri"/>
              </a:rPr>
              <a:t>–  </a:t>
            </a:r>
            <a:r>
              <a:rPr sz="1150">
                <a:solidFill>
                  <a:srgbClr val="0F172A"/>
                </a:solidFill>
                <a:latin typeface="Calibri"/>
              </a:rPr>
              <a:t>Volvo (2010): brand and engineering depth at once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06B6D4"/>
                </a:solidFill>
                <a:latin typeface="Calibri"/>
              </a:rPr>
              <a:t>–  </a:t>
            </a:r>
            <a:r>
              <a:rPr sz="1150">
                <a:solidFill>
                  <a:srgbClr val="0F172A"/>
                </a:solidFill>
                <a:latin typeface="Calibri"/>
              </a:rPr>
              <a:t>CMA platform = genuine cross-brand co-development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06B6D4"/>
                </a:solidFill>
                <a:latin typeface="Calibri"/>
              </a:rPr>
              <a:t>–  </a:t>
            </a:r>
            <a:r>
              <a:rPr sz="1150">
                <a:solidFill>
                  <a:srgbClr val="0F172A"/>
                </a:solidFill>
                <a:latin typeface="Calibri"/>
              </a:rPr>
              <a:t>Patent convergence confirms co-creation (Konda et al., 2022)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06B6D4"/>
                </a:solidFill>
                <a:latin typeface="Calibri"/>
              </a:rPr>
              <a:t>–  </a:t>
            </a:r>
            <a:r>
              <a:rPr sz="1150">
                <a:solidFill>
                  <a:srgbClr val="0F172A"/>
                </a:solidFill>
                <a:latin typeface="Calibri"/>
              </a:rPr>
              <a:t>Fastest to global tech parity of the three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06B6D4"/>
                </a:solidFill>
                <a:latin typeface="Calibri"/>
              </a:rPr>
              <a:t>–  </a:t>
            </a:r>
            <a:r>
              <a:rPr sz="1150">
                <a:solidFill>
                  <a:srgbClr val="0F172A"/>
                </a:solidFill>
                <a:latin typeface="Calibri"/>
              </a:rPr>
              <a:t>Risk: depends on arm's-length partner relations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64748B"/>
                </a:solidFill>
                <a:latin typeface="Calibri"/>
              </a:rPr>
              <a:t>Bai et al. (2025) · Howell (2018) · Teece et al. (1997) · Whitfield &amp; Wuttke (2026) · Konda et al. (2022)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China Strategies in the Automotive Industry  ·  Session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DIMENSION 3 · SPEED VS.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172A"/>
                </a:solidFill>
                <a:latin typeface="Cambria"/>
              </a:rPr>
              <a:t>Capability building trades speed against depth against independence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676656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577839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</a:rPr>
              <a:t>SPEED OF ACQUISITION  →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-1005840" y="3511295"/>
            <a:ext cx="2651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4748B"/>
                </a:solidFill>
                <a:latin typeface="Calibri"/>
              </a:rPr>
              <a:t>DEPTH / INDEPENDENCE  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783080"/>
            <a:ext cx="12700" cy="3749039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57599"/>
            <a:ext cx="676656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239512" y="4599432"/>
            <a:ext cx="310896" cy="3108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96128" y="459028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SAIC</a:t>
            </a:r>
          </a:p>
        </p:txBody>
      </p:sp>
      <p:sp>
        <p:nvSpPr>
          <p:cNvPr id="12" name="Oval 11"/>
          <p:cNvSpPr/>
          <p:nvPr/>
        </p:nvSpPr>
        <p:spPr>
          <a:xfrm>
            <a:off x="1673352" y="2496312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29968" y="248716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BYD</a:t>
            </a:r>
          </a:p>
        </p:txBody>
      </p:sp>
      <p:sp>
        <p:nvSpPr>
          <p:cNvPr id="14" name="Oval 13"/>
          <p:cNvSpPr/>
          <p:nvPr/>
        </p:nvSpPr>
        <p:spPr>
          <a:xfrm>
            <a:off x="5056632" y="3044952"/>
            <a:ext cx="310896" cy="310896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3248" y="303580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F172A"/>
                </a:solidFill>
                <a:latin typeface="Calibri"/>
              </a:rPr>
              <a:t>Geely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89280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4748B"/>
                </a:solidFill>
                <a:latin typeface="Calibri"/>
              </a:rPr>
              <a:t>slow · deep &amp; independent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89280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4748B"/>
                </a:solidFill>
                <a:latin typeface="Calibri"/>
              </a:rPr>
              <a:t>fast · deep (rare)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239511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4748B"/>
                </a:solidFill>
                <a:latin typeface="Calibri"/>
              </a:rPr>
              <a:t>slow · shallow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239511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64748B"/>
                </a:solidFill>
                <a:latin typeface="Calibri"/>
              </a:rPr>
              <a:t>fast · shallow &amp; dependent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1783080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THE PROOF IN UTILISATION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2194560"/>
            <a:ext cx="3749039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2286000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DC2626"/>
                </a:solidFill>
                <a:latin typeface="Cambria"/>
              </a:rPr>
              <a:t>37%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194560"/>
            <a:ext cx="219455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SAIC-GM capacity utilisation (2025)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3108960"/>
            <a:ext cx="3749039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3200400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DC2626"/>
                </a:solidFill>
                <a:latin typeface="Cambria"/>
              </a:rPr>
              <a:t>14%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108960"/>
            <a:ext cx="219455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VW MEB plant utilisation (2025)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114800"/>
            <a:ext cx="374903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Mandatory transfer (SAIC) built scale fast but shallow — dependency hardened into a capability deficit. Organic depth (BYD) and co-development (Geely) preserved autonomy.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China Strategies in the Automotive Industry  ·  Session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DIMENSION 4 · LONG-TERM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172A"/>
                </a:solidFill>
                <a:latin typeface="Cambria"/>
              </a:rPr>
              <a:t>The EV transition is a structural audit of past governance choices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3593592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593592" cy="8229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92808"/>
            <a:ext cx="3264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DC2626"/>
                </a:solidFill>
                <a:latin typeface="Calibri"/>
              </a:rPr>
              <a:t>SAIC — Most exposed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50008"/>
            <a:ext cx="3264408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DC2626"/>
                </a:solidFill>
                <a:latin typeface="Calibri"/>
              </a:rPr>
              <a:t>–  </a:t>
            </a:r>
            <a:r>
              <a:rPr sz="1150">
                <a:solidFill>
                  <a:srgbClr val="0F172A"/>
                </a:solidFill>
                <a:latin typeface="Calibri"/>
              </a:rPr>
              <a:t>NEV sales 1.643 m units (+33%) — real progress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DC2626"/>
                </a:solidFill>
                <a:latin typeface="Calibri"/>
              </a:rPr>
              <a:t>–  </a:t>
            </a:r>
            <a:r>
              <a:rPr sz="1150">
                <a:solidFill>
                  <a:srgbClr val="0F172A"/>
                </a:solidFill>
                <a:latin typeface="Calibri"/>
              </a:rPr>
              <a:t>But a race vs. falling JV income and thin margins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DC2626"/>
                </a:solidFill>
                <a:latin typeface="Calibri"/>
              </a:rPr>
              <a:t>–  </a:t>
            </a:r>
            <a:r>
              <a:rPr sz="1150">
                <a:solidFill>
                  <a:srgbClr val="0F172A"/>
                </a:solidFill>
                <a:latin typeface="Calibri"/>
              </a:rPr>
              <a:t>Highest EU tariff (35.3%) blocks the export escape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DC2626"/>
                </a:solidFill>
                <a:latin typeface="Calibri"/>
              </a:rPr>
              <a:t>–  </a:t>
            </a:r>
            <a:r>
              <a:rPr sz="1150">
                <a:solidFill>
                  <a:srgbClr val="0F172A"/>
                </a:solidFill>
                <a:latin typeface="Calibri"/>
              </a:rPr>
              <a:t>Recovery rests on absent impairments, not operations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DC2626"/>
                </a:solidFill>
                <a:latin typeface="Calibri"/>
              </a:rPr>
              <a:t>–  </a:t>
            </a:r>
            <a:r>
              <a:rPr sz="1150">
                <a:solidFill>
                  <a:srgbClr val="0F172A"/>
                </a:solidFill>
                <a:latin typeface="Calibri"/>
              </a:rPr>
              <a:t>Turnaround needs state support or JV renegotiation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691640"/>
            <a:ext cx="3593592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9392" y="1691640"/>
            <a:ext cx="3593592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892808"/>
            <a:ext cx="3264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BYD — Strongest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2350008"/>
            <a:ext cx="3264408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563EB"/>
                </a:solidFill>
                <a:latin typeface="Calibri"/>
              </a:rPr>
              <a:t>–  </a:t>
            </a:r>
            <a:r>
              <a:rPr sz="1150">
                <a:solidFill>
                  <a:srgbClr val="0F172A"/>
                </a:solidFill>
                <a:latin typeface="Calibri"/>
              </a:rPr>
              <a:t>No ICE since 2022; #1 NEV maker 4 years running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563EB"/>
                </a:solidFill>
                <a:latin typeface="Calibri"/>
              </a:rPr>
              <a:t>–  </a:t>
            </a:r>
            <a:r>
              <a:rPr sz="1150">
                <a:solidFill>
                  <a:srgbClr val="0F172A"/>
                </a:solidFill>
                <a:latin typeface="Calibri"/>
              </a:rPr>
              <a:t>&gt;1 m exports (+140%), present in 119 countries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563EB"/>
                </a:solidFill>
                <a:latin typeface="Calibri"/>
              </a:rPr>
              <a:t>–  </a:t>
            </a:r>
            <a:r>
              <a:rPr sz="1150">
                <a:solidFill>
                  <a:srgbClr val="0F172A"/>
                </a:solidFill>
                <a:latin typeface="Calibri"/>
              </a:rPr>
              <a:t>USD 5.6 bn raise with sovereign wealth funds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563EB"/>
                </a:solidFill>
                <a:latin typeface="Calibri"/>
              </a:rPr>
              <a:t>–  </a:t>
            </a:r>
            <a:r>
              <a:rPr sz="1150">
                <a:solidFill>
                  <a:srgbClr val="0F172A"/>
                </a:solidFill>
                <a:latin typeface="Calibri"/>
              </a:rPr>
              <a:t>Self-funded EV scale-up; lowest tariff (17%)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2563EB"/>
                </a:solidFill>
                <a:latin typeface="Calibri"/>
              </a:rPr>
              <a:t>–  </a:t>
            </a:r>
            <a:r>
              <a:rPr sz="1150">
                <a:solidFill>
                  <a:srgbClr val="0F172A"/>
                </a:solidFill>
                <a:latin typeface="Calibri"/>
              </a:rPr>
              <a:t>Margin pressure: gross margin 19.4% → 17.7%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0144" y="1691640"/>
            <a:ext cx="3593592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1691640"/>
            <a:ext cx="3593592" cy="822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1892808"/>
            <a:ext cx="3264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6B6D4"/>
                </a:solidFill>
                <a:latin typeface="Calibri"/>
              </a:rPr>
              <a:t>Geely — Most asymmetric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4736" y="2350008"/>
            <a:ext cx="3264408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06B6D4"/>
                </a:solidFill>
                <a:latin typeface="Calibri"/>
              </a:rPr>
              <a:t>–  </a:t>
            </a:r>
            <a:r>
              <a:rPr sz="1150">
                <a:solidFill>
                  <a:srgbClr val="0F172A"/>
                </a:solidFill>
                <a:latin typeface="Calibri"/>
              </a:rPr>
              <a:t>NEV share 51.5% in H1 2025 (+126%)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06B6D4"/>
                </a:solidFill>
                <a:latin typeface="Calibri"/>
              </a:rPr>
              <a:t>–  </a:t>
            </a:r>
            <a:r>
              <a:rPr sz="1150">
                <a:solidFill>
                  <a:srgbClr val="0F172A"/>
                </a:solidFill>
                <a:latin typeface="Calibri"/>
              </a:rPr>
              <a:t>3.02 m deliveries FY2025 (+39%); H1 profit +102%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06B6D4"/>
                </a:solidFill>
                <a:latin typeface="Calibri"/>
              </a:rPr>
              <a:t>–  </a:t>
            </a:r>
            <a:r>
              <a:rPr sz="1150">
                <a:solidFill>
                  <a:srgbClr val="0F172A"/>
                </a:solidFill>
                <a:latin typeface="Calibri"/>
              </a:rPr>
              <a:t>Operating cash flow RMB 47.3 bn gives headroom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06B6D4"/>
                </a:solidFill>
                <a:latin typeface="Calibri"/>
              </a:rPr>
              <a:t>–  </a:t>
            </a:r>
            <a:r>
              <a:rPr sz="1150">
                <a:solidFill>
                  <a:srgbClr val="0F172A"/>
                </a:solidFill>
                <a:latin typeface="Calibri"/>
              </a:rPr>
              <a:t>But platforms depend on Volvo / Smart JV partners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06B6D4"/>
                </a:solidFill>
                <a:latin typeface="Calibri"/>
              </a:rPr>
              <a:t>–  </a:t>
            </a:r>
            <a:r>
              <a:rPr sz="1150">
                <a:solidFill>
                  <a:srgbClr val="0F172A"/>
                </a:solidFill>
                <a:latin typeface="Calibri"/>
              </a:rPr>
              <a:t>Polestar &amp; Lotus losses = contingent liability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64748B"/>
                </a:solidFill>
                <a:latin typeface="Calibri"/>
              </a:rPr>
              <a:t>Annual Reports 2025 (FY2024) &amp; 2026 (FY2025) · Geely interim results H1 2025 · European Commission (2024)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China Strategies in the Automotive Industry  ·  Session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DIMENSION 4 · STRUCTURAL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172A"/>
                </a:solidFill>
                <a:latin typeface="Cambria"/>
              </a:rPr>
              <a:t>BYD enters the EV era strongest; SAIC the most exposed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1737360" cy="5486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1874519"/>
            <a:ext cx="1865376" cy="5486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31720" y="1874519"/>
            <a:ext cx="177393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EV readiness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51376" y="1874519"/>
            <a:ext cx="1865376" cy="5486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97096" y="1874519"/>
            <a:ext cx="177393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Margin resilience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16752" y="1874519"/>
            <a:ext cx="1865376" cy="5486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62472" y="1874519"/>
            <a:ext cx="177393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Balance-sheet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82128" y="1874519"/>
            <a:ext cx="1865376" cy="5486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7848" y="1874519"/>
            <a:ext cx="177393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Adaptability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47504" y="1874519"/>
            <a:ext cx="1865376" cy="5486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93224" y="1874519"/>
            <a:ext cx="177393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Overall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423159"/>
            <a:ext cx="1737360" cy="914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423159"/>
            <a:ext cx="1737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SAIC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2423159"/>
            <a:ext cx="186537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72384" y="2587751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0" y="2926079"/>
            <a:ext cx="1865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DC2626"/>
                </a:solidFill>
                <a:latin typeface="Calibri"/>
              </a:rPr>
              <a:t>Weak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51376" y="2423159"/>
            <a:ext cx="186537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37760" y="2587751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51376" y="2926079"/>
            <a:ext cx="1865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DC2626"/>
                </a:solidFill>
                <a:latin typeface="Calibri"/>
              </a:rPr>
              <a:t>Weak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16752" y="2423159"/>
            <a:ext cx="186537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3136" y="2587751"/>
            <a:ext cx="292608" cy="29260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16752" y="2926079"/>
            <a:ext cx="1865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D97706"/>
                </a:solidFill>
                <a:latin typeface="Calibri"/>
              </a:rPr>
              <a:t>Mixed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82128" y="2423159"/>
            <a:ext cx="186537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68512" y="2587751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82128" y="2926079"/>
            <a:ext cx="1865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DC2626"/>
                </a:solidFill>
                <a:latin typeface="Calibri"/>
              </a:rPr>
              <a:t>Weak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47504" y="2423159"/>
            <a:ext cx="186537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33888" y="2587751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47504" y="2926079"/>
            <a:ext cx="1865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DC2626"/>
                </a:solidFill>
                <a:latin typeface="Calibri"/>
              </a:rPr>
              <a:t>Weak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337559"/>
            <a:ext cx="1737360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337559"/>
            <a:ext cx="1737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BYD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3337559"/>
            <a:ext cx="186537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072384" y="3502151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86000" y="3840479"/>
            <a:ext cx="1865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6A34A"/>
                </a:solidFill>
                <a:latin typeface="Calibri"/>
              </a:rPr>
              <a:t>Strong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51376" y="3337559"/>
            <a:ext cx="186537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937760" y="3502151"/>
            <a:ext cx="292608" cy="29260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51376" y="3840479"/>
            <a:ext cx="1865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D97706"/>
                </a:solidFill>
                <a:latin typeface="Calibri"/>
              </a:rPr>
              <a:t>Mixed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16752" y="3337559"/>
            <a:ext cx="186537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03136" y="3502151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16752" y="3840479"/>
            <a:ext cx="1865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6A34A"/>
                </a:solidFill>
                <a:latin typeface="Calibri"/>
              </a:rPr>
              <a:t>Strong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82128" y="3337559"/>
            <a:ext cx="186537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668512" y="3502151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82128" y="3840479"/>
            <a:ext cx="1865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6A34A"/>
                </a:solidFill>
                <a:latin typeface="Calibri"/>
              </a:rPr>
              <a:t>Strong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47504" y="3337559"/>
            <a:ext cx="186537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533888" y="3502151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47504" y="3840479"/>
            <a:ext cx="1865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6A34A"/>
                </a:solidFill>
                <a:latin typeface="Calibri"/>
              </a:rPr>
              <a:t>Strong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251959"/>
            <a:ext cx="1737360" cy="9144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4251959"/>
            <a:ext cx="1737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Geely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0" y="4251959"/>
            <a:ext cx="186537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2384" y="4416551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86000" y="4754879"/>
            <a:ext cx="1865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6A34A"/>
                </a:solidFill>
                <a:latin typeface="Calibri"/>
              </a:rPr>
              <a:t>Strong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51376" y="4251959"/>
            <a:ext cx="186537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937760" y="4416551"/>
            <a:ext cx="292608" cy="29260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51376" y="4754879"/>
            <a:ext cx="1865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D97706"/>
                </a:solidFill>
                <a:latin typeface="Calibri"/>
              </a:rPr>
              <a:t>Mixed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16752" y="4251959"/>
            <a:ext cx="186537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803136" y="4416551"/>
            <a:ext cx="292608" cy="29260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16752" y="4754879"/>
            <a:ext cx="1865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D97706"/>
                </a:solidFill>
                <a:latin typeface="Calibri"/>
              </a:rPr>
              <a:t>Mixed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82128" y="4251959"/>
            <a:ext cx="186537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8512" y="4416551"/>
            <a:ext cx="292608" cy="29260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82128" y="4754879"/>
            <a:ext cx="1865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D97706"/>
                </a:solidFill>
                <a:latin typeface="Calibri"/>
              </a:rPr>
              <a:t>Mixed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47504" y="4251959"/>
            <a:ext cx="186537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533888" y="4416551"/>
            <a:ext cx="292608" cy="29260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47504" y="4754879"/>
            <a:ext cx="1865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D97706"/>
                </a:solidFill>
                <a:latin typeface="Calibri"/>
              </a:rPr>
              <a:t>Mixed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Architecture decides EV-transition speed: founder control + self-financing (BYD) converts the technology shock into leadership; state control + JV dependence (SAIC) converts it into a structural discount.</a:t>
            </a:r>
          </a:p>
        </p:txBody>
      </p:sp>
      <p:sp>
        <p:nvSpPr>
          <p:cNvPr id="68" name="Oval 67"/>
          <p:cNvSpPr/>
          <p:nvPr/>
        </p:nvSpPr>
        <p:spPr>
          <a:xfrm>
            <a:off x="7985455" y="6437376"/>
            <a:ext cx="164592" cy="16459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04911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Strong</a:t>
            </a:r>
          </a:p>
        </p:txBody>
      </p:sp>
      <p:sp>
        <p:nvSpPr>
          <p:cNvPr id="70" name="Oval 69"/>
          <p:cNvSpPr/>
          <p:nvPr/>
        </p:nvSpPr>
        <p:spPr>
          <a:xfrm>
            <a:off x="9357055" y="6437376"/>
            <a:ext cx="164592" cy="16459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576511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Mixed</a:t>
            </a:r>
          </a:p>
        </p:txBody>
      </p:sp>
      <p:sp>
        <p:nvSpPr>
          <p:cNvPr id="72" name="Oval 71"/>
          <p:cNvSpPr/>
          <p:nvPr/>
        </p:nvSpPr>
        <p:spPr>
          <a:xfrm>
            <a:off x="10728655" y="6437376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948111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Weak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China Strategies in the Automotive Industry  ·  Session 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GENERALIZABLE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172A"/>
                </a:solidFill>
                <a:latin typeface="Cambria"/>
              </a:rPr>
              <a:t>Lessons 1 &amp; 2: capability mode and governance set the limits of adaptation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54406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4406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LESSON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5074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Capability mode determines durability across technology cycles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50749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2563EB"/>
                </a:solidFill>
                <a:latin typeface="Calibri"/>
              </a:rPr>
              <a:t>–  </a:t>
            </a:r>
            <a:r>
              <a:rPr sz="1300">
                <a:solidFill>
                  <a:srgbClr val="0F172A"/>
                </a:solidFill>
                <a:latin typeface="Calibri"/>
              </a:rPr>
              <a:t>Mandatory transfer buys short-run quality but suppresses the autonomous innovation needed for the next cycle.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2563EB"/>
                </a:solidFill>
                <a:latin typeface="Calibri"/>
              </a:rPr>
              <a:t>–  </a:t>
            </a:r>
            <a:r>
              <a:rPr sz="1300">
                <a:solidFill>
                  <a:srgbClr val="0F172A"/>
                </a:solidFill>
                <a:latin typeface="Calibri"/>
              </a:rPr>
              <a:t>Organic build and voluntary M&amp;A preserve that innovation — trading speed against depth against independence.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2563EB"/>
                </a:solidFill>
                <a:latin typeface="Calibri"/>
              </a:rPr>
              <a:t>–  </a:t>
            </a:r>
            <a:r>
              <a:rPr sz="1300">
                <a:solidFill>
                  <a:srgbClr val="0F172A"/>
                </a:solidFill>
                <a:latin typeface="Calibri"/>
              </a:rPr>
              <a:t>SAIC mastered assembly but held no battery, power-electronics or software platform when EVs arrived.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691640"/>
            <a:ext cx="54406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691640"/>
            <a:ext cx="5440680" cy="8229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19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Calibri"/>
              </a:rPr>
              <a:t>LESSON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48840"/>
            <a:ext cx="5074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Governance is a first-order determinant of adaptability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063240"/>
            <a:ext cx="50749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2563EB"/>
                </a:solidFill>
                <a:latin typeface="Calibri"/>
              </a:rPr>
              <a:t>–  </a:t>
            </a:r>
            <a:r>
              <a:rPr sz="1300">
                <a:solidFill>
                  <a:srgbClr val="0F172A"/>
                </a:solidFill>
                <a:latin typeface="Calibri"/>
              </a:rPr>
              <a:t>Speed of capital reallocation depends on how control rights are distributed.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2563EB"/>
                </a:solidFill>
                <a:latin typeface="Calibri"/>
              </a:rPr>
              <a:t>–  </a:t>
            </a:r>
            <a:r>
              <a:rPr sz="1300">
                <a:solidFill>
                  <a:srgbClr val="0F172A"/>
                </a:solidFill>
                <a:latin typeface="Calibri"/>
              </a:rPr>
              <a:t>Control with commercial principals adapts faster than control split across political or JV partners.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4617720"/>
            <a:ext cx="2423160" cy="777240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663440"/>
            <a:ext cx="2240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Calibri"/>
              </a:rPr>
              <a:t>SAIC, 2022: ICE exit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Calibri"/>
              </a:rPr>
              <a:t>structurally impossible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4617720"/>
            <a:ext cx="2514600" cy="77724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4663440"/>
            <a:ext cx="23317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BYD, 2022: full ICE exit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decided in one 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China Strategies in the Automotive Industry  ·  Session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6B6D4"/>
                </a:solidFill>
                <a:latin typeface="Calibri"/>
              </a:rPr>
              <a:t>GENERALIZABLE LESSONS ·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Lesson 3 &amp; conclusion: governance is strategy, not its footnote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B6D4"/>
                </a:solidFill>
                <a:latin typeface="Calibri"/>
              </a:rPr>
              <a:t>LESSON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Capital structure determines resilience when markets 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6675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06B6D4"/>
                </a:solidFill>
                <a:latin typeface="Calibri"/>
              </a:rPr>
              <a:t>–  </a:t>
            </a:r>
            <a:r>
              <a:rPr sz="1350">
                <a:solidFill>
                  <a:srgbClr val="E2E8F0"/>
                </a:solidFill>
                <a:latin typeface="Calibri"/>
              </a:rPr>
              <a:t>Risk-sharing captures upside in growth but exposes the firm in downturns it cannot control.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06B6D4"/>
                </a:solidFill>
                <a:latin typeface="Calibri"/>
              </a:rPr>
              <a:t>–  </a:t>
            </a:r>
            <a:r>
              <a:rPr sz="1350">
                <a:solidFill>
                  <a:srgbClr val="E2E8F0"/>
                </a:solidFill>
                <a:latin typeface="Calibri"/>
              </a:rPr>
              <a:t>Mixed-ownership firms structurally underperform private peers (Megginson &amp; Netter, 2001).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06B6D4"/>
                </a:solidFill>
                <a:latin typeface="Calibri"/>
              </a:rPr>
              <a:t>–  </a:t>
            </a:r>
            <a:r>
              <a:rPr sz="1350">
                <a:solidFill>
                  <a:srgbClr val="E2E8F0"/>
                </a:solidFill>
                <a:latin typeface="Calibri"/>
              </a:rPr>
              <a:t>Founder-led vertical integration is the strongest model for long-term shareholder value.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617720"/>
            <a:ext cx="6675120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617720"/>
            <a:ext cx="64008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Answer: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2E8F0"/>
                </a:solidFill>
                <a:latin typeface="Calibri"/>
              </a:rPr>
              <a:t>BYD — ROE 21.7% (FY2024), 4 years #1 in NEVs, self-financed and adaptable.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600200"/>
            <a:ext cx="4023360" cy="3977639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1600200"/>
            <a:ext cx="4023360" cy="8229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920240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000" b="1" i="0">
                <a:solidFill>
                  <a:srgbClr val="06B6D4"/>
                </a:solidFill>
                <a:latin typeface="Cambria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514600"/>
            <a:ext cx="34747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1">
                <a:solidFill>
                  <a:srgbClr val="FFFFFF"/>
                </a:solidFill>
                <a:latin typeface="Cambria"/>
              </a:rPr>
              <a:t>When technology moves faster than firms can decide, governance is no longer a footnote to strategy — it is strategy.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China Strategies in the Automotive Industry  ·  Session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LIMITATIONS &amp; FUTURE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172A"/>
                </a:solidFill>
                <a:latin typeface="Cambria"/>
              </a:rPr>
              <a:t>Scope conditions and where the analysis could be extended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4406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5440680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D97706"/>
                </a:solidFill>
                <a:latin typeface="Calibri"/>
              </a:rP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749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D97706"/>
                </a:solidFill>
                <a:latin typeface="Calibri"/>
              </a:rPr>
              <a:t>–  </a:t>
            </a:r>
            <a:r>
              <a:rPr sz="1300">
                <a:solidFill>
                  <a:srgbClr val="0F172A"/>
                </a:solidFill>
                <a:latin typeface="Calibri"/>
              </a:rPr>
              <a:t>Three firms in one industry and one country — limited statistical generalisability.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D97706"/>
                </a:solidFill>
                <a:latin typeface="Calibri"/>
              </a:rPr>
              <a:t>–  </a:t>
            </a:r>
            <a:r>
              <a:rPr sz="1300">
                <a:solidFill>
                  <a:srgbClr val="0F172A"/>
                </a:solidFill>
                <a:latin typeface="Calibri"/>
              </a:rPr>
              <a:t>Short post-EV window; the transition is still unfolding.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D97706"/>
                </a:solidFill>
                <a:latin typeface="Calibri"/>
              </a:rPr>
              <a:t>–  </a:t>
            </a:r>
            <a:r>
              <a:rPr sz="1300">
                <a:solidFill>
                  <a:srgbClr val="0F172A"/>
                </a:solidFill>
                <a:latin typeface="Calibri"/>
              </a:rPr>
              <a:t>Reliance on reported figures; currency conventions (RMB vs. USD) differ across reports.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D97706"/>
                </a:solidFill>
                <a:latin typeface="Calibri"/>
              </a:rPr>
              <a:t>–  </a:t>
            </a:r>
            <a:r>
              <a:rPr sz="1300">
                <a:solidFill>
                  <a:srgbClr val="0F172A"/>
                </a:solidFill>
                <a:latin typeface="Calibri"/>
              </a:rPr>
              <a:t>NIO's capital-market model is noted but outside this team's scope.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737360"/>
            <a:ext cx="54406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737360"/>
            <a:ext cx="54406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92024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Future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77440"/>
            <a:ext cx="50749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563EB"/>
                </a:solidFill>
                <a:latin typeface="Calibri"/>
              </a:rPr>
              <a:t>–  </a:t>
            </a:r>
            <a:r>
              <a:rPr sz="1300">
                <a:solidFill>
                  <a:srgbClr val="0F172A"/>
                </a:solidFill>
                <a:latin typeface="Calibri"/>
              </a:rPr>
              <a:t>Add a fourth archetype (NIO, capital-market model) for a fuller typology.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563EB"/>
                </a:solidFill>
                <a:latin typeface="Calibri"/>
              </a:rPr>
              <a:t>–  </a:t>
            </a:r>
            <a:r>
              <a:rPr sz="1300">
                <a:solidFill>
                  <a:srgbClr val="0F172A"/>
                </a:solidFill>
                <a:latin typeface="Calibri"/>
              </a:rPr>
              <a:t>Track outcomes over a longer EV cycle to test durability of the ranking.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563EB"/>
                </a:solidFill>
                <a:latin typeface="Calibri"/>
              </a:rPr>
              <a:t>–  </a:t>
            </a:r>
            <a:r>
              <a:rPr sz="1300">
                <a:solidFill>
                  <a:srgbClr val="0F172A"/>
                </a:solidFill>
                <a:latin typeface="Calibri"/>
              </a:rPr>
              <a:t>Quantify governance with a formal index and test it across more emerging markets.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563EB"/>
                </a:solidFill>
                <a:latin typeface="Calibri"/>
              </a:rPr>
              <a:t>–  </a:t>
            </a:r>
            <a:r>
              <a:rPr sz="1300">
                <a:solidFill>
                  <a:srgbClr val="0F172A"/>
                </a:solidFill>
                <a:latin typeface="Calibri"/>
              </a:rPr>
              <a:t>Examine how EU tariffs reshape each model's export strategy.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China Strategies in the Automotive Industry  ·  Session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AI ANNEX · PLATFORM &amp;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172A"/>
                </a:solidFill>
                <a:latin typeface="Cambria"/>
              </a:rPr>
              <a:t>AI used as research infrastructure — a layered agent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PLATFORM: CLAUDE CODE (ANTHROPIC)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54406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84831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claude-sonnet-4-6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Primary model: ingestion, drafting, APA checks, comparison 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965960"/>
            <a:ext cx="54406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965960"/>
            <a:ext cx="82296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084831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claude-opus-4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42316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Selective: cross-case reasoning, central argument, logic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0896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FIVE SPECIALISED AGENTS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29000"/>
            <a:ext cx="212140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429000"/>
            <a:ext cx="2121408" cy="6400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566160"/>
            <a:ext cx="1901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6B6D4"/>
                </a:solidFill>
                <a:latin typeface="Calibri"/>
              </a:rPr>
              <a:t>wiki-ingest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931920"/>
            <a:ext cx="1901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F172A"/>
                </a:solidFill>
                <a:latin typeface="Calibri"/>
              </a:rPr>
              <a:t>Structured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F172A"/>
                </a:solidFill>
                <a:latin typeface="Calibri"/>
              </a:rPr>
              <a:t>source ingestion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61488" y="3429000"/>
            <a:ext cx="212140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61488" y="3429000"/>
            <a:ext cx="2121408" cy="6400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71216" y="3566160"/>
            <a:ext cx="1901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6B6D4"/>
                </a:solidFill>
                <a:latin typeface="Calibri"/>
              </a:rPr>
              <a:t>wiki-query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71216" y="3931920"/>
            <a:ext cx="1901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F172A"/>
                </a:solidFill>
                <a:latin typeface="Calibri"/>
              </a:rPr>
              <a:t>Retrieval from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F172A"/>
                </a:solidFill>
                <a:latin typeface="Calibri"/>
              </a:rPr>
              <a:t>knowledge base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74336" y="3429000"/>
            <a:ext cx="212140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74336" y="3429000"/>
            <a:ext cx="2121408" cy="6400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84064" y="3566160"/>
            <a:ext cx="1901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6B6D4"/>
                </a:solidFill>
                <a:latin typeface="Calibri"/>
              </a:rPr>
              <a:t>wiki-lint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84064" y="3931920"/>
            <a:ext cx="1901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F172A"/>
                </a:solidFill>
                <a:latin typeface="Calibri"/>
              </a:rPr>
              <a:t>Health-check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F172A"/>
                </a:solidFill>
                <a:latin typeface="Calibri"/>
              </a:rPr>
              <a:t>&amp; consistency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87184" y="3429000"/>
            <a:ext cx="212140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87184" y="3429000"/>
            <a:ext cx="2121408" cy="6400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96912" y="3566160"/>
            <a:ext cx="1901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6B6D4"/>
                </a:solidFill>
                <a:latin typeface="Calibri"/>
              </a:rPr>
              <a:t>verify-claims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96912" y="3931920"/>
            <a:ext cx="1901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F172A"/>
                </a:solidFill>
                <a:latin typeface="Calibri"/>
              </a:rPr>
              <a:t>Trace claims to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F172A"/>
                </a:solidFill>
                <a:latin typeface="Calibri"/>
              </a:rPr>
              <a:t>primary source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00032" y="3429000"/>
            <a:ext cx="212140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00032" y="3429000"/>
            <a:ext cx="2121408" cy="6400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0" y="3566160"/>
            <a:ext cx="1901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6B6D4"/>
                </a:solidFill>
                <a:latin typeface="Calibri"/>
              </a:rPr>
              <a:t>find-references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3931920"/>
            <a:ext cx="1901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F172A"/>
                </a:solidFill>
                <a:latin typeface="Calibri"/>
              </a:rPr>
              <a:t>Find supporting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F172A"/>
                </a:solidFill>
                <a:latin typeface="Calibri"/>
              </a:rPr>
              <a:t>literature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93776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563EB"/>
                </a:solidFill>
                <a:latin typeface="Calibri"/>
              </a:rPr>
              <a:t>–  </a:t>
            </a:r>
            <a:r>
              <a:rPr sz="1300">
                <a:solidFill>
                  <a:srgbClr val="0F172A"/>
                </a:solidFill>
                <a:latin typeface="Calibri"/>
              </a:rPr>
              <a:t>Shared git repository: one wiki subfolder per case (SAIC / BYD / Geely) plus a shared comparison layer.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563EB"/>
                </a:solidFill>
                <a:latin typeface="Calibri"/>
              </a:rPr>
              <a:t>–  </a:t>
            </a:r>
            <a:r>
              <a:rPr sz="1300">
                <a:solidFill>
                  <a:srgbClr val="0F172A"/>
                </a:solidFill>
                <a:latin typeface="Calibri"/>
              </a:rPr>
              <a:t>Source-quality rating per source: journal tier Q1–Q5 × case relevance R1–R4.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563EB"/>
                </a:solidFill>
                <a:latin typeface="Calibri"/>
              </a:rPr>
              <a:t>–  </a:t>
            </a:r>
            <a:r>
              <a:rPr sz="1300">
                <a:solidFill>
                  <a:srgbClr val="0F172A"/>
                </a:solidFill>
                <a:latin typeface="Calibri"/>
              </a:rPr>
              <a:t>Cost: Claude Pro at ~€21 / month per member; no pay-per-query, no paid data services.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China Strategies in the Automotive Industry  ·  Session 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AI ANNEX · WHAT HELPED MOST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172A"/>
                </a:solidFill>
                <a:latin typeface="Cambria"/>
              </a:rPr>
              <a:t>Most valuable: catching three real data errors before submission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35935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593592" cy="8229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74519"/>
            <a:ext cx="3264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6A34A"/>
                </a:solidFill>
                <a:latin typeface="Calibri"/>
              </a:rPr>
              <a:t>Error 1 · EU tariff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86000"/>
            <a:ext cx="32644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Provisional 36.3% → final 35.3% for SAIC, traced to the regulation.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691640"/>
            <a:ext cx="35935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9392" y="1691640"/>
            <a:ext cx="3593592" cy="8229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874519"/>
            <a:ext cx="3264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6A34A"/>
                </a:solidFill>
                <a:latin typeface="Calibri"/>
              </a:rPr>
              <a:t>Error 2 · Currency unit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2286000"/>
            <a:ext cx="32644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A net-profit figure inflated 10× by a unit ambiguity in a secondary source.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0144" y="1691640"/>
            <a:ext cx="35935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1691640"/>
            <a:ext cx="3593592" cy="8229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1874519"/>
            <a:ext cx="3264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6A34A"/>
                </a:solidFill>
                <a:latin typeface="Calibri"/>
              </a:rPr>
              <a:t>Error 3 · Share 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4736" y="2286000"/>
            <a:ext cx="32644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F172A"/>
                </a:solidFill>
                <a:latin typeface="Calibri"/>
              </a:rPr>
              <a:t>A BYD EPS figure built on the wrong share count, fixed via the audited report.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033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563EB"/>
                </a:solidFill>
                <a:latin typeface="Calibri"/>
              </a:rPr>
              <a:t>WHAT WORKED IN 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23360"/>
            <a:ext cx="110642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2563EB"/>
                </a:solidFill>
                <a:latin typeface="Calibri"/>
              </a:rPr>
              <a:t>–  </a:t>
            </a:r>
            <a:r>
              <a:rPr sz="1350">
                <a:solidFill>
                  <a:srgbClr val="0F172A"/>
                </a:solidFill>
                <a:latin typeface="Calibri"/>
              </a:rPr>
              <a:t>Best prompt pattern: “review this as a Dozent looking for overclaims, logical gaps and APA errors.”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2563EB"/>
                </a:solidFill>
                <a:latin typeface="Calibri"/>
              </a:rPr>
              <a:t>–  </a:t>
            </a:r>
            <a:r>
              <a:rPr sz="1350">
                <a:solidFill>
                  <a:srgbClr val="0F172A"/>
                </a:solidFill>
                <a:latin typeface="Calibri"/>
              </a:rPr>
              <a:t>Fact-checking: isolate one claim and ask it to trace the exact source passage before it enters the draft.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2563EB"/>
                </a:solidFill>
                <a:latin typeface="Calibri"/>
              </a:rPr>
              <a:t>–  </a:t>
            </a:r>
            <a:r>
              <a:rPr sz="1350">
                <a:solidFill>
                  <a:srgbClr val="0F172A"/>
                </a:solidFill>
                <a:latin typeface="Calibri"/>
              </a:rPr>
              <a:t>Cross-case work was reliable only with explicit wiki access — “compare X using only verified wiki data,” not general recall.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2563EB"/>
                </a:solidFill>
                <a:latin typeface="Calibri"/>
              </a:rPr>
              <a:t>–  </a:t>
            </a:r>
            <a:r>
              <a:rPr sz="1350">
                <a:solidFill>
                  <a:srgbClr val="0F172A"/>
                </a:solidFill>
                <a:latin typeface="Calibri"/>
              </a:rPr>
              <a:t>Persistence mattered: after a hardware shutdown the full research base was recovered from the wiki and memory.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China Strategies in the Automotive Industry  ·  Session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AI ANNEX · LIMITS &amp; 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172A"/>
                </a:solidFill>
                <a:latin typeface="Cambria"/>
              </a:rPr>
              <a:t>AI as research infrastructure, never as ghostwriter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4406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5440680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D97706"/>
                </a:solidFill>
                <a:latin typeface="Calibri"/>
              </a:rPr>
              <a:t>Limits encountered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749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D97706"/>
                </a:solidFill>
                <a:latin typeface="Calibri"/>
              </a:rPr>
              <a:t>–  </a:t>
            </a:r>
            <a:r>
              <a:rPr sz="1250">
                <a:solidFill>
                  <a:srgbClr val="0F172A"/>
                </a:solidFill>
                <a:latin typeface="Calibri"/>
              </a:rPr>
              <a:t>No access to paywalled journals (e.g. AER behind the Goethe paywall).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D97706"/>
                </a:solidFill>
                <a:latin typeface="Calibri"/>
              </a:rPr>
              <a:t>–  </a:t>
            </a:r>
            <a:r>
              <a:rPr sz="1250">
                <a:solidFill>
                  <a:srgbClr val="0F172A"/>
                </a:solidFill>
                <a:latin typeface="Calibri"/>
              </a:rPr>
              <a:t>Geely PDFs were not machine-readable — manual data extraction needed.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D97706"/>
                </a:solidFill>
                <a:latin typeface="Calibri"/>
              </a:rPr>
              <a:t>–  </a:t>
            </a:r>
            <a:r>
              <a:rPr sz="1250">
                <a:solidFill>
                  <a:srgbClr val="0F172A"/>
                </a:solidFill>
                <a:latin typeface="Calibri"/>
              </a:rPr>
              <a:t>Several incorrect DOIs had to be checked and corrected by hand.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D97706"/>
                </a:solidFill>
                <a:latin typeface="Calibri"/>
              </a:rPr>
              <a:t>–  </a:t>
            </a:r>
            <a:r>
              <a:rPr sz="1250">
                <a:solidFill>
                  <a:srgbClr val="0F172A"/>
                </a:solidFill>
                <a:latin typeface="Calibri"/>
              </a:rPr>
              <a:t>Currency conventions (USD vs. RMB) drifted and required manual reconciliation.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737360"/>
            <a:ext cx="54406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737360"/>
            <a:ext cx="54406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92024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Lessons learned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77440"/>
            <a:ext cx="50749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2563EB"/>
                </a:solidFill>
                <a:latin typeface="Calibri"/>
              </a:rPr>
              <a:t>–  </a:t>
            </a:r>
            <a:r>
              <a:rPr sz="1250">
                <a:solidFill>
                  <a:srgbClr val="0F172A"/>
                </a:solidFill>
                <a:latin typeface="Calibri"/>
              </a:rPr>
              <a:t>Learning curve: several hours to use the agent architecture productively, not as a chat tool.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2563EB"/>
                </a:solidFill>
                <a:latin typeface="Calibri"/>
              </a:rPr>
              <a:t>–  </a:t>
            </a:r>
            <a:r>
              <a:rPr sz="1250">
                <a:solidFill>
                  <a:srgbClr val="0F172A"/>
                </a:solidFill>
                <a:latin typeface="Calibri"/>
              </a:rPr>
              <a:t>AI output always needs critical review — early drafts contained overclaims.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2563EB"/>
                </a:solidFill>
                <a:latin typeface="Calibri"/>
              </a:rPr>
              <a:t>–  </a:t>
            </a:r>
            <a:r>
              <a:rPr sz="1250">
                <a:solidFill>
                  <a:srgbClr val="0F172A"/>
                </a:solidFill>
                <a:latin typeface="Calibri"/>
              </a:rPr>
              <a:t>All analysis, argument and interpretation stayed fully independent of the platform.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2563EB"/>
                </a:solidFill>
                <a:latin typeface="Calibri"/>
              </a:rPr>
              <a:t>–  </a:t>
            </a:r>
            <a:r>
              <a:rPr sz="1250">
                <a:solidFill>
                  <a:srgbClr val="0F172A"/>
                </a:solidFill>
                <a:latin typeface="Calibri"/>
              </a:rPr>
              <a:t>Best framing: a source-quality enforcer and critical reviewer, not a writer.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349240"/>
            <a:ext cx="10698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Bottom line: AI compressed research time and caught errors — but every judgment, argument and conclusion remained the authors' own.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China Strategies in the Automotive Industry  ·  Session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Calibr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172A"/>
                </a:solidFill>
                <a:latin typeface="Cambria"/>
              </a:rPr>
              <a:t>Key sources (APA 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4406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Bai, J., Barwick, P. J., Cao, S., &amp; Li, S. (2025). Quid pro quo, knowledge spillovers, and industrial quality upgrading. American Economic Review, 115(11).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Balcet, G., Wang, H., &amp; Richet, X. (2012). Geely: A trajectory of catching up and asset-seeking multinational growth. IJATM, 12(4).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European Commission. (2024). Implementing Regulation (EU) 2024/2754. Official Journal of the EU.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Fan, J. P. H., Wong, T. J., &amp; Zhang, T. (2007). Politically connected CEOs and post-IPO performance. JFE, 84(2).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Holmes, T. J., McGrattan, E. R., &amp; Prescott, E. C. (2015). Quid pro quo: Technology capital transfers for market access in China. RES, 82(3).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Howell, S. T. (2018). Joint ventures and technology adoption: A Chinese industrial policy that backfired. Research Policy, 47(8).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Jensen, M. C., &amp; Meckling, W. H. (1976). Theory of the firm. JFE, 3(4).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Konda, P., Slepnikov, D., &amp; Jin, J. (2022). From transaction to co-creation in Geely's acquisition of Volvo Cars. AJTI, 31(3).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691640"/>
            <a:ext cx="54406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Luo, Y., &amp; Tung, R. L. (2007). International expansion of emerging market enterprises: A springboard perspective. JIBS, 38(4).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Megginson, W. L., &amp; Netter, J. M. (2001). From state to market: A survey of empirical studies on privatization. JEL, 39(2).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Shleifer, A., &amp; Vishny, R. W. (1994). Politicians and firms. Quarterly Journal of Economics, 109(4).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Teece, D. J., Pisano, G., &amp; Shuen, A. (1997). Dynamic capabilities and strategic management. SMJ, 18(7).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Whitfield, L., &amp; Wuttke, T. (2026). China's technological catch-up and leapfrogging in electric vehicles. Progress in Economic Geography, 4.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International Energy Agency. (2026). Global EV outlook 2026. IEA.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Annual Reports: SAIC Motor (2025, 2026); BYD (2025, 2026); Geely Automobile Holdings (2025a, 2025b, 2026).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050">
                <a:solidFill>
                  <a:srgbClr val="0F172A"/>
                </a:solidFill>
                <a:latin typeface="Calibri"/>
              </a:rPr>
              <a:t>Also cited: Bortolotti &amp; Faccio (2009); Inkpen &amp; Beamish (1997); Wang et al. (2022); Zhang et al. (2025); Zheng et al. (2022); Allen et al. (2024).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China Strategies in the Automotive Industry  ·  Session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