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3255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afternoon, and welcome. Our paper asks one question: which way of building a car company in China creates the most value for shareholders over time? We compare three real firms with three models — SAIC uses joint ventures, BYD builds its own technology, and Geely buys companies abroad. Our main point is simple: governance — who controls the firm — matters more than the technology it starts with. We test this through four lenses: governance, financing, capability, and long-term viability. Then we give our result, draw three lessons, and end with how we used AI. Each of us will take a part. Let us start with why this question matters now.</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joint-venture era is ending. Electric cars are now more than half of new sales in China, and Chinese firms make about sixty percent of the world's EVs. For thirty years the deal was simple: foreign firms gave technology, and a state firm gave market access. That worked when the engine and the gearbox were the hard part. Now the hard part is the battery, the power electronics, and the software — and that knowledge sits with the Chinese independents, not the foreign partners. So the old deal no longer helps the joint-venture firms. You can see the stress at SAIC: its profit fell eighty-eight percent in one year. And the EU set very different tariffs — high for SAIC, low for BYD — which tracks how state-dependent each firm is. So the market and the regulator point the same way. Next, our exact question.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question is short but hard: which structure builds the most value over time? We study three firms with three paths. SAIC is state-owned, controlled by the asset commission SASAC. BYD is founder-led, run by Wang Chuanfu. Geely is also founder-led, under Li Shufu, but it grew by buying firms abroad, like Volvo. To keep it fair, we look at all three through the same four lenses — governance, financing, capability, and viability — in the same order. So we compare one structural choice at a time, not three separate company stories. Our thesis is at the bottom: structure beats starting technology. Now the theory behind these lenses.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well-known ideas all point the same way. Shleifer and Vishny say that in a state firm, control sends money to political goals, not to shareholders. Megginson and Netter show that private firms beat state firms. Jensen and Meckling explain the good case: a strong founder-owner removes the conflict between owners and managers. Holmes and Fan describe the joint-venture trade and its hidden cost — connected firms lag about eighteen percent after listing. Luo and Tung explain why an emerging-market firm buys abroad: to catch up quickly. And Teece explains why deep in-house knowledge is so hard for rivals to copy. So the prediction is clear before we even look at the data: founder control should adapt faster and create more value. Next, our map.</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matrix is the map for the whole talk. The rows are the three firms, and the columns are the four lenses. Read across a row for one firm's full profile; read down a column to compare the firms on one topic. The key point is that the columns are linked. SAIC is state-led, capital-light, dependent on transferred technology, and weakest in the EV shift — and those four cells belong together. BYD shows the opposite pattern straight across, and Geely is in between. Over the next slides we go column by column with the evidence behind each cell. We start with governance.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Governance is really two questions: who holds control, and what they want. SAIC sits under the state — SASAC owns about seventy-three percent, and the Party role is written into the charter, so its goals go beyond profit, to things like jobs and policy. The cost is speed: it cannot leave a failing joint venture without state approval. BYD is the opposite — the founder and his team hold over a third of the votes, so Wang could end petrol-car production in one year, in 2022, on his own. Geely is also founder-led and fast on deals, but it runs many brands, and some of them lose money. So control runs on a scale, from political at SAIC to fully commercial at BYD. Next, the EU put a real price on this difference.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proof from outside the firms. The EU studied state support and set tariffs: 35.3 percent for SAIC, 17 for BYD, and 18.8 for Geely. That gap is not about car quality — it is about state dependence. For SAIC the Commission even used “facts available,” because the group held back some financing data. So a neutral regulator reached the same conclusion we reach from the inside: control structure drives competitive position. And for a firm that wants to grow through exports, that tariff is a direct, lasting cost of the governance model it chose. Now we follow the money.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firm funds its growth differently, and the difference shows up in a downturn. SAIC was capital-light: it shared cost and risk with its foreign partners. That felt safe — until SAIC-GM lost more than half its sales, and SAIC was still bound to absorb the losses, with no control to fix the business. Profit fell eighty-eight percent; the capital-light model had become a capital trap. BYD funds itself from its own cash, and it spends more on research than it earns in profit, so it needs no banks; the limit is its own cash flow. Geely borrows to buy capability fast — that is how it got Volvo — but its debt is rising. So the real choice is resilience versus speed. Next, the numbers.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numbers in one table. Look at return on equity: BYD and Geely are near twenty percent, while SAIC is below one — that single line tells the story. Research spending: BYD spends more on R&amp;D than it earns in profit. Cash flow: BYD generates far more than the other two. One honest note on SAIC: its profit looks like it recovered in 2025, but that is mostly because the big write-downs of 2024 did not repeat — the business stabilised, it did not really turn around. And the bottom row, the EU tariff, marks the same governance gap once more. Next, how each firm builds its technology.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a firm learns shapes what it can build later. SAIC took technology through joint ventures. It worked at first — quality rose about eight percent — but the easy money removed the pressure to invent, so it had no EV platform of its own when the shift came. BYD built everything itself, from battery cells to software, and that deep knowledge is very hard to copy. Geely bought Volvo and turned it into real shared engineering, not one-way copying, and patent data confirm it. So the lesson is simple: handed-over technology fades when the cycle turns, while built or co-developed knowledge lasts. Next, the trade-off behind this.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the trade-off between speed, depth, and independence. SAIC was the fastest to quality, but shallow and dependent, with no platform of its own. Geely is the rare strong case — fast and deep — because it co-developed with Volvo. BYD was the slowest but the deepest, thirty years from cells to software, and fully its own. The cost of the shallow path is in the bar at the bottom: SAIC's joint-venture plants run at just 14 to 37 percent of capacity. When the technology shifts, there is no platform to fall back on, and the factories sit half empty. Next, the EV transition itself.</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EV shift tests every earlier choice. SAIC is the most exposed — its plants run far below capacity — but to be fair, its own brand grew thirty-three percent, with no direct subsidies, and it launched a brand with Huawei. So its future is a race between falling joint-venture income and a thin own-brand margin, and its slow structure sets the pace. BYD is the strongest: no petrol cars since 2022, the world's number one for four years, and exports up one hundred and forty percent. Geely is in between — strong growth, but it leans on partners and carries loss-making brands. Same shock, three different results — exactly what the earlier choices predicted. Now our result.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result. Of the three, BYD is the one most likely to create long-term value. The evidence is consistent: the highest return on equity, four years as the top EV maker, and a 5.6-billion-dollar raise that sovereign wealth funds joined. But please notice the wording in the box. It is not that building everything yourself is magic. BYD wins because it combines two things — commercial founder control and a self-financing balance sheet that stays strong in a downturn. That is governance and capital discipline working together. And we stay honest: BYD's own return fell to thirteen percent in 2025 under the price war. Now three lessons that go beyond cars.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draw three lessons for any fast-moving market. One: how you build capability decides how long it lasts. Buying or borrowing technology can hollow out a firm when the technology changes, while building or co-developing keeps the strength. Two: governance sets the speed of change. Commercial owners move fast; split control stalls — and when technology moves faster than your decisions, governance becomes the limit. Three: capital structure decides who survives a downturn. Risk-sharing can trap you, self-financing trades speed for safety, and debt does the opposite. One theme runs through all three: structure decides. Now the conclusion.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core point. Across all four lenses, structure — more than starting technology — decided the outcome. The joint-venture model did not lose to a better battery; it lost to a better way of allocating control and capital. BYD's founder control plus self-financing proved the most adaptive, while SAIC's state model serves goals beyond profit, which shows up as a lasting discount. So our line, in the box: when technology moves faster than firms can decide, governance is no longer a footnote to strategy — it is strategy. Before questions, a short word on our limits and on how we used AI.</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short, honest word on limits. We study three firms in one industry and one country, so this is deep case work, not a statistical law. The EV shift is still young, so the ranking could change. We rely on reported figures, and the reports mix currencies, which we reconciled carefully. We also left NIO out — a fourth, capital-market model that was beyond our scope. Future work could add NIO, follow these firms over a longer cycle, build a formal governance score, and study how the EU tariffs reshape exports. Now, how we used AI.</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did not use a simple chatbot. We used Claude Code as a layered system — a main model for most work, a stronger one for the hard analysis, and five small agents, each with one job. But the heart of it is the shared repository you see here. We had one folder for each case and a shared folder for common data, like the EU regulation and the IEA figures. The rule was simple: pull before each session, push after. Because the tool could read all three case wikis at once, we compared the firms directly, with no manual file-sharing. Next, what this actually added.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did AI help the most? First, it saved a lot of time — more than thirty papers and reports, all ingested and searchable. Second, it kept us disciplined: every source was rated by quality, and we built our arguments only on the strongest ones. The sharpest habit was to tell it to act like a strict professor, and to quote the exact source for each fact. That same habit caught three real data errors before submission — a wrong tariff, a profit figure inflated ten times, and an earnings figure on the wrong share count — and we fixed all three against the audited reports. Next, the honest limits.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limits, honestly. It cannot download paywalled PDFs — it knows the papers' content, but we still had to read and check the key claims ourselves. On long sessions we hit memory limits, and the output was often too wordy and needed editing. The lesson is that this is not a chat box — it took time to learn, and every output needed a careful read. The cost was small, about twenty-one euros a month each. The line we held: AI was our tool and our reviewer, never a ghostwriter. The thinking stayed ours. Finally, our sources.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our main sources, in APA style. The theory comes from Shleifer and Vishny, Jensen and Meckling, and Teece; the China evidence from Bai, Howell, and Holmes. The figures come from the audited annual reports of all three firms, plus the EU regulation and the IEA outlook. The full list is in the paper. Thank you very much for your attention — we are happy to take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48640"/>
            <a:ext cx="10972800" cy="320040"/>
          </a:xfrm>
          <a:prstGeom prst="rect">
            <a:avLst/>
          </a:prstGeom>
          <a:noFill/>
        </p:spPr>
        <p:txBody>
          <a:bodyPr wrap="square" lIns="0" tIns="0" rIns="0" bIns="0" anchor="t">
            <a:spAutoFit/>
          </a:bodyPr>
          <a:lstStyle/>
          <a:p>
            <a:pPr algn="l">
              <a:lnSpc>
                <a:spcPct val="100000"/>
              </a:lnSpc>
              <a:spcBef>
                <a:spcPts val="0"/>
              </a:spcBef>
              <a:spcAft>
                <a:spcPts val="200"/>
              </a:spcAft>
            </a:pPr>
            <a:r>
              <a:rPr sz="1507" b="1" i="0">
                <a:solidFill>
                  <a:srgbClr val="06B6D4"/>
                </a:solidFill>
                <a:latin typeface="Arial"/>
              </a:rPr>
              <a:t>M&amp;A AS TRANSFORMER OF THE AUTOMOTIVE INDUSTRY</a:t>
            </a:r>
          </a:p>
        </p:txBody>
      </p:sp>
      <p:sp>
        <p:nvSpPr>
          <p:cNvPr id="5" name="TextBox 4"/>
          <p:cNvSpPr txBox="1"/>
          <p:nvPr/>
        </p:nvSpPr>
        <p:spPr>
          <a:xfrm>
            <a:off x="548640" y="1828800"/>
            <a:ext cx="10972800" cy="1554480"/>
          </a:xfrm>
          <a:prstGeom prst="rect">
            <a:avLst/>
          </a:prstGeom>
          <a:noFill/>
        </p:spPr>
        <p:txBody>
          <a:bodyPr wrap="square" lIns="0" tIns="0" rIns="0" bIns="0" anchor="t">
            <a:spAutoFit/>
          </a:bodyPr>
          <a:lstStyle/>
          <a:p>
            <a:pPr algn="l">
              <a:lnSpc>
                <a:spcPct val="100000"/>
              </a:lnSpc>
              <a:spcBef>
                <a:spcPts val="0"/>
              </a:spcBef>
              <a:spcAft>
                <a:spcPts val="200"/>
              </a:spcAft>
            </a:pPr>
            <a:r>
              <a:rPr sz="4600" b="1" i="0">
                <a:solidFill>
                  <a:srgbClr val="FFFFFF"/>
                </a:solidFill>
                <a:latin typeface="Arial"/>
              </a:rPr>
              <a:t>China Strategies in the</a:t>
            </a:r>
          </a:p>
          <a:p>
            <a:pPr algn="l">
              <a:lnSpc>
                <a:spcPct val="100000"/>
              </a:lnSpc>
              <a:spcBef>
                <a:spcPts val="0"/>
              </a:spcBef>
              <a:spcAft>
                <a:spcPts val="200"/>
              </a:spcAft>
            </a:pPr>
            <a:r>
              <a:rPr sz="4600" b="1" i="0">
                <a:solidFill>
                  <a:srgbClr val="FFFFFF"/>
                </a:solidFill>
                <a:latin typeface="Arial"/>
              </a:rPr>
              <a:t>Automotive Industry</a:t>
            </a:r>
          </a:p>
        </p:txBody>
      </p:sp>
      <p:sp>
        <p:nvSpPr>
          <p:cNvPr id="6" name="TextBox 5"/>
          <p:cNvSpPr txBox="1"/>
          <p:nvPr/>
        </p:nvSpPr>
        <p:spPr>
          <a:xfrm>
            <a:off x="548640" y="3611880"/>
            <a:ext cx="10607040" cy="640080"/>
          </a:xfrm>
          <a:prstGeom prst="rect">
            <a:avLst/>
          </a:prstGeom>
          <a:noFill/>
        </p:spPr>
        <p:txBody>
          <a:bodyPr wrap="square" lIns="0" tIns="0" rIns="0" bIns="0" anchor="t">
            <a:spAutoFit/>
          </a:bodyPr>
          <a:lstStyle/>
          <a:p>
            <a:pPr algn="l">
              <a:lnSpc>
                <a:spcPct val="100000"/>
              </a:lnSpc>
              <a:spcBef>
                <a:spcPts val="0"/>
              </a:spcBef>
              <a:spcAft>
                <a:spcPts val="200"/>
              </a:spcAft>
            </a:pPr>
            <a:r>
              <a:rPr sz="1800" b="0" i="1">
                <a:solidFill>
                  <a:srgbClr val="CBD5E1"/>
                </a:solidFill>
                <a:latin typeface="Arial"/>
              </a:rPr>
              <a:t>Which governance and financing model creates long-term shareholder value?</a:t>
            </a:r>
          </a:p>
        </p:txBody>
      </p:sp>
      <p:sp>
        <p:nvSpPr>
          <p:cNvPr id="7" name="Rectangle 6"/>
          <p:cNvSpPr/>
          <p:nvPr/>
        </p:nvSpPr>
        <p:spPr>
          <a:xfrm>
            <a:off x="548640" y="4526280"/>
            <a:ext cx="3383280" cy="42062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4526280"/>
            <a:ext cx="3383280" cy="420624"/>
          </a:xfrm>
          <a:prstGeom prst="rect">
            <a:avLst/>
          </a:prstGeom>
          <a:noFill/>
        </p:spPr>
        <p:txBody>
          <a:bodyPr wrap="square" lIns="0" tIns="0" rIns="0" bIns="0" anchor="ctr">
            <a:spAutoFit/>
          </a:bodyPr>
          <a:lstStyle/>
          <a:p>
            <a:pPr algn="ctr">
              <a:lnSpc>
                <a:spcPct val="100000"/>
              </a:lnSpc>
              <a:spcBef>
                <a:spcPts val="0"/>
              </a:spcBef>
              <a:spcAft>
                <a:spcPts val="200"/>
              </a:spcAft>
            </a:pPr>
            <a:r>
              <a:rPr sz="1449" b="1" i="0">
                <a:solidFill>
                  <a:srgbClr val="FFFFFF"/>
                </a:solidFill>
                <a:latin typeface="Arial"/>
              </a:rPr>
              <a:t>SAIC  ·  Joint Venture</a:t>
            </a:r>
          </a:p>
        </p:txBody>
      </p:sp>
      <p:sp>
        <p:nvSpPr>
          <p:cNvPr id="9" name="Rectangle 8"/>
          <p:cNvSpPr/>
          <p:nvPr/>
        </p:nvSpPr>
        <p:spPr>
          <a:xfrm>
            <a:off x="4160520" y="4526280"/>
            <a:ext cx="3383280" cy="42062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60520" y="4526280"/>
            <a:ext cx="3383280" cy="420624"/>
          </a:xfrm>
          <a:prstGeom prst="rect">
            <a:avLst/>
          </a:prstGeom>
          <a:noFill/>
        </p:spPr>
        <p:txBody>
          <a:bodyPr wrap="square" lIns="0" tIns="0" rIns="0" bIns="0" anchor="ctr">
            <a:spAutoFit/>
          </a:bodyPr>
          <a:lstStyle/>
          <a:p>
            <a:pPr algn="ctr">
              <a:lnSpc>
                <a:spcPct val="100000"/>
              </a:lnSpc>
              <a:spcBef>
                <a:spcPts val="0"/>
              </a:spcBef>
              <a:spcAft>
                <a:spcPts val="200"/>
              </a:spcAft>
            </a:pPr>
            <a:r>
              <a:rPr sz="1449" b="1" i="0">
                <a:solidFill>
                  <a:srgbClr val="FFFFFF"/>
                </a:solidFill>
                <a:latin typeface="Arial"/>
              </a:rPr>
              <a:t>BYD  ·  Vertical Integration</a:t>
            </a:r>
          </a:p>
        </p:txBody>
      </p:sp>
      <p:sp>
        <p:nvSpPr>
          <p:cNvPr id="11" name="Rectangle 10"/>
          <p:cNvSpPr/>
          <p:nvPr/>
        </p:nvSpPr>
        <p:spPr>
          <a:xfrm>
            <a:off x="7772400" y="4526280"/>
            <a:ext cx="3383280" cy="42062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0" y="4526280"/>
            <a:ext cx="3383280" cy="420624"/>
          </a:xfrm>
          <a:prstGeom prst="rect">
            <a:avLst/>
          </a:prstGeom>
          <a:noFill/>
        </p:spPr>
        <p:txBody>
          <a:bodyPr wrap="square" lIns="0" tIns="0" rIns="0" bIns="0" anchor="ctr">
            <a:spAutoFit/>
          </a:bodyPr>
          <a:lstStyle/>
          <a:p>
            <a:pPr algn="ctr">
              <a:lnSpc>
                <a:spcPct val="100000"/>
              </a:lnSpc>
              <a:spcBef>
                <a:spcPts val="0"/>
              </a:spcBef>
              <a:spcAft>
                <a:spcPts val="200"/>
              </a:spcAft>
            </a:pPr>
            <a:r>
              <a:rPr sz="1449" b="1" i="0">
                <a:solidFill>
                  <a:srgbClr val="FFFFFF"/>
                </a:solidFill>
                <a:latin typeface="Arial"/>
              </a:rPr>
              <a:t>Geely  ·  M&amp;A-Driven</a:t>
            </a:r>
          </a:p>
        </p:txBody>
      </p:sp>
      <p:sp>
        <p:nvSpPr>
          <p:cNvPr id="13" name="TextBox 12"/>
          <p:cNvSpPr txBox="1"/>
          <p:nvPr/>
        </p:nvSpPr>
        <p:spPr>
          <a:xfrm>
            <a:off x="548640" y="5532120"/>
            <a:ext cx="10972800" cy="365760"/>
          </a:xfrm>
          <a:prstGeom prst="rect">
            <a:avLst/>
          </a:prstGeom>
          <a:noFill/>
        </p:spPr>
        <p:txBody>
          <a:bodyPr wrap="square" lIns="0" tIns="0" rIns="0" bIns="0" anchor="t">
            <a:spAutoFit/>
          </a:bodyPr>
          <a:lstStyle/>
          <a:p>
            <a:pPr algn="l">
              <a:lnSpc>
                <a:spcPct val="100000"/>
              </a:lnSpc>
              <a:spcBef>
                <a:spcPts val="0"/>
              </a:spcBef>
              <a:spcAft>
                <a:spcPts val="200"/>
              </a:spcAft>
            </a:pPr>
            <a:r>
              <a:rPr sz="1739" b="1" i="0">
                <a:solidFill>
                  <a:srgbClr val="FFFFFF"/>
                </a:solidFill>
                <a:latin typeface="Arial"/>
              </a:rPr>
              <a:t>Julia Ort  ·  Batughan Maus  ·  Chiara Stubner</a:t>
            </a:r>
          </a:p>
        </p:txBody>
      </p:sp>
      <p:sp>
        <p:nvSpPr>
          <p:cNvPr id="14" name="TextBox 13"/>
          <p:cNvSpPr txBox="1"/>
          <p:nvPr/>
        </p:nvSpPr>
        <p:spPr>
          <a:xfrm>
            <a:off x="548640" y="5943600"/>
            <a:ext cx="10972800" cy="548640"/>
          </a:xfrm>
          <a:prstGeom prst="rect">
            <a:avLst/>
          </a:prstGeom>
          <a:noFill/>
        </p:spPr>
        <p:txBody>
          <a:bodyPr wrap="square" lIns="0" tIns="0" rIns="0" bIns="0" anchor="t">
            <a:spAutoFit/>
          </a:bodyPr>
          <a:lstStyle/>
          <a:p>
            <a:pPr algn="l">
              <a:lnSpc>
                <a:spcPct val="110000"/>
              </a:lnSpc>
              <a:spcBef>
                <a:spcPts val="0"/>
              </a:spcBef>
              <a:spcAft>
                <a:spcPts val="200"/>
              </a:spcAft>
            </a:pPr>
            <a:r>
              <a:rPr sz="1391" b="0" i="0">
                <a:solidFill>
                  <a:srgbClr val="64748B"/>
                </a:solidFill>
                <a:latin typeface="Arial"/>
              </a:rPr>
              <a:t>Johann Wolfgang Goethe-Universität Frankfurt  ·  Chair of Banking and Finance</a:t>
            </a:r>
          </a:p>
          <a:p>
            <a:pPr algn="l">
              <a:lnSpc>
                <a:spcPct val="110000"/>
              </a:lnSpc>
              <a:spcBef>
                <a:spcPts val="0"/>
              </a:spcBef>
              <a:spcAft>
                <a:spcPts val="200"/>
              </a:spcAft>
            </a:pPr>
            <a:r>
              <a:rPr sz="1391" b="0" i="0">
                <a:solidFill>
                  <a:srgbClr val="64748B"/>
                </a:solidFill>
                <a:latin typeface="Arial"/>
              </a:rPr>
              <a:t>Prof. Dr. Mark Wahrenburg  ·  Advisor: Edoardo Pilla  ·  29 June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623" b="1" i="0">
                <a:solidFill>
                  <a:srgbClr val="06B6D4"/>
                </a:solidFill>
                <a:latin typeface="Arial"/>
              </a:rPr>
              <a:t>INTRODUCTION · WHY NOW</a:t>
            </a:r>
          </a:p>
        </p:txBody>
      </p:sp>
      <p:sp>
        <p:nvSpPr>
          <p:cNvPr id="4" name="TextBox 3"/>
          <p:cNvSpPr txBox="1"/>
          <p:nvPr/>
        </p:nvSpPr>
        <p:spPr>
          <a:xfrm>
            <a:off x="548640" y="658368"/>
            <a:ext cx="11064240" cy="914400"/>
          </a:xfrm>
          <a:prstGeom prst="rect">
            <a:avLst/>
          </a:prstGeom>
          <a:noFill/>
        </p:spPr>
        <p:txBody>
          <a:bodyPr wrap="square" lIns="0" tIns="0" rIns="0" bIns="0" anchor="t">
            <a:spAutoFit/>
          </a:bodyPr>
          <a:lstStyle/>
          <a:p>
            <a:pPr algn="l">
              <a:lnSpc>
                <a:spcPct val="100000"/>
              </a:lnSpc>
              <a:spcBef>
                <a:spcPts val="0"/>
              </a:spcBef>
              <a:spcAft>
                <a:spcPts val="200"/>
              </a:spcAft>
            </a:pPr>
            <a:r>
              <a:rPr sz="2100" b="1" i="0">
                <a:solidFill>
                  <a:srgbClr val="0F172A"/>
                </a:solidFill>
                <a:latin typeface="Arial"/>
              </a:rPr>
              <a:t>The 30-year joint-venture model is breaking down as EVs take over</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737360"/>
            <a:ext cx="2697480" cy="18288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737360"/>
            <a:ext cx="2697480"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2057400"/>
            <a:ext cx="2697480" cy="822960"/>
          </a:xfrm>
          <a:prstGeom prst="rect">
            <a:avLst/>
          </a:prstGeom>
          <a:noFill/>
        </p:spPr>
        <p:txBody>
          <a:bodyPr wrap="square" lIns="0" tIns="0" rIns="0" bIns="0" anchor="t">
            <a:spAutoFit/>
          </a:bodyPr>
          <a:lstStyle/>
          <a:p>
            <a:pPr algn="ctr">
              <a:lnSpc>
                <a:spcPct val="100000"/>
              </a:lnSpc>
              <a:spcBef>
                <a:spcPts val="0"/>
              </a:spcBef>
              <a:spcAft>
                <a:spcPts val="200"/>
              </a:spcAft>
            </a:pPr>
            <a:r>
              <a:rPr sz="4000" b="1" i="0">
                <a:solidFill>
                  <a:srgbClr val="2563EB"/>
                </a:solidFill>
                <a:latin typeface="Arial"/>
              </a:rPr>
              <a:t>~55%</a:t>
            </a:r>
          </a:p>
        </p:txBody>
      </p:sp>
      <p:sp>
        <p:nvSpPr>
          <p:cNvPr id="10" name="TextBox 9"/>
          <p:cNvSpPr txBox="1"/>
          <p:nvPr/>
        </p:nvSpPr>
        <p:spPr>
          <a:xfrm>
            <a:off x="658368" y="2880360"/>
            <a:ext cx="2478024" cy="594360"/>
          </a:xfrm>
          <a:prstGeom prst="rect">
            <a:avLst/>
          </a:prstGeom>
          <a:noFill/>
        </p:spPr>
        <p:txBody>
          <a:bodyPr wrap="square" lIns="0" tIns="0" rIns="0" bIns="0" anchor="t">
            <a:spAutoFit/>
          </a:bodyPr>
          <a:lstStyle/>
          <a:p>
            <a:pPr algn="ctr">
              <a:lnSpc>
                <a:spcPct val="100000"/>
              </a:lnSpc>
              <a:spcBef>
                <a:spcPts val="0"/>
              </a:spcBef>
              <a:spcAft>
                <a:spcPts val="200"/>
              </a:spcAft>
            </a:pPr>
            <a:r>
              <a:rPr sz="1391" b="0" i="0">
                <a:solidFill>
                  <a:srgbClr val="0F172A"/>
                </a:solidFill>
                <a:latin typeface="Arial"/>
              </a:rPr>
              <a:t>EV share of new-car</a:t>
            </a:r>
          </a:p>
          <a:p>
            <a:pPr algn="ctr">
              <a:lnSpc>
                <a:spcPct val="100000"/>
              </a:lnSpc>
              <a:spcBef>
                <a:spcPts val="0"/>
              </a:spcBef>
              <a:spcAft>
                <a:spcPts val="200"/>
              </a:spcAft>
            </a:pPr>
            <a:r>
              <a:rPr sz="1391" b="0" i="0">
                <a:solidFill>
                  <a:srgbClr val="0F172A"/>
                </a:solidFill>
                <a:latin typeface="Arial"/>
              </a:rPr>
              <a:t>sales in China (2025)</a:t>
            </a:r>
          </a:p>
        </p:txBody>
      </p:sp>
      <p:sp>
        <p:nvSpPr>
          <p:cNvPr id="11" name="Rectangle 10"/>
          <p:cNvSpPr/>
          <p:nvPr/>
        </p:nvSpPr>
        <p:spPr>
          <a:xfrm>
            <a:off x="3337560" y="1737360"/>
            <a:ext cx="2697480" cy="18288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337560" y="1737360"/>
            <a:ext cx="2697480" cy="8229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37560" y="2057400"/>
            <a:ext cx="2697480" cy="822960"/>
          </a:xfrm>
          <a:prstGeom prst="rect">
            <a:avLst/>
          </a:prstGeom>
          <a:noFill/>
        </p:spPr>
        <p:txBody>
          <a:bodyPr wrap="square" lIns="0" tIns="0" rIns="0" bIns="0" anchor="t">
            <a:spAutoFit/>
          </a:bodyPr>
          <a:lstStyle/>
          <a:p>
            <a:pPr algn="ctr">
              <a:lnSpc>
                <a:spcPct val="100000"/>
              </a:lnSpc>
              <a:spcBef>
                <a:spcPts val="0"/>
              </a:spcBef>
              <a:spcAft>
                <a:spcPts val="200"/>
              </a:spcAft>
            </a:pPr>
            <a:r>
              <a:rPr sz="4000" b="1" i="0">
                <a:solidFill>
                  <a:srgbClr val="06B6D4"/>
                </a:solidFill>
                <a:latin typeface="Arial"/>
              </a:rPr>
              <a:t>~60%</a:t>
            </a:r>
          </a:p>
        </p:txBody>
      </p:sp>
      <p:sp>
        <p:nvSpPr>
          <p:cNvPr id="14" name="TextBox 13"/>
          <p:cNvSpPr txBox="1"/>
          <p:nvPr/>
        </p:nvSpPr>
        <p:spPr>
          <a:xfrm>
            <a:off x="3447288" y="2880360"/>
            <a:ext cx="2478024" cy="594360"/>
          </a:xfrm>
          <a:prstGeom prst="rect">
            <a:avLst/>
          </a:prstGeom>
          <a:noFill/>
        </p:spPr>
        <p:txBody>
          <a:bodyPr wrap="square" lIns="0" tIns="0" rIns="0" bIns="0" anchor="t">
            <a:spAutoFit/>
          </a:bodyPr>
          <a:lstStyle/>
          <a:p>
            <a:pPr algn="ctr">
              <a:lnSpc>
                <a:spcPct val="100000"/>
              </a:lnSpc>
              <a:spcBef>
                <a:spcPts val="0"/>
              </a:spcBef>
              <a:spcAft>
                <a:spcPts val="200"/>
              </a:spcAft>
            </a:pPr>
            <a:r>
              <a:rPr sz="1391" b="0" i="0">
                <a:solidFill>
                  <a:srgbClr val="0F172A"/>
                </a:solidFill>
                <a:latin typeface="Arial"/>
              </a:rPr>
              <a:t>of global EV sales</a:t>
            </a:r>
          </a:p>
          <a:p>
            <a:pPr algn="ctr">
              <a:lnSpc>
                <a:spcPct val="100000"/>
              </a:lnSpc>
              <a:spcBef>
                <a:spcPts val="0"/>
              </a:spcBef>
              <a:spcAft>
                <a:spcPts val="200"/>
              </a:spcAft>
            </a:pPr>
            <a:r>
              <a:rPr sz="1391" b="0" i="0">
                <a:solidFill>
                  <a:srgbClr val="0F172A"/>
                </a:solidFill>
                <a:latin typeface="Arial"/>
              </a:rPr>
              <a:t>from Chinese makers</a:t>
            </a:r>
          </a:p>
        </p:txBody>
      </p:sp>
      <p:sp>
        <p:nvSpPr>
          <p:cNvPr id="15" name="Rectangle 14"/>
          <p:cNvSpPr/>
          <p:nvPr/>
        </p:nvSpPr>
        <p:spPr>
          <a:xfrm>
            <a:off x="6126480" y="1737360"/>
            <a:ext cx="2697480" cy="18288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26480" y="1737360"/>
            <a:ext cx="2697480" cy="8229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26480" y="2057400"/>
            <a:ext cx="2697480" cy="822960"/>
          </a:xfrm>
          <a:prstGeom prst="rect">
            <a:avLst/>
          </a:prstGeom>
          <a:noFill/>
        </p:spPr>
        <p:txBody>
          <a:bodyPr wrap="square" lIns="0" tIns="0" rIns="0" bIns="0" anchor="t">
            <a:spAutoFit/>
          </a:bodyPr>
          <a:lstStyle/>
          <a:p>
            <a:pPr algn="ctr">
              <a:lnSpc>
                <a:spcPct val="100000"/>
              </a:lnSpc>
              <a:spcBef>
                <a:spcPts val="0"/>
              </a:spcBef>
              <a:spcAft>
                <a:spcPts val="200"/>
              </a:spcAft>
            </a:pPr>
            <a:r>
              <a:rPr sz="4000" b="1" i="0">
                <a:solidFill>
                  <a:srgbClr val="DC2626"/>
                </a:solidFill>
                <a:latin typeface="Arial"/>
              </a:rPr>
              <a:t>35.3%</a:t>
            </a:r>
          </a:p>
        </p:txBody>
      </p:sp>
      <p:sp>
        <p:nvSpPr>
          <p:cNvPr id="18" name="TextBox 17"/>
          <p:cNvSpPr txBox="1"/>
          <p:nvPr/>
        </p:nvSpPr>
        <p:spPr>
          <a:xfrm>
            <a:off x="6236208" y="2880360"/>
            <a:ext cx="2478024" cy="594360"/>
          </a:xfrm>
          <a:prstGeom prst="rect">
            <a:avLst/>
          </a:prstGeom>
          <a:noFill/>
        </p:spPr>
        <p:txBody>
          <a:bodyPr wrap="square" lIns="0" tIns="0" rIns="0" bIns="0" anchor="t">
            <a:spAutoFit/>
          </a:bodyPr>
          <a:lstStyle/>
          <a:p>
            <a:pPr algn="ctr">
              <a:lnSpc>
                <a:spcPct val="100000"/>
              </a:lnSpc>
              <a:spcBef>
                <a:spcPts val="0"/>
              </a:spcBef>
              <a:spcAft>
                <a:spcPts val="200"/>
              </a:spcAft>
            </a:pPr>
            <a:r>
              <a:rPr sz="1391" b="0" i="0">
                <a:solidFill>
                  <a:srgbClr val="0F172A"/>
                </a:solidFill>
                <a:latin typeface="Arial"/>
              </a:rPr>
              <a:t>EU duty on SAIC</a:t>
            </a:r>
          </a:p>
          <a:p>
            <a:pPr algn="ctr">
              <a:lnSpc>
                <a:spcPct val="100000"/>
              </a:lnSpc>
              <a:spcBef>
                <a:spcPts val="0"/>
              </a:spcBef>
              <a:spcAft>
                <a:spcPts val="200"/>
              </a:spcAft>
            </a:pPr>
            <a:r>
              <a:rPr sz="1391" b="0" i="0">
                <a:solidFill>
                  <a:srgbClr val="0F172A"/>
                </a:solidFill>
                <a:latin typeface="Arial"/>
              </a:rPr>
              <a:t>(17.0% BYD · 18.8% Geely)</a:t>
            </a:r>
          </a:p>
        </p:txBody>
      </p:sp>
      <p:sp>
        <p:nvSpPr>
          <p:cNvPr id="19" name="Rectangle 18"/>
          <p:cNvSpPr/>
          <p:nvPr/>
        </p:nvSpPr>
        <p:spPr>
          <a:xfrm>
            <a:off x="8915400" y="1737360"/>
            <a:ext cx="2697480" cy="18288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915400" y="1737360"/>
            <a:ext cx="2697480" cy="8229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15400" y="2057400"/>
            <a:ext cx="2697480" cy="822960"/>
          </a:xfrm>
          <a:prstGeom prst="rect">
            <a:avLst/>
          </a:prstGeom>
          <a:noFill/>
        </p:spPr>
        <p:txBody>
          <a:bodyPr wrap="square" lIns="0" tIns="0" rIns="0" bIns="0" anchor="t">
            <a:spAutoFit/>
          </a:bodyPr>
          <a:lstStyle/>
          <a:p>
            <a:pPr algn="ctr">
              <a:lnSpc>
                <a:spcPct val="100000"/>
              </a:lnSpc>
              <a:spcBef>
                <a:spcPts val="0"/>
              </a:spcBef>
              <a:spcAft>
                <a:spcPts val="200"/>
              </a:spcAft>
            </a:pPr>
            <a:r>
              <a:rPr sz="4000" b="1" i="0">
                <a:solidFill>
                  <a:srgbClr val="DC2626"/>
                </a:solidFill>
                <a:latin typeface="Arial"/>
              </a:rPr>
              <a:t>88%</a:t>
            </a:r>
          </a:p>
        </p:txBody>
      </p:sp>
      <p:sp>
        <p:nvSpPr>
          <p:cNvPr id="22" name="TextBox 21"/>
          <p:cNvSpPr txBox="1"/>
          <p:nvPr/>
        </p:nvSpPr>
        <p:spPr>
          <a:xfrm>
            <a:off x="9025128" y="2880360"/>
            <a:ext cx="2478024" cy="594360"/>
          </a:xfrm>
          <a:prstGeom prst="rect">
            <a:avLst/>
          </a:prstGeom>
          <a:noFill/>
        </p:spPr>
        <p:txBody>
          <a:bodyPr wrap="square" lIns="0" tIns="0" rIns="0" bIns="0" anchor="t">
            <a:spAutoFit/>
          </a:bodyPr>
          <a:lstStyle/>
          <a:p>
            <a:pPr algn="ctr">
              <a:lnSpc>
                <a:spcPct val="100000"/>
              </a:lnSpc>
              <a:spcBef>
                <a:spcPts val="0"/>
              </a:spcBef>
              <a:spcAft>
                <a:spcPts val="200"/>
              </a:spcAft>
            </a:pPr>
            <a:r>
              <a:rPr sz="1391" b="0" i="0">
                <a:solidFill>
                  <a:srgbClr val="0F172A"/>
                </a:solidFill>
                <a:latin typeface="Arial"/>
              </a:rPr>
              <a:t>drop in SAIC net</a:t>
            </a:r>
          </a:p>
          <a:p>
            <a:pPr algn="ctr">
              <a:lnSpc>
                <a:spcPct val="100000"/>
              </a:lnSpc>
              <a:spcBef>
                <a:spcPts val="0"/>
              </a:spcBef>
              <a:spcAft>
                <a:spcPts val="200"/>
              </a:spcAft>
            </a:pPr>
            <a:r>
              <a:rPr sz="1391" b="0" i="0">
                <a:solidFill>
                  <a:srgbClr val="0F172A"/>
                </a:solidFill>
                <a:latin typeface="Arial"/>
              </a:rPr>
              <a:t>profit in 2024</a:t>
            </a:r>
          </a:p>
        </p:txBody>
      </p:sp>
      <p:sp>
        <p:nvSpPr>
          <p:cNvPr id="23" name="TextBox 22"/>
          <p:cNvSpPr txBox="1"/>
          <p:nvPr/>
        </p:nvSpPr>
        <p:spPr>
          <a:xfrm>
            <a:off x="548640" y="3931920"/>
            <a:ext cx="11064240" cy="1897635"/>
          </a:xfrm>
          <a:prstGeom prst="rect">
            <a:avLst/>
          </a:prstGeom>
          <a:noFill/>
        </p:spPr>
        <p:txBody>
          <a:bodyPr wrap="square" lIns="0" tIns="0" rIns="0" bIns="0">
            <a:spAutoFit/>
          </a:bodyPr>
          <a:lstStyle/>
          <a:p>
            <a:pPr>
              <a:lnSpc>
                <a:spcPct val="105000"/>
              </a:lnSpc>
              <a:spcBef>
                <a:spcPts val="0"/>
              </a:spcBef>
              <a:spcAft>
                <a:spcPts val="900"/>
              </a:spcAft>
              <a:buNone/>
            </a:pPr>
            <a:r>
              <a:rPr sz="1739" dirty="0">
                <a:solidFill>
                  <a:srgbClr val="2563EB"/>
                </a:solidFill>
                <a:latin typeface="Arial"/>
              </a:rPr>
              <a:t>–  </a:t>
            </a:r>
            <a:r>
              <a:rPr sz="1739" dirty="0">
                <a:solidFill>
                  <a:srgbClr val="0F172A"/>
                </a:solidFill>
                <a:latin typeface="Arial"/>
              </a:rPr>
              <a:t>For three decades foreign technology was traded for market access, with a state-owned partner in the middle (Holmes et al., 2015)</a:t>
            </a:r>
            <a:r>
              <a:rPr lang="de-DE" sz="1739" dirty="0">
                <a:solidFill>
                  <a:srgbClr val="0F172A"/>
                </a:solidFill>
                <a:latin typeface="Arial"/>
              </a:rPr>
              <a:t>, </a:t>
            </a:r>
            <a:r>
              <a:rPr sz="1739" dirty="0">
                <a:solidFill>
                  <a:srgbClr val="0F172A"/>
                </a:solidFill>
                <a:latin typeface="Arial"/>
              </a:rPr>
              <a:t>the EV shift makes that logic obsolete.</a:t>
            </a:r>
          </a:p>
          <a:p>
            <a:pPr>
              <a:lnSpc>
                <a:spcPct val="105000"/>
              </a:lnSpc>
              <a:spcBef>
                <a:spcPts val="0"/>
              </a:spcBef>
              <a:spcAft>
                <a:spcPts val="900"/>
              </a:spcAft>
              <a:buNone/>
            </a:pPr>
            <a:r>
              <a:rPr sz="1739" dirty="0">
                <a:solidFill>
                  <a:srgbClr val="2563EB"/>
                </a:solidFill>
                <a:latin typeface="Arial"/>
              </a:rPr>
              <a:t>–  </a:t>
            </a:r>
            <a:r>
              <a:rPr sz="1739" dirty="0">
                <a:solidFill>
                  <a:srgbClr val="0F172A"/>
                </a:solidFill>
                <a:latin typeface="Arial"/>
              </a:rPr>
              <a:t>Firms that leaned on foreign partners are losing share fast, while independent Chinese makers have become global leaders (Whitfield &amp; Wuttke, 2026).</a:t>
            </a:r>
          </a:p>
          <a:p>
            <a:pPr>
              <a:lnSpc>
                <a:spcPct val="105000"/>
              </a:lnSpc>
              <a:spcBef>
                <a:spcPts val="0"/>
              </a:spcBef>
              <a:spcAft>
                <a:spcPts val="900"/>
              </a:spcAft>
              <a:buNone/>
            </a:pPr>
            <a:r>
              <a:rPr sz="1739" dirty="0">
                <a:solidFill>
                  <a:srgbClr val="2563EB"/>
                </a:solidFill>
                <a:latin typeface="Arial"/>
              </a:rPr>
              <a:t>–  </a:t>
            </a:r>
            <a:r>
              <a:rPr sz="1739" dirty="0">
                <a:solidFill>
                  <a:srgbClr val="0F172A"/>
                </a:solidFill>
                <a:latin typeface="Arial"/>
              </a:rPr>
              <a:t>The EU now prices governance risk directly: the tariff a firm pays tracks how state-dependent it is (European Commission, 2024).</a:t>
            </a:r>
          </a:p>
        </p:txBody>
      </p:sp>
      <p:sp>
        <p:nvSpPr>
          <p:cNvPr id="24" name="TextBox 23"/>
          <p:cNvSpPr txBox="1"/>
          <p:nvPr/>
        </p:nvSpPr>
        <p:spPr>
          <a:xfrm>
            <a:off x="548640" y="6199632"/>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276" b="0" i="1">
                <a:solidFill>
                  <a:srgbClr val="64748B"/>
                </a:solidFill>
                <a:latin typeface="Arial"/>
              </a:rPr>
              <a:t>Sources: IEA Global EV Outlook 2026 · SAIC Annual Report 2024/2025 · European Commission (2024)</a:t>
            </a:r>
          </a:p>
        </p:txBody>
      </p:sp>
      <p:sp>
        <p:nvSpPr>
          <p:cNvPr id="25" name="TextBox 24"/>
          <p:cNvSpPr txBox="1"/>
          <p:nvPr/>
        </p:nvSpPr>
        <p:spPr>
          <a:xfrm>
            <a:off x="548640" y="6473952"/>
            <a:ext cx="8686800" cy="274320"/>
          </a:xfrm>
          <a:prstGeom prst="rect">
            <a:avLst/>
          </a:prstGeom>
          <a:noFill/>
        </p:spPr>
        <p:txBody>
          <a:bodyPr wrap="square" lIns="0" tIns="0" rIns="0" bIns="0" anchor="t">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6" name="TextBox 25"/>
          <p:cNvSpPr txBox="1"/>
          <p:nvPr/>
        </p:nvSpPr>
        <p:spPr>
          <a:xfrm>
            <a:off x="10820095" y="6473952"/>
            <a:ext cx="822960" cy="274320"/>
          </a:xfrm>
          <a:prstGeom prst="rect">
            <a:avLst/>
          </a:prstGeom>
          <a:noFill/>
        </p:spPr>
        <p:txBody>
          <a:bodyPr wrap="square" lIns="0" tIns="0" rIns="0" bIns="0" anchor="t">
            <a:spAutoFit/>
          </a:bodyPr>
          <a:lstStyle/>
          <a:p>
            <a:pPr algn="r">
              <a:lnSpc>
                <a:spcPct val="100000"/>
              </a:lnSpc>
              <a:spcBef>
                <a:spcPts val="0"/>
              </a:spcBef>
              <a:spcAft>
                <a:spcPts val="200"/>
              </a:spcAft>
            </a:pPr>
            <a:r>
              <a:rPr sz="1218" b="0" i="0">
                <a:solidFill>
                  <a:srgbClr val="64748B"/>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623" b="1" i="0">
                <a:solidFill>
                  <a:srgbClr val="06B6D4"/>
                </a:solidFill>
                <a:latin typeface="Arial"/>
              </a:rPr>
              <a:t>INTRODUCTION · RESEARCH DESIGN</a:t>
            </a:r>
          </a:p>
        </p:txBody>
      </p:sp>
      <p:sp>
        <p:nvSpPr>
          <p:cNvPr id="4" name="TextBox 3"/>
          <p:cNvSpPr txBox="1"/>
          <p:nvPr/>
        </p:nvSpPr>
        <p:spPr>
          <a:xfrm>
            <a:off x="548640" y="658368"/>
            <a:ext cx="11064240" cy="914400"/>
          </a:xfrm>
          <a:prstGeom prst="rect">
            <a:avLst/>
          </a:prstGeom>
          <a:noFill/>
        </p:spPr>
        <p:txBody>
          <a:bodyPr wrap="square" lIns="0" tIns="0" rIns="0" bIns="0" anchor="t">
            <a:spAutoFit/>
          </a:bodyPr>
          <a:lstStyle/>
          <a:p>
            <a:pPr algn="l">
              <a:lnSpc>
                <a:spcPct val="100000"/>
              </a:lnSpc>
              <a:spcBef>
                <a:spcPts val="0"/>
              </a:spcBef>
              <a:spcAft>
                <a:spcPts val="200"/>
              </a:spcAft>
            </a:pPr>
            <a:r>
              <a:rPr sz="2100" b="1" i="0">
                <a:solidFill>
                  <a:srgbClr val="0F172A"/>
                </a:solidFill>
                <a:latin typeface="Arial"/>
              </a:rPr>
              <a:t>One question, three governance archetypes, four analytical dimensions</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627632"/>
            <a:ext cx="11064240" cy="8229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27632"/>
            <a:ext cx="10698480" cy="822960"/>
          </a:xfrm>
          <a:prstGeom prst="rect">
            <a:avLst/>
          </a:prstGeom>
          <a:noFill/>
        </p:spPr>
        <p:txBody>
          <a:bodyPr wrap="square" lIns="0" tIns="0" rIns="0" bIns="0" anchor="ctr">
            <a:spAutoFit/>
          </a:bodyPr>
          <a:lstStyle/>
          <a:p>
            <a:pPr algn="l">
              <a:lnSpc>
                <a:spcPct val="105000"/>
              </a:lnSpc>
              <a:spcBef>
                <a:spcPts val="0"/>
              </a:spcBef>
              <a:spcAft>
                <a:spcPts val="200"/>
              </a:spcAft>
            </a:pPr>
            <a:r>
              <a:rPr sz="1855" b="1" i="1">
                <a:solidFill>
                  <a:srgbClr val="FFFFFF"/>
                </a:solidFill>
                <a:latin typeface="Arial"/>
              </a:rPr>
              <a:t>“Which governance and financing structure is most likely to create long-term shareholder value in a technology-intensive, high-growth market?”</a:t>
            </a:r>
          </a:p>
        </p:txBody>
      </p:sp>
      <p:sp>
        <p:nvSpPr>
          <p:cNvPr id="9" name="Rectangle 8"/>
          <p:cNvSpPr/>
          <p:nvPr/>
        </p:nvSpPr>
        <p:spPr>
          <a:xfrm>
            <a:off x="548640" y="2697480"/>
            <a:ext cx="3593592" cy="123444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697480"/>
            <a:ext cx="3593592" cy="8229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2" y="2862072"/>
            <a:ext cx="3291840" cy="365760"/>
          </a:xfrm>
          <a:prstGeom prst="rect">
            <a:avLst/>
          </a:prstGeom>
          <a:noFill/>
        </p:spPr>
        <p:txBody>
          <a:bodyPr wrap="square" lIns="0" tIns="0" rIns="0" bIns="0" anchor="t">
            <a:spAutoFit/>
          </a:bodyPr>
          <a:lstStyle/>
          <a:p>
            <a:pPr algn="l">
              <a:lnSpc>
                <a:spcPct val="100000"/>
              </a:lnSpc>
              <a:spcBef>
                <a:spcPts val="0"/>
              </a:spcBef>
              <a:spcAft>
                <a:spcPts val="200"/>
              </a:spcAft>
            </a:pPr>
            <a:r>
              <a:rPr sz="1855" b="1" i="0">
                <a:solidFill>
                  <a:srgbClr val="DC2626"/>
                </a:solidFill>
                <a:latin typeface="Arial"/>
              </a:rPr>
              <a:t>SAIC Motor</a:t>
            </a:r>
          </a:p>
        </p:txBody>
      </p:sp>
      <p:sp>
        <p:nvSpPr>
          <p:cNvPr id="12" name="TextBox 11"/>
          <p:cNvSpPr txBox="1"/>
          <p:nvPr/>
        </p:nvSpPr>
        <p:spPr>
          <a:xfrm>
            <a:off x="713232" y="3273552"/>
            <a:ext cx="3291840" cy="640080"/>
          </a:xfrm>
          <a:prstGeom prst="rect">
            <a:avLst/>
          </a:prstGeom>
          <a:noFill/>
        </p:spPr>
        <p:txBody>
          <a:bodyPr wrap="square" lIns="0" tIns="0" rIns="0" bIns="0" anchor="t">
            <a:spAutoFit/>
          </a:bodyPr>
          <a:lstStyle/>
          <a:p>
            <a:pPr algn="l">
              <a:lnSpc>
                <a:spcPct val="105000"/>
              </a:lnSpc>
              <a:spcBef>
                <a:spcPts val="0"/>
              </a:spcBef>
              <a:spcAft>
                <a:spcPts val="200"/>
              </a:spcAft>
            </a:pPr>
            <a:r>
              <a:rPr sz="1507" b="0" i="0">
                <a:solidFill>
                  <a:srgbClr val="0F172A"/>
                </a:solidFill>
                <a:latin typeface="Arial"/>
              </a:rPr>
              <a:t>Joint-venture model</a:t>
            </a:r>
          </a:p>
          <a:p>
            <a:pPr algn="l">
              <a:lnSpc>
                <a:spcPct val="105000"/>
              </a:lnSpc>
              <a:spcBef>
                <a:spcPts val="0"/>
              </a:spcBef>
              <a:spcAft>
                <a:spcPts val="200"/>
              </a:spcAft>
            </a:pPr>
            <a:r>
              <a:rPr sz="1507" b="0" i="0">
                <a:solidFill>
                  <a:srgbClr val="0F172A"/>
                </a:solidFill>
                <a:latin typeface="Arial"/>
              </a:rPr>
              <a:t>State-owned · SASAC ~73%</a:t>
            </a:r>
          </a:p>
        </p:txBody>
      </p:sp>
      <p:sp>
        <p:nvSpPr>
          <p:cNvPr id="13" name="Rectangle 12"/>
          <p:cNvSpPr/>
          <p:nvPr/>
        </p:nvSpPr>
        <p:spPr>
          <a:xfrm>
            <a:off x="4279392" y="2697480"/>
            <a:ext cx="3593592" cy="123444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279392" y="2697480"/>
            <a:ext cx="3593592"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43984" y="2862072"/>
            <a:ext cx="3291840" cy="365760"/>
          </a:xfrm>
          <a:prstGeom prst="rect">
            <a:avLst/>
          </a:prstGeom>
          <a:noFill/>
        </p:spPr>
        <p:txBody>
          <a:bodyPr wrap="square" lIns="0" tIns="0" rIns="0" bIns="0" anchor="t">
            <a:spAutoFit/>
          </a:bodyPr>
          <a:lstStyle/>
          <a:p>
            <a:pPr algn="l">
              <a:lnSpc>
                <a:spcPct val="100000"/>
              </a:lnSpc>
              <a:spcBef>
                <a:spcPts val="0"/>
              </a:spcBef>
              <a:spcAft>
                <a:spcPts val="200"/>
              </a:spcAft>
            </a:pPr>
            <a:r>
              <a:rPr sz="1855" b="1" i="0">
                <a:solidFill>
                  <a:srgbClr val="2563EB"/>
                </a:solidFill>
                <a:latin typeface="Arial"/>
              </a:rPr>
              <a:t>BYD</a:t>
            </a:r>
          </a:p>
        </p:txBody>
      </p:sp>
      <p:sp>
        <p:nvSpPr>
          <p:cNvPr id="16" name="TextBox 15"/>
          <p:cNvSpPr txBox="1"/>
          <p:nvPr/>
        </p:nvSpPr>
        <p:spPr>
          <a:xfrm>
            <a:off x="4443984" y="3273552"/>
            <a:ext cx="3291840" cy="640080"/>
          </a:xfrm>
          <a:prstGeom prst="rect">
            <a:avLst/>
          </a:prstGeom>
          <a:noFill/>
        </p:spPr>
        <p:txBody>
          <a:bodyPr wrap="square" lIns="0" tIns="0" rIns="0" bIns="0" anchor="t">
            <a:spAutoFit/>
          </a:bodyPr>
          <a:lstStyle/>
          <a:p>
            <a:pPr algn="l">
              <a:lnSpc>
                <a:spcPct val="105000"/>
              </a:lnSpc>
              <a:spcBef>
                <a:spcPts val="0"/>
              </a:spcBef>
              <a:spcAft>
                <a:spcPts val="200"/>
              </a:spcAft>
            </a:pPr>
            <a:r>
              <a:rPr sz="1507" b="0" i="0">
                <a:solidFill>
                  <a:srgbClr val="0F172A"/>
                </a:solidFill>
                <a:latin typeface="Arial"/>
              </a:rPr>
              <a:t>Vertical integration</a:t>
            </a:r>
          </a:p>
          <a:p>
            <a:pPr algn="l">
              <a:lnSpc>
                <a:spcPct val="105000"/>
              </a:lnSpc>
              <a:spcBef>
                <a:spcPts val="0"/>
              </a:spcBef>
              <a:spcAft>
                <a:spcPts val="200"/>
              </a:spcAft>
            </a:pPr>
            <a:r>
              <a:rPr sz="1507" b="0" i="0">
                <a:solidFill>
                  <a:srgbClr val="0F172A"/>
                </a:solidFill>
                <a:latin typeface="Arial"/>
              </a:rPr>
              <a:t>Founder-led · Wang ~17%</a:t>
            </a:r>
          </a:p>
        </p:txBody>
      </p:sp>
      <p:sp>
        <p:nvSpPr>
          <p:cNvPr id="17" name="Rectangle 16"/>
          <p:cNvSpPr/>
          <p:nvPr/>
        </p:nvSpPr>
        <p:spPr>
          <a:xfrm>
            <a:off x="8010144" y="2697480"/>
            <a:ext cx="3593592" cy="123444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10144" y="2697480"/>
            <a:ext cx="3593592" cy="8229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74736" y="2862072"/>
            <a:ext cx="3291840" cy="365760"/>
          </a:xfrm>
          <a:prstGeom prst="rect">
            <a:avLst/>
          </a:prstGeom>
          <a:noFill/>
        </p:spPr>
        <p:txBody>
          <a:bodyPr wrap="square" lIns="0" tIns="0" rIns="0" bIns="0" anchor="t">
            <a:spAutoFit/>
          </a:bodyPr>
          <a:lstStyle/>
          <a:p>
            <a:pPr algn="l">
              <a:lnSpc>
                <a:spcPct val="100000"/>
              </a:lnSpc>
              <a:spcBef>
                <a:spcPts val="0"/>
              </a:spcBef>
              <a:spcAft>
                <a:spcPts val="200"/>
              </a:spcAft>
            </a:pPr>
            <a:r>
              <a:rPr sz="1855" b="1" i="0">
                <a:solidFill>
                  <a:srgbClr val="06B6D4"/>
                </a:solidFill>
                <a:latin typeface="Arial"/>
              </a:rPr>
              <a:t>Geely</a:t>
            </a:r>
          </a:p>
        </p:txBody>
      </p:sp>
      <p:sp>
        <p:nvSpPr>
          <p:cNvPr id="20" name="TextBox 19"/>
          <p:cNvSpPr txBox="1"/>
          <p:nvPr/>
        </p:nvSpPr>
        <p:spPr>
          <a:xfrm>
            <a:off x="8174736" y="3273552"/>
            <a:ext cx="3291840" cy="640080"/>
          </a:xfrm>
          <a:prstGeom prst="rect">
            <a:avLst/>
          </a:prstGeom>
          <a:noFill/>
        </p:spPr>
        <p:txBody>
          <a:bodyPr wrap="square" lIns="0" tIns="0" rIns="0" bIns="0" anchor="t">
            <a:spAutoFit/>
          </a:bodyPr>
          <a:lstStyle/>
          <a:p>
            <a:pPr algn="l">
              <a:lnSpc>
                <a:spcPct val="105000"/>
              </a:lnSpc>
              <a:spcBef>
                <a:spcPts val="0"/>
              </a:spcBef>
              <a:spcAft>
                <a:spcPts val="200"/>
              </a:spcAft>
            </a:pPr>
            <a:r>
              <a:rPr sz="1507" b="0" i="0">
                <a:solidFill>
                  <a:srgbClr val="0F172A"/>
                </a:solidFill>
                <a:latin typeface="Arial"/>
              </a:rPr>
              <a:t>M&amp;A-driven</a:t>
            </a:r>
          </a:p>
          <a:p>
            <a:pPr algn="l">
              <a:lnSpc>
                <a:spcPct val="105000"/>
              </a:lnSpc>
              <a:spcBef>
                <a:spcPts val="0"/>
              </a:spcBef>
              <a:spcAft>
                <a:spcPts val="200"/>
              </a:spcAft>
            </a:pPr>
            <a:r>
              <a:rPr sz="1507" b="0" i="0">
                <a:solidFill>
                  <a:srgbClr val="0F172A"/>
                </a:solidFill>
                <a:latin typeface="Arial"/>
              </a:rPr>
              <a:t>Founder-led · Li ~41% attributable</a:t>
            </a:r>
          </a:p>
        </p:txBody>
      </p:sp>
      <p:sp>
        <p:nvSpPr>
          <p:cNvPr id="21" name="TextBox 20"/>
          <p:cNvSpPr txBox="1"/>
          <p:nvPr/>
        </p:nvSpPr>
        <p:spPr>
          <a:xfrm>
            <a:off x="548640" y="4206240"/>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449" b="1" i="0">
                <a:solidFill>
                  <a:srgbClr val="2563EB"/>
                </a:solidFill>
                <a:latin typeface="Arial"/>
              </a:rPr>
              <a:t>FOUR ANALYTICAL DIMENSIONS — APPLIED TO EACH CASE</a:t>
            </a:r>
          </a:p>
        </p:txBody>
      </p:sp>
      <p:sp>
        <p:nvSpPr>
          <p:cNvPr id="22" name="Rectangle 21"/>
          <p:cNvSpPr/>
          <p:nvPr/>
        </p:nvSpPr>
        <p:spPr>
          <a:xfrm>
            <a:off x="548640" y="4572000"/>
            <a:ext cx="2560320" cy="6400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4572000"/>
            <a:ext cx="2560320" cy="640080"/>
          </a:xfrm>
          <a:prstGeom prst="rect">
            <a:avLst/>
          </a:prstGeom>
          <a:noFill/>
        </p:spPr>
        <p:txBody>
          <a:bodyPr wrap="square" lIns="0" tIns="0" rIns="0" bIns="0" anchor="ctr">
            <a:spAutoFit/>
          </a:bodyPr>
          <a:lstStyle/>
          <a:p>
            <a:pPr algn="ctr">
              <a:lnSpc>
                <a:spcPct val="100000"/>
              </a:lnSpc>
              <a:spcBef>
                <a:spcPts val="0"/>
              </a:spcBef>
              <a:spcAft>
                <a:spcPts val="200"/>
              </a:spcAft>
            </a:pPr>
            <a:r>
              <a:rPr sz="1565" b="1" i="0">
                <a:solidFill>
                  <a:srgbClr val="FFFFFF"/>
                </a:solidFill>
                <a:latin typeface="Arial"/>
              </a:rPr>
              <a:t>1  Governance</a:t>
            </a:r>
          </a:p>
        </p:txBody>
      </p:sp>
      <p:sp>
        <p:nvSpPr>
          <p:cNvPr id="24" name="TextBox 23"/>
          <p:cNvSpPr txBox="1"/>
          <p:nvPr/>
        </p:nvSpPr>
        <p:spPr>
          <a:xfrm>
            <a:off x="3108960" y="4572000"/>
            <a:ext cx="182880" cy="640080"/>
          </a:xfrm>
          <a:prstGeom prst="rect">
            <a:avLst/>
          </a:prstGeom>
          <a:noFill/>
        </p:spPr>
        <p:txBody>
          <a:bodyPr wrap="square" lIns="0" tIns="0" rIns="0" bIns="0" anchor="ctr">
            <a:spAutoFit/>
          </a:bodyPr>
          <a:lstStyle/>
          <a:p>
            <a:pPr algn="ctr">
              <a:lnSpc>
                <a:spcPct val="100000"/>
              </a:lnSpc>
              <a:spcBef>
                <a:spcPts val="0"/>
              </a:spcBef>
              <a:spcAft>
                <a:spcPts val="200"/>
              </a:spcAft>
            </a:pPr>
            <a:r>
              <a:rPr sz="1800" b="1" i="0">
                <a:solidFill>
                  <a:srgbClr val="64748B"/>
                </a:solidFill>
                <a:latin typeface="Arial"/>
              </a:rPr>
              <a:t>›</a:t>
            </a:r>
          </a:p>
        </p:txBody>
      </p:sp>
      <p:sp>
        <p:nvSpPr>
          <p:cNvPr id="25" name="Rectangle 24"/>
          <p:cNvSpPr/>
          <p:nvPr/>
        </p:nvSpPr>
        <p:spPr>
          <a:xfrm>
            <a:off x="3291840" y="4572000"/>
            <a:ext cx="2560320" cy="6400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91840" y="4572000"/>
            <a:ext cx="2560320" cy="640080"/>
          </a:xfrm>
          <a:prstGeom prst="rect">
            <a:avLst/>
          </a:prstGeom>
          <a:noFill/>
        </p:spPr>
        <p:txBody>
          <a:bodyPr wrap="square" lIns="0" tIns="0" rIns="0" bIns="0" anchor="ctr">
            <a:spAutoFit/>
          </a:bodyPr>
          <a:lstStyle/>
          <a:p>
            <a:pPr algn="ctr">
              <a:lnSpc>
                <a:spcPct val="100000"/>
              </a:lnSpc>
              <a:spcBef>
                <a:spcPts val="0"/>
              </a:spcBef>
              <a:spcAft>
                <a:spcPts val="200"/>
              </a:spcAft>
            </a:pPr>
            <a:r>
              <a:rPr sz="1565" b="1" i="0">
                <a:solidFill>
                  <a:srgbClr val="FFFFFF"/>
                </a:solidFill>
                <a:latin typeface="Arial"/>
              </a:rPr>
              <a:t>2  Financing</a:t>
            </a:r>
          </a:p>
        </p:txBody>
      </p:sp>
      <p:sp>
        <p:nvSpPr>
          <p:cNvPr id="27" name="TextBox 26"/>
          <p:cNvSpPr txBox="1"/>
          <p:nvPr/>
        </p:nvSpPr>
        <p:spPr>
          <a:xfrm>
            <a:off x="5852160" y="4572000"/>
            <a:ext cx="182880" cy="640080"/>
          </a:xfrm>
          <a:prstGeom prst="rect">
            <a:avLst/>
          </a:prstGeom>
          <a:noFill/>
        </p:spPr>
        <p:txBody>
          <a:bodyPr wrap="square" lIns="0" tIns="0" rIns="0" bIns="0" anchor="ctr">
            <a:spAutoFit/>
          </a:bodyPr>
          <a:lstStyle/>
          <a:p>
            <a:pPr algn="ctr">
              <a:lnSpc>
                <a:spcPct val="100000"/>
              </a:lnSpc>
              <a:spcBef>
                <a:spcPts val="0"/>
              </a:spcBef>
              <a:spcAft>
                <a:spcPts val="200"/>
              </a:spcAft>
            </a:pPr>
            <a:r>
              <a:rPr sz="1800" b="1" i="0">
                <a:solidFill>
                  <a:srgbClr val="64748B"/>
                </a:solidFill>
                <a:latin typeface="Arial"/>
              </a:rPr>
              <a:t>›</a:t>
            </a:r>
          </a:p>
        </p:txBody>
      </p:sp>
      <p:sp>
        <p:nvSpPr>
          <p:cNvPr id="28" name="Rectangle 27"/>
          <p:cNvSpPr/>
          <p:nvPr/>
        </p:nvSpPr>
        <p:spPr>
          <a:xfrm>
            <a:off x="6035040" y="4572000"/>
            <a:ext cx="2560320" cy="6400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035040" y="4572000"/>
            <a:ext cx="2560320" cy="640080"/>
          </a:xfrm>
          <a:prstGeom prst="rect">
            <a:avLst/>
          </a:prstGeom>
          <a:noFill/>
        </p:spPr>
        <p:txBody>
          <a:bodyPr wrap="square" lIns="0" tIns="0" rIns="0" bIns="0" anchor="ctr">
            <a:spAutoFit/>
          </a:bodyPr>
          <a:lstStyle/>
          <a:p>
            <a:pPr algn="ctr">
              <a:lnSpc>
                <a:spcPct val="100000"/>
              </a:lnSpc>
              <a:spcBef>
                <a:spcPts val="0"/>
              </a:spcBef>
              <a:spcAft>
                <a:spcPts val="200"/>
              </a:spcAft>
            </a:pPr>
            <a:r>
              <a:rPr sz="1565" b="1" i="0">
                <a:solidFill>
                  <a:srgbClr val="FFFFFF"/>
                </a:solidFill>
                <a:latin typeface="Arial"/>
              </a:rPr>
              <a:t>3  Capability Building</a:t>
            </a:r>
          </a:p>
        </p:txBody>
      </p:sp>
      <p:sp>
        <p:nvSpPr>
          <p:cNvPr id="30" name="TextBox 29"/>
          <p:cNvSpPr txBox="1"/>
          <p:nvPr/>
        </p:nvSpPr>
        <p:spPr>
          <a:xfrm>
            <a:off x="8595360" y="4572000"/>
            <a:ext cx="182880" cy="640080"/>
          </a:xfrm>
          <a:prstGeom prst="rect">
            <a:avLst/>
          </a:prstGeom>
          <a:noFill/>
        </p:spPr>
        <p:txBody>
          <a:bodyPr wrap="square" lIns="0" tIns="0" rIns="0" bIns="0" anchor="ctr">
            <a:spAutoFit/>
          </a:bodyPr>
          <a:lstStyle/>
          <a:p>
            <a:pPr algn="ctr">
              <a:lnSpc>
                <a:spcPct val="100000"/>
              </a:lnSpc>
              <a:spcBef>
                <a:spcPts val="0"/>
              </a:spcBef>
              <a:spcAft>
                <a:spcPts val="200"/>
              </a:spcAft>
            </a:pPr>
            <a:r>
              <a:rPr sz="1800" b="1" i="0">
                <a:solidFill>
                  <a:srgbClr val="64748B"/>
                </a:solidFill>
                <a:latin typeface="Arial"/>
              </a:rPr>
              <a:t>›</a:t>
            </a:r>
          </a:p>
        </p:txBody>
      </p:sp>
      <p:sp>
        <p:nvSpPr>
          <p:cNvPr id="31" name="Rectangle 30"/>
          <p:cNvSpPr/>
          <p:nvPr/>
        </p:nvSpPr>
        <p:spPr>
          <a:xfrm>
            <a:off x="8778240" y="4572000"/>
            <a:ext cx="2560320" cy="6400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778240" y="4572000"/>
            <a:ext cx="2560320" cy="640080"/>
          </a:xfrm>
          <a:prstGeom prst="rect">
            <a:avLst/>
          </a:prstGeom>
          <a:noFill/>
        </p:spPr>
        <p:txBody>
          <a:bodyPr wrap="square" lIns="0" tIns="0" rIns="0" bIns="0" anchor="ctr">
            <a:spAutoFit/>
          </a:bodyPr>
          <a:lstStyle/>
          <a:p>
            <a:pPr algn="ctr">
              <a:lnSpc>
                <a:spcPct val="100000"/>
              </a:lnSpc>
              <a:spcBef>
                <a:spcPts val="0"/>
              </a:spcBef>
              <a:spcAft>
                <a:spcPts val="200"/>
              </a:spcAft>
            </a:pPr>
            <a:r>
              <a:rPr sz="1565" b="1" i="0">
                <a:solidFill>
                  <a:srgbClr val="FFFFFF"/>
                </a:solidFill>
                <a:latin typeface="Arial"/>
              </a:rPr>
              <a:t>4  Long-term Viability</a:t>
            </a:r>
          </a:p>
        </p:txBody>
      </p:sp>
      <p:sp>
        <p:nvSpPr>
          <p:cNvPr id="33" name="TextBox 32"/>
          <p:cNvSpPr txBox="1"/>
          <p:nvPr/>
        </p:nvSpPr>
        <p:spPr>
          <a:xfrm>
            <a:off x="548640" y="5532120"/>
            <a:ext cx="11064240" cy="506357"/>
          </a:xfrm>
          <a:prstGeom prst="rect">
            <a:avLst/>
          </a:prstGeom>
          <a:noFill/>
        </p:spPr>
        <p:txBody>
          <a:bodyPr wrap="square" lIns="0" tIns="0" rIns="0" bIns="0" anchor="t">
            <a:spAutoFit/>
          </a:bodyPr>
          <a:lstStyle/>
          <a:p>
            <a:pPr algn="ctr">
              <a:lnSpc>
                <a:spcPct val="105000"/>
              </a:lnSpc>
              <a:spcBef>
                <a:spcPts val="0"/>
              </a:spcBef>
              <a:spcAft>
                <a:spcPts val="200"/>
              </a:spcAft>
            </a:pPr>
            <a:r>
              <a:rPr sz="1623" b="1" i="0" dirty="0">
                <a:solidFill>
                  <a:srgbClr val="0F172A"/>
                </a:solidFill>
                <a:latin typeface="Arial"/>
              </a:rPr>
              <a:t>Central thesis: governance structure, more than initial technological endowment, determines long-term value creation.</a:t>
            </a:r>
          </a:p>
        </p:txBody>
      </p:sp>
      <p:sp>
        <p:nvSpPr>
          <p:cNvPr id="34" name="TextBox 33"/>
          <p:cNvSpPr txBox="1"/>
          <p:nvPr/>
        </p:nvSpPr>
        <p:spPr>
          <a:xfrm>
            <a:off x="548640" y="6473952"/>
            <a:ext cx="8686800" cy="274320"/>
          </a:xfrm>
          <a:prstGeom prst="rect">
            <a:avLst/>
          </a:prstGeom>
          <a:noFill/>
        </p:spPr>
        <p:txBody>
          <a:bodyPr wrap="square" lIns="0" tIns="0" rIns="0" bIns="0" anchor="t">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35" name="TextBox 34"/>
          <p:cNvSpPr txBox="1"/>
          <p:nvPr/>
        </p:nvSpPr>
        <p:spPr>
          <a:xfrm>
            <a:off x="10820095" y="6473952"/>
            <a:ext cx="822960" cy="274320"/>
          </a:xfrm>
          <a:prstGeom prst="rect">
            <a:avLst/>
          </a:prstGeom>
          <a:noFill/>
        </p:spPr>
        <p:txBody>
          <a:bodyPr wrap="square" lIns="0" tIns="0" rIns="0" bIns="0" anchor="t">
            <a:spAutoFit/>
          </a:bodyPr>
          <a:lstStyle/>
          <a:p>
            <a:pPr algn="r">
              <a:lnSpc>
                <a:spcPct val="100000"/>
              </a:lnSpc>
              <a:spcBef>
                <a:spcPts val="0"/>
              </a:spcBef>
              <a:spcAft>
                <a:spcPts val="200"/>
              </a:spcAft>
            </a:pPr>
            <a:r>
              <a:rPr sz="1218" b="0" i="0">
                <a:solidFill>
                  <a:srgbClr val="64748B"/>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623" b="1" i="0">
                <a:solidFill>
                  <a:srgbClr val="06B6D4"/>
                </a:solidFill>
                <a:latin typeface="Arial"/>
              </a:rPr>
              <a:t>THEORY &amp; LITERATURE</a:t>
            </a:r>
          </a:p>
        </p:txBody>
      </p:sp>
      <p:sp>
        <p:nvSpPr>
          <p:cNvPr id="4" name="TextBox 3"/>
          <p:cNvSpPr txBox="1"/>
          <p:nvPr/>
        </p:nvSpPr>
        <p:spPr>
          <a:xfrm>
            <a:off x="548640" y="658368"/>
            <a:ext cx="11064240" cy="914400"/>
          </a:xfrm>
          <a:prstGeom prst="rect">
            <a:avLst/>
          </a:prstGeom>
          <a:noFill/>
        </p:spPr>
        <p:txBody>
          <a:bodyPr wrap="square" lIns="0" tIns="0" rIns="0" bIns="0" anchor="t">
            <a:spAutoFit/>
          </a:bodyPr>
          <a:lstStyle/>
          <a:p>
            <a:pPr algn="l">
              <a:lnSpc>
                <a:spcPct val="100000"/>
              </a:lnSpc>
              <a:spcBef>
                <a:spcPts val="0"/>
              </a:spcBef>
              <a:spcAft>
                <a:spcPts val="200"/>
              </a:spcAft>
            </a:pPr>
            <a:r>
              <a:rPr sz="2100" b="1" i="0">
                <a:solidFill>
                  <a:srgbClr val="0F172A"/>
                </a:solidFill>
                <a:latin typeface="Arial"/>
              </a:rPr>
              <a:t>Six established lenses frame governance as the driver of value</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737360"/>
            <a:ext cx="3593592" cy="1874519"/>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737360"/>
            <a:ext cx="82296" cy="1874519"/>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1883664"/>
            <a:ext cx="3264408" cy="457200"/>
          </a:xfrm>
          <a:prstGeom prst="rect">
            <a:avLst/>
          </a:prstGeom>
          <a:noFill/>
        </p:spPr>
        <p:txBody>
          <a:bodyPr wrap="square" lIns="0" tIns="0" rIns="0" bIns="0" anchor="t">
            <a:spAutoFit/>
          </a:bodyPr>
          <a:lstStyle/>
          <a:p>
            <a:pPr algn="l">
              <a:lnSpc>
                <a:spcPct val="95000"/>
              </a:lnSpc>
              <a:spcBef>
                <a:spcPts val="0"/>
              </a:spcBef>
              <a:spcAft>
                <a:spcPts val="200"/>
              </a:spcAft>
            </a:pPr>
            <a:r>
              <a:rPr sz="1682" b="1" i="0">
                <a:solidFill>
                  <a:srgbClr val="0F172A"/>
                </a:solidFill>
                <a:latin typeface="Arial"/>
              </a:rPr>
              <a:t>Control rights drive allocation</a:t>
            </a:r>
          </a:p>
        </p:txBody>
      </p:sp>
      <p:sp>
        <p:nvSpPr>
          <p:cNvPr id="10" name="TextBox 9"/>
          <p:cNvSpPr txBox="1"/>
          <p:nvPr/>
        </p:nvSpPr>
        <p:spPr>
          <a:xfrm>
            <a:off x="749808" y="2450592"/>
            <a:ext cx="3264408" cy="274320"/>
          </a:xfrm>
          <a:prstGeom prst="rect">
            <a:avLst/>
          </a:prstGeom>
          <a:noFill/>
        </p:spPr>
        <p:txBody>
          <a:bodyPr wrap="square" lIns="0" tIns="0" rIns="0" bIns="0" anchor="t">
            <a:spAutoFit/>
          </a:bodyPr>
          <a:lstStyle/>
          <a:p>
            <a:pPr algn="l">
              <a:lnSpc>
                <a:spcPct val="100000"/>
              </a:lnSpc>
              <a:spcBef>
                <a:spcPts val="0"/>
              </a:spcBef>
              <a:spcAft>
                <a:spcPts val="200"/>
              </a:spcAft>
            </a:pPr>
            <a:r>
              <a:rPr sz="1334" b="1" i="1">
                <a:solidFill>
                  <a:srgbClr val="DC2626"/>
                </a:solidFill>
                <a:latin typeface="Arial"/>
              </a:rPr>
              <a:t>Shleifer &amp; Vishny (1994)</a:t>
            </a:r>
          </a:p>
        </p:txBody>
      </p:sp>
      <p:sp>
        <p:nvSpPr>
          <p:cNvPr id="11" name="TextBox 10"/>
          <p:cNvSpPr txBox="1"/>
          <p:nvPr/>
        </p:nvSpPr>
        <p:spPr>
          <a:xfrm>
            <a:off x="749808" y="2761488"/>
            <a:ext cx="3264408" cy="777240"/>
          </a:xfrm>
          <a:prstGeom prst="rect">
            <a:avLst/>
          </a:prstGeom>
          <a:noFill/>
        </p:spPr>
        <p:txBody>
          <a:bodyPr wrap="square" lIns="0" tIns="0" rIns="0" bIns="0" anchor="t">
            <a:spAutoFit/>
          </a:bodyPr>
          <a:lstStyle/>
          <a:p>
            <a:pPr algn="l">
              <a:lnSpc>
                <a:spcPct val="100000"/>
              </a:lnSpc>
              <a:spcBef>
                <a:spcPts val="0"/>
              </a:spcBef>
              <a:spcAft>
                <a:spcPts val="200"/>
              </a:spcAft>
            </a:pPr>
            <a:r>
              <a:rPr sz="1449" b="0" i="0">
                <a:solidFill>
                  <a:srgbClr val="0F172A"/>
                </a:solidFill>
                <a:latin typeface="Arial"/>
              </a:rPr>
              <a:t>State control steers firms toward political goals, away from value.</a:t>
            </a:r>
          </a:p>
        </p:txBody>
      </p:sp>
      <p:sp>
        <p:nvSpPr>
          <p:cNvPr id="12" name="Rectangle 11"/>
          <p:cNvSpPr/>
          <p:nvPr/>
        </p:nvSpPr>
        <p:spPr>
          <a:xfrm>
            <a:off x="4293108" y="1737360"/>
            <a:ext cx="3593592" cy="1874519"/>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93108" y="1737360"/>
            <a:ext cx="82296" cy="1874519"/>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94276" y="1883664"/>
            <a:ext cx="3264408" cy="457200"/>
          </a:xfrm>
          <a:prstGeom prst="rect">
            <a:avLst/>
          </a:prstGeom>
          <a:noFill/>
        </p:spPr>
        <p:txBody>
          <a:bodyPr wrap="square" lIns="0" tIns="0" rIns="0" bIns="0" anchor="t">
            <a:spAutoFit/>
          </a:bodyPr>
          <a:lstStyle/>
          <a:p>
            <a:pPr algn="l">
              <a:lnSpc>
                <a:spcPct val="95000"/>
              </a:lnSpc>
              <a:spcBef>
                <a:spcPts val="0"/>
              </a:spcBef>
              <a:spcAft>
                <a:spcPts val="200"/>
              </a:spcAft>
            </a:pPr>
            <a:r>
              <a:rPr sz="1682" b="1" i="0">
                <a:solidFill>
                  <a:srgbClr val="0F172A"/>
                </a:solidFill>
                <a:latin typeface="Arial"/>
              </a:rPr>
              <a:t>State vs. private ownership</a:t>
            </a:r>
          </a:p>
        </p:txBody>
      </p:sp>
      <p:sp>
        <p:nvSpPr>
          <p:cNvPr id="15" name="TextBox 14"/>
          <p:cNvSpPr txBox="1"/>
          <p:nvPr/>
        </p:nvSpPr>
        <p:spPr>
          <a:xfrm>
            <a:off x="4494276" y="2450592"/>
            <a:ext cx="3264408" cy="274320"/>
          </a:xfrm>
          <a:prstGeom prst="rect">
            <a:avLst/>
          </a:prstGeom>
          <a:noFill/>
        </p:spPr>
        <p:txBody>
          <a:bodyPr wrap="square" lIns="0" tIns="0" rIns="0" bIns="0" anchor="t">
            <a:spAutoFit/>
          </a:bodyPr>
          <a:lstStyle/>
          <a:p>
            <a:pPr algn="l">
              <a:lnSpc>
                <a:spcPct val="100000"/>
              </a:lnSpc>
              <a:spcBef>
                <a:spcPts val="0"/>
              </a:spcBef>
              <a:spcAft>
                <a:spcPts val="200"/>
              </a:spcAft>
            </a:pPr>
            <a:r>
              <a:rPr sz="1334" b="1" i="1">
                <a:solidFill>
                  <a:srgbClr val="DC2626"/>
                </a:solidFill>
                <a:latin typeface="Arial"/>
              </a:rPr>
              <a:t>Megginson &amp; Netter (2001)</a:t>
            </a:r>
          </a:p>
        </p:txBody>
      </p:sp>
      <p:sp>
        <p:nvSpPr>
          <p:cNvPr id="16" name="TextBox 15"/>
          <p:cNvSpPr txBox="1"/>
          <p:nvPr/>
        </p:nvSpPr>
        <p:spPr>
          <a:xfrm>
            <a:off x="4494276" y="2761488"/>
            <a:ext cx="3264408" cy="777240"/>
          </a:xfrm>
          <a:prstGeom prst="rect">
            <a:avLst/>
          </a:prstGeom>
          <a:noFill/>
        </p:spPr>
        <p:txBody>
          <a:bodyPr wrap="square" lIns="0" tIns="0" rIns="0" bIns="0" anchor="t">
            <a:spAutoFit/>
          </a:bodyPr>
          <a:lstStyle/>
          <a:p>
            <a:pPr algn="l">
              <a:lnSpc>
                <a:spcPct val="100000"/>
              </a:lnSpc>
              <a:spcBef>
                <a:spcPts val="0"/>
              </a:spcBef>
              <a:spcAft>
                <a:spcPts val="200"/>
              </a:spcAft>
            </a:pPr>
            <a:r>
              <a:rPr sz="1449" b="0" i="0">
                <a:solidFill>
                  <a:srgbClr val="0F172A"/>
                </a:solidFill>
                <a:latin typeface="Arial"/>
              </a:rPr>
              <a:t>Privatised firms outperform; mixed-ownership firms do not catch up.</a:t>
            </a:r>
          </a:p>
        </p:txBody>
      </p:sp>
      <p:sp>
        <p:nvSpPr>
          <p:cNvPr id="17" name="Rectangle 16"/>
          <p:cNvSpPr/>
          <p:nvPr/>
        </p:nvSpPr>
        <p:spPr>
          <a:xfrm>
            <a:off x="8037576" y="1737360"/>
            <a:ext cx="3593592" cy="1874519"/>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37576" y="1737360"/>
            <a:ext cx="82296" cy="1874519"/>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38744" y="1883664"/>
            <a:ext cx="3264408" cy="457200"/>
          </a:xfrm>
          <a:prstGeom prst="rect">
            <a:avLst/>
          </a:prstGeom>
          <a:noFill/>
        </p:spPr>
        <p:txBody>
          <a:bodyPr wrap="square" lIns="0" tIns="0" rIns="0" bIns="0" anchor="t">
            <a:spAutoFit/>
          </a:bodyPr>
          <a:lstStyle/>
          <a:p>
            <a:pPr algn="l">
              <a:lnSpc>
                <a:spcPct val="95000"/>
              </a:lnSpc>
              <a:spcBef>
                <a:spcPts val="0"/>
              </a:spcBef>
              <a:spcAft>
                <a:spcPts val="200"/>
              </a:spcAft>
            </a:pPr>
            <a:r>
              <a:rPr sz="1682" b="1" i="0">
                <a:solidFill>
                  <a:srgbClr val="0F172A"/>
                </a:solidFill>
                <a:latin typeface="Arial"/>
              </a:rPr>
              <a:t>Agency &amp; founder alignment</a:t>
            </a:r>
          </a:p>
        </p:txBody>
      </p:sp>
      <p:sp>
        <p:nvSpPr>
          <p:cNvPr id="20" name="TextBox 19"/>
          <p:cNvSpPr txBox="1"/>
          <p:nvPr/>
        </p:nvSpPr>
        <p:spPr>
          <a:xfrm>
            <a:off x="8238744" y="2450592"/>
            <a:ext cx="3264408" cy="274320"/>
          </a:xfrm>
          <a:prstGeom prst="rect">
            <a:avLst/>
          </a:prstGeom>
          <a:noFill/>
        </p:spPr>
        <p:txBody>
          <a:bodyPr wrap="square" lIns="0" tIns="0" rIns="0" bIns="0" anchor="t">
            <a:spAutoFit/>
          </a:bodyPr>
          <a:lstStyle/>
          <a:p>
            <a:pPr algn="l">
              <a:lnSpc>
                <a:spcPct val="100000"/>
              </a:lnSpc>
              <a:spcBef>
                <a:spcPts val="0"/>
              </a:spcBef>
              <a:spcAft>
                <a:spcPts val="200"/>
              </a:spcAft>
            </a:pPr>
            <a:r>
              <a:rPr sz="1334" b="1" i="1">
                <a:solidFill>
                  <a:srgbClr val="2563EB"/>
                </a:solidFill>
                <a:latin typeface="Arial"/>
              </a:rPr>
              <a:t>Jensen &amp; Meckling (1976)</a:t>
            </a:r>
          </a:p>
        </p:txBody>
      </p:sp>
      <p:sp>
        <p:nvSpPr>
          <p:cNvPr id="21" name="TextBox 20"/>
          <p:cNvSpPr txBox="1"/>
          <p:nvPr/>
        </p:nvSpPr>
        <p:spPr>
          <a:xfrm>
            <a:off x="8238744" y="2761488"/>
            <a:ext cx="3264408" cy="777240"/>
          </a:xfrm>
          <a:prstGeom prst="rect">
            <a:avLst/>
          </a:prstGeom>
          <a:noFill/>
        </p:spPr>
        <p:txBody>
          <a:bodyPr wrap="square" lIns="0" tIns="0" rIns="0" bIns="0" anchor="t">
            <a:spAutoFit/>
          </a:bodyPr>
          <a:lstStyle/>
          <a:p>
            <a:pPr algn="l">
              <a:lnSpc>
                <a:spcPct val="100000"/>
              </a:lnSpc>
              <a:spcBef>
                <a:spcPts val="0"/>
              </a:spcBef>
              <a:spcAft>
                <a:spcPts val="200"/>
              </a:spcAft>
            </a:pPr>
            <a:r>
              <a:rPr sz="1449" b="0" i="0">
                <a:solidFill>
                  <a:srgbClr val="0F172A"/>
                </a:solidFill>
                <a:latin typeface="Arial"/>
              </a:rPr>
              <a:t>Concentrated founder ownership removes the principal–agent conflict.</a:t>
            </a:r>
          </a:p>
        </p:txBody>
      </p:sp>
      <p:sp>
        <p:nvSpPr>
          <p:cNvPr id="22" name="Rectangle 21"/>
          <p:cNvSpPr/>
          <p:nvPr/>
        </p:nvSpPr>
        <p:spPr>
          <a:xfrm>
            <a:off x="548640" y="3794759"/>
            <a:ext cx="3593592" cy="1874519"/>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48640" y="3794759"/>
            <a:ext cx="82296" cy="1874519"/>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8" y="3941063"/>
            <a:ext cx="3264408" cy="457200"/>
          </a:xfrm>
          <a:prstGeom prst="rect">
            <a:avLst/>
          </a:prstGeom>
          <a:noFill/>
        </p:spPr>
        <p:txBody>
          <a:bodyPr wrap="square" lIns="0" tIns="0" rIns="0" bIns="0" anchor="t">
            <a:spAutoFit/>
          </a:bodyPr>
          <a:lstStyle/>
          <a:p>
            <a:pPr algn="l">
              <a:lnSpc>
                <a:spcPct val="95000"/>
              </a:lnSpc>
              <a:spcBef>
                <a:spcPts val="0"/>
              </a:spcBef>
              <a:spcAft>
                <a:spcPts val="200"/>
              </a:spcAft>
            </a:pPr>
            <a:r>
              <a:rPr sz="1682" b="1" i="0">
                <a:solidFill>
                  <a:srgbClr val="0F172A"/>
                </a:solidFill>
                <a:latin typeface="Arial"/>
              </a:rPr>
              <a:t>Quid pro quo transfer</a:t>
            </a:r>
          </a:p>
        </p:txBody>
      </p:sp>
      <p:sp>
        <p:nvSpPr>
          <p:cNvPr id="25" name="TextBox 24"/>
          <p:cNvSpPr txBox="1"/>
          <p:nvPr/>
        </p:nvSpPr>
        <p:spPr>
          <a:xfrm>
            <a:off x="749808" y="4507991"/>
            <a:ext cx="3264408" cy="274320"/>
          </a:xfrm>
          <a:prstGeom prst="rect">
            <a:avLst/>
          </a:prstGeom>
          <a:noFill/>
        </p:spPr>
        <p:txBody>
          <a:bodyPr wrap="square" lIns="0" tIns="0" rIns="0" bIns="0" anchor="t">
            <a:spAutoFit/>
          </a:bodyPr>
          <a:lstStyle/>
          <a:p>
            <a:pPr algn="l">
              <a:lnSpc>
                <a:spcPct val="100000"/>
              </a:lnSpc>
              <a:spcBef>
                <a:spcPts val="0"/>
              </a:spcBef>
              <a:spcAft>
                <a:spcPts val="200"/>
              </a:spcAft>
            </a:pPr>
            <a:r>
              <a:rPr sz="1334" b="1" i="1">
                <a:solidFill>
                  <a:srgbClr val="DC2626"/>
                </a:solidFill>
                <a:latin typeface="Arial"/>
              </a:rPr>
              <a:t>Holmes et al. (2015) · Fan et al. (2007)</a:t>
            </a:r>
          </a:p>
        </p:txBody>
      </p:sp>
      <p:sp>
        <p:nvSpPr>
          <p:cNvPr id="26" name="TextBox 25"/>
          <p:cNvSpPr txBox="1"/>
          <p:nvPr/>
        </p:nvSpPr>
        <p:spPr>
          <a:xfrm>
            <a:off x="749808" y="4818887"/>
            <a:ext cx="3264408" cy="777240"/>
          </a:xfrm>
          <a:prstGeom prst="rect">
            <a:avLst/>
          </a:prstGeom>
          <a:noFill/>
        </p:spPr>
        <p:txBody>
          <a:bodyPr wrap="square" lIns="0" tIns="0" rIns="0" bIns="0" anchor="t">
            <a:spAutoFit/>
          </a:bodyPr>
          <a:lstStyle/>
          <a:p>
            <a:pPr algn="l">
              <a:lnSpc>
                <a:spcPct val="100000"/>
              </a:lnSpc>
              <a:spcBef>
                <a:spcPts val="0"/>
              </a:spcBef>
              <a:spcAft>
                <a:spcPts val="200"/>
              </a:spcAft>
            </a:pPr>
            <a:r>
              <a:rPr sz="1449" b="0" i="0">
                <a:solidFill>
                  <a:srgbClr val="0F172A"/>
                </a:solidFill>
                <a:latin typeface="Arial"/>
              </a:rPr>
              <a:t>Tech-for-access; politically connected firms lag ~18% post-IPO.</a:t>
            </a:r>
          </a:p>
        </p:txBody>
      </p:sp>
      <p:sp>
        <p:nvSpPr>
          <p:cNvPr id="27" name="Rectangle 26"/>
          <p:cNvSpPr/>
          <p:nvPr/>
        </p:nvSpPr>
        <p:spPr>
          <a:xfrm>
            <a:off x="4293108" y="3794759"/>
            <a:ext cx="3593592" cy="1874519"/>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293108" y="3794759"/>
            <a:ext cx="82296" cy="187451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94276" y="3941063"/>
            <a:ext cx="3264408" cy="457200"/>
          </a:xfrm>
          <a:prstGeom prst="rect">
            <a:avLst/>
          </a:prstGeom>
          <a:noFill/>
        </p:spPr>
        <p:txBody>
          <a:bodyPr wrap="square" lIns="0" tIns="0" rIns="0" bIns="0" anchor="t">
            <a:spAutoFit/>
          </a:bodyPr>
          <a:lstStyle/>
          <a:p>
            <a:pPr algn="l">
              <a:lnSpc>
                <a:spcPct val="95000"/>
              </a:lnSpc>
              <a:spcBef>
                <a:spcPts val="0"/>
              </a:spcBef>
              <a:spcAft>
                <a:spcPts val="200"/>
              </a:spcAft>
            </a:pPr>
            <a:r>
              <a:rPr sz="1682" b="1" i="0">
                <a:solidFill>
                  <a:srgbClr val="0F172A"/>
                </a:solidFill>
                <a:latin typeface="Arial"/>
              </a:rPr>
              <a:t>Springboard M&amp;A</a:t>
            </a:r>
          </a:p>
        </p:txBody>
      </p:sp>
      <p:sp>
        <p:nvSpPr>
          <p:cNvPr id="30" name="TextBox 29"/>
          <p:cNvSpPr txBox="1"/>
          <p:nvPr/>
        </p:nvSpPr>
        <p:spPr>
          <a:xfrm>
            <a:off x="4494276" y="4507991"/>
            <a:ext cx="3264408" cy="274320"/>
          </a:xfrm>
          <a:prstGeom prst="rect">
            <a:avLst/>
          </a:prstGeom>
          <a:noFill/>
        </p:spPr>
        <p:txBody>
          <a:bodyPr wrap="square" lIns="0" tIns="0" rIns="0" bIns="0" anchor="t">
            <a:spAutoFit/>
          </a:bodyPr>
          <a:lstStyle/>
          <a:p>
            <a:pPr algn="l">
              <a:lnSpc>
                <a:spcPct val="100000"/>
              </a:lnSpc>
              <a:spcBef>
                <a:spcPts val="0"/>
              </a:spcBef>
              <a:spcAft>
                <a:spcPts val="200"/>
              </a:spcAft>
            </a:pPr>
            <a:r>
              <a:rPr sz="1334" b="1" i="1">
                <a:solidFill>
                  <a:srgbClr val="06B6D4"/>
                </a:solidFill>
                <a:latin typeface="Arial"/>
              </a:rPr>
              <a:t>Luo &amp; Tung (2007)</a:t>
            </a:r>
          </a:p>
        </p:txBody>
      </p:sp>
      <p:sp>
        <p:nvSpPr>
          <p:cNvPr id="31" name="TextBox 30"/>
          <p:cNvSpPr txBox="1"/>
          <p:nvPr/>
        </p:nvSpPr>
        <p:spPr>
          <a:xfrm>
            <a:off x="4494276" y="4818887"/>
            <a:ext cx="3264408" cy="777240"/>
          </a:xfrm>
          <a:prstGeom prst="rect">
            <a:avLst/>
          </a:prstGeom>
          <a:noFill/>
        </p:spPr>
        <p:txBody>
          <a:bodyPr wrap="square" lIns="0" tIns="0" rIns="0" bIns="0" anchor="t">
            <a:spAutoFit/>
          </a:bodyPr>
          <a:lstStyle/>
          <a:p>
            <a:pPr algn="l">
              <a:lnSpc>
                <a:spcPct val="100000"/>
              </a:lnSpc>
              <a:spcBef>
                <a:spcPts val="0"/>
              </a:spcBef>
              <a:spcAft>
                <a:spcPts val="200"/>
              </a:spcAft>
            </a:pPr>
            <a:r>
              <a:rPr sz="1449" b="0" i="0">
                <a:solidFill>
                  <a:srgbClr val="0F172A"/>
                </a:solidFill>
                <a:latin typeface="Arial"/>
              </a:rPr>
              <a:t>Emerging-market firms acquire abroad to leap latecomer disadvantages.</a:t>
            </a:r>
          </a:p>
        </p:txBody>
      </p:sp>
      <p:sp>
        <p:nvSpPr>
          <p:cNvPr id="32" name="Rectangle 31"/>
          <p:cNvSpPr/>
          <p:nvPr/>
        </p:nvSpPr>
        <p:spPr>
          <a:xfrm>
            <a:off x="8037576" y="3794759"/>
            <a:ext cx="3593592" cy="1874519"/>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037576" y="3794759"/>
            <a:ext cx="82296" cy="1874519"/>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38744" y="3941063"/>
            <a:ext cx="3264408" cy="457200"/>
          </a:xfrm>
          <a:prstGeom prst="rect">
            <a:avLst/>
          </a:prstGeom>
          <a:noFill/>
        </p:spPr>
        <p:txBody>
          <a:bodyPr wrap="square" lIns="0" tIns="0" rIns="0" bIns="0" anchor="t">
            <a:spAutoFit/>
          </a:bodyPr>
          <a:lstStyle/>
          <a:p>
            <a:pPr algn="l">
              <a:lnSpc>
                <a:spcPct val="95000"/>
              </a:lnSpc>
              <a:spcBef>
                <a:spcPts val="0"/>
              </a:spcBef>
              <a:spcAft>
                <a:spcPts val="200"/>
              </a:spcAft>
            </a:pPr>
            <a:r>
              <a:rPr sz="1682" b="1" i="0">
                <a:solidFill>
                  <a:srgbClr val="0F172A"/>
                </a:solidFill>
                <a:latin typeface="Arial"/>
              </a:rPr>
              <a:t>Dynamic capabilities</a:t>
            </a:r>
          </a:p>
        </p:txBody>
      </p:sp>
      <p:sp>
        <p:nvSpPr>
          <p:cNvPr id="35" name="TextBox 34"/>
          <p:cNvSpPr txBox="1"/>
          <p:nvPr/>
        </p:nvSpPr>
        <p:spPr>
          <a:xfrm>
            <a:off x="8238744" y="4507991"/>
            <a:ext cx="3264408" cy="274320"/>
          </a:xfrm>
          <a:prstGeom prst="rect">
            <a:avLst/>
          </a:prstGeom>
          <a:noFill/>
        </p:spPr>
        <p:txBody>
          <a:bodyPr wrap="square" lIns="0" tIns="0" rIns="0" bIns="0" anchor="t">
            <a:spAutoFit/>
          </a:bodyPr>
          <a:lstStyle/>
          <a:p>
            <a:pPr algn="l">
              <a:lnSpc>
                <a:spcPct val="100000"/>
              </a:lnSpc>
              <a:spcBef>
                <a:spcPts val="0"/>
              </a:spcBef>
              <a:spcAft>
                <a:spcPts val="200"/>
              </a:spcAft>
            </a:pPr>
            <a:r>
              <a:rPr sz="1334" b="1" i="1">
                <a:solidFill>
                  <a:srgbClr val="2563EB"/>
                </a:solidFill>
                <a:latin typeface="Arial"/>
              </a:rPr>
              <a:t>Teece et al. (1997)</a:t>
            </a:r>
          </a:p>
        </p:txBody>
      </p:sp>
      <p:sp>
        <p:nvSpPr>
          <p:cNvPr id="36" name="TextBox 35"/>
          <p:cNvSpPr txBox="1"/>
          <p:nvPr/>
        </p:nvSpPr>
        <p:spPr>
          <a:xfrm>
            <a:off x="8238744" y="4818887"/>
            <a:ext cx="3264408" cy="777240"/>
          </a:xfrm>
          <a:prstGeom prst="rect">
            <a:avLst/>
          </a:prstGeom>
          <a:noFill/>
        </p:spPr>
        <p:txBody>
          <a:bodyPr wrap="square" lIns="0" tIns="0" rIns="0" bIns="0" anchor="t">
            <a:spAutoFit/>
          </a:bodyPr>
          <a:lstStyle/>
          <a:p>
            <a:pPr algn="l">
              <a:lnSpc>
                <a:spcPct val="100000"/>
              </a:lnSpc>
              <a:spcBef>
                <a:spcPts val="0"/>
              </a:spcBef>
              <a:spcAft>
                <a:spcPts val="200"/>
              </a:spcAft>
            </a:pPr>
            <a:r>
              <a:rPr sz="1449" b="0" i="0">
                <a:solidFill>
                  <a:srgbClr val="0F172A"/>
                </a:solidFill>
                <a:latin typeface="Arial"/>
              </a:rPr>
              <a:t>Path-dependent tacit knowledge is the source of non-imitable advantage.</a:t>
            </a:r>
          </a:p>
        </p:txBody>
      </p:sp>
      <p:sp>
        <p:nvSpPr>
          <p:cNvPr id="37" name="TextBox 36"/>
          <p:cNvSpPr txBox="1"/>
          <p:nvPr/>
        </p:nvSpPr>
        <p:spPr>
          <a:xfrm>
            <a:off x="548640" y="6473952"/>
            <a:ext cx="8686800" cy="274320"/>
          </a:xfrm>
          <a:prstGeom prst="rect">
            <a:avLst/>
          </a:prstGeom>
          <a:noFill/>
        </p:spPr>
        <p:txBody>
          <a:bodyPr wrap="square" lIns="0" tIns="0" rIns="0" bIns="0" anchor="t">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38" name="TextBox 37"/>
          <p:cNvSpPr txBox="1"/>
          <p:nvPr/>
        </p:nvSpPr>
        <p:spPr>
          <a:xfrm>
            <a:off x="10820095" y="6473952"/>
            <a:ext cx="822960" cy="274320"/>
          </a:xfrm>
          <a:prstGeom prst="rect">
            <a:avLst/>
          </a:prstGeom>
          <a:noFill/>
        </p:spPr>
        <p:txBody>
          <a:bodyPr wrap="square" lIns="0" tIns="0" rIns="0" bIns="0" anchor="t">
            <a:spAutoFit/>
          </a:bodyPr>
          <a:lstStyle/>
          <a:p>
            <a:pPr algn="r">
              <a:lnSpc>
                <a:spcPct val="100000"/>
              </a:lnSpc>
              <a:spcBef>
                <a:spcPts val="0"/>
              </a:spcBef>
              <a:spcAft>
                <a:spcPts val="200"/>
              </a:spcAft>
            </a:pPr>
            <a:r>
              <a:rPr sz="1218" b="0" i="0">
                <a:solidFill>
                  <a:srgbClr val="64748B"/>
                </a:solidFill>
                <a:latin typeface="Aria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623" b="1" i="0">
                <a:solidFill>
                  <a:srgbClr val="06B6D4"/>
                </a:solidFill>
                <a:latin typeface="Arial"/>
              </a:rPr>
              <a:t>ANALYTICAL FRAMEWORK</a:t>
            </a:r>
          </a:p>
        </p:txBody>
      </p:sp>
      <p:sp>
        <p:nvSpPr>
          <p:cNvPr id="4" name="TextBox 3"/>
          <p:cNvSpPr txBox="1"/>
          <p:nvPr/>
        </p:nvSpPr>
        <p:spPr>
          <a:xfrm>
            <a:off x="548640" y="658368"/>
            <a:ext cx="11064240" cy="914400"/>
          </a:xfrm>
          <a:prstGeom prst="rect">
            <a:avLst/>
          </a:prstGeom>
          <a:noFill/>
        </p:spPr>
        <p:txBody>
          <a:bodyPr wrap="square" lIns="0" tIns="0" rIns="0" bIns="0" anchor="t">
            <a:spAutoFit/>
          </a:bodyPr>
          <a:lstStyle/>
          <a:p>
            <a:pPr algn="l">
              <a:lnSpc>
                <a:spcPct val="100000"/>
              </a:lnSpc>
              <a:spcBef>
                <a:spcPts val="0"/>
              </a:spcBef>
              <a:spcAft>
                <a:spcPts val="200"/>
              </a:spcAft>
            </a:pPr>
            <a:r>
              <a:rPr sz="2100" b="1" i="0">
                <a:solidFill>
                  <a:srgbClr val="0F172A"/>
                </a:solidFill>
                <a:latin typeface="Arial"/>
              </a:rPr>
              <a:t>Three models tested against four dimensions — a 3 × 4 matrix</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783080"/>
            <a:ext cx="1554480" cy="84124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783080"/>
            <a:ext cx="1408176" cy="841248"/>
          </a:xfrm>
          <a:prstGeom prst="rect">
            <a:avLst/>
          </a:prstGeom>
          <a:noFill/>
        </p:spPr>
        <p:txBody>
          <a:bodyPr wrap="square" lIns="0" tIns="0" rIns="0" bIns="0" anchor="ctr">
            <a:spAutoFit/>
          </a:bodyPr>
          <a:lstStyle/>
          <a:p>
            <a:pPr algn="l">
              <a:lnSpc>
                <a:spcPct val="95000"/>
              </a:lnSpc>
              <a:spcBef>
                <a:spcPts val="0"/>
              </a:spcBef>
              <a:spcAft>
                <a:spcPts val="200"/>
              </a:spcAft>
            </a:pPr>
            <a:endParaRPr/>
          </a:p>
        </p:txBody>
      </p:sp>
      <p:sp>
        <p:nvSpPr>
          <p:cNvPr id="9" name="Rectangle 8"/>
          <p:cNvSpPr/>
          <p:nvPr/>
        </p:nvSpPr>
        <p:spPr>
          <a:xfrm>
            <a:off x="2103120" y="1783080"/>
            <a:ext cx="2606040" cy="84124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76272" y="1783080"/>
            <a:ext cx="2459736" cy="841248"/>
          </a:xfrm>
          <a:prstGeom prst="rect">
            <a:avLst/>
          </a:prstGeom>
          <a:noFill/>
        </p:spPr>
        <p:txBody>
          <a:bodyPr wrap="square" lIns="0" tIns="0" rIns="0" bIns="0" anchor="ctr">
            <a:spAutoFit/>
          </a:bodyPr>
          <a:lstStyle/>
          <a:p>
            <a:pPr algn="ctr">
              <a:lnSpc>
                <a:spcPct val="95000"/>
              </a:lnSpc>
              <a:spcBef>
                <a:spcPts val="0"/>
              </a:spcBef>
              <a:spcAft>
                <a:spcPts val="200"/>
              </a:spcAft>
            </a:pPr>
            <a:r>
              <a:rPr sz="1565" b="1" i="0">
                <a:solidFill>
                  <a:srgbClr val="FFFFFF"/>
                </a:solidFill>
                <a:latin typeface="Arial"/>
              </a:rPr>
              <a:t>Governance</a:t>
            </a:r>
          </a:p>
        </p:txBody>
      </p:sp>
      <p:sp>
        <p:nvSpPr>
          <p:cNvPr id="11" name="Rectangle 10"/>
          <p:cNvSpPr/>
          <p:nvPr/>
        </p:nvSpPr>
        <p:spPr>
          <a:xfrm>
            <a:off x="4709160" y="1783080"/>
            <a:ext cx="2331720" cy="84124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82312" y="1783080"/>
            <a:ext cx="2185416" cy="841248"/>
          </a:xfrm>
          <a:prstGeom prst="rect">
            <a:avLst/>
          </a:prstGeom>
          <a:noFill/>
        </p:spPr>
        <p:txBody>
          <a:bodyPr wrap="square" lIns="0" tIns="0" rIns="0" bIns="0" anchor="ctr">
            <a:spAutoFit/>
          </a:bodyPr>
          <a:lstStyle/>
          <a:p>
            <a:pPr algn="ctr">
              <a:lnSpc>
                <a:spcPct val="95000"/>
              </a:lnSpc>
              <a:spcBef>
                <a:spcPts val="0"/>
              </a:spcBef>
              <a:spcAft>
                <a:spcPts val="200"/>
              </a:spcAft>
            </a:pPr>
            <a:r>
              <a:rPr sz="1565" b="1" i="0">
                <a:solidFill>
                  <a:srgbClr val="FFFFFF"/>
                </a:solidFill>
                <a:latin typeface="Arial"/>
              </a:rPr>
              <a:t>Financing</a:t>
            </a:r>
          </a:p>
        </p:txBody>
      </p:sp>
      <p:sp>
        <p:nvSpPr>
          <p:cNvPr id="13" name="Rectangle 12"/>
          <p:cNvSpPr/>
          <p:nvPr/>
        </p:nvSpPr>
        <p:spPr>
          <a:xfrm>
            <a:off x="7040880" y="1783080"/>
            <a:ext cx="2331720" cy="84124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14032" y="1783080"/>
            <a:ext cx="2185416" cy="841248"/>
          </a:xfrm>
          <a:prstGeom prst="rect">
            <a:avLst/>
          </a:prstGeom>
          <a:noFill/>
        </p:spPr>
        <p:txBody>
          <a:bodyPr wrap="square" lIns="0" tIns="0" rIns="0" bIns="0" anchor="ctr">
            <a:spAutoFit/>
          </a:bodyPr>
          <a:lstStyle/>
          <a:p>
            <a:pPr algn="ctr">
              <a:lnSpc>
                <a:spcPct val="95000"/>
              </a:lnSpc>
              <a:spcBef>
                <a:spcPts val="0"/>
              </a:spcBef>
              <a:spcAft>
                <a:spcPts val="200"/>
              </a:spcAft>
            </a:pPr>
            <a:r>
              <a:rPr sz="1565" b="1" i="0">
                <a:solidFill>
                  <a:srgbClr val="FFFFFF"/>
                </a:solidFill>
                <a:latin typeface="Arial"/>
              </a:rPr>
              <a:t>Capability</a:t>
            </a:r>
          </a:p>
        </p:txBody>
      </p:sp>
      <p:sp>
        <p:nvSpPr>
          <p:cNvPr id="15" name="Rectangle 14"/>
          <p:cNvSpPr/>
          <p:nvPr/>
        </p:nvSpPr>
        <p:spPr>
          <a:xfrm>
            <a:off x="9372600" y="1783080"/>
            <a:ext cx="2240280" cy="84124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45752" y="1783080"/>
            <a:ext cx="2093976" cy="841248"/>
          </a:xfrm>
          <a:prstGeom prst="rect">
            <a:avLst/>
          </a:prstGeom>
          <a:noFill/>
        </p:spPr>
        <p:txBody>
          <a:bodyPr wrap="square" lIns="0" tIns="0" rIns="0" bIns="0" anchor="ctr">
            <a:spAutoFit/>
          </a:bodyPr>
          <a:lstStyle/>
          <a:p>
            <a:pPr algn="ctr">
              <a:lnSpc>
                <a:spcPct val="95000"/>
              </a:lnSpc>
              <a:spcBef>
                <a:spcPts val="0"/>
              </a:spcBef>
              <a:spcAft>
                <a:spcPts val="200"/>
              </a:spcAft>
            </a:pPr>
            <a:r>
              <a:rPr sz="1565" b="1" i="0">
                <a:solidFill>
                  <a:srgbClr val="FFFFFF"/>
                </a:solidFill>
                <a:latin typeface="Arial"/>
              </a:rPr>
              <a:t>Viability</a:t>
            </a:r>
          </a:p>
        </p:txBody>
      </p:sp>
      <p:sp>
        <p:nvSpPr>
          <p:cNvPr id="17" name="Rectangle 16"/>
          <p:cNvSpPr/>
          <p:nvPr/>
        </p:nvSpPr>
        <p:spPr>
          <a:xfrm>
            <a:off x="548640" y="2624328"/>
            <a:ext cx="1554480" cy="841248"/>
          </a:xfrm>
          <a:prstGeom prst="rect">
            <a:avLst/>
          </a:prstGeom>
          <a:solidFill>
            <a:srgbClr val="DC2626"/>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2" y="2624328"/>
            <a:ext cx="1408176" cy="841248"/>
          </a:xfrm>
          <a:prstGeom prst="rect">
            <a:avLst/>
          </a:prstGeom>
          <a:noFill/>
        </p:spPr>
        <p:txBody>
          <a:bodyPr wrap="square" lIns="0" tIns="0" rIns="0" bIns="0" anchor="ctr">
            <a:spAutoFit/>
          </a:bodyPr>
          <a:lstStyle/>
          <a:p>
            <a:pPr algn="l">
              <a:lnSpc>
                <a:spcPct val="95000"/>
              </a:lnSpc>
              <a:spcBef>
                <a:spcPts val="0"/>
              </a:spcBef>
              <a:spcAft>
                <a:spcPts val="200"/>
              </a:spcAft>
            </a:pPr>
            <a:endParaRPr/>
          </a:p>
        </p:txBody>
      </p:sp>
      <p:sp>
        <p:nvSpPr>
          <p:cNvPr id="19" name="Rectangle 18"/>
          <p:cNvSpPr/>
          <p:nvPr/>
        </p:nvSpPr>
        <p:spPr>
          <a:xfrm>
            <a:off x="2103120" y="2624328"/>
            <a:ext cx="2606040" cy="84124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76272" y="2624328"/>
            <a:ext cx="2459736" cy="841248"/>
          </a:xfrm>
          <a:prstGeom prst="rect">
            <a:avLst/>
          </a:prstGeom>
          <a:noFill/>
        </p:spPr>
        <p:txBody>
          <a:bodyPr wrap="square" lIns="0" tIns="0" rIns="0" bIns="0" anchor="ctr">
            <a:spAutoFit/>
          </a:bodyPr>
          <a:lstStyle/>
          <a:p>
            <a:pPr algn="ctr">
              <a:lnSpc>
                <a:spcPct val="95000"/>
              </a:lnSpc>
              <a:spcBef>
                <a:spcPts val="0"/>
              </a:spcBef>
              <a:spcAft>
                <a:spcPts val="200"/>
              </a:spcAft>
            </a:pPr>
            <a:r>
              <a:rPr sz="1565" b="0" i="0">
                <a:solidFill>
                  <a:srgbClr val="0F172A"/>
                </a:solidFill>
                <a:latin typeface="Arial"/>
              </a:rPr>
              <a:t>State / SASAC + Party</a:t>
            </a:r>
          </a:p>
        </p:txBody>
      </p:sp>
      <p:sp>
        <p:nvSpPr>
          <p:cNvPr id="21" name="Rectangle 20"/>
          <p:cNvSpPr/>
          <p:nvPr/>
        </p:nvSpPr>
        <p:spPr>
          <a:xfrm>
            <a:off x="4709160" y="2624328"/>
            <a:ext cx="2331720" cy="84124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82312" y="2624328"/>
            <a:ext cx="2185416" cy="841248"/>
          </a:xfrm>
          <a:prstGeom prst="rect">
            <a:avLst/>
          </a:prstGeom>
          <a:noFill/>
        </p:spPr>
        <p:txBody>
          <a:bodyPr wrap="square" lIns="0" tIns="0" rIns="0" bIns="0" anchor="ctr">
            <a:spAutoFit/>
          </a:bodyPr>
          <a:lstStyle/>
          <a:p>
            <a:pPr algn="ctr">
              <a:lnSpc>
                <a:spcPct val="95000"/>
              </a:lnSpc>
              <a:spcBef>
                <a:spcPts val="0"/>
              </a:spcBef>
              <a:spcAft>
                <a:spcPts val="200"/>
              </a:spcAft>
            </a:pPr>
            <a:r>
              <a:rPr sz="1565" b="0" i="0">
                <a:solidFill>
                  <a:srgbClr val="0F172A"/>
                </a:solidFill>
                <a:latin typeface="Arial"/>
              </a:rPr>
              <a:t>JV dividends</a:t>
            </a:r>
          </a:p>
          <a:p>
            <a:pPr algn="ctr">
              <a:lnSpc>
                <a:spcPct val="95000"/>
              </a:lnSpc>
              <a:spcBef>
                <a:spcPts val="0"/>
              </a:spcBef>
              <a:spcAft>
                <a:spcPts val="200"/>
              </a:spcAft>
            </a:pPr>
            <a:r>
              <a:rPr sz="1565" b="0" i="0">
                <a:solidFill>
                  <a:srgbClr val="0F172A"/>
                </a:solidFill>
                <a:latin typeface="Arial"/>
              </a:rPr>
              <a:t>(capital-light)</a:t>
            </a:r>
          </a:p>
        </p:txBody>
      </p:sp>
      <p:sp>
        <p:nvSpPr>
          <p:cNvPr id="23" name="Rectangle 22"/>
          <p:cNvSpPr/>
          <p:nvPr/>
        </p:nvSpPr>
        <p:spPr>
          <a:xfrm>
            <a:off x="7040880" y="2624328"/>
            <a:ext cx="2331720" cy="84124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14032" y="2624328"/>
            <a:ext cx="2185416" cy="841248"/>
          </a:xfrm>
          <a:prstGeom prst="rect">
            <a:avLst/>
          </a:prstGeom>
          <a:noFill/>
        </p:spPr>
        <p:txBody>
          <a:bodyPr wrap="square" lIns="0" tIns="0" rIns="0" bIns="0" anchor="ctr">
            <a:spAutoFit/>
          </a:bodyPr>
          <a:lstStyle/>
          <a:p>
            <a:pPr algn="ctr">
              <a:lnSpc>
                <a:spcPct val="95000"/>
              </a:lnSpc>
              <a:spcBef>
                <a:spcPts val="0"/>
              </a:spcBef>
              <a:spcAft>
                <a:spcPts val="200"/>
              </a:spcAft>
            </a:pPr>
            <a:r>
              <a:rPr sz="1565" b="0" i="0">
                <a:solidFill>
                  <a:srgbClr val="0F172A"/>
                </a:solidFill>
                <a:latin typeface="Arial"/>
              </a:rPr>
              <a:t>Mandatory transfer</a:t>
            </a:r>
          </a:p>
        </p:txBody>
      </p:sp>
      <p:sp>
        <p:nvSpPr>
          <p:cNvPr id="25" name="Rectangle 24"/>
          <p:cNvSpPr/>
          <p:nvPr/>
        </p:nvSpPr>
        <p:spPr>
          <a:xfrm>
            <a:off x="9372600" y="2624328"/>
            <a:ext cx="2240280" cy="84124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445752" y="2624328"/>
            <a:ext cx="2093976" cy="841248"/>
          </a:xfrm>
          <a:prstGeom prst="rect">
            <a:avLst/>
          </a:prstGeom>
          <a:noFill/>
        </p:spPr>
        <p:txBody>
          <a:bodyPr wrap="square" lIns="0" tIns="0" rIns="0" bIns="0" anchor="ctr">
            <a:spAutoFit/>
          </a:bodyPr>
          <a:lstStyle/>
          <a:p>
            <a:pPr algn="ctr">
              <a:lnSpc>
                <a:spcPct val="95000"/>
              </a:lnSpc>
              <a:spcBef>
                <a:spcPts val="0"/>
              </a:spcBef>
              <a:spcAft>
                <a:spcPts val="200"/>
              </a:spcAft>
            </a:pPr>
            <a:r>
              <a:rPr sz="1565" b="0" i="0">
                <a:solidFill>
                  <a:srgbClr val="0F172A"/>
                </a:solidFill>
                <a:latin typeface="Arial"/>
              </a:rPr>
              <a:t>Most exposed</a:t>
            </a:r>
          </a:p>
        </p:txBody>
      </p:sp>
      <p:sp>
        <p:nvSpPr>
          <p:cNvPr id="27" name="Rectangle 26"/>
          <p:cNvSpPr/>
          <p:nvPr/>
        </p:nvSpPr>
        <p:spPr>
          <a:xfrm>
            <a:off x="548640" y="3465576"/>
            <a:ext cx="1554480" cy="841248"/>
          </a:xfrm>
          <a:prstGeom prst="rect">
            <a:avLst/>
          </a:prstGeom>
          <a:solidFill>
            <a:srgbClr val="2563EB"/>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1792" y="3465576"/>
            <a:ext cx="1408176" cy="841248"/>
          </a:xfrm>
          <a:prstGeom prst="rect">
            <a:avLst/>
          </a:prstGeom>
          <a:noFill/>
        </p:spPr>
        <p:txBody>
          <a:bodyPr wrap="square" lIns="0" tIns="0" rIns="0" bIns="0" anchor="ctr">
            <a:spAutoFit/>
          </a:bodyPr>
          <a:lstStyle/>
          <a:p>
            <a:pPr algn="l">
              <a:lnSpc>
                <a:spcPct val="95000"/>
              </a:lnSpc>
              <a:spcBef>
                <a:spcPts val="0"/>
              </a:spcBef>
              <a:spcAft>
                <a:spcPts val="200"/>
              </a:spcAft>
            </a:pPr>
            <a:endParaRPr/>
          </a:p>
        </p:txBody>
      </p:sp>
      <p:sp>
        <p:nvSpPr>
          <p:cNvPr id="29" name="Rectangle 28"/>
          <p:cNvSpPr/>
          <p:nvPr/>
        </p:nvSpPr>
        <p:spPr>
          <a:xfrm>
            <a:off x="2103120" y="3465576"/>
            <a:ext cx="2606040" cy="841248"/>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176272" y="3465576"/>
            <a:ext cx="2459736" cy="841248"/>
          </a:xfrm>
          <a:prstGeom prst="rect">
            <a:avLst/>
          </a:prstGeom>
          <a:noFill/>
        </p:spPr>
        <p:txBody>
          <a:bodyPr wrap="square" lIns="0" tIns="0" rIns="0" bIns="0" anchor="ctr">
            <a:spAutoFit/>
          </a:bodyPr>
          <a:lstStyle/>
          <a:p>
            <a:pPr algn="ctr">
              <a:lnSpc>
                <a:spcPct val="95000"/>
              </a:lnSpc>
              <a:spcBef>
                <a:spcPts val="0"/>
              </a:spcBef>
              <a:spcAft>
                <a:spcPts val="200"/>
              </a:spcAft>
            </a:pPr>
            <a:r>
              <a:rPr sz="1565" b="0" i="0">
                <a:solidFill>
                  <a:srgbClr val="0F172A"/>
                </a:solidFill>
                <a:latin typeface="Arial"/>
              </a:rPr>
              <a:t>Founder-led</a:t>
            </a:r>
          </a:p>
          <a:p>
            <a:pPr algn="ctr">
              <a:lnSpc>
                <a:spcPct val="95000"/>
              </a:lnSpc>
              <a:spcBef>
                <a:spcPts val="0"/>
              </a:spcBef>
              <a:spcAft>
                <a:spcPts val="200"/>
              </a:spcAft>
            </a:pPr>
            <a:r>
              <a:rPr sz="1565" b="0" i="0">
                <a:solidFill>
                  <a:srgbClr val="0F172A"/>
                </a:solidFill>
                <a:latin typeface="Arial"/>
              </a:rPr>
              <a:t>(Wang ~17%)</a:t>
            </a:r>
          </a:p>
        </p:txBody>
      </p:sp>
      <p:sp>
        <p:nvSpPr>
          <p:cNvPr id="31" name="Rectangle 30"/>
          <p:cNvSpPr/>
          <p:nvPr/>
        </p:nvSpPr>
        <p:spPr>
          <a:xfrm>
            <a:off x="4709160" y="3465576"/>
            <a:ext cx="2331720" cy="841248"/>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782312" y="3465576"/>
            <a:ext cx="2185416" cy="841248"/>
          </a:xfrm>
          <a:prstGeom prst="rect">
            <a:avLst/>
          </a:prstGeom>
          <a:noFill/>
        </p:spPr>
        <p:txBody>
          <a:bodyPr wrap="square" lIns="0" tIns="0" rIns="0" bIns="0" anchor="ctr">
            <a:spAutoFit/>
          </a:bodyPr>
          <a:lstStyle/>
          <a:p>
            <a:pPr algn="ctr">
              <a:lnSpc>
                <a:spcPct val="95000"/>
              </a:lnSpc>
              <a:spcBef>
                <a:spcPts val="0"/>
              </a:spcBef>
              <a:spcAft>
                <a:spcPts val="200"/>
              </a:spcAft>
            </a:pPr>
            <a:r>
              <a:rPr sz="1565" b="0" i="0">
                <a:solidFill>
                  <a:srgbClr val="0F172A"/>
                </a:solidFill>
                <a:latin typeface="Arial"/>
              </a:rPr>
              <a:t>Self-financing</a:t>
            </a:r>
          </a:p>
          <a:p>
            <a:pPr algn="ctr">
              <a:lnSpc>
                <a:spcPct val="95000"/>
              </a:lnSpc>
              <a:spcBef>
                <a:spcPts val="0"/>
              </a:spcBef>
              <a:spcAft>
                <a:spcPts val="200"/>
              </a:spcAft>
            </a:pPr>
            <a:r>
              <a:rPr sz="1565" b="0" i="0">
                <a:solidFill>
                  <a:srgbClr val="0F172A"/>
                </a:solidFill>
                <a:latin typeface="Arial"/>
              </a:rPr>
              <a:t>(operating cash)</a:t>
            </a:r>
          </a:p>
        </p:txBody>
      </p:sp>
      <p:sp>
        <p:nvSpPr>
          <p:cNvPr id="33" name="Rectangle 32"/>
          <p:cNvSpPr/>
          <p:nvPr/>
        </p:nvSpPr>
        <p:spPr>
          <a:xfrm>
            <a:off x="7040880" y="3465576"/>
            <a:ext cx="2331720" cy="841248"/>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114032" y="3465576"/>
            <a:ext cx="2185416" cy="841248"/>
          </a:xfrm>
          <a:prstGeom prst="rect">
            <a:avLst/>
          </a:prstGeom>
          <a:noFill/>
        </p:spPr>
        <p:txBody>
          <a:bodyPr wrap="square" lIns="0" tIns="0" rIns="0" bIns="0" anchor="ctr">
            <a:spAutoFit/>
          </a:bodyPr>
          <a:lstStyle/>
          <a:p>
            <a:pPr algn="ctr">
              <a:lnSpc>
                <a:spcPct val="95000"/>
              </a:lnSpc>
              <a:spcBef>
                <a:spcPts val="0"/>
              </a:spcBef>
              <a:spcAft>
                <a:spcPts val="200"/>
              </a:spcAft>
            </a:pPr>
            <a:r>
              <a:rPr sz="1565" b="0" i="0">
                <a:solidFill>
                  <a:srgbClr val="0F172A"/>
                </a:solidFill>
                <a:latin typeface="Arial"/>
              </a:rPr>
              <a:t>Organic build</a:t>
            </a:r>
          </a:p>
        </p:txBody>
      </p:sp>
      <p:sp>
        <p:nvSpPr>
          <p:cNvPr id="35" name="Rectangle 34"/>
          <p:cNvSpPr/>
          <p:nvPr/>
        </p:nvSpPr>
        <p:spPr>
          <a:xfrm>
            <a:off x="9372600" y="3465576"/>
            <a:ext cx="2240280" cy="841248"/>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445752" y="3465576"/>
            <a:ext cx="2093976" cy="841248"/>
          </a:xfrm>
          <a:prstGeom prst="rect">
            <a:avLst/>
          </a:prstGeom>
          <a:noFill/>
        </p:spPr>
        <p:txBody>
          <a:bodyPr wrap="square" lIns="0" tIns="0" rIns="0" bIns="0" anchor="ctr">
            <a:spAutoFit/>
          </a:bodyPr>
          <a:lstStyle/>
          <a:p>
            <a:pPr algn="ctr">
              <a:lnSpc>
                <a:spcPct val="95000"/>
              </a:lnSpc>
              <a:spcBef>
                <a:spcPts val="0"/>
              </a:spcBef>
              <a:spcAft>
                <a:spcPts val="200"/>
              </a:spcAft>
            </a:pPr>
            <a:r>
              <a:rPr sz="1565" b="0" i="0">
                <a:solidFill>
                  <a:srgbClr val="0F172A"/>
                </a:solidFill>
                <a:latin typeface="Arial"/>
              </a:rPr>
              <a:t>Strongest</a:t>
            </a:r>
          </a:p>
        </p:txBody>
      </p:sp>
      <p:sp>
        <p:nvSpPr>
          <p:cNvPr id="37" name="Rectangle 36"/>
          <p:cNvSpPr/>
          <p:nvPr/>
        </p:nvSpPr>
        <p:spPr>
          <a:xfrm>
            <a:off x="548640" y="4306824"/>
            <a:ext cx="1554480" cy="841248"/>
          </a:xfrm>
          <a:prstGeom prst="rect">
            <a:avLst/>
          </a:prstGeom>
          <a:solidFill>
            <a:srgbClr val="06B6D4"/>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1792" y="4306824"/>
            <a:ext cx="1408176" cy="841248"/>
          </a:xfrm>
          <a:prstGeom prst="rect">
            <a:avLst/>
          </a:prstGeom>
          <a:noFill/>
        </p:spPr>
        <p:txBody>
          <a:bodyPr wrap="square" lIns="0" tIns="0" rIns="0" bIns="0" anchor="ctr">
            <a:spAutoFit/>
          </a:bodyPr>
          <a:lstStyle/>
          <a:p>
            <a:pPr algn="l">
              <a:lnSpc>
                <a:spcPct val="95000"/>
              </a:lnSpc>
              <a:spcBef>
                <a:spcPts val="0"/>
              </a:spcBef>
              <a:spcAft>
                <a:spcPts val="200"/>
              </a:spcAft>
            </a:pPr>
            <a:endParaRPr/>
          </a:p>
        </p:txBody>
      </p:sp>
      <p:sp>
        <p:nvSpPr>
          <p:cNvPr id="39" name="Rectangle 38"/>
          <p:cNvSpPr/>
          <p:nvPr/>
        </p:nvSpPr>
        <p:spPr>
          <a:xfrm>
            <a:off x="2103120" y="4306824"/>
            <a:ext cx="2606040" cy="84124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76272" y="4306824"/>
            <a:ext cx="2459736" cy="841248"/>
          </a:xfrm>
          <a:prstGeom prst="rect">
            <a:avLst/>
          </a:prstGeom>
          <a:noFill/>
        </p:spPr>
        <p:txBody>
          <a:bodyPr wrap="square" lIns="0" tIns="0" rIns="0" bIns="0" anchor="ctr">
            <a:spAutoFit/>
          </a:bodyPr>
          <a:lstStyle/>
          <a:p>
            <a:pPr algn="ctr">
              <a:lnSpc>
                <a:spcPct val="95000"/>
              </a:lnSpc>
              <a:spcBef>
                <a:spcPts val="0"/>
              </a:spcBef>
              <a:spcAft>
                <a:spcPts val="200"/>
              </a:spcAft>
            </a:pPr>
            <a:r>
              <a:rPr sz="1565" b="0" i="0">
                <a:solidFill>
                  <a:srgbClr val="0F172A"/>
                </a:solidFill>
                <a:latin typeface="Arial"/>
              </a:rPr>
              <a:t>Founder-led</a:t>
            </a:r>
          </a:p>
          <a:p>
            <a:pPr algn="ctr">
              <a:lnSpc>
                <a:spcPct val="95000"/>
              </a:lnSpc>
              <a:spcBef>
                <a:spcPts val="0"/>
              </a:spcBef>
              <a:spcAft>
                <a:spcPts val="200"/>
              </a:spcAft>
            </a:pPr>
            <a:r>
              <a:rPr sz="1565" b="0" i="0">
                <a:solidFill>
                  <a:srgbClr val="0F172A"/>
                </a:solidFill>
                <a:latin typeface="Arial"/>
              </a:rPr>
              <a:t>(Li ~41%)</a:t>
            </a:r>
          </a:p>
        </p:txBody>
      </p:sp>
      <p:sp>
        <p:nvSpPr>
          <p:cNvPr id="41" name="Rectangle 40"/>
          <p:cNvSpPr/>
          <p:nvPr/>
        </p:nvSpPr>
        <p:spPr>
          <a:xfrm>
            <a:off x="4709160" y="4306824"/>
            <a:ext cx="2331720" cy="84124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782312" y="4306824"/>
            <a:ext cx="2185416" cy="841248"/>
          </a:xfrm>
          <a:prstGeom prst="rect">
            <a:avLst/>
          </a:prstGeom>
          <a:noFill/>
        </p:spPr>
        <p:txBody>
          <a:bodyPr wrap="square" lIns="0" tIns="0" rIns="0" bIns="0" anchor="ctr">
            <a:spAutoFit/>
          </a:bodyPr>
          <a:lstStyle/>
          <a:p>
            <a:pPr algn="ctr">
              <a:lnSpc>
                <a:spcPct val="95000"/>
              </a:lnSpc>
              <a:spcBef>
                <a:spcPts val="0"/>
              </a:spcBef>
              <a:spcAft>
                <a:spcPts val="200"/>
              </a:spcAft>
            </a:pPr>
            <a:r>
              <a:rPr sz="1565" b="0" i="0">
                <a:solidFill>
                  <a:srgbClr val="0F172A"/>
                </a:solidFill>
                <a:latin typeface="Arial"/>
              </a:rPr>
              <a:t>Leveraged M&amp;A</a:t>
            </a:r>
          </a:p>
        </p:txBody>
      </p:sp>
      <p:sp>
        <p:nvSpPr>
          <p:cNvPr id="43" name="Rectangle 42"/>
          <p:cNvSpPr/>
          <p:nvPr/>
        </p:nvSpPr>
        <p:spPr>
          <a:xfrm>
            <a:off x="7040880" y="4306824"/>
            <a:ext cx="2331720" cy="84124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114032" y="4306824"/>
            <a:ext cx="2185416" cy="841248"/>
          </a:xfrm>
          <a:prstGeom prst="rect">
            <a:avLst/>
          </a:prstGeom>
          <a:noFill/>
        </p:spPr>
        <p:txBody>
          <a:bodyPr wrap="square" lIns="0" tIns="0" rIns="0" bIns="0" anchor="ctr">
            <a:spAutoFit/>
          </a:bodyPr>
          <a:lstStyle/>
          <a:p>
            <a:pPr algn="ctr">
              <a:lnSpc>
                <a:spcPct val="95000"/>
              </a:lnSpc>
              <a:spcBef>
                <a:spcPts val="0"/>
              </a:spcBef>
              <a:spcAft>
                <a:spcPts val="200"/>
              </a:spcAft>
            </a:pPr>
            <a:r>
              <a:rPr sz="1565" b="0" i="0">
                <a:solidFill>
                  <a:srgbClr val="0F172A"/>
                </a:solidFill>
                <a:latin typeface="Arial"/>
              </a:rPr>
              <a:t>Acquisition + co-dev</a:t>
            </a:r>
          </a:p>
        </p:txBody>
      </p:sp>
      <p:sp>
        <p:nvSpPr>
          <p:cNvPr id="45" name="Rectangle 44"/>
          <p:cNvSpPr/>
          <p:nvPr/>
        </p:nvSpPr>
        <p:spPr>
          <a:xfrm>
            <a:off x="9372600" y="4306824"/>
            <a:ext cx="2240280" cy="84124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445752" y="4306824"/>
            <a:ext cx="2093976" cy="841248"/>
          </a:xfrm>
          <a:prstGeom prst="rect">
            <a:avLst/>
          </a:prstGeom>
          <a:noFill/>
        </p:spPr>
        <p:txBody>
          <a:bodyPr wrap="square" lIns="0" tIns="0" rIns="0" bIns="0" anchor="ctr">
            <a:spAutoFit/>
          </a:bodyPr>
          <a:lstStyle/>
          <a:p>
            <a:pPr algn="ctr">
              <a:lnSpc>
                <a:spcPct val="95000"/>
              </a:lnSpc>
              <a:spcBef>
                <a:spcPts val="0"/>
              </a:spcBef>
              <a:spcAft>
                <a:spcPts val="200"/>
              </a:spcAft>
            </a:pPr>
            <a:r>
              <a:rPr sz="1565" b="0" i="0">
                <a:solidFill>
                  <a:srgbClr val="0F172A"/>
                </a:solidFill>
                <a:latin typeface="Arial"/>
              </a:rPr>
              <a:t>Most asymmetric</a:t>
            </a:r>
          </a:p>
        </p:txBody>
      </p:sp>
      <p:sp>
        <p:nvSpPr>
          <p:cNvPr id="47" name="TextBox 46"/>
          <p:cNvSpPr txBox="1"/>
          <p:nvPr/>
        </p:nvSpPr>
        <p:spPr>
          <a:xfrm>
            <a:off x="548640" y="2624328"/>
            <a:ext cx="1554480" cy="841248"/>
          </a:xfrm>
          <a:prstGeom prst="rect">
            <a:avLst/>
          </a:prstGeom>
          <a:noFill/>
        </p:spPr>
        <p:txBody>
          <a:bodyPr wrap="square" lIns="0" tIns="0" rIns="0" bIns="0" anchor="ctr">
            <a:spAutoFit/>
          </a:bodyPr>
          <a:lstStyle/>
          <a:p>
            <a:pPr algn="ctr">
              <a:lnSpc>
                <a:spcPct val="100000"/>
              </a:lnSpc>
              <a:spcBef>
                <a:spcPts val="0"/>
              </a:spcBef>
              <a:spcAft>
                <a:spcPts val="200"/>
              </a:spcAft>
            </a:pPr>
            <a:r>
              <a:rPr sz="1623" b="1" i="0">
                <a:solidFill>
                  <a:srgbClr val="FFFFFF"/>
                </a:solidFill>
                <a:latin typeface="Arial"/>
              </a:rPr>
              <a:t>SAIC</a:t>
            </a:r>
          </a:p>
        </p:txBody>
      </p:sp>
      <p:sp>
        <p:nvSpPr>
          <p:cNvPr id="48" name="TextBox 47"/>
          <p:cNvSpPr txBox="1"/>
          <p:nvPr/>
        </p:nvSpPr>
        <p:spPr>
          <a:xfrm>
            <a:off x="548640" y="3465576"/>
            <a:ext cx="1554480" cy="841248"/>
          </a:xfrm>
          <a:prstGeom prst="rect">
            <a:avLst/>
          </a:prstGeom>
          <a:noFill/>
        </p:spPr>
        <p:txBody>
          <a:bodyPr wrap="square" lIns="0" tIns="0" rIns="0" bIns="0" anchor="ctr">
            <a:spAutoFit/>
          </a:bodyPr>
          <a:lstStyle/>
          <a:p>
            <a:pPr algn="ctr">
              <a:lnSpc>
                <a:spcPct val="100000"/>
              </a:lnSpc>
              <a:spcBef>
                <a:spcPts val="0"/>
              </a:spcBef>
              <a:spcAft>
                <a:spcPts val="200"/>
              </a:spcAft>
            </a:pPr>
            <a:r>
              <a:rPr sz="1623" b="1" i="0">
                <a:solidFill>
                  <a:srgbClr val="FFFFFF"/>
                </a:solidFill>
                <a:latin typeface="Arial"/>
              </a:rPr>
              <a:t>BYD</a:t>
            </a:r>
          </a:p>
        </p:txBody>
      </p:sp>
      <p:sp>
        <p:nvSpPr>
          <p:cNvPr id="49" name="TextBox 48"/>
          <p:cNvSpPr txBox="1"/>
          <p:nvPr/>
        </p:nvSpPr>
        <p:spPr>
          <a:xfrm>
            <a:off x="548640" y="4306824"/>
            <a:ext cx="1554480" cy="841248"/>
          </a:xfrm>
          <a:prstGeom prst="rect">
            <a:avLst/>
          </a:prstGeom>
          <a:noFill/>
        </p:spPr>
        <p:txBody>
          <a:bodyPr wrap="square" lIns="0" tIns="0" rIns="0" bIns="0" anchor="ctr">
            <a:spAutoFit/>
          </a:bodyPr>
          <a:lstStyle/>
          <a:p>
            <a:pPr algn="ctr">
              <a:lnSpc>
                <a:spcPct val="100000"/>
              </a:lnSpc>
              <a:spcBef>
                <a:spcPts val="0"/>
              </a:spcBef>
              <a:spcAft>
                <a:spcPts val="200"/>
              </a:spcAft>
            </a:pPr>
            <a:r>
              <a:rPr sz="1623" b="1" i="0">
                <a:solidFill>
                  <a:srgbClr val="FFFFFF"/>
                </a:solidFill>
                <a:latin typeface="Arial"/>
              </a:rPr>
              <a:t>Geely</a:t>
            </a:r>
          </a:p>
        </p:txBody>
      </p:sp>
      <p:sp>
        <p:nvSpPr>
          <p:cNvPr id="50" name="TextBox 49"/>
          <p:cNvSpPr txBox="1"/>
          <p:nvPr/>
        </p:nvSpPr>
        <p:spPr>
          <a:xfrm>
            <a:off x="548640" y="5440680"/>
            <a:ext cx="11064240" cy="244106"/>
          </a:xfrm>
          <a:prstGeom prst="rect">
            <a:avLst/>
          </a:prstGeom>
          <a:noFill/>
        </p:spPr>
        <p:txBody>
          <a:bodyPr wrap="square" lIns="0" tIns="0" rIns="0" bIns="0" anchor="t">
            <a:spAutoFit/>
          </a:bodyPr>
          <a:lstStyle/>
          <a:p>
            <a:pPr algn="l">
              <a:lnSpc>
                <a:spcPct val="105000"/>
              </a:lnSpc>
              <a:spcBef>
                <a:spcPts val="0"/>
              </a:spcBef>
              <a:spcAft>
                <a:spcPts val="200"/>
              </a:spcAft>
            </a:pPr>
            <a:r>
              <a:rPr sz="1623" b="1" dirty="0">
                <a:solidFill>
                  <a:srgbClr val="0F172A"/>
                </a:solidFill>
                <a:latin typeface="Arial"/>
              </a:rPr>
              <a:t>Reading</a:t>
            </a:r>
            <a:r>
              <a:rPr sz="1623" b="1" i="0" dirty="0">
                <a:solidFill>
                  <a:srgbClr val="0F172A"/>
                </a:solidFill>
                <a:latin typeface="Arial"/>
              </a:rPr>
              <a:t> the matrix: the firm that is least adaptable in governance is also the most exposed in viability</a:t>
            </a:r>
          </a:p>
        </p:txBody>
      </p:sp>
      <p:sp>
        <p:nvSpPr>
          <p:cNvPr id="51" name="TextBox 50"/>
          <p:cNvSpPr txBox="1"/>
          <p:nvPr/>
        </p:nvSpPr>
        <p:spPr>
          <a:xfrm>
            <a:off x="548640" y="6199632"/>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276" b="0" i="1">
                <a:solidFill>
                  <a:srgbClr val="64748B"/>
                </a:solidFill>
                <a:latin typeface="Arial"/>
              </a:rPr>
              <a:t>Shleifer &amp; Vishny (1994) · Megginson &amp; Netter (2001) · Teece et al. (1997) · Luo &amp; Tung (2007) · Fan et al. (2007)</a:t>
            </a:r>
          </a:p>
        </p:txBody>
      </p:sp>
      <p:sp>
        <p:nvSpPr>
          <p:cNvPr id="52" name="TextBox 51"/>
          <p:cNvSpPr txBox="1"/>
          <p:nvPr/>
        </p:nvSpPr>
        <p:spPr>
          <a:xfrm>
            <a:off x="548640" y="6473952"/>
            <a:ext cx="8686800" cy="274320"/>
          </a:xfrm>
          <a:prstGeom prst="rect">
            <a:avLst/>
          </a:prstGeom>
          <a:noFill/>
        </p:spPr>
        <p:txBody>
          <a:bodyPr wrap="square" lIns="0" tIns="0" rIns="0" bIns="0" anchor="t">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53" name="TextBox 52"/>
          <p:cNvSpPr txBox="1"/>
          <p:nvPr/>
        </p:nvSpPr>
        <p:spPr>
          <a:xfrm>
            <a:off x="10820095" y="6473952"/>
            <a:ext cx="822960" cy="274320"/>
          </a:xfrm>
          <a:prstGeom prst="rect">
            <a:avLst/>
          </a:prstGeom>
          <a:noFill/>
        </p:spPr>
        <p:txBody>
          <a:bodyPr wrap="square" lIns="0" tIns="0" rIns="0" bIns="0" anchor="t">
            <a:spAutoFit/>
          </a:bodyPr>
          <a:lstStyle/>
          <a:p>
            <a:pPr algn="r">
              <a:lnSpc>
                <a:spcPct val="100000"/>
              </a:lnSpc>
              <a:spcBef>
                <a:spcPts val="0"/>
              </a:spcBef>
              <a:spcAft>
                <a:spcPts val="200"/>
              </a:spcAft>
            </a:pPr>
            <a:r>
              <a:rPr sz="1218" b="0" i="0">
                <a:solidFill>
                  <a:srgbClr val="64748B"/>
                </a:solidFill>
                <a:latin typeface="Aria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623" b="1" i="0">
                <a:solidFill>
                  <a:srgbClr val="06B6D4"/>
                </a:solidFill>
                <a:latin typeface="Arial"/>
              </a:rPr>
              <a:t>DIMENSION 1 · GOVERNANCE</a:t>
            </a:r>
          </a:p>
        </p:txBody>
      </p:sp>
      <p:sp>
        <p:nvSpPr>
          <p:cNvPr id="4" name="TextBox 3"/>
          <p:cNvSpPr txBox="1"/>
          <p:nvPr/>
        </p:nvSpPr>
        <p:spPr>
          <a:xfrm>
            <a:off x="548640" y="658368"/>
            <a:ext cx="11064240" cy="914400"/>
          </a:xfrm>
          <a:prstGeom prst="rect">
            <a:avLst/>
          </a:prstGeom>
          <a:noFill/>
        </p:spPr>
        <p:txBody>
          <a:bodyPr wrap="square" lIns="0" tIns="0" rIns="0" bIns="0" anchor="t">
            <a:spAutoFit/>
          </a:bodyPr>
          <a:lstStyle/>
          <a:p>
            <a:pPr algn="l">
              <a:lnSpc>
                <a:spcPct val="100000"/>
              </a:lnSpc>
              <a:spcBef>
                <a:spcPts val="0"/>
              </a:spcBef>
              <a:spcAft>
                <a:spcPts val="200"/>
              </a:spcAft>
            </a:pPr>
            <a:r>
              <a:rPr sz="2100" b="1" i="0">
                <a:solidFill>
                  <a:srgbClr val="0F172A"/>
                </a:solidFill>
                <a:latin typeface="Arial"/>
              </a:rPr>
              <a:t>Who controls the firm — and what they optimise — diverges sharply</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691640"/>
            <a:ext cx="3593592" cy="3794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691640"/>
            <a:ext cx="3593592" cy="8229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1892808"/>
            <a:ext cx="3264408" cy="548640"/>
          </a:xfrm>
          <a:prstGeom prst="rect">
            <a:avLst/>
          </a:prstGeom>
          <a:noFill/>
        </p:spPr>
        <p:txBody>
          <a:bodyPr wrap="square" lIns="0" tIns="0" rIns="0" bIns="0" anchor="t">
            <a:spAutoFit/>
          </a:bodyPr>
          <a:lstStyle/>
          <a:p>
            <a:pPr algn="l">
              <a:lnSpc>
                <a:spcPct val="98000"/>
              </a:lnSpc>
              <a:spcBef>
                <a:spcPts val="0"/>
              </a:spcBef>
              <a:spcAft>
                <a:spcPts val="200"/>
              </a:spcAft>
            </a:pPr>
            <a:r>
              <a:rPr sz="1855" b="1" i="0">
                <a:solidFill>
                  <a:srgbClr val="DC2626"/>
                </a:solidFill>
                <a:latin typeface="Arial"/>
              </a:rPr>
              <a:t>SAIC — dual state principal</a:t>
            </a:r>
          </a:p>
        </p:txBody>
      </p:sp>
      <p:sp>
        <p:nvSpPr>
          <p:cNvPr id="10" name="TextBox 9"/>
          <p:cNvSpPr txBox="1"/>
          <p:nvPr/>
        </p:nvSpPr>
        <p:spPr>
          <a:xfrm>
            <a:off x="713232" y="2478024"/>
            <a:ext cx="3264408" cy="2646045"/>
          </a:xfrm>
          <a:prstGeom prst="rect">
            <a:avLst/>
          </a:prstGeom>
          <a:noFill/>
        </p:spPr>
        <p:txBody>
          <a:bodyPr wrap="square" lIns="0" tIns="0" rIns="0" bIns="0">
            <a:spAutoFit/>
          </a:bodyPr>
          <a:lstStyle/>
          <a:p>
            <a:pPr>
              <a:lnSpc>
                <a:spcPct val="105000"/>
              </a:lnSpc>
              <a:spcBef>
                <a:spcPts val="0"/>
              </a:spcBef>
              <a:spcAft>
                <a:spcPts val="500"/>
              </a:spcAft>
              <a:buNone/>
            </a:pPr>
            <a:r>
              <a:rPr sz="1449" dirty="0">
                <a:solidFill>
                  <a:srgbClr val="DC2626"/>
                </a:solidFill>
                <a:latin typeface="Arial"/>
              </a:rPr>
              <a:t>–  </a:t>
            </a:r>
            <a:r>
              <a:rPr sz="1449" dirty="0">
                <a:solidFill>
                  <a:srgbClr val="0F172A"/>
                </a:solidFill>
                <a:latin typeface="Arial"/>
              </a:rPr>
              <a:t>S</a:t>
            </a:r>
            <a:r>
              <a:rPr lang="de-DE" sz="1449" dirty="0" err="1">
                <a:solidFill>
                  <a:srgbClr val="0F172A"/>
                </a:solidFill>
                <a:latin typeface="Arial"/>
              </a:rPr>
              <a:t>tate</a:t>
            </a:r>
            <a:r>
              <a:rPr sz="1449" dirty="0">
                <a:solidFill>
                  <a:srgbClr val="0F172A"/>
                </a:solidFill>
                <a:latin typeface="Arial"/>
              </a:rPr>
              <a:t> owns ~73%; the Party mandate is written into the charter</a:t>
            </a:r>
          </a:p>
          <a:p>
            <a:pPr>
              <a:lnSpc>
                <a:spcPct val="105000"/>
              </a:lnSpc>
              <a:spcBef>
                <a:spcPts val="0"/>
              </a:spcBef>
              <a:spcAft>
                <a:spcPts val="500"/>
              </a:spcAft>
              <a:buNone/>
            </a:pPr>
            <a:r>
              <a:rPr sz="1449" dirty="0">
                <a:solidFill>
                  <a:srgbClr val="DC2626"/>
                </a:solidFill>
                <a:latin typeface="Arial"/>
              </a:rPr>
              <a:t>–  </a:t>
            </a:r>
            <a:r>
              <a:rPr sz="1449" dirty="0" err="1">
                <a:solidFill>
                  <a:srgbClr val="0F172A"/>
                </a:solidFill>
                <a:latin typeface="Arial"/>
              </a:rPr>
              <a:t>Optimises</a:t>
            </a:r>
            <a:r>
              <a:rPr sz="1449" dirty="0">
                <a:solidFill>
                  <a:srgbClr val="0F172A"/>
                </a:solidFill>
                <a:latin typeface="Arial"/>
              </a:rPr>
              <a:t> beyond shareholder value</a:t>
            </a:r>
            <a:endParaRPr lang="de-DE" sz="1449" dirty="0">
              <a:solidFill>
                <a:srgbClr val="0F172A"/>
              </a:solidFill>
              <a:latin typeface="Arial"/>
            </a:endParaRPr>
          </a:p>
          <a:p>
            <a:pPr>
              <a:lnSpc>
                <a:spcPct val="105000"/>
              </a:lnSpc>
              <a:spcBef>
                <a:spcPts val="0"/>
              </a:spcBef>
              <a:spcAft>
                <a:spcPts val="500"/>
              </a:spcAft>
              <a:buNone/>
            </a:pPr>
            <a:r>
              <a:rPr sz="1449" dirty="0">
                <a:solidFill>
                  <a:srgbClr val="DC2626"/>
                </a:solidFill>
                <a:latin typeface="Arial"/>
              </a:rPr>
              <a:t>–  </a:t>
            </a:r>
            <a:r>
              <a:rPr sz="1449" dirty="0">
                <a:solidFill>
                  <a:srgbClr val="0F172A"/>
                </a:solidFill>
                <a:latin typeface="Arial"/>
              </a:rPr>
              <a:t>Connected firms lag ~18% post-IPO (Fan et al., 2007)</a:t>
            </a:r>
          </a:p>
          <a:p>
            <a:pPr>
              <a:lnSpc>
                <a:spcPct val="105000"/>
              </a:lnSpc>
              <a:spcBef>
                <a:spcPts val="0"/>
              </a:spcBef>
              <a:spcAft>
                <a:spcPts val="500"/>
              </a:spcAft>
              <a:buNone/>
            </a:pPr>
            <a:r>
              <a:rPr sz="1449" dirty="0">
                <a:solidFill>
                  <a:srgbClr val="DC2626"/>
                </a:solidFill>
                <a:latin typeface="Arial"/>
              </a:rPr>
              <a:t>–  </a:t>
            </a:r>
            <a:r>
              <a:rPr sz="1449" dirty="0">
                <a:solidFill>
                  <a:srgbClr val="0F172A"/>
                </a:solidFill>
                <a:latin typeface="Arial"/>
              </a:rPr>
              <a:t>Cannot exit unprofitable JVs without state sign-off</a:t>
            </a:r>
            <a:endParaRPr lang="de-DE" sz="1449" dirty="0">
              <a:solidFill>
                <a:srgbClr val="0F172A"/>
              </a:solidFill>
              <a:latin typeface="Arial"/>
            </a:endParaRPr>
          </a:p>
          <a:p>
            <a:pPr>
              <a:lnSpc>
                <a:spcPct val="105000"/>
              </a:lnSpc>
              <a:spcBef>
                <a:spcPts val="0"/>
              </a:spcBef>
              <a:spcAft>
                <a:spcPts val="500"/>
              </a:spcAft>
              <a:buNone/>
            </a:pPr>
            <a:endParaRPr sz="1449" dirty="0">
              <a:solidFill>
                <a:srgbClr val="0F172A"/>
              </a:solidFill>
              <a:latin typeface="Arial"/>
            </a:endParaRPr>
          </a:p>
          <a:p>
            <a:pPr algn="ctr">
              <a:lnSpc>
                <a:spcPct val="105000"/>
              </a:lnSpc>
              <a:spcBef>
                <a:spcPts val="0"/>
              </a:spcBef>
              <a:spcAft>
                <a:spcPts val="500"/>
              </a:spcAft>
              <a:buNone/>
            </a:pPr>
            <a:r>
              <a:rPr sz="1449" b="1" dirty="0">
                <a:solidFill>
                  <a:srgbClr val="0F172A"/>
                </a:solidFill>
                <a:latin typeface="Arial"/>
              </a:rPr>
              <a:t>Slow capital reallocation → strategic rigidity</a:t>
            </a:r>
          </a:p>
        </p:txBody>
      </p:sp>
      <p:sp>
        <p:nvSpPr>
          <p:cNvPr id="11" name="Rectangle 10"/>
          <p:cNvSpPr/>
          <p:nvPr/>
        </p:nvSpPr>
        <p:spPr>
          <a:xfrm>
            <a:off x="4279392" y="1691640"/>
            <a:ext cx="3593592" cy="3794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79392" y="1691640"/>
            <a:ext cx="3593592"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43984" y="1892808"/>
            <a:ext cx="3264408" cy="548640"/>
          </a:xfrm>
          <a:prstGeom prst="rect">
            <a:avLst/>
          </a:prstGeom>
          <a:noFill/>
        </p:spPr>
        <p:txBody>
          <a:bodyPr wrap="square" lIns="0" tIns="0" rIns="0" bIns="0" anchor="t">
            <a:spAutoFit/>
          </a:bodyPr>
          <a:lstStyle/>
          <a:p>
            <a:pPr algn="l">
              <a:lnSpc>
                <a:spcPct val="98000"/>
              </a:lnSpc>
              <a:spcBef>
                <a:spcPts val="0"/>
              </a:spcBef>
              <a:spcAft>
                <a:spcPts val="200"/>
              </a:spcAft>
            </a:pPr>
            <a:r>
              <a:rPr sz="1855" b="1" i="0">
                <a:solidFill>
                  <a:srgbClr val="2563EB"/>
                </a:solidFill>
                <a:latin typeface="Arial"/>
              </a:rPr>
              <a:t>BYD — founder control</a:t>
            </a:r>
          </a:p>
        </p:txBody>
      </p:sp>
      <p:sp>
        <p:nvSpPr>
          <p:cNvPr id="14" name="TextBox 13"/>
          <p:cNvSpPr txBox="1"/>
          <p:nvPr/>
        </p:nvSpPr>
        <p:spPr>
          <a:xfrm>
            <a:off x="4443984" y="2478024"/>
            <a:ext cx="3264408" cy="2646045"/>
          </a:xfrm>
          <a:prstGeom prst="rect">
            <a:avLst/>
          </a:prstGeom>
          <a:noFill/>
        </p:spPr>
        <p:txBody>
          <a:bodyPr wrap="square" lIns="0" tIns="0" rIns="0" bIns="0">
            <a:spAutoFit/>
          </a:bodyPr>
          <a:lstStyle/>
          <a:p>
            <a:pPr>
              <a:lnSpc>
                <a:spcPct val="105000"/>
              </a:lnSpc>
              <a:spcBef>
                <a:spcPts val="0"/>
              </a:spcBef>
              <a:spcAft>
                <a:spcPts val="500"/>
              </a:spcAft>
              <a:buNone/>
            </a:pPr>
            <a:r>
              <a:rPr sz="1449" dirty="0">
                <a:solidFill>
                  <a:srgbClr val="2563EB"/>
                </a:solidFill>
                <a:latin typeface="Arial"/>
              </a:rPr>
              <a:t>–  </a:t>
            </a:r>
            <a:r>
              <a:rPr sz="1449" dirty="0">
                <a:solidFill>
                  <a:srgbClr val="0F172A"/>
                </a:solidFill>
                <a:latin typeface="Arial"/>
              </a:rPr>
              <a:t>Wang </a:t>
            </a:r>
            <a:r>
              <a:rPr sz="1449" dirty="0" err="1">
                <a:solidFill>
                  <a:srgbClr val="0F172A"/>
                </a:solidFill>
                <a:latin typeface="Arial"/>
              </a:rPr>
              <a:t>Chuanfu</a:t>
            </a:r>
            <a:r>
              <a:rPr sz="1449" dirty="0">
                <a:solidFill>
                  <a:srgbClr val="0F172A"/>
                </a:solidFill>
                <a:latin typeface="Arial"/>
              </a:rPr>
              <a:t> ~17%; founding team &gt; 1/3 of votes</a:t>
            </a:r>
          </a:p>
          <a:p>
            <a:pPr>
              <a:lnSpc>
                <a:spcPct val="105000"/>
              </a:lnSpc>
              <a:spcBef>
                <a:spcPts val="0"/>
              </a:spcBef>
              <a:spcAft>
                <a:spcPts val="500"/>
              </a:spcAft>
              <a:buNone/>
            </a:pPr>
            <a:r>
              <a:rPr sz="1449" dirty="0">
                <a:solidFill>
                  <a:srgbClr val="2563EB"/>
                </a:solidFill>
                <a:latin typeface="Arial"/>
              </a:rPr>
              <a:t>–  </a:t>
            </a:r>
            <a:r>
              <a:rPr sz="1449" dirty="0">
                <a:solidFill>
                  <a:srgbClr val="0F172A"/>
                </a:solidFill>
                <a:latin typeface="Arial"/>
              </a:rPr>
              <a:t>No JV dependency; one clear commercial objective</a:t>
            </a:r>
          </a:p>
          <a:p>
            <a:pPr>
              <a:lnSpc>
                <a:spcPct val="105000"/>
              </a:lnSpc>
              <a:spcBef>
                <a:spcPts val="0"/>
              </a:spcBef>
              <a:spcAft>
                <a:spcPts val="500"/>
              </a:spcAft>
              <a:buNone/>
            </a:pPr>
            <a:r>
              <a:rPr sz="1449" dirty="0">
                <a:solidFill>
                  <a:srgbClr val="2563EB"/>
                </a:solidFill>
                <a:latin typeface="Arial"/>
              </a:rPr>
              <a:t>–  </a:t>
            </a:r>
            <a:r>
              <a:rPr sz="1449" dirty="0">
                <a:solidFill>
                  <a:srgbClr val="0F172A"/>
                </a:solidFill>
                <a:latin typeface="Arial"/>
              </a:rPr>
              <a:t>Founder control aids breakthrough innovation (Zhang et al., 2025)</a:t>
            </a:r>
          </a:p>
          <a:p>
            <a:pPr>
              <a:lnSpc>
                <a:spcPct val="105000"/>
              </a:lnSpc>
              <a:spcBef>
                <a:spcPts val="0"/>
              </a:spcBef>
              <a:spcAft>
                <a:spcPts val="500"/>
              </a:spcAft>
              <a:buNone/>
            </a:pPr>
            <a:r>
              <a:rPr sz="1449" dirty="0">
                <a:solidFill>
                  <a:srgbClr val="2563EB"/>
                </a:solidFill>
                <a:latin typeface="Arial"/>
              </a:rPr>
              <a:t>–  </a:t>
            </a:r>
            <a:r>
              <a:rPr sz="1449" dirty="0">
                <a:solidFill>
                  <a:srgbClr val="0F172A"/>
                </a:solidFill>
                <a:latin typeface="Arial"/>
              </a:rPr>
              <a:t>Exited combustion engines in 2022</a:t>
            </a:r>
            <a:r>
              <a:rPr lang="de-DE" sz="1449" dirty="0">
                <a:solidFill>
                  <a:srgbClr val="0F172A"/>
                </a:solidFill>
                <a:latin typeface="Arial"/>
              </a:rPr>
              <a:t>, </a:t>
            </a:r>
            <a:r>
              <a:rPr sz="1449" dirty="0">
                <a:solidFill>
                  <a:srgbClr val="0F172A"/>
                </a:solidFill>
                <a:latin typeface="Arial"/>
              </a:rPr>
              <a:t>decided alone</a:t>
            </a:r>
            <a:endParaRPr lang="de-DE" sz="1449" dirty="0">
              <a:solidFill>
                <a:srgbClr val="0F172A"/>
              </a:solidFill>
              <a:latin typeface="Arial"/>
            </a:endParaRPr>
          </a:p>
          <a:p>
            <a:pPr>
              <a:lnSpc>
                <a:spcPct val="105000"/>
              </a:lnSpc>
              <a:spcBef>
                <a:spcPts val="0"/>
              </a:spcBef>
              <a:spcAft>
                <a:spcPts val="500"/>
              </a:spcAft>
              <a:buNone/>
            </a:pPr>
            <a:endParaRPr sz="1449" dirty="0">
              <a:solidFill>
                <a:srgbClr val="0F172A"/>
              </a:solidFill>
              <a:latin typeface="Arial"/>
            </a:endParaRPr>
          </a:p>
          <a:p>
            <a:pPr algn="ctr">
              <a:lnSpc>
                <a:spcPct val="105000"/>
              </a:lnSpc>
              <a:spcBef>
                <a:spcPts val="0"/>
              </a:spcBef>
              <a:spcAft>
                <a:spcPts val="500"/>
              </a:spcAft>
              <a:buNone/>
            </a:pPr>
            <a:r>
              <a:rPr sz="1449" b="1" dirty="0">
                <a:solidFill>
                  <a:srgbClr val="0F172A"/>
                </a:solidFill>
                <a:latin typeface="Arial"/>
              </a:rPr>
              <a:t>Fastest decision cycle of the three</a:t>
            </a:r>
          </a:p>
        </p:txBody>
      </p:sp>
      <p:sp>
        <p:nvSpPr>
          <p:cNvPr id="15" name="Rectangle 14"/>
          <p:cNvSpPr/>
          <p:nvPr/>
        </p:nvSpPr>
        <p:spPr>
          <a:xfrm>
            <a:off x="8010144" y="1691640"/>
            <a:ext cx="3593592" cy="3794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10144" y="1691640"/>
            <a:ext cx="3593592" cy="8229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74736" y="1892808"/>
            <a:ext cx="3264408" cy="548640"/>
          </a:xfrm>
          <a:prstGeom prst="rect">
            <a:avLst/>
          </a:prstGeom>
          <a:noFill/>
        </p:spPr>
        <p:txBody>
          <a:bodyPr wrap="square" lIns="0" tIns="0" rIns="0" bIns="0" anchor="t">
            <a:spAutoFit/>
          </a:bodyPr>
          <a:lstStyle/>
          <a:p>
            <a:pPr algn="l">
              <a:lnSpc>
                <a:spcPct val="98000"/>
              </a:lnSpc>
              <a:spcBef>
                <a:spcPts val="0"/>
              </a:spcBef>
              <a:spcAft>
                <a:spcPts val="200"/>
              </a:spcAft>
            </a:pPr>
            <a:r>
              <a:rPr sz="1855" b="1" i="0">
                <a:solidFill>
                  <a:srgbClr val="06B6D4"/>
                </a:solidFill>
                <a:latin typeface="Arial"/>
              </a:rPr>
              <a:t>Geely — founder apex</a:t>
            </a:r>
          </a:p>
        </p:txBody>
      </p:sp>
      <p:sp>
        <p:nvSpPr>
          <p:cNvPr id="18" name="TextBox 17"/>
          <p:cNvSpPr txBox="1"/>
          <p:nvPr/>
        </p:nvSpPr>
        <p:spPr>
          <a:xfrm>
            <a:off x="8174736" y="2478024"/>
            <a:ext cx="3264408" cy="2880212"/>
          </a:xfrm>
          <a:prstGeom prst="rect">
            <a:avLst/>
          </a:prstGeom>
          <a:noFill/>
        </p:spPr>
        <p:txBody>
          <a:bodyPr wrap="square" lIns="0" tIns="0" rIns="0" bIns="0">
            <a:spAutoFit/>
          </a:bodyPr>
          <a:lstStyle/>
          <a:p>
            <a:pPr>
              <a:lnSpc>
                <a:spcPct val="105000"/>
              </a:lnSpc>
              <a:spcBef>
                <a:spcPts val="0"/>
              </a:spcBef>
              <a:spcAft>
                <a:spcPts val="500"/>
              </a:spcAft>
              <a:buNone/>
            </a:pPr>
            <a:r>
              <a:rPr sz="1449" dirty="0">
                <a:solidFill>
                  <a:srgbClr val="06B6D4"/>
                </a:solidFill>
                <a:latin typeface="Arial"/>
              </a:rPr>
              <a:t>–  </a:t>
            </a:r>
            <a:r>
              <a:rPr sz="1449" dirty="0">
                <a:solidFill>
                  <a:srgbClr val="0F172A"/>
                </a:solidFill>
                <a:latin typeface="Arial"/>
              </a:rPr>
              <a:t>Li Shufu ~41% attributable via ZGH (64.4% combined)</a:t>
            </a:r>
          </a:p>
          <a:p>
            <a:pPr>
              <a:lnSpc>
                <a:spcPct val="105000"/>
              </a:lnSpc>
              <a:spcBef>
                <a:spcPts val="0"/>
              </a:spcBef>
              <a:spcAft>
                <a:spcPts val="500"/>
              </a:spcAft>
              <a:buNone/>
            </a:pPr>
            <a:r>
              <a:rPr sz="1449" dirty="0">
                <a:solidFill>
                  <a:srgbClr val="06B6D4"/>
                </a:solidFill>
                <a:latin typeface="Arial"/>
              </a:rPr>
              <a:t>–  </a:t>
            </a:r>
            <a:r>
              <a:rPr sz="1449" dirty="0">
                <a:solidFill>
                  <a:srgbClr val="0F172A"/>
                </a:solidFill>
                <a:latin typeface="Arial"/>
              </a:rPr>
              <a:t>No state committee or JV-partner consent at the top</a:t>
            </a:r>
          </a:p>
          <a:p>
            <a:pPr>
              <a:lnSpc>
                <a:spcPct val="105000"/>
              </a:lnSpc>
              <a:spcBef>
                <a:spcPts val="0"/>
              </a:spcBef>
              <a:spcAft>
                <a:spcPts val="500"/>
              </a:spcAft>
              <a:buNone/>
            </a:pPr>
            <a:r>
              <a:rPr sz="1449" dirty="0">
                <a:solidFill>
                  <a:srgbClr val="06B6D4"/>
                </a:solidFill>
                <a:latin typeface="Arial"/>
              </a:rPr>
              <a:t>–  </a:t>
            </a:r>
            <a:r>
              <a:rPr sz="1449" dirty="0">
                <a:solidFill>
                  <a:srgbClr val="0F172A"/>
                </a:solidFill>
                <a:latin typeface="Arial"/>
              </a:rPr>
              <a:t>Agile in M&amp;A, but coordination cost across brands</a:t>
            </a:r>
          </a:p>
          <a:p>
            <a:pPr>
              <a:lnSpc>
                <a:spcPct val="105000"/>
              </a:lnSpc>
              <a:spcBef>
                <a:spcPts val="0"/>
              </a:spcBef>
              <a:spcAft>
                <a:spcPts val="500"/>
              </a:spcAft>
              <a:buNone/>
            </a:pPr>
            <a:r>
              <a:rPr sz="1449" dirty="0">
                <a:solidFill>
                  <a:srgbClr val="06B6D4"/>
                </a:solidFill>
                <a:latin typeface="Arial"/>
              </a:rPr>
              <a:t>–  </a:t>
            </a:r>
            <a:r>
              <a:rPr sz="1449" dirty="0">
                <a:solidFill>
                  <a:srgbClr val="0F172A"/>
                </a:solidFill>
                <a:latin typeface="Arial"/>
              </a:rPr>
              <a:t>Volvo / Polestar / Lotus add portfolio complexity</a:t>
            </a:r>
            <a:endParaRPr lang="de-DE" sz="1449" dirty="0">
              <a:solidFill>
                <a:srgbClr val="0F172A"/>
              </a:solidFill>
              <a:latin typeface="Arial"/>
            </a:endParaRPr>
          </a:p>
          <a:p>
            <a:pPr>
              <a:lnSpc>
                <a:spcPct val="105000"/>
              </a:lnSpc>
              <a:spcBef>
                <a:spcPts val="0"/>
              </a:spcBef>
              <a:spcAft>
                <a:spcPts val="500"/>
              </a:spcAft>
              <a:buNone/>
            </a:pPr>
            <a:endParaRPr sz="1449" dirty="0">
              <a:solidFill>
                <a:srgbClr val="0F172A"/>
              </a:solidFill>
              <a:latin typeface="Arial"/>
            </a:endParaRPr>
          </a:p>
          <a:p>
            <a:pPr algn="ctr">
              <a:lnSpc>
                <a:spcPct val="105000"/>
              </a:lnSpc>
              <a:spcBef>
                <a:spcPts val="0"/>
              </a:spcBef>
              <a:spcAft>
                <a:spcPts val="500"/>
              </a:spcAft>
              <a:buNone/>
            </a:pPr>
            <a:r>
              <a:rPr sz="1449" b="1" dirty="0">
                <a:solidFill>
                  <a:srgbClr val="0F172A"/>
                </a:solidFill>
                <a:latin typeface="Arial"/>
              </a:rPr>
              <a:t>Loss-making subsidiaries = contingent liability</a:t>
            </a:r>
          </a:p>
        </p:txBody>
      </p:sp>
      <p:sp>
        <p:nvSpPr>
          <p:cNvPr id="19" name="TextBox 18"/>
          <p:cNvSpPr txBox="1"/>
          <p:nvPr/>
        </p:nvSpPr>
        <p:spPr>
          <a:xfrm>
            <a:off x="548640" y="6199632"/>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276" b="0" i="1">
                <a:solidFill>
                  <a:srgbClr val="64748B"/>
                </a:solidFill>
                <a:latin typeface="Arial"/>
              </a:rPr>
              <a:t>Shleifer &amp; Vishny (1994) · Fan et al. (2007) · Jensen &amp; Meckling (1976) · Megginson &amp; Netter (2001)</a:t>
            </a:r>
          </a:p>
        </p:txBody>
      </p:sp>
      <p:sp>
        <p:nvSpPr>
          <p:cNvPr id="20" name="TextBox 19"/>
          <p:cNvSpPr txBox="1"/>
          <p:nvPr/>
        </p:nvSpPr>
        <p:spPr>
          <a:xfrm>
            <a:off x="548640" y="6473952"/>
            <a:ext cx="8686800" cy="274320"/>
          </a:xfrm>
          <a:prstGeom prst="rect">
            <a:avLst/>
          </a:prstGeom>
          <a:noFill/>
        </p:spPr>
        <p:txBody>
          <a:bodyPr wrap="square" lIns="0" tIns="0" rIns="0" bIns="0" anchor="t">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1" name="TextBox 20"/>
          <p:cNvSpPr txBox="1"/>
          <p:nvPr/>
        </p:nvSpPr>
        <p:spPr>
          <a:xfrm>
            <a:off x="10820095" y="6473952"/>
            <a:ext cx="822960" cy="274320"/>
          </a:xfrm>
          <a:prstGeom prst="rect">
            <a:avLst/>
          </a:prstGeom>
          <a:noFill/>
        </p:spPr>
        <p:txBody>
          <a:bodyPr wrap="square" lIns="0" tIns="0" rIns="0" bIns="0" anchor="t">
            <a:spAutoFit/>
          </a:bodyPr>
          <a:lstStyle/>
          <a:p>
            <a:pPr algn="r">
              <a:lnSpc>
                <a:spcPct val="100000"/>
              </a:lnSpc>
              <a:spcBef>
                <a:spcPts val="0"/>
              </a:spcBef>
              <a:spcAft>
                <a:spcPts val="200"/>
              </a:spcAft>
            </a:pPr>
            <a:r>
              <a:rPr sz="1218" b="0" i="0">
                <a:solidFill>
                  <a:srgbClr val="64748B"/>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623" b="1" i="0">
                <a:solidFill>
                  <a:srgbClr val="06B6D4"/>
                </a:solidFill>
                <a:latin typeface="Arial"/>
              </a:rPr>
              <a:t>DIMENSION 1 · GOVERNANCE SYNTHESIS</a:t>
            </a:r>
          </a:p>
        </p:txBody>
      </p:sp>
      <p:sp>
        <p:nvSpPr>
          <p:cNvPr id="4" name="TextBox 3"/>
          <p:cNvSpPr txBox="1"/>
          <p:nvPr/>
        </p:nvSpPr>
        <p:spPr>
          <a:xfrm>
            <a:off x="548640" y="658368"/>
            <a:ext cx="11064240" cy="914400"/>
          </a:xfrm>
          <a:prstGeom prst="rect">
            <a:avLst/>
          </a:prstGeom>
          <a:noFill/>
        </p:spPr>
        <p:txBody>
          <a:bodyPr wrap="square" lIns="0" tIns="0" rIns="0" bIns="0" anchor="t">
            <a:spAutoFit/>
          </a:bodyPr>
          <a:lstStyle/>
          <a:p>
            <a:pPr algn="l">
              <a:lnSpc>
                <a:spcPct val="100000"/>
              </a:lnSpc>
              <a:spcBef>
                <a:spcPts val="0"/>
              </a:spcBef>
              <a:spcAft>
                <a:spcPts val="200"/>
              </a:spcAft>
            </a:pPr>
            <a:r>
              <a:rPr sz="2100" b="1" i="0">
                <a:solidFill>
                  <a:srgbClr val="0F172A"/>
                </a:solidFill>
                <a:latin typeface="Arial"/>
              </a:rPr>
              <a:t>The EU tariff gap prices governance risk — an outside validation</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68680" y="1737360"/>
            <a:ext cx="3291840" cy="20116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8680" y="1737360"/>
            <a:ext cx="3291840" cy="8229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938528"/>
            <a:ext cx="3291840" cy="868680"/>
          </a:xfrm>
          <a:prstGeom prst="rect">
            <a:avLst/>
          </a:prstGeom>
          <a:noFill/>
        </p:spPr>
        <p:txBody>
          <a:bodyPr wrap="square" lIns="0" tIns="0" rIns="0" bIns="0" anchor="t">
            <a:spAutoFit/>
          </a:bodyPr>
          <a:lstStyle/>
          <a:p>
            <a:pPr algn="ctr">
              <a:lnSpc>
                <a:spcPct val="100000"/>
              </a:lnSpc>
              <a:spcBef>
                <a:spcPts val="0"/>
              </a:spcBef>
              <a:spcAft>
                <a:spcPts val="200"/>
              </a:spcAft>
            </a:pPr>
            <a:r>
              <a:rPr sz="4400" b="1" i="0">
                <a:solidFill>
                  <a:srgbClr val="DC2626"/>
                </a:solidFill>
                <a:latin typeface="Arial"/>
              </a:rPr>
              <a:t>35.3%</a:t>
            </a:r>
          </a:p>
        </p:txBody>
      </p:sp>
      <p:sp>
        <p:nvSpPr>
          <p:cNvPr id="10" name="TextBox 9"/>
          <p:cNvSpPr txBox="1"/>
          <p:nvPr/>
        </p:nvSpPr>
        <p:spPr>
          <a:xfrm>
            <a:off x="868680" y="2788920"/>
            <a:ext cx="3291840" cy="365760"/>
          </a:xfrm>
          <a:prstGeom prst="rect">
            <a:avLst/>
          </a:prstGeom>
          <a:noFill/>
        </p:spPr>
        <p:txBody>
          <a:bodyPr wrap="square" lIns="0" tIns="0" rIns="0" bIns="0" anchor="t">
            <a:spAutoFit/>
          </a:bodyPr>
          <a:lstStyle/>
          <a:p>
            <a:pPr algn="ctr">
              <a:lnSpc>
                <a:spcPct val="100000"/>
              </a:lnSpc>
              <a:spcBef>
                <a:spcPts val="0"/>
              </a:spcBef>
              <a:spcAft>
                <a:spcPts val="200"/>
              </a:spcAft>
            </a:pPr>
            <a:r>
              <a:rPr sz="1855" b="1" i="0">
                <a:solidFill>
                  <a:srgbClr val="0F172A"/>
                </a:solidFill>
                <a:latin typeface="Arial"/>
              </a:rPr>
              <a:t>SAIC</a:t>
            </a:r>
          </a:p>
        </p:txBody>
      </p:sp>
      <p:sp>
        <p:nvSpPr>
          <p:cNvPr id="11" name="TextBox 10"/>
          <p:cNvSpPr txBox="1"/>
          <p:nvPr/>
        </p:nvSpPr>
        <p:spPr>
          <a:xfrm>
            <a:off x="978408" y="3154680"/>
            <a:ext cx="3072384" cy="502920"/>
          </a:xfrm>
          <a:prstGeom prst="rect">
            <a:avLst/>
          </a:prstGeom>
          <a:noFill/>
        </p:spPr>
        <p:txBody>
          <a:bodyPr wrap="square" lIns="0" tIns="0" rIns="0" bIns="0" anchor="t">
            <a:spAutoFit/>
          </a:bodyPr>
          <a:lstStyle/>
          <a:p>
            <a:pPr algn="ctr">
              <a:lnSpc>
                <a:spcPct val="100000"/>
              </a:lnSpc>
              <a:spcBef>
                <a:spcPts val="0"/>
              </a:spcBef>
              <a:spcAft>
                <a:spcPts val="200"/>
              </a:spcAft>
            </a:pPr>
            <a:r>
              <a:rPr sz="1391" b="0" i="1">
                <a:solidFill>
                  <a:srgbClr val="64748B"/>
                </a:solidFill>
                <a:latin typeface="Arial"/>
              </a:rPr>
              <a:t>State-owned;</a:t>
            </a:r>
          </a:p>
          <a:p>
            <a:pPr algn="ctr">
              <a:lnSpc>
                <a:spcPct val="100000"/>
              </a:lnSpc>
              <a:spcBef>
                <a:spcPts val="0"/>
              </a:spcBef>
              <a:spcAft>
                <a:spcPts val="200"/>
              </a:spcAft>
            </a:pPr>
            <a:r>
              <a:rPr sz="1391" b="0" i="1">
                <a:solidFill>
                  <a:srgbClr val="64748B"/>
                </a:solidFill>
                <a:latin typeface="Arial"/>
              </a:rPr>
              <a:t>highest subsidy finding</a:t>
            </a:r>
          </a:p>
        </p:txBody>
      </p:sp>
      <p:sp>
        <p:nvSpPr>
          <p:cNvPr id="12" name="Rectangle 11"/>
          <p:cNvSpPr/>
          <p:nvPr/>
        </p:nvSpPr>
        <p:spPr>
          <a:xfrm>
            <a:off x="4389120" y="1737360"/>
            <a:ext cx="3291840" cy="20116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1737360"/>
            <a:ext cx="3291840"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0" y="1938528"/>
            <a:ext cx="3291840" cy="868680"/>
          </a:xfrm>
          <a:prstGeom prst="rect">
            <a:avLst/>
          </a:prstGeom>
          <a:noFill/>
        </p:spPr>
        <p:txBody>
          <a:bodyPr wrap="square" lIns="0" tIns="0" rIns="0" bIns="0" anchor="t">
            <a:spAutoFit/>
          </a:bodyPr>
          <a:lstStyle/>
          <a:p>
            <a:pPr algn="ctr">
              <a:lnSpc>
                <a:spcPct val="100000"/>
              </a:lnSpc>
              <a:spcBef>
                <a:spcPts val="0"/>
              </a:spcBef>
              <a:spcAft>
                <a:spcPts val="200"/>
              </a:spcAft>
            </a:pPr>
            <a:r>
              <a:rPr sz="4400" b="1" i="0">
                <a:solidFill>
                  <a:srgbClr val="2563EB"/>
                </a:solidFill>
                <a:latin typeface="Arial"/>
              </a:rPr>
              <a:t>17.0%</a:t>
            </a:r>
          </a:p>
        </p:txBody>
      </p:sp>
      <p:sp>
        <p:nvSpPr>
          <p:cNvPr id="15" name="TextBox 14"/>
          <p:cNvSpPr txBox="1"/>
          <p:nvPr/>
        </p:nvSpPr>
        <p:spPr>
          <a:xfrm>
            <a:off x="4389120" y="2788920"/>
            <a:ext cx="3291840" cy="365760"/>
          </a:xfrm>
          <a:prstGeom prst="rect">
            <a:avLst/>
          </a:prstGeom>
          <a:noFill/>
        </p:spPr>
        <p:txBody>
          <a:bodyPr wrap="square" lIns="0" tIns="0" rIns="0" bIns="0" anchor="t">
            <a:spAutoFit/>
          </a:bodyPr>
          <a:lstStyle/>
          <a:p>
            <a:pPr algn="ctr">
              <a:lnSpc>
                <a:spcPct val="100000"/>
              </a:lnSpc>
              <a:spcBef>
                <a:spcPts val="0"/>
              </a:spcBef>
              <a:spcAft>
                <a:spcPts val="200"/>
              </a:spcAft>
            </a:pPr>
            <a:r>
              <a:rPr sz="1855" b="1" i="0">
                <a:solidFill>
                  <a:srgbClr val="0F172A"/>
                </a:solidFill>
                <a:latin typeface="Arial"/>
              </a:rPr>
              <a:t>BYD</a:t>
            </a:r>
          </a:p>
        </p:txBody>
      </p:sp>
      <p:sp>
        <p:nvSpPr>
          <p:cNvPr id="16" name="TextBox 15"/>
          <p:cNvSpPr txBox="1"/>
          <p:nvPr/>
        </p:nvSpPr>
        <p:spPr>
          <a:xfrm>
            <a:off x="4498848" y="3154680"/>
            <a:ext cx="3072384" cy="502920"/>
          </a:xfrm>
          <a:prstGeom prst="rect">
            <a:avLst/>
          </a:prstGeom>
          <a:noFill/>
        </p:spPr>
        <p:txBody>
          <a:bodyPr wrap="square" lIns="0" tIns="0" rIns="0" bIns="0" anchor="t">
            <a:spAutoFit/>
          </a:bodyPr>
          <a:lstStyle/>
          <a:p>
            <a:pPr algn="ctr">
              <a:lnSpc>
                <a:spcPct val="100000"/>
              </a:lnSpc>
              <a:spcBef>
                <a:spcPts val="0"/>
              </a:spcBef>
              <a:spcAft>
                <a:spcPts val="200"/>
              </a:spcAft>
            </a:pPr>
            <a:r>
              <a:rPr sz="1391" b="0" i="1">
                <a:solidFill>
                  <a:srgbClr val="64748B"/>
                </a:solidFill>
                <a:latin typeface="Arial"/>
              </a:rPr>
              <a:t>Founder-led;</a:t>
            </a:r>
          </a:p>
          <a:p>
            <a:pPr algn="ctr">
              <a:lnSpc>
                <a:spcPct val="100000"/>
              </a:lnSpc>
              <a:spcBef>
                <a:spcPts val="0"/>
              </a:spcBef>
              <a:spcAft>
                <a:spcPts val="200"/>
              </a:spcAft>
            </a:pPr>
            <a:r>
              <a:rPr sz="1391" b="0" i="1">
                <a:solidFill>
                  <a:srgbClr val="64748B"/>
                </a:solidFill>
                <a:latin typeface="Arial"/>
              </a:rPr>
              <a:t>lowest state finding</a:t>
            </a:r>
          </a:p>
        </p:txBody>
      </p:sp>
      <p:sp>
        <p:nvSpPr>
          <p:cNvPr id="17" name="Rectangle 16"/>
          <p:cNvSpPr/>
          <p:nvPr/>
        </p:nvSpPr>
        <p:spPr>
          <a:xfrm>
            <a:off x="7909560" y="1737360"/>
            <a:ext cx="3291840" cy="20116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909560" y="1737360"/>
            <a:ext cx="3291840" cy="8229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09560" y="1938528"/>
            <a:ext cx="3291840" cy="868680"/>
          </a:xfrm>
          <a:prstGeom prst="rect">
            <a:avLst/>
          </a:prstGeom>
          <a:noFill/>
        </p:spPr>
        <p:txBody>
          <a:bodyPr wrap="square" lIns="0" tIns="0" rIns="0" bIns="0" anchor="t">
            <a:spAutoFit/>
          </a:bodyPr>
          <a:lstStyle/>
          <a:p>
            <a:pPr algn="ctr">
              <a:lnSpc>
                <a:spcPct val="100000"/>
              </a:lnSpc>
              <a:spcBef>
                <a:spcPts val="0"/>
              </a:spcBef>
              <a:spcAft>
                <a:spcPts val="200"/>
              </a:spcAft>
            </a:pPr>
            <a:r>
              <a:rPr sz="4400" b="1" i="0">
                <a:solidFill>
                  <a:srgbClr val="06B6D4"/>
                </a:solidFill>
                <a:latin typeface="Arial"/>
              </a:rPr>
              <a:t>18.8%</a:t>
            </a:r>
          </a:p>
        </p:txBody>
      </p:sp>
      <p:sp>
        <p:nvSpPr>
          <p:cNvPr id="20" name="TextBox 19"/>
          <p:cNvSpPr txBox="1"/>
          <p:nvPr/>
        </p:nvSpPr>
        <p:spPr>
          <a:xfrm>
            <a:off x="7909560" y="2788920"/>
            <a:ext cx="3291840" cy="365760"/>
          </a:xfrm>
          <a:prstGeom prst="rect">
            <a:avLst/>
          </a:prstGeom>
          <a:noFill/>
        </p:spPr>
        <p:txBody>
          <a:bodyPr wrap="square" lIns="0" tIns="0" rIns="0" bIns="0" anchor="t">
            <a:spAutoFit/>
          </a:bodyPr>
          <a:lstStyle/>
          <a:p>
            <a:pPr algn="ctr">
              <a:lnSpc>
                <a:spcPct val="100000"/>
              </a:lnSpc>
              <a:spcBef>
                <a:spcPts val="0"/>
              </a:spcBef>
              <a:spcAft>
                <a:spcPts val="200"/>
              </a:spcAft>
            </a:pPr>
            <a:r>
              <a:rPr sz="1855" b="1" i="0">
                <a:solidFill>
                  <a:srgbClr val="0F172A"/>
                </a:solidFill>
                <a:latin typeface="Arial"/>
              </a:rPr>
              <a:t>Geely</a:t>
            </a:r>
          </a:p>
        </p:txBody>
      </p:sp>
      <p:sp>
        <p:nvSpPr>
          <p:cNvPr id="21" name="TextBox 20"/>
          <p:cNvSpPr txBox="1"/>
          <p:nvPr/>
        </p:nvSpPr>
        <p:spPr>
          <a:xfrm>
            <a:off x="8019288" y="3154680"/>
            <a:ext cx="3072384" cy="502920"/>
          </a:xfrm>
          <a:prstGeom prst="rect">
            <a:avLst/>
          </a:prstGeom>
          <a:noFill/>
        </p:spPr>
        <p:txBody>
          <a:bodyPr wrap="square" lIns="0" tIns="0" rIns="0" bIns="0" anchor="t">
            <a:spAutoFit/>
          </a:bodyPr>
          <a:lstStyle/>
          <a:p>
            <a:pPr algn="ctr">
              <a:lnSpc>
                <a:spcPct val="100000"/>
              </a:lnSpc>
              <a:spcBef>
                <a:spcPts val="0"/>
              </a:spcBef>
              <a:spcAft>
                <a:spcPts val="200"/>
              </a:spcAft>
            </a:pPr>
            <a:r>
              <a:rPr sz="1391" b="0" i="1">
                <a:solidFill>
                  <a:srgbClr val="64748B"/>
                </a:solidFill>
                <a:latin typeface="Arial"/>
              </a:rPr>
              <a:t>Private;</a:t>
            </a:r>
          </a:p>
          <a:p>
            <a:pPr algn="ctr">
              <a:lnSpc>
                <a:spcPct val="100000"/>
              </a:lnSpc>
              <a:spcBef>
                <a:spcPts val="0"/>
              </a:spcBef>
              <a:spcAft>
                <a:spcPts val="200"/>
              </a:spcAft>
            </a:pPr>
            <a:r>
              <a:rPr sz="1391" b="0" i="1">
                <a:solidFill>
                  <a:srgbClr val="64748B"/>
                </a:solidFill>
                <a:latin typeface="Arial"/>
              </a:rPr>
              <a:t>moderate state finding</a:t>
            </a:r>
          </a:p>
        </p:txBody>
      </p:sp>
      <p:sp>
        <p:nvSpPr>
          <p:cNvPr id="22" name="TextBox 21"/>
          <p:cNvSpPr txBox="1"/>
          <p:nvPr/>
        </p:nvSpPr>
        <p:spPr>
          <a:xfrm>
            <a:off x="548640" y="4069080"/>
            <a:ext cx="11064240" cy="1732013"/>
          </a:xfrm>
          <a:prstGeom prst="rect">
            <a:avLst/>
          </a:prstGeom>
          <a:noFill/>
        </p:spPr>
        <p:txBody>
          <a:bodyPr wrap="square" lIns="0" tIns="0" rIns="0" bIns="0">
            <a:spAutoFit/>
          </a:bodyPr>
          <a:lstStyle/>
          <a:p>
            <a:pPr>
              <a:lnSpc>
                <a:spcPct val="105000"/>
              </a:lnSpc>
              <a:spcBef>
                <a:spcPts val="0"/>
              </a:spcBef>
              <a:spcAft>
                <a:spcPts val="900"/>
              </a:spcAft>
              <a:buNone/>
            </a:pPr>
            <a:r>
              <a:rPr sz="1739" dirty="0">
                <a:solidFill>
                  <a:srgbClr val="2563EB"/>
                </a:solidFill>
                <a:latin typeface="Arial"/>
              </a:rPr>
              <a:t>–  </a:t>
            </a:r>
            <a:r>
              <a:rPr sz="1739" dirty="0">
                <a:solidFill>
                  <a:srgbClr val="0F172A"/>
                </a:solidFill>
                <a:latin typeface="Arial"/>
              </a:rPr>
              <a:t>An independent regulator </a:t>
            </a:r>
            <a:r>
              <a:rPr lang="de-DE" sz="1739" dirty="0">
                <a:solidFill>
                  <a:srgbClr val="0F172A"/>
                </a:solidFill>
                <a:latin typeface="Arial"/>
              </a:rPr>
              <a:t>(</a:t>
            </a:r>
            <a:r>
              <a:rPr sz="1739" dirty="0">
                <a:solidFill>
                  <a:srgbClr val="0F172A"/>
                </a:solidFill>
                <a:latin typeface="Arial"/>
              </a:rPr>
              <a:t>European Commission</a:t>
            </a:r>
            <a:r>
              <a:rPr lang="de-DE" sz="1739" dirty="0">
                <a:solidFill>
                  <a:srgbClr val="0F172A"/>
                </a:solidFill>
                <a:latin typeface="Arial"/>
              </a:rPr>
              <a:t>)</a:t>
            </a:r>
            <a:r>
              <a:rPr sz="1739" dirty="0">
                <a:solidFill>
                  <a:srgbClr val="0F172A"/>
                </a:solidFill>
                <a:latin typeface="Arial"/>
              </a:rPr>
              <a:t> priced SAIC's state dependence at</a:t>
            </a:r>
            <a:r>
              <a:rPr lang="de-DE" sz="1739" dirty="0">
                <a:solidFill>
                  <a:srgbClr val="0F172A"/>
                </a:solidFill>
                <a:latin typeface="Arial"/>
              </a:rPr>
              <a:t> </a:t>
            </a:r>
            <a:r>
              <a:rPr sz="1739" dirty="0">
                <a:solidFill>
                  <a:srgbClr val="0F172A"/>
                </a:solidFill>
                <a:latin typeface="Arial"/>
              </a:rPr>
              <a:t>18.3-point </a:t>
            </a:r>
            <a:r>
              <a:rPr lang="de-DE" sz="1739" dirty="0" err="1">
                <a:solidFill>
                  <a:srgbClr val="0F172A"/>
                </a:solidFill>
                <a:latin typeface="Arial"/>
              </a:rPr>
              <a:t>percent</a:t>
            </a:r>
            <a:r>
              <a:rPr sz="1739" dirty="0">
                <a:solidFill>
                  <a:srgbClr val="0F172A"/>
                </a:solidFill>
                <a:latin typeface="Arial"/>
              </a:rPr>
              <a:t> over BYD, partly on “facts available” after the group withheld financing data.</a:t>
            </a:r>
          </a:p>
          <a:p>
            <a:pPr>
              <a:lnSpc>
                <a:spcPct val="105000"/>
              </a:lnSpc>
              <a:spcBef>
                <a:spcPts val="0"/>
              </a:spcBef>
              <a:spcAft>
                <a:spcPts val="900"/>
              </a:spcAft>
              <a:buNone/>
            </a:pPr>
            <a:r>
              <a:rPr sz="1739" dirty="0">
                <a:solidFill>
                  <a:srgbClr val="2563EB"/>
                </a:solidFill>
                <a:latin typeface="Arial"/>
              </a:rPr>
              <a:t>–  </a:t>
            </a:r>
            <a:r>
              <a:rPr sz="1739" dirty="0">
                <a:solidFill>
                  <a:srgbClr val="0F172A"/>
                </a:solidFill>
                <a:latin typeface="Arial"/>
              </a:rPr>
              <a:t>Adaptability rises as control concentrates: JV boards (bilateral consent) → state oversight → founder control.</a:t>
            </a:r>
            <a:endParaRPr lang="de-DE" sz="1739" dirty="0">
              <a:solidFill>
                <a:srgbClr val="0F172A"/>
              </a:solidFill>
              <a:latin typeface="Arial"/>
            </a:endParaRPr>
          </a:p>
          <a:p>
            <a:pPr>
              <a:lnSpc>
                <a:spcPct val="105000"/>
              </a:lnSpc>
              <a:spcBef>
                <a:spcPts val="0"/>
              </a:spcBef>
              <a:spcAft>
                <a:spcPts val="900"/>
              </a:spcAft>
              <a:buNone/>
            </a:pPr>
            <a:r>
              <a:rPr lang="de-DE" sz="1739" b="1" dirty="0">
                <a:solidFill>
                  <a:srgbClr val="0F172A"/>
                </a:solidFill>
                <a:latin typeface="Arial"/>
              </a:rPr>
              <a:t>  </a:t>
            </a:r>
          </a:p>
          <a:p>
            <a:pPr algn="ctr">
              <a:lnSpc>
                <a:spcPct val="105000"/>
              </a:lnSpc>
              <a:spcBef>
                <a:spcPts val="0"/>
              </a:spcBef>
              <a:spcAft>
                <a:spcPts val="900"/>
              </a:spcAft>
              <a:buNone/>
            </a:pPr>
            <a:r>
              <a:rPr lang="de-DE" sz="1739" b="1" dirty="0">
                <a:solidFill>
                  <a:srgbClr val="0F172A"/>
                </a:solidFill>
                <a:latin typeface="Arial"/>
              </a:rPr>
              <a:t>    </a:t>
            </a:r>
            <a:r>
              <a:rPr lang="de-DE" sz="1600" b="1" dirty="0">
                <a:solidFill>
                  <a:srgbClr val="0F172A"/>
                </a:solidFill>
                <a:latin typeface="Arial"/>
              </a:rPr>
              <a:t> G</a:t>
            </a:r>
            <a:r>
              <a:rPr sz="1600" b="1" dirty="0" err="1">
                <a:solidFill>
                  <a:srgbClr val="0F172A"/>
                </a:solidFill>
                <a:latin typeface="Arial"/>
              </a:rPr>
              <a:t>overnance</a:t>
            </a:r>
            <a:r>
              <a:rPr sz="1600" b="1" dirty="0">
                <a:solidFill>
                  <a:srgbClr val="0F172A"/>
                </a:solidFill>
                <a:latin typeface="Arial"/>
              </a:rPr>
              <a:t> is a first-order determinant of competitive position, not an administrative footnote.</a:t>
            </a:r>
          </a:p>
        </p:txBody>
      </p:sp>
      <p:sp>
        <p:nvSpPr>
          <p:cNvPr id="23" name="TextBox 22"/>
          <p:cNvSpPr txBox="1"/>
          <p:nvPr/>
        </p:nvSpPr>
        <p:spPr>
          <a:xfrm>
            <a:off x="548640" y="6199632"/>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276" b="0" i="1">
                <a:solidFill>
                  <a:srgbClr val="64748B"/>
                </a:solidFill>
                <a:latin typeface="Arial"/>
              </a:rPr>
              <a:t>European Commission (2024), Implementing Regulation (EU) 2024/2754 · Megginson &amp; Netter (2001)</a:t>
            </a:r>
          </a:p>
        </p:txBody>
      </p:sp>
      <p:sp>
        <p:nvSpPr>
          <p:cNvPr id="24" name="TextBox 23"/>
          <p:cNvSpPr txBox="1"/>
          <p:nvPr/>
        </p:nvSpPr>
        <p:spPr>
          <a:xfrm>
            <a:off x="548640" y="6473952"/>
            <a:ext cx="8686800" cy="274320"/>
          </a:xfrm>
          <a:prstGeom prst="rect">
            <a:avLst/>
          </a:prstGeom>
          <a:noFill/>
        </p:spPr>
        <p:txBody>
          <a:bodyPr wrap="square" lIns="0" tIns="0" rIns="0" bIns="0" anchor="t">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5" name="TextBox 24"/>
          <p:cNvSpPr txBox="1"/>
          <p:nvPr/>
        </p:nvSpPr>
        <p:spPr>
          <a:xfrm>
            <a:off x="10820095" y="6473952"/>
            <a:ext cx="822960" cy="274320"/>
          </a:xfrm>
          <a:prstGeom prst="rect">
            <a:avLst/>
          </a:prstGeom>
          <a:noFill/>
        </p:spPr>
        <p:txBody>
          <a:bodyPr wrap="square" lIns="0" tIns="0" rIns="0" bIns="0" anchor="t">
            <a:spAutoFit/>
          </a:bodyPr>
          <a:lstStyle/>
          <a:p>
            <a:pPr algn="r">
              <a:lnSpc>
                <a:spcPct val="100000"/>
              </a:lnSpc>
              <a:spcBef>
                <a:spcPts val="0"/>
              </a:spcBef>
              <a:spcAft>
                <a:spcPts val="200"/>
              </a:spcAft>
            </a:pPr>
            <a:r>
              <a:rPr sz="1218" b="0" i="0">
                <a:solidFill>
                  <a:srgbClr val="64748B"/>
                </a:solidFill>
                <a:latin typeface="Aria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623" b="1" i="0">
                <a:solidFill>
                  <a:srgbClr val="06B6D4"/>
                </a:solidFill>
                <a:latin typeface="Arial"/>
              </a:rPr>
              <a:t>DIMENSION 2 · FINANCING</a:t>
            </a:r>
          </a:p>
        </p:txBody>
      </p:sp>
      <p:sp>
        <p:nvSpPr>
          <p:cNvPr id="4" name="TextBox 3"/>
          <p:cNvSpPr txBox="1"/>
          <p:nvPr/>
        </p:nvSpPr>
        <p:spPr>
          <a:xfrm>
            <a:off x="548640" y="658368"/>
            <a:ext cx="11064240" cy="914400"/>
          </a:xfrm>
          <a:prstGeom prst="rect">
            <a:avLst/>
          </a:prstGeom>
          <a:noFill/>
        </p:spPr>
        <p:txBody>
          <a:bodyPr wrap="square" lIns="0" tIns="0" rIns="0" bIns="0" anchor="t">
            <a:spAutoFit/>
          </a:bodyPr>
          <a:lstStyle/>
          <a:p>
            <a:pPr algn="l">
              <a:lnSpc>
                <a:spcPct val="100000"/>
              </a:lnSpc>
              <a:spcBef>
                <a:spcPts val="0"/>
              </a:spcBef>
              <a:spcAft>
                <a:spcPts val="200"/>
              </a:spcAft>
            </a:pPr>
            <a:r>
              <a:rPr sz="2100" b="1" i="0" dirty="0">
                <a:solidFill>
                  <a:srgbClr val="0F172A"/>
                </a:solidFill>
                <a:latin typeface="Arial"/>
              </a:rPr>
              <a:t>Capital structure decides who survives the downturn</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691640"/>
            <a:ext cx="3593592" cy="33832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691640"/>
            <a:ext cx="3593592" cy="8229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1892808"/>
            <a:ext cx="3264408" cy="548640"/>
          </a:xfrm>
          <a:prstGeom prst="rect">
            <a:avLst/>
          </a:prstGeom>
          <a:noFill/>
        </p:spPr>
        <p:txBody>
          <a:bodyPr wrap="square" lIns="0" tIns="0" rIns="0" bIns="0" anchor="t">
            <a:spAutoFit/>
          </a:bodyPr>
          <a:lstStyle/>
          <a:p>
            <a:pPr algn="l">
              <a:lnSpc>
                <a:spcPct val="98000"/>
              </a:lnSpc>
              <a:spcBef>
                <a:spcPts val="0"/>
              </a:spcBef>
              <a:spcAft>
                <a:spcPts val="200"/>
              </a:spcAft>
            </a:pPr>
            <a:r>
              <a:rPr sz="1855" b="1" i="0">
                <a:solidFill>
                  <a:srgbClr val="DC2626"/>
                </a:solidFill>
                <a:latin typeface="Arial"/>
              </a:rPr>
              <a:t>Capital-light JV</a:t>
            </a:r>
          </a:p>
        </p:txBody>
      </p:sp>
      <p:sp>
        <p:nvSpPr>
          <p:cNvPr id="10" name="TextBox 9"/>
          <p:cNvSpPr txBox="1"/>
          <p:nvPr/>
        </p:nvSpPr>
        <p:spPr>
          <a:xfrm>
            <a:off x="713232" y="2478024"/>
            <a:ext cx="3264408" cy="2432304"/>
          </a:xfrm>
          <a:prstGeom prst="rect">
            <a:avLst/>
          </a:prstGeom>
          <a:noFill/>
        </p:spPr>
        <p:txBody>
          <a:bodyPr wrap="square" lIns="0" tIns="0" rIns="0" bIns="0">
            <a:spAutoFit/>
          </a:bodyPr>
          <a:lstStyle/>
          <a:p>
            <a:pPr>
              <a:lnSpc>
                <a:spcPct val="105000"/>
              </a:lnSpc>
              <a:spcBef>
                <a:spcPts val="0"/>
              </a:spcBef>
              <a:spcAft>
                <a:spcPts val="500"/>
              </a:spcAft>
              <a:buNone/>
            </a:pPr>
            <a:r>
              <a:rPr sz="1449">
                <a:solidFill>
                  <a:srgbClr val="DC2626"/>
                </a:solidFill>
                <a:latin typeface="Arial"/>
              </a:rPr>
              <a:t>–  </a:t>
            </a:r>
            <a:r>
              <a:rPr sz="1449">
                <a:solidFill>
                  <a:srgbClr val="0F172A"/>
                </a:solidFill>
                <a:latin typeface="Arial"/>
              </a:rPr>
              <a:t>Risk externalised to 50/50 JV partners</a:t>
            </a:r>
          </a:p>
          <a:p>
            <a:pPr>
              <a:lnSpc>
                <a:spcPct val="105000"/>
              </a:lnSpc>
              <a:spcBef>
                <a:spcPts val="0"/>
              </a:spcBef>
              <a:spcAft>
                <a:spcPts val="500"/>
              </a:spcAft>
              <a:buNone/>
            </a:pPr>
            <a:r>
              <a:rPr sz="1449">
                <a:solidFill>
                  <a:srgbClr val="DC2626"/>
                </a:solidFill>
                <a:latin typeface="Arial"/>
              </a:rPr>
              <a:t>–  </a:t>
            </a:r>
            <a:r>
              <a:rPr sz="1449">
                <a:solidFill>
                  <a:srgbClr val="0F172A"/>
                </a:solidFill>
                <a:latin typeface="Arial"/>
              </a:rPr>
              <a:t>SAIC-GM sales −56.5% triggered impairments</a:t>
            </a:r>
          </a:p>
          <a:p>
            <a:pPr>
              <a:lnSpc>
                <a:spcPct val="105000"/>
              </a:lnSpc>
              <a:spcBef>
                <a:spcPts val="0"/>
              </a:spcBef>
              <a:spcAft>
                <a:spcPts val="500"/>
              </a:spcAft>
              <a:buNone/>
            </a:pPr>
            <a:r>
              <a:rPr sz="1449">
                <a:solidFill>
                  <a:srgbClr val="DC2626"/>
                </a:solidFill>
                <a:latin typeface="Arial"/>
              </a:rPr>
              <a:t>–  </a:t>
            </a:r>
            <a:r>
              <a:rPr sz="1449">
                <a:solidFill>
                  <a:srgbClr val="0F172A"/>
                </a:solidFill>
                <a:latin typeface="Arial"/>
              </a:rPr>
              <a:t>Net profit −88% (2024); ROE just 0.58%</a:t>
            </a:r>
          </a:p>
          <a:p>
            <a:pPr>
              <a:lnSpc>
                <a:spcPct val="105000"/>
              </a:lnSpc>
              <a:spcBef>
                <a:spcPts val="0"/>
              </a:spcBef>
              <a:spcAft>
                <a:spcPts val="500"/>
              </a:spcAft>
              <a:buNone/>
            </a:pPr>
            <a:r>
              <a:rPr sz="1449">
                <a:solidFill>
                  <a:srgbClr val="DC2626"/>
                </a:solidFill>
                <a:latin typeface="Arial"/>
              </a:rPr>
              <a:t>–  </a:t>
            </a:r>
            <a:r>
              <a:rPr sz="1449">
                <a:solidFill>
                  <a:srgbClr val="0F172A"/>
                </a:solidFill>
                <a:latin typeface="Arial"/>
              </a:rPr>
              <a:t>Bound to absorb losses it cannot restructure</a:t>
            </a:r>
          </a:p>
          <a:p>
            <a:pPr>
              <a:lnSpc>
                <a:spcPct val="105000"/>
              </a:lnSpc>
              <a:spcBef>
                <a:spcPts val="0"/>
              </a:spcBef>
              <a:spcAft>
                <a:spcPts val="500"/>
              </a:spcAft>
              <a:buNone/>
            </a:pPr>
            <a:r>
              <a:rPr sz="1449">
                <a:solidFill>
                  <a:srgbClr val="0F172A"/>
                </a:solidFill>
                <a:latin typeface="Arial"/>
              </a:rPr>
              <a:t>→ a capital-light model became a capital trap</a:t>
            </a:r>
          </a:p>
        </p:txBody>
      </p:sp>
      <p:sp>
        <p:nvSpPr>
          <p:cNvPr id="11" name="Rectangle 10"/>
          <p:cNvSpPr/>
          <p:nvPr/>
        </p:nvSpPr>
        <p:spPr>
          <a:xfrm>
            <a:off x="4279392" y="1691640"/>
            <a:ext cx="3593592" cy="33832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79392" y="1691640"/>
            <a:ext cx="3593592"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43984" y="1892808"/>
            <a:ext cx="3264408" cy="548640"/>
          </a:xfrm>
          <a:prstGeom prst="rect">
            <a:avLst/>
          </a:prstGeom>
          <a:noFill/>
        </p:spPr>
        <p:txBody>
          <a:bodyPr wrap="square" lIns="0" tIns="0" rIns="0" bIns="0" anchor="t">
            <a:spAutoFit/>
          </a:bodyPr>
          <a:lstStyle/>
          <a:p>
            <a:pPr algn="l">
              <a:lnSpc>
                <a:spcPct val="98000"/>
              </a:lnSpc>
              <a:spcBef>
                <a:spcPts val="0"/>
              </a:spcBef>
              <a:spcAft>
                <a:spcPts val="200"/>
              </a:spcAft>
            </a:pPr>
            <a:r>
              <a:rPr sz="1855" b="1" i="0">
                <a:solidFill>
                  <a:srgbClr val="2563EB"/>
                </a:solidFill>
                <a:latin typeface="Arial"/>
              </a:rPr>
              <a:t>Self-financing</a:t>
            </a:r>
          </a:p>
        </p:txBody>
      </p:sp>
      <p:sp>
        <p:nvSpPr>
          <p:cNvPr id="14" name="TextBox 13"/>
          <p:cNvSpPr txBox="1"/>
          <p:nvPr/>
        </p:nvSpPr>
        <p:spPr>
          <a:xfrm>
            <a:off x="4443984" y="2478024"/>
            <a:ext cx="3264408" cy="2432304"/>
          </a:xfrm>
          <a:prstGeom prst="rect">
            <a:avLst/>
          </a:prstGeom>
          <a:noFill/>
        </p:spPr>
        <p:txBody>
          <a:bodyPr wrap="square" lIns="0" tIns="0" rIns="0" bIns="0">
            <a:spAutoFit/>
          </a:bodyPr>
          <a:lstStyle/>
          <a:p>
            <a:pPr>
              <a:lnSpc>
                <a:spcPct val="105000"/>
              </a:lnSpc>
              <a:spcBef>
                <a:spcPts val="0"/>
              </a:spcBef>
              <a:spcAft>
                <a:spcPts val="500"/>
              </a:spcAft>
              <a:buNone/>
            </a:pPr>
            <a:r>
              <a:rPr sz="1449">
                <a:solidFill>
                  <a:srgbClr val="2563EB"/>
                </a:solidFill>
                <a:latin typeface="Arial"/>
              </a:rPr>
              <a:t>–  </a:t>
            </a:r>
            <a:r>
              <a:rPr sz="1449">
                <a:solidFill>
                  <a:srgbClr val="0F172A"/>
                </a:solidFill>
                <a:latin typeface="Arial"/>
              </a:rPr>
              <a:t>Funded from operating cash, not lenders</a:t>
            </a:r>
          </a:p>
          <a:p>
            <a:pPr>
              <a:lnSpc>
                <a:spcPct val="105000"/>
              </a:lnSpc>
              <a:spcBef>
                <a:spcPts val="0"/>
              </a:spcBef>
              <a:spcAft>
                <a:spcPts val="500"/>
              </a:spcAft>
              <a:buNone/>
            </a:pPr>
            <a:r>
              <a:rPr sz="1449">
                <a:solidFill>
                  <a:srgbClr val="2563EB"/>
                </a:solidFill>
                <a:latin typeface="Arial"/>
              </a:rPr>
              <a:t>–  </a:t>
            </a:r>
            <a:r>
              <a:rPr sz="1449">
                <a:solidFill>
                  <a:srgbClr val="0F172A"/>
                </a:solidFill>
                <a:latin typeface="Arial"/>
              </a:rPr>
              <a:t>R&amp;D (RMB 54.2 bn) exceeded net profit (40.3 bn)</a:t>
            </a:r>
          </a:p>
          <a:p>
            <a:pPr>
              <a:lnSpc>
                <a:spcPct val="105000"/>
              </a:lnSpc>
              <a:spcBef>
                <a:spcPts val="0"/>
              </a:spcBef>
              <a:spcAft>
                <a:spcPts val="500"/>
              </a:spcAft>
              <a:buNone/>
            </a:pPr>
            <a:r>
              <a:rPr sz="1449">
                <a:solidFill>
                  <a:srgbClr val="2563EB"/>
                </a:solidFill>
                <a:latin typeface="Arial"/>
              </a:rPr>
              <a:t>–  </a:t>
            </a:r>
            <a:r>
              <a:rPr sz="1449">
                <a:solidFill>
                  <a:srgbClr val="0F172A"/>
                </a:solidFill>
                <a:latin typeface="Arial"/>
              </a:rPr>
              <a:t>USD 5.6 bn raise with sovereign wealth funds</a:t>
            </a:r>
          </a:p>
          <a:p>
            <a:pPr>
              <a:lnSpc>
                <a:spcPct val="105000"/>
              </a:lnSpc>
              <a:spcBef>
                <a:spcPts val="0"/>
              </a:spcBef>
              <a:spcAft>
                <a:spcPts val="500"/>
              </a:spcAft>
              <a:buNone/>
            </a:pPr>
            <a:r>
              <a:rPr sz="1449">
                <a:solidFill>
                  <a:srgbClr val="2563EB"/>
                </a:solidFill>
                <a:latin typeface="Arial"/>
              </a:rPr>
              <a:t>–  </a:t>
            </a:r>
            <a:r>
              <a:rPr sz="1449">
                <a:solidFill>
                  <a:srgbClr val="0F172A"/>
                </a:solidFill>
                <a:latin typeface="Arial"/>
              </a:rPr>
              <a:t>Net-cash position = resilience in a downturn</a:t>
            </a:r>
          </a:p>
          <a:p>
            <a:pPr>
              <a:lnSpc>
                <a:spcPct val="105000"/>
              </a:lnSpc>
              <a:spcBef>
                <a:spcPts val="0"/>
              </a:spcBef>
              <a:spcAft>
                <a:spcPts val="500"/>
              </a:spcAft>
              <a:buNone/>
            </a:pPr>
            <a:r>
              <a:rPr sz="1449">
                <a:solidFill>
                  <a:srgbClr val="0F172A"/>
                </a:solidFill>
                <a:latin typeface="Arial"/>
              </a:rPr>
              <a:t>→ resilient, but growth capped by internal cash</a:t>
            </a:r>
          </a:p>
        </p:txBody>
      </p:sp>
      <p:sp>
        <p:nvSpPr>
          <p:cNvPr id="15" name="Rectangle 14"/>
          <p:cNvSpPr/>
          <p:nvPr/>
        </p:nvSpPr>
        <p:spPr>
          <a:xfrm>
            <a:off x="8010144" y="1691640"/>
            <a:ext cx="3593592" cy="33832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10144" y="1691640"/>
            <a:ext cx="3593592" cy="8229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74736" y="1892808"/>
            <a:ext cx="3264408" cy="548640"/>
          </a:xfrm>
          <a:prstGeom prst="rect">
            <a:avLst/>
          </a:prstGeom>
          <a:noFill/>
        </p:spPr>
        <p:txBody>
          <a:bodyPr wrap="square" lIns="0" tIns="0" rIns="0" bIns="0" anchor="t">
            <a:spAutoFit/>
          </a:bodyPr>
          <a:lstStyle/>
          <a:p>
            <a:pPr algn="l">
              <a:lnSpc>
                <a:spcPct val="98000"/>
              </a:lnSpc>
              <a:spcBef>
                <a:spcPts val="0"/>
              </a:spcBef>
              <a:spcAft>
                <a:spcPts val="200"/>
              </a:spcAft>
            </a:pPr>
            <a:r>
              <a:rPr sz="1855" b="1" i="0">
                <a:solidFill>
                  <a:srgbClr val="06B6D4"/>
                </a:solidFill>
                <a:latin typeface="Arial"/>
              </a:rPr>
              <a:t>Leveraged M&amp;A</a:t>
            </a:r>
          </a:p>
        </p:txBody>
      </p:sp>
      <p:sp>
        <p:nvSpPr>
          <p:cNvPr id="18" name="TextBox 17"/>
          <p:cNvSpPr txBox="1"/>
          <p:nvPr/>
        </p:nvSpPr>
        <p:spPr>
          <a:xfrm>
            <a:off x="8174736" y="2478024"/>
            <a:ext cx="3264408" cy="2432304"/>
          </a:xfrm>
          <a:prstGeom prst="rect">
            <a:avLst/>
          </a:prstGeom>
          <a:noFill/>
        </p:spPr>
        <p:txBody>
          <a:bodyPr wrap="square" lIns="0" tIns="0" rIns="0" bIns="0">
            <a:spAutoFit/>
          </a:bodyPr>
          <a:lstStyle/>
          <a:p>
            <a:pPr>
              <a:lnSpc>
                <a:spcPct val="105000"/>
              </a:lnSpc>
              <a:spcBef>
                <a:spcPts val="0"/>
              </a:spcBef>
              <a:spcAft>
                <a:spcPts val="500"/>
              </a:spcAft>
              <a:buNone/>
            </a:pPr>
            <a:r>
              <a:rPr sz="1449">
                <a:solidFill>
                  <a:srgbClr val="06B6D4"/>
                </a:solidFill>
                <a:latin typeface="Arial"/>
              </a:rPr>
              <a:t>–  </a:t>
            </a:r>
            <a:r>
              <a:rPr sz="1449">
                <a:solidFill>
                  <a:srgbClr val="0F172A"/>
                </a:solidFill>
                <a:latin typeface="Arial"/>
              </a:rPr>
              <a:t>Debt-financed acquisitions buy capability fast</a:t>
            </a:r>
          </a:p>
          <a:p>
            <a:pPr>
              <a:lnSpc>
                <a:spcPct val="105000"/>
              </a:lnSpc>
              <a:spcBef>
                <a:spcPts val="0"/>
              </a:spcBef>
              <a:spcAft>
                <a:spcPts val="500"/>
              </a:spcAft>
              <a:buNone/>
            </a:pPr>
            <a:r>
              <a:rPr sz="1449">
                <a:solidFill>
                  <a:srgbClr val="06B6D4"/>
                </a:solidFill>
                <a:latin typeface="Arial"/>
              </a:rPr>
              <a:t>–  </a:t>
            </a:r>
            <a:r>
              <a:rPr sz="1449">
                <a:solidFill>
                  <a:srgbClr val="0F172A"/>
                </a:solidFill>
                <a:latin typeface="Arial"/>
              </a:rPr>
              <a:t>Volvo (2010) for RMB 10.2 bn; then Lynk &amp; Co</a:t>
            </a:r>
          </a:p>
          <a:p>
            <a:pPr>
              <a:lnSpc>
                <a:spcPct val="105000"/>
              </a:lnSpc>
              <a:spcBef>
                <a:spcPts val="0"/>
              </a:spcBef>
              <a:spcAft>
                <a:spcPts val="500"/>
              </a:spcAft>
              <a:buNone/>
            </a:pPr>
            <a:r>
              <a:rPr sz="1449">
                <a:solidFill>
                  <a:srgbClr val="06B6D4"/>
                </a:solidFill>
                <a:latin typeface="Arial"/>
              </a:rPr>
              <a:t>–  </a:t>
            </a:r>
            <a:r>
              <a:rPr sz="1449">
                <a:solidFill>
                  <a:srgbClr val="0F172A"/>
                </a:solidFill>
                <a:latin typeface="Arial"/>
              </a:rPr>
              <a:t>Gearing rose 8.8% → 19.8% (FY2025)</a:t>
            </a:r>
          </a:p>
          <a:p>
            <a:pPr>
              <a:lnSpc>
                <a:spcPct val="105000"/>
              </a:lnSpc>
              <a:spcBef>
                <a:spcPts val="0"/>
              </a:spcBef>
              <a:spcAft>
                <a:spcPts val="500"/>
              </a:spcAft>
              <a:buNone/>
            </a:pPr>
            <a:r>
              <a:rPr sz="1449">
                <a:solidFill>
                  <a:srgbClr val="06B6D4"/>
                </a:solidFill>
                <a:latin typeface="Arial"/>
              </a:rPr>
              <a:t>–  </a:t>
            </a:r>
            <a:r>
              <a:rPr sz="1449">
                <a:solidFill>
                  <a:srgbClr val="0F172A"/>
                </a:solidFill>
                <a:latin typeface="Arial"/>
              </a:rPr>
              <a:t>Operating cash flow RMB 47.3 bn gives headroom</a:t>
            </a:r>
          </a:p>
          <a:p>
            <a:pPr>
              <a:lnSpc>
                <a:spcPct val="105000"/>
              </a:lnSpc>
              <a:spcBef>
                <a:spcPts val="0"/>
              </a:spcBef>
              <a:spcAft>
                <a:spcPts val="500"/>
              </a:spcAft>
              <a:buNone/>
            </a:pPr>
            <a:r>
              <a:rPr sz="1449">
                <a:solidFill>
                  <a:srgbClr val="0F172A"/>
                </a:solidFill>
                <a:latin typeface="Arial"/>
              </a:rPr>
              <a:t>→ speed, at the cost of balance-sheet exposure</a:t>
            </a:r>
          </a:p>
        </p:txBody>
      </p:sp>
      <p:sp>
        <p:nvSpPr>
          <p:cNvPr id="20" name="TextBox 19"/>
          <p:cNvSpPr txBox="1"/>
          <p:nvPr/>
        </p:nvSpPr>
        <p:spPr>
          <a:xfrm>
            <a:off x="713232" y="5321922"/>
            <a:ext cx="10698480" cy="499111"/>
          </a:xfrm>
          <a:prstGeom prst="rect">
            <a:avLst/>
          </a:prstGeom>
          <a:noFill/>
        </p:spPr>
        <p:txBody>
          <a:bodyPr wrap="square" lIns="0" tIns="0" rIns="0" bIns="0" anchor="ctr">
            <a:spAutoFit/>
          </a:bodyPr>
          <a:lstStyle/>
          <a:p>
            <a:pPr algn="l">
              <a:lnSpc>
                <a:spcPct val="105000"/>
              </a:lnSpc>
              <a:spcBef>
                <a:spcPts val="0"/>
              </a:spcBef>
              <a:spcAft>
                <a:spcPts val="200"/>
              </a:spcAft>
            </a:pPr>
            <a:r>
              <a:rPr sz="1600" b="1" dirty="0">
                <a:solidFill>
                  <a:srgbClr val="0F172A"/>
                </a:solidFill>
                <a:latin typeface="Arial"/>
              </a:rPr>
              <a:t>Risk-sharing captures upside in growth but exposes the firm in a downturn; self-financing trades growth speed for resilience; leverage trades balance-sheet safety for strategic speed.</a:t>
            </a:r>
          </a:p>
        </p:txBody>
      </p:sp>
      <p:sp>
        <p:nvSpPr>
          <p:cNvPr id="21" name="TextBox 20"/>
          <p:cNvSpPr txBox="1"/>
          <p:nvPr/>
        </p:nvSpPr>
        <p:spPr>
          <a:xfrm>
            <a:off x="548640" y="6199632"/>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276" b="0" i="1">
                <a:solidFill>
                  <a:srgbClr val="64748B"/>
                </a:solidFill>
                <a:latin typeface="Arial"/>
              </a:rPr>
              <a:t>SAIC AR 2024/2025 · BYD AR 2024/2025 · Geely AR 2024/2025 · Balcet et al. (2012)</a:t>
            </a:r>
          </a:p>
        </p:txBody>
      </p:sp>
      <p:sp>
        <p:nvSpPr>
          <p:cNvPr id="22" name="TextBox 21"/>
          <p:cNvSpPr txBox="1"/>
          <p:nvPr/>
        </p:nvSpPr>
        <p:spPr>
          <a:xfrm>
            <a:off x="548640" y="6473952"/>
            <a:ext cx="8686800" cy="274320"/>
          </a:xfrm>
          <a:prstGeom prst="rect">
            <a:avLst/>
          </a:prstGeom>
          <a:noFill/>
        </p:spPr>
        <p:txBody>
          <a:bodyPr wrap="square" lIns="0" tIns="0" rIns="0" bIns="0" anchor="t">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3" name="TextBox 22"/>
          <p:cNvSpPr txBox="1"/>
          <p:nvPr/>
        </p:nvSpPr>
        <p:spPr>
          <a:xfrm>
            <a:off x="10820095" y="6473952"/>
            <a:ext cx="822960" cy="274320"/>
          </a:xfrm>
          <a:prstGeom prst="rect">
            <a:avLst/>
          </a:prstGeom>
          <a:noFill/>
        </p:spPr>
        <p:txBody>
          <a:bodyPr wrap="square" lIns="0" tIns="0" rIns="0" bIns="0" anchor="t">
            <a:spAutoFit/>
          </a:bodyPr>
          <a:lstStyle/>
          <a:p>
            <a:pPr algn="r">
              <a:lnSpc>
                <a:spcPct val="100000"/>
              </a:lnSpc>
              <a:spcBef>
                <a:spcPts val="0"/>
              </a:spcBef>
              <a:spcAft>
                <a:spcPts val="200"/>
              </a:spcAft>
            </a:pPr>
            <a:r>
              <a:rPr sz="1218" b="0" i="0">
                <a:solidFill>
                  <a:srgbClr val="64748B"/>
                </a:solidFill>
                <a:latin typeface="Aria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49748"/>
          </a:xfrm>
          <a:prstGeom prst="rect">
            <a:avLst/>
          </a:prstGeom>
          <a:noFill/>
        </p:spPr>
        <p:txBody>
          <a:bodyPr wrap="square" lIns="0" tIns="0" rIns="0" bIns="0" anchor="t">
            <a:spAutoFit/>
          </a:bodyPr>
          <a:lstStyle/>
          <a:p>
            <a:pPr algn="l">
              <a:lnSpc>
                <a:spcPct val="100000"/>
              </a:lnSpc>
              <a:spcBef>
                <a:spcPts val="0"/>
              </a:spcBef>
              <a:spcAft>
                <a:spcPts val="200"/>
              </a:spcAft>
            </a:pPr>
            <a:r>
              <a:rPr sz="1623" b="1" i="0" dirty="0">
                <a:solidFill>
                  <a:srgbClr val="06B6D4"/>
                </a:solidFill>
                <a:latin typeface="Arial"/>
              </a:rPr>
              <a:t>DIMENSION 2 · FINANCIAL </a:t>
            </a:r>
            <a:r>
              <a:rPr lang="de-DE" sz="1623" b="1" i="0" dirty="0">
                <a:solidFill>
                  <a:srgbClr val="06B6D4"/>
                </a:solidFill>
                <a:latin typeface="Arial"/>
              </a:rPr>
              <a:t>FIGURES</a:t>
            </a:r>
            <a:endParaRPr sz="1623" b="1" i="0" dirty="0">
              <a:solidFill>
                <a:srgbClr val="06B6D4"/>
              </a:solidFill>
              <a:latin typeface="Arial"/>
            </a:endParaRPr>
          </a:p>
        </p:txBody>
      </p:sp>
      <p:sp>
        <p:nvSpPr>
          <p:cNvPr id="4" name="TextBox 3"/>
          <p:cNvSpPr txBox="1"/>
          <p:nvPr/>
        </p:nvSpPr>
        <p:spPr>
          <a:xfrm>
            <a:off x="548640" y="658368"/>
            <a:ext cx="11064240" cy="914400"/>
          </a:xfrm>
          <a:prstGeom prst="rect">
            <a:avLst/>
          </a:prstGeom>
          <a:noFill/>
        </p:spPr>
        <p:txBody>
          <a:bodyPr wrap="square" lIns="0" tIns="0" rIns="0" bIns="0" anchor="t">
            <a:spAutoFit/>
          </a:bodyPr>
          <a:lstStyle/>
          <a:p>
            <a:pPr algn="l">
              <a:lnSpc>
                <a:spcPct val="100000"/>
              </a:lnSpc>
              <a:spcBef>
                <a:spcPts val="0"/>
              </a:spcBef>
              <a:spcAft>
                <a:spcPts val="200"/>
              </a:spcAft>
            </a:pPr>
            <a:r>
              <a:rPr sz="2100" b="1" i="0">
                <a:solidFill>
                  <a:srgbClr val="0F172A"/>
                </a:solidFill>
                <a:latin typeface="Arial"/>
              </a:rPr>
              <a:t>The numbers confirm it: BYD self-funds, SAIC leans on eroding JV rents</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691640"/>
            <a:ext cx="3291840" cy="51206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691640"/>
            <a:ext cx="3145536" cy="512064"/>
          </a:xfrm>
          <a:prstGeom prst="rect">
            <a:avLst/>
          </a:prstGeom>
          <a:noFill/>
        </p:spPr>
        <p:txBody>
          <a:bodyPr wrap="square" lIns="0" tIns="0" rIns="0" bIns="0" anchor="ctr">
            <a:spAutoFit/>
          </a:bodyPr>
          <a:lstStyle/>
          <a:p>
            <a:pPr algn="l">
              <a:lnSpc>
                <a:spcPct val="95000"/>
              </a:lnSpc>
              <a:spcBef>
                <a:spcPts val="0"/>
              </a:spcBef>
              <a:spcAft>
                <a:spcPts val="200"/>
              </a:spcAft>
            </a:pPr>
            <a:r>
              <a:rPr sz="1565" b="1" i="0">
                <a:solidFill>
                  <a:srgbClr val="FFFFFF"/>
                </a:solidFill>
                <a:latin typeface="Arial"/>
              </a:rPr>
              <a:t>Metric (FY24 / FY25)</a:t>
            </a:r>
          </a:p>
        </p:txBody>
      </p:sp>
      <p:sp>
        <p:nvSpPr>
          <p:cNvPr id="9" name="Rectangle 8"/>
          <p:cNvSpPr/>
          <p:nvPr/>
        </p:nvSpPr>
        <p:spPr>
          <a:xfrm>
            <a:off x="3840480" y="1691640"/>
            <a:ext cx="2587752" cy="51206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13632" y="1691640"/>
            <a:ext cx="2441448"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65" b="1" i="0">
                <a:solidFill>
                  <a:srgbClr val="FFFFFF"/>
                </a:solidFill>
                <a:latin typeface="Arial"/>
              </a:rPr>
              <a:t>SAIC</a:t>
            </a:r>
          </a:p>
        </p:txBody>
      </p:sp>
      <p:sp>
        <p:nvSpPr>
          <p:cNvPr id="11" name="Rectangle 10"/>
          <p:cNvSpPr/>
          <p:nvPr/>
        </p:nvSpPr>
        <p:spPr>
          <a:xfrm>
            <a:off x="6428232" y="1691640"/>
            <a:ext cx="2587752" cy="51206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01384" y="1691640"/>
            <a:ext cx="2441448"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65" b="1" i="0">
                <a:solidFill>
                  <a:srgbClr val="FFFFFF"/>
                </a:solidFill>
                <a:latin typeface="Arial"/>
              </a:rPr>
              <a:t>BYD</a:t>
            </a:r>
          </a:p>
        </p:txBody>
      </p:sp>
      <p:sp>
        <p:nvSpPr>
          <p:cNvPr id="13" name="Rectangle 12"/>
          <p:cNvSpPr/>
          <p:nvPr/>
        </p:nvSpPr>
        <p:spPr>
          <a:xfrm>
            <a:off x="9015984" y="1691640"/>
            <a:ext cx="2596896" cy="51206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89136" y="1691640"/>
            <a:ext cx="2450592"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65" b="1" i="0">
                <a:solidFill>
                  <a:srgbClr val="FFFFFF"/>
                </a:solidFill>
                <a:latin typeface="Arial"/>
              </a:rPr>
              <a:t>Geely</a:t>
            </a:r>
          </a:p>
        </p:txBody>
      </p:sp>
      <p:sp>
        <p:nvSpPr>
          <p:cNvPr id="15" name="Rectangle 14"/>
          <p:cNvSpPr/>
          <p:nvPr/>
        </p:nvSpPr>
        <p:spPr>
          <a:xfrm>
            <a:off x="548640" y="2203704"/>
            <a:ext cx="3291840"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 y="2203704"/>
            <a:ext cx="3145536" cy="512064"/>
          </a:xfrm>
          <a:prstGeom prst="rect">
            <a:avLst/>
          </a:prstGeom>
          <a:noFill/>
        </p:spPr>
        <p:txBody>
          <a:bodyPr wrap="square" lIns="0" tIns="0" rIns="0" bIns="0" anchor="ctr">
            <a:spAutoFit/>
          </a:bodyPr>
          <a:lstStyle/>
          <a:p>
            <a:pPr algn="l">
              <a:lnSpc>
                <a:spcPct val="95000"/>
              </a:lnSpc>
              <a:spcBef>
                <a:spcPts val="0"/>
              </a:spcBef>
              <a:spcAft>
                <a:spcPts val="200"/>
              </a:spcAft>
            </a:pPr>
            <a:r>
              <a:rPr sz="1507" b="1" i="0">
                <a:solidFill>
                  <a:srgbClr val="0F172A"/>
                </a:solidFill>
                <a:latin typeface="Arial"/>
              </a:rPr>
              <a:t>Revenue (RMB bn)</a:t>
            </a:r>
          </a:p>
        </p:txBody>
      </p:sp>
      <p:sp>
        <p:nvSpPr>
          <p:cNvPr id="17" name="Rectangle 16"/>
          <p:cNvSpPr/>
          <p:nvPr/>
        </p:nvSpPr>
        <p:spPr>
          <a:xfrm>
            <a:off x="3840480" y="2203704"/>
            <a:ext cx="2587752"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913632" y="2203704"/>
            <a:ext cx="2441448"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627.6 / 656.2</a:t>
            </a:r>
          </a:p>
        </p:txBody>
      </p:sp>
      <p:sp>
        <p:nvSpPr>
          <p:cNvPr id="19" name="Rectangle 18"/>
          <p:cNvSpPr/>
          <p:nvPr/>
        </p:nvSpPr>
        <p:spPr>
          <a:xfrm>
            <a:off x="6428232" y="2203704"/>
            <a:ext cx="2587752"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01384" y="2203704"/>
            <a:ext cx="2441448"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777.1 / 804.0</a:t>
            </a:r>
          </a:p>
        </p:txBody>
      </p:sp>
      <p:sp>
        <p:nvSpPr>
          <p:cNvPr id="21" name="Rectangle 20"/>
          <p:cNvSpPr/>
          <p:nvPr/>
        </p:nvSpPr>
        <p:spPr>
          <a:xfrm>
            <a:off x="9015984" y="2203704"/>
            <a:ext cx="2596896"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89136" y="2203704"/>
            <a:ext cx="2450592"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240.2 / 345.2</a:t>
            </a:r>
          </a:p>
        </p:txBody>
      </p:sp>
      <p:sp>
        <p:nvSpPr>
          <p:cNvPr id="23" name="Rectangle 22"/>
          <p:cNvSpPr/>
          <p:nvPr/>
        </p:nvSpPr>
        <p:spPr>
          <a:xfrm>
            <a:off x="548640" y="2715768"/>
            <a:ext cx="3291840"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1792" y="2715768"/>
            <a:ext cx="3145536" cy="512064"/>
          </a:xfrm>
          <a:prstGeom prst="rect">
            <a:avLst/>
          </a:prstGeom>
          <a:noFill/>
        </p:spPr>
        <p:txBody>
          <a:bodyPr wrap="square" lIns="0" tIns="0" rIns="0" bIns="0" anchor="ctr">
            <a:spAutoFit/>
          </a:bodyPr>
          <a:lstStyle/>
          <a:p>
            <a:pPr algn="l">
              <a:lnSpc>
                <a:spcPct val="95000"/>
              </a:lnSpc>
              <a:spcBef>
                <a:spcPts val="0"/>
              </a:spcBef>
              <a:spcAft>
                <a:spcPts val="200"/>
              </a:spcAft>
            </a:pPr>
            <a:r>
              <a:rPr sz="1507" b="1" i="0">
                <a:solidFill>
                  <a:srgbClr val="0F172A"/>
                </a:solidFill>
                <a:latin typeface="Arial"/>
              </a:rPr>
              <a:t>Gross margin</a:t>
            </a:r>
          </a:p>
        </p:txBody>
      </p:sp>
      <p:sp>
        <p:nvSpPr>
          <p:cNvPr id="25" name="Rectangle 24"/>
          <p:cNvSpPr/>
          <p:nvPr/>
        </p:nvSpPr>
        <p:spPr>
          <a:xfrm>
            <a:off x="3840480" y="2715768"/>
            <a:ext cx="2587752"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913632" y="2715768"/>
            <a:ext cx="2441448"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9.4% / 10.1%</a:t>
            </a:r>
          </a:p>
        </p:txBody>
      </p:sp>
      <p:sp>
        <p:nvSpPr>
          <p:cNvPr id="27" name="Rectangle 26"/>
          <p:cNvSpPr/>
          <p:nvPr/>
        </p:nvSpPr>
        <p:spPr>
          <a:xfrm>
            <a:off x="6428232" y="2715768"/>
            <a:ext cx="2587752"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01384" y="2715768"/>
            <a:ext cx="2441448"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19.4% / 17.7%</a:t>
            </a:r>
          </a:p>
        </p:txBody>
      </p:sp>
      <p:sp>
        <p:nvSpPr>
          <p:cNvPr id="29" name="Rectangle 28"/>
          <p:cNvSpPr/>
          <p:nvPr/>
        </p:nvSpPr>
        <p:spPr>
          <a:xfrm>
            <a:off x="9015984" y="2715768"/>
            <a:ext cx="2596896"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089136" y="2715768"/>
            <a:ext cx="2450592"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15.9% / 16.6%</a:t>
            </a:r>
          </a:p>
        </p:txBody>
      </p:sp>
      <p:sp>
        <p:nvSpPr>
          <p:cNvPr id="31" name="Rectangle 30"/>
          <p:cNvSpPr/>
          <p:nvPr/>
        </p:nvSpPr>
        <p:spPr>
          <a:xfrm>
            <a:off x="548640" y="3227832"/>
            <a:ext cx="3291840"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1792" y="3227832"/>
            <a:ext cx="3145536" cy="512064"/>
          </a:xfrm>
          <a:prstGeom prst="rect">
            <a:avLst/>
          </a:prstGeom>
          <a:noFill/>
        </p:spPr>
        <p:txBody>
          <a:bodyPr wrap="square" lIns="0" tIns="0" rIns="0" bIns="0" anchor="ctr">
            <a:spAutoFit/>
          </a:bodyPr>
          <a:lstStyle/>
          <a:p>
            <a:pPr algn="l">
              <a:lnSpc>
                <a:spcPct val="95000"/>
              </a:lnSpc>
              <a:spcBef>
                <a:spcPts val="0"/>
              </a:spcBef>
              <a:spcAft>
                <a:spcPts val="200"/>
              </a:spcAft>
            </a:pPr>
            <a:r>
              <a:rPr sz="1507" b="1" i="0">
                <a:solidFill>
                  <a:srgbClr val="0F172A"/>
                </a:solidFill>
                <a:latin typeface="Arial"/>
              </a:rPr>
              <a:t>Net profit (RMB bn)</a:t>
            </a:r>
          </a:p>
        </p:txBody>
      </p:sp>
      <p:sp>
        <p:nvSpPr>
          <p:cNvPr id="33" name="Rectangle 32"/>
          <p:cNvSpPr/>
          <p:nvPr/>
        </p:nvSpPr>
        <p:spPr>
          <a:xfrm>
            <a:off x="3840480" y="3227832"/>
            <a:ext cx="2587752"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913632" y="3227832"/>
            <a:ext cx="2441448"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1.7 / 10.1</a:t>
            </a:r>
          </a:p>
        </p:txBody>
      </p:sp>
      <p:sp>
        <p:nvSpPr>
          <p:cNvPr id="35" name="Rectangle 34"/>
          <p:cNvSpPr/>
          <p:nvPr/>
        </p:nvSpPr>
        <p:spPr>
          <a:xfrm>
            <a:off x="6428232" y="3227832"/>
            <a:ext cx="2587752"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01384" y="3227832"/>
            <a:ext cx="2441448"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40.3 / 32.6</a:t>
            </a:r>
          </a:p>
        </p:txBody>
      </p:sp>
      <p:sp>
        <p:nvSpPr>
          <p:cNvPr id="37" name="Rectangle 36"/>
          <p:cNvSpPr/>
          <p:nvPr/>
        </p:nvSpPr>
        <p:spPr>
          <a:xfrm>
            <a:off x="9015984" y="3227832"/>
            <a:ext cx="2596896"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089136" y="3227832"/>
            <a:ext cx="2450592"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16.8 / 16.9</a:t>
            </a:r>
          </a:p>
        </p:txBody>
      </p:sp>
      <p:sp>
        <p:nvSpPr>
          <p:cNvPr id="39" name="Rectangle 38"/>
          <p:cNvSpPr/>
          <p:nvPr/>
        </p:nvSpPr>
        <p:spPr>
          <a:xfrm>
            <a:off x="548640" y="3739896"/>
            <a:ext cx="3291840"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21792" y="3739896"/>
            <a:ext cx="3145536" cy="512064"/>
          </a:xfrm>
          <a:prstGeom prst="rect">
            <a:avLst/>
          </a:prstGeom>
          <a:noFill/>
        </p:spPr>
        <p:txBody>
          <a:bodyPr wrap="square" lIns="0" tIns="0" rIns="0" bIns="0" anchor="ctr">
            <a:spAutoFit/>
          </a:bodyPr>
          <a:lstStyle/>
          <a:p>
            <a:pPr algn="l">
              <a:lnSpc>
                <a:spcPct val="95000"/>
              </a:lnSpc>
              <a:spcBef>
                <a:spcPts val="0"/>
              </a:spcBef>
              <a:spcAft>
                <a:spcPts val="200"/>
              </a:spcAft>
            </a:pPr>
            <a:r>
              <a:rPr sz="1507" b="1" i="0">
                <a:solidFill>
                  <a:srgbClr val="0F172A"/>
                </a:solidFill>
                <a:latin typeface="Arial"/>
              </a:rPr>
              <a:t>Return on equity</a:t>
            </a:r>
          </a:p>
        </p:txBody>
      </p:sp>
      <p:sp>
        <p:nvSpPr>
          <p:cNvPr id="41" name="Rectangle 40"/>
          <p:cNvSpPr/>
          <p:nvPr/>
        </p:nvSpPr>
        <p:spPr>
          <a:xfrm>
            <a:off x="3840480" y="3739896"/>
            <a:ext cx="2587752"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913632" y="3739896"/>
            <a:ext cx="2441448"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0.58% / 3.43%</a:t>
            </a:r>
          </a:p>
        </p:txBody>
      </p:sp>
      <p:sp>
        <p:nvSpPr>
          <p:cNvPr id="43" name="Rectangle 42"/>
          <p:cNvSpPr/>
          <p:nvPr/>
        </p:nvSpPr>
        <p:spPr>
          <a:xfrm>
            <a:off x="6428232" y="3739896"/>
            <a:ext cx="2587752"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501384" y="3739896"/>
            <a:ext cx="2441448"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21.7% / 13.2%</a:t>
            </a:r>
          </a:p>
        </p:txBody>
      </p:sp>
      <p:sp>
        <p:nvSpPr>
          <p:cNvPr id="45" name="Rectangle 44"/>
          <p:cNvSpPr/>
          <p:nvPr/>
        </p:nvSpPr>
        <p:spPr>
          <a:xfrm>
            <a:off x="9015984" y="3739896"/>
            <a:ext cx="2596896"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089136" y="3739896"/>
            <a:ext cx="2450592"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19.2% / 18.2%</a:t>
            </a:r>
          </a:p>
        </p:txBody>
      </p:sp>
      <p:sp>
        <p:nvSpPr>
          <p:cNvPr id="47" name="Rectangle 46"/>
          <p:cNvSpPr/>
          <p:nvPr/>
        </p:nvSpPr>
        <p:spPr>
          <a:xfrm>
            <a:off x="548640" y="4251960"/>
            <a:ext cx="3291840"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21792" y="4251960"/>
            <a:ext cx="3145536" cy="512064"/>
          </a:xfrm>
          <a:prstGeom prst="rect">
            <a:avLst/>
          </a:prstGeom>
          <a:noFill/>
        </p:spPr>
        <p:txBody>
          <a:bodyPr wrap="square" lIns="0" tIns="0" rIns="0" bIns="0" anchor="ctr">
            <a:spAutoFit/>
          </a:bodyPr>
          <a:lstStyle/>
          <a:p>
            <a:pPr algn="l">
              <a:lnSpc>
                <a:spcPct val="95000"/>
              </a:lnSpc>
              <a:spcBef>
                <a:spcPts val="0"/>
              </a:spcBef>
              <a:spcAft>
                <a:spcPts val="200"/>
              </a:spcAft>
            </a:pPr>
            <a:r>
              <a:rPr sz="1507" b="1" i="0">
                <a:solidFill>
                  <a:srgbClr val="0F172A"/>
                </a:solidFill>
                <a:latin typeface="Arial"/>
              </a:rPr>
              <a:t>R&amp;D expense (RMB bn)</a:t>
            </a:r>
          </a:p>
        </p:txBody>
      </p:sp>
      <p:sp>
        <p:nvSpPr>
          <p:cNvPr id="49" name="Rectangle 48"/>
          <p:cNvSpPr/>
          <p:nvPr/>
        </p:nvSpPr>
        <p:spPr>
          <a:xfrm>
            <a:off x="3840480" y="4251960"/>
            <a:ext cx="2587752"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913632" y="4251960"/>
            <a:ext cx="2441448"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35.2 / 33.6</a:t>
            </a:r>
          </a:p>
        </p:txBody>
      </p:sp>
      <p:sp>
        <p:nvSpPr>
          <p:cNvPr id="51" name="Rectangle 50"/>
          <p:cNvSpPr/>
          <p:nvPr/>
        </p:nvSpPr>
        <p:spPr>
          <a:xfrm>
            <a:off x="6428232" y="4251960"/>
            <a:ext cx="2587752"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501384" y="4251960"/>
            <a:ext cx="2441448"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54.2 / 63.4</a:t>
            </a:r>
          </a:p>
        </p:txBody>
      </p:sp>
      <p:sp>
        <p:nvSpPr>
          <p:cNvPr id="53" name="Rectangle 52"/>
          <p:cNvSpPr/>
          <p:nvPr/>
        </p:nvSpPr>
        <p:spPr>
          <a:xfrm>
            <a:off x="9015984" y="4251960"/>
            <a:ext cx="2596896"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089136" y="4251960"/>
            <a:ext cx="2450592"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10.4 / 17.6</a:t>
            </a:r>
          </a:p>
        </p:txBody>
      </p:sp>
      <p:sp>
        <p:nvSpPr>
          <p:cNvPr id="55" name="Rectangle 54"/>
          <p:cNvSpPr/>
          <p:nvPr/>
        </p:nvSpPr>
        <p:spPr>
          <a:xfrm>
            <a:off x="548640" y="4764024"/>
            <a:ext cx="3291840"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21792" y="4764024"/>
            <a:ext cx="3145536" cy="512064"/>
          </a:xfrm>
          <a:prstGeom prst="rect">
            <a:avLst/>
          </a:prstGeom>
          <a:noFill/>
        </p:spPr>
        <p:txBody>
          <a:bodyPr wrap="square" lIns="0" tIns="0" rIns="0" bIns="0" anchor="ctr">
            <a:spAutoFit/>
          </a:bodyPr>
          <a:lstStyle/>
          <a:p>
            <a:pPr algn="l">
              <a:lnSpc>
                <a:spcPct val="95000"/>
              </a:lnSpc>
              <a:spcBef>
                <a:spcPts val="0"/>
              </a:spcBef>
              <a:spcAft>
                <a:spcPts val="200"/>
              </a:spcAft>
            </a:pPr>
            <a:r>
              <a:rPr sz="1507" b="1" i="0">
                <a:solidFill>
                  <a:srgbClr val="0F172A"/>
                </a:solidFill>
                <a:latin typeface="Arial"/>
              </a:rPr>
              <a:t>Operating cash flow</a:t>
            </a:r>
          </a:p>
        </p:txBody>
      </p:sp>
      <p:sp>
        <p:nvSpPr>
          <p:cNvPr id="57" name="Rectangle 56"/>
          <p:cNvSpPr/>
          <p:nvPr/>
        </p:nvSpPr>
        <p:spPr>
          <a:xfrm>
            <a:off x="3840480" y="4764024"/>
            <a:ext cx="2587752"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913632" y="4764024"/>
            <a:ext cx="2441448"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69.3 / 34.3</a:t>
            </a:r>
          </a:p>
        </p:txBody>
      </p:sp>
      <p:sp>
        <p:nvSpPr>
          <p:cNvPr id="59" name="Rectangle 58"/>
          <p:cNvSpPr/>
          <p:nvPr/>
        </p:nvSpPr>
        <p:spPr>
          <a:xfrm>
            <a:off x="6428232" y="4764024"/>
            <a:ext cx="2587752"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501384" y="4764024"/>
            <a:ext cx="2441448"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133.5 / 59.1</a:t>
            </a:r>
          </a:p>
        </p:txBody>
      </p:sp>
      <p:sp>
        <p:nvSpPr>
          <p:cNvPr id="61" name="Rectangle 60"/>
          <p:cNvSpPr/>
          <p:nvPr/>
        </p:nvSpPr>
        <p:spPr>
          <a:xfrm>
            <a:off x="9015984" y="4764024"/>
            <a:ext cx="2596896"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9089136" y="4764024"/>
            <a:ext cx="2450592"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26.5 / 47.3</a:t>
            </a:r>
          </a:p>
        </p:txBody>
      </p:sp>
      <p:sp>
        <p:nvSpPr>
          <p:cNvPr id="63" name="Rectangle 62"/>
          <p:cNvSpPr/>
          <p:nvPr/>
        </p:nvSpPr>
        <p:spPr>
          <a:xfrm>
            <a:off x="548640" y="5276088"/>
            <a:ext cx="3291840"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21792" y="5276088"/>
            <a:ext cx="3145536" cy="512064"/>
          </a:xfrm>
          <a:prstGeom prst="rect">
            <a:avLst/>
          </a:prstGeom>
          <a:noFill/>
        </p:spPr>
        <p:txBody>
          <a:bodyPr wrap="square" lIns="0" tIns="0" rIns="0" bIns="0" anchor="ctr">
            <a:spAutoFit/>
          </a:bodyPr>
          <a:lstStyle/>
          <a:p>
            <a:pPr algn="l">
              <a:lnSpc>
                <a:spcPct val="95000"/>
              </a:lnSpc>
              <a:spcBef>
                <a:spcPts val="0"/>
              </a:spcBef>
              <a:spcAft>
                <a:spcPts val="200"/>
              </a:spcAft>
            </a:pPr>
            <a:r>
              <a:rPr sz="1507" b="1" i="0">
                <a:solidFill>
                  <a:srgbClr val="0F172A"/>
                </a:solidFill>
                <a:latin typeface="Arial"/>
              </a:rPr>
              <a:t>EU anti-subsidy tariff</a:t>
            </a:r>
          </a:p>
        </p:txBody>
      </p:sp>
      <p:sp>
        <p:nvSpPr>
          <p:cNvPr id="65" name="Rectangle 64"/>
          <p:cNvSpPr/>
          <p:nvPr/>
        </p:nvSpPr>
        <p:spPr>
          <a:xfrm>
            <a:off x="3840480" y="5276088"/>
            <a:ext cx="2587752"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913632" y="5276088"/>
            <a:ext cx="2441448"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35.3%</a:t>
            </a:r>
          </a:p>
        </p:txBody>
      </p:sp>
      <p:sp>
        <p:nvSpPr>
          <p:cNvPr id="67" name="Rectangle 66"/>
          <p:cNvSpPr/>
          <p:nvPr/>
        </p:nvSpPr>
        <p:spPr>
          <a:xfrm>
            <a:off x="6428232" y="5276088"/>
            <a:ext cx="2587752"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501384" y="5276088"/>
            <a:ext cx="2441448"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17.0%</a:t>
            </a:r>
          </a:p>
        </p:txBody>
      </p:sp>
      <p:sp>
        <p:nvSpPr>
          <p:cNvPr id="69" name="Rectangle 68"/>
          <p:cNvSpPr/>
          <p:nvPr/>
        </p:nvSpPr>
        <p:spPr>
          <a:xfrm>
            <a:off x="9015984" y="5276088"/>
            <a:ext cx="2596896"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9089136" y="5276088"/>
            <a:ext cx="2450592" cy="512064"/>
          </a:xfrm>
          <a:prstGeom prst="rect">
            <a:avLst/>
          </a:prstGeom>
          <a:noFill/>
        </p:spPr>
        <p:txBody>
          <a:bodyPr wrap="square" lIns="0" tIns="0" rIns="0" bIns="0" anchor="ctr">
            <a:spAutoFit/>
          </a:bodyPr>
          <a:lstStyle/>
          <a:p>
            <a:pPr algn="ctr">
              <a:lnSpc>
                <a:spcPct val="95000"/>
              </a:lnSpc>
              <a:spcBef>
                <a:spcPts val="0"/>
              </a:spcBef>
              <a:spcAft>
                <a:spcPts val="200"/>
              </a:spcAft>
            </a:pPr>
            <a:r>
              <a:rPr sz="1507" b="0" i="0">
                <a:solidFill>
                  <a:srgbClr val="0F172A"/>
                </a:solidFill>
                <a:latin typeface="Arial"/>
              </a:rPr>
              <a:t>18.8%</a:t>
            </a:r>
          </a:p>
        </p:txBody>
      </p:sp>
      <p:sp>
        <p:nvSpPr>
          <p:cNvPr id="71" name="Rectangle 70"/>
          <p:cNvSpPr/>
          <p:nvPr/>
        </p:nvSpPr>
        <p:spPr>
          <a:xfrm>
            <a:off x="3840480" y="1691640"/>
            <a:ext cx="2587752" cy="51206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3840480" y="1691640"/>
            <a:ext cx="2587752" cy="512064"/>
          </a:xfrm>
          <a:prstGeom prst="rect">
            <a:avLst/>
          </a:prstGeom>
          <a:noFill/>
        </p:spPr>
        <p:txBody>
          <a:bodyPr wrap="square" lIns="0" tIns="0" rIns="0" bIns="0" anchor="ctr">
            <a:spAutoFit/>
          </a:bodyPr>
          <a:lstStyle/>
          <a:p>
            <a:pPr algn="ctr">
              <a:lnSpc>
                <a:spcPct val="100000"/>
              </a:lnSpc>
              <a:spcBef>
                <a:spcPts val="0"/>
              </a:spcBef>
              <a:spcAft>
                <a:spcPts val="200"/>
              </a:spcAft>
            </a:pPr>
            <a:r>
              <a:rPr sz="1565" b="1" i="0">
                <a:solidFill>
                  <a:srgbClr val="FFFFFF"/>
                </a:solidFill>
                <a:latin typeface="Arial"/>
              </a:rPr>
              <a:t>SAIC</a:t>
            </a:r>
          </a:p>
        </p:txBody>
      </p:sp>
      <p:sp>
        <p:nvSpPr>
          <p:cNvPr id="73" name="Rectangle 72"/>
          <p:cNvSpPr/>
          <p:nvPr/>
        </p:nvSpPr>
        <p:spPr>
          <a:xfrm>
            <a:off x="6428232" y="1691640"/>
            <a:ext cx="2587752" cy="5120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428232" y="1691640"/>
            <a:ext cx="2587752" cy="512064"/>
          </a:xfrm>
          <a:prstGeom prst="rect">
            <a:avLst/>
          </a:prstGeom>
          <a:noFill/>
        </p:spPr>
        <p:txBody>
          <a:bodyPr wrap="square" lIns="0" tIns="0" rIns="0" bIns="0" anchor="ctr">
            <a:spAutoFit/>
          </a:bodyPr>
          <a:lstStyle/>
          <a:p>
            <a:pPr algn="ctr">
              <a:lnSpc>
                <a:spcPct val="100000"/>
              </a:lnSpc>
              <a:spcBef>
                <a:spcPts val="0"/>
              </a:spcBef>
              <a:spcAft>
                <a:spcPts val="200"/>
              </a:spcAft>
            </a:pPr>
            <a:r>
              <a:rPr sz="1565" b="1" i="0">
                <a:solidFill>
                  <a:srgbClr val="FFFFFF"/>
                </a:solidFill>
                <a:latin typeface="Arial"/>
              </a:rPr>
              <a:t>BYD</a:t>
            </a:r>
          </a:p>
        </p:txBody>
      </p:sp>
      <p:sp>
        <p:nvSpPr>
          <p:cNvPr id="75" name="Rectangle 74"/>
          <p:cNvSpPr/>
          <p:nvPr/>
        </p:nvSpPr>
        <p:spPr>
          <a:xfrm>
            <a:off x="9015984" y="1691640"/>
            <a:ext cx="2596896" cy="5120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9015984" y="1691640"/>
            <a:ext cx="2596896" cy="512064"/>
          </a:xfrm>
          <a:prstGeom prst="rect">
            <a:avLst/>
          </a:prstGeom>
          <a:noFill/>
        </p:spPr>
        <p:txBody>
          <a:bodyPr wrap="square" lIns="0" tIns="0" rIns="0" bIns="0" anchor="ctr">
            <a:spAutoFit/>
          </a:bodyPr>
          <a:lstStyle/>
          <a:p>
            <a:pPr algn="ctr">
              <a:lnSpc>
                <a:spcPct val="100000"/>
              </a:lnSpc>
              <a:spcBef>
                <a:spcPts val="0"/>
              </a:spcBef>
              <a:spcAft>
                <a:spcPts val="200"/>
              </a:spcAft>
            </a:pPr>
            <a:r>
              <a:rPr sz="1565" b="1" i="0">
                <a:solidFill>
                  <a:srgbClr val="FFFFFF"/>
                </a:solidFill>
                <a:latin typeface="Arial"/>
              </a:rPr>
              <a:t>Geely</a:t>
            </a:r>
          </a:p>
        </p:txBody>
      </p:sp>
      <p:sp>
        <p:nvSpPr>
          <p:cNvPr id="77" name="TextBox 76"/>
          <p:cNvSpPr txBox="1"/>
          <p:nvPr/>
        </p:nvSpPr>
        <p:spPr>
          <a:xfrm>
            <a:off x="548640" y="5806440"/>
            <a:ext cx="11064240" cy="184666"/>
          </a:xfrm>
          <a:prstGeom prst="rect">
            <a:avLst/>
          </a:prstGeom>
          <a:noFill/>
        </p:spPr>
        <p:txBody>
          <a:bodyPr wrap="square" lIns="0" tIns="0" rIns="0" bIns="0" anchor="t">
            <a:spAutoFit/>
          </a:bodyPr>
          <a:lstStyle/>
          <a:p>
            <a:pPr algn="l">
              <a:lnSpc>
                <a:spcPct val="100000"/>
              </a:lnSpc>
              <a:spcBef>
                <a:spcPts val="0"/>
              </a:spcBef>
              <a:spcAft>
                <a:spcPts val="200"/>
              </a:spcAft>
            </a:pPr>
            <a:r>
              <a:rPr sz="1200" b="1" i="0" dirty="0">
                <a:solidFill>
                  <a:srgbClr val="0F172A"/>
                </a:solidFill>
                <a:latin typeface="Arial"/>
              </a:rPr>
              <a:t>BYD's R&amp;D exceeds its net profit; SAIC's headline 2025 recovery is mostly the absence of 2024 write-downs, not a structural turnaround.</a:t>
            </a:r>
          </a:p>
        </p:txBody>
      </p:sp>
      <p:sp>
        <p:nvSpPr>
          <p:cNvPr id="78" name="TextBox 77"/>
          <p:cNvSpPr txBox="1"/>
          <p:nvPr/>
        </p:nvSpPr>
        <p:spPr>
          <a:xfrm>
            <a:off x="548640" y="6199632"/>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276" b="0" i="1">
                <a:solidFill>
                  <a:srgbClr val="64748B"/>
                </a:solidFill>
                <a:latin typeface="Arial"/>
              </a:rPr>
              <a:t>Annual Reports SAIC/BYD/Geely 2024 &amp; 2025 · EU Reg. 2024/2754</a:t>
            </a:r>
          </a:p>
        </p:txBody>
      </p:sp>
      <p:sp>
        <p:nvSpPr>
          <p:cNvPr id="79" name="TextBox 78"/>
          <p:cNvSpPr txBox="1"/>
          <p:nvPr/>
        </p:nvSpPr>
        <p:spPr>
          <a:xfrm>
            <a:off x="548640" y="6473952"/>
            <a:ext cx="8686800" cy="274320"/>
          </a:xfrm>
          <a:prstGeom prst="rect">
            <a:avLst/>
          </a:prstGeom>
          <a:noFill/>
        </p:spPr>
        <p:txBody>
          <a:bodyPr wrap="square" lIns="0" tIns="0" rIns="0" bIns="0" anchor="t">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80" name="TextBox 79"/>
          <p:cNvSpPr txBox="1"/>
          <p:nvPr/>
        </p:nvSpPr>
        <p:spPr>
          <a:xfrm>
            <a:off x="10820095" y="6473952"/>
            <a:ext cx="822960" cy="274320"/>
          </a:xfrm>
          <a:prstGeom prst="rect">
            <a:avLst/>
          </a:prstGeom>
          <a:noFill/>
        </p:spPr>
        <p:txBody>
          <a:bodyPr wrap="square" lIns="0" tIns="0" rIns="0" bIns="0" anchor="t">
            <a:spAutoFit/>
          </a:bodyPr>
          <a:lstStyle/>
          <a:p>
            <a:pPr algn="r">
              <a:lnSpc>
                <a:spcPct val="100000"/>
              </a:lnSpc>
              <a:spcBef>
                <a:spcPts val="0"/>
              </a:spcBef>
              <a:spcAft>
                <a:spcPts val="200"/>
              </a:spcAft>
            </a:pPr>
            <a:r>
              <a:rPr sz="1218" b="0" i="0">
                <a:solidFill>
                  <a:srgbClr val="64748B"/>
                </a:solidFill>
                <a:latin typeface="Aria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66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623" b="1" i="0">
                <a:solidFill>
                  <a:srgbClr val="06B6D4"/>
                </a:solidFill>
                <a:latin typeface="Arial"/>
              </a:rPr>
              <a:t>DIMENSION 3 · CAPABILITY BUILDING</a:t>
            </a:r>
          </a:p>
        </p:txBody>
      </p:sp>
      <p:sp>
        <p:nvSpPr>
          <p:cNvPr id="4" name="TextBox 3"/>
          <p:cNvSpPr txBox="1"/>
          <p:nvPr/>
        </p:nvSpPr>
        <p:spPr>
          <a:xfrm>
            <a:off x="548640" y="658368"/>
            <a:ext cx="11064240" cy="914400"/>
          </a:xfrm>
          <a:prstGeom prst="rect">
            <a:avLst/>
          </a:prstGeom>
          <a:noFill/>
        </p:spPr>
        <p:txBody>
          <a:bodyPr wrap="square" lIns="0" tIns="0" rIns="0" bIns="0" anchor="t">
            <a:spAutoFit/>
          </a:bodyPr>
          <a:lstStyle/>
          <a:p>
            <a:pPr algn="l">
              <a:lnSpc>
                <a:spcPct val="100000"/>
              </a:lnSpc>
              <a:spcBef>
                <a:spcPts val="0"/>
              </a:spcBef>
              <a:spcAft>
                <a:spcPts val="200"/>
              </a:spcAft>
            </a:pPr>
            <a:r>
              <a:rPr sz="2100" b="1" i="0">
                <a:solidFill>
                  <a:srgbClr val="0F172A"/>
                </a:solidFill>
                <a:latin typeface="Arial"/>
              </a:rPr>
              <a:t>How a firm learns determines what it can do next</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965960"/>
            <a:ext cx="3593592" cy="29260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965960"/>
            <a:ext cx="3593592" cy="8229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2167128"/>
            <a:ext cx="3264408" cy="548640"/>
          </a:xfrm>
          <a:prstGeom prst="rect">
            <a:avLst/>
          </a:prstGeom>
          <a:noFill/>
        </p:spPr>
        <p:txBody>
          <a:bodyPr wrap="square" lIns="0" tIns="0" rIns="0" bIns="0" anchor="t">
            <a:spAutoFit/>
          </a:bodyPr>
          <a:lstStyle/>
          <a:p>
            <a:pPr algn="l">
              <a:lnSpc>
                <a:spcPct val="98000"/>
              </a:lnSpc>
              <a:spcBef>
                <a:spcPts val="0"/>
              </a:spcBef>
              <a:spcAft>
                <a:spcPts val="200"/>
              </a:spcAft>
            </a:pPr>
            <a:r>
              <a:rPr sz="1855" b="1" i="0" dirty="0">
                <a:solidFill>
                  <a:srgbClr val="DC2626"/>
                </a:solidFill>
                <a:latin typeface="Arial"/>
              </a:rPr>
              <a:t>SAIC — mandatory transfer</a:t>
            </a:r>
          </a:p>
        </p:txBody>
      </p:sp>
      <p:sp>
        <p:nvSpPr>
          <p:cNvPr id="10" name="TextBox 9"/>
          <p:cNvSpPr txBox="1"/>
          <p:nvPr/>
        </p:nvSpPr>
        <p:spPr>
          <a:xfrm>
            <a:off x="713232" y="2895804"/>
            <a:ext cx="3264408" cy="1517904"/>
          </a:xfrm>
          <a:prstGeom prst="rect">
            <a:avLst/>
          </a:prstGeom>
          <a:noFill/>
        </p:spPr>
        <p:txBody>
          <a:bodyPr wrap="square" lIns="0" tIns="0" rIns="0" bIns="0">
            <a:spAutoFit/>
          </a:bodyPr>
          <a:lstStyle/>
          <a:p>
            <a:pPr>
              <a:lnSpc>
                <a:spcPct val="105000"/>
              </a:lnSpc>
              <a:spcBef>
                <a:spcPts val="0"/>
              </a:spcBef>
              <a:spcAft>
                <a:spcPts val="500"/>
              </a:spcAft>
              <a:buNone/>
            </a:pPr>
            <a:r>
              <a:rPr sz="1565" dirty="0">
                <a:solidFill>
                  <a:srgbClr val="DC2626"/>
                </a:solidFill>
                <a:latin typeface="Arial"/>
              </a:rPr>
              <a:t>–  </a:t>
            </a:r>
            <a:r>
              <a:rPr sz="1565" dirty="0">
                <a:solidFill>
                  <a:srgbClr val="0F172A"/>
                </a:solidFill>
                <a:latin typeface="Arial"/>
              </a:rPr>
              <a:t>Tech-for-access via state-mandated JVs</a:t>
            </a:r>
          </a:p>
          <a:p>
            <a:pPr>
              <a:lnSpc>
                <a:spcPct val="105000"/>
              </a:lnSpc>
              <a:spcBef>
                <a:spcPts val="0"/>
              </a:spcBef>
              <a:spcAft>
                <a:spcPts val="500"/>
              </a:spcAft>
              <a:buNone/>
            </a:pPr>
            <a:r>
              <a:rPr sz="1565" dirty="0">
                <a:solidFill>
                  <a:srgbClr val="DC2626"/>
                </a:solidFill>
                <a:latin typeface="Arial"/>
              </a:rPr>
              <a:t>–  </a:t>
            </a:r>
            <a:r>
              <a:rPr sz="1565" dirty="0">
                <a:solidFill>
                  <a:srgbClr val="0F172A"/>
                </a:solidFill>
                <a:latin typeface="Arial"/>
              </a:rPr>
              <a:t>+8.3% quality, but rents killed own R&amp;D (Bai 2025; Howell 2018)</a:t>
            </a:r>
          </a:p>
          <a:p>
            <a:pPr>
              <a:lnSpc>
                <a:spcPct val="105000"/>
              </a:lnSpc>
              <a:spcBef>
                <a:spcPts val="0"/>
              </a:spcBef>
              <a:spcAft>
                <a:spcPts val="500"/>
              </a:spcAft>
              <a:buNone/>
            </a:pPr>
            <a:r>
              <a:rPr sz="1565" dirty="0">
                <a:solidFill>
                  <a:srgbClr val="DC2626"/>
                </a:solidFill>
                <a:latin typeface="Arial"/>
              </a:rPr>
              <a:t>–  </a:t>
            </a:r>
            <a:r>
              <a:rPr sz="1565" dirty="0">
                <a:solidFill>
                  <a:srgbClr val="0F172A"/>
                </a:solidFill>
                <a:latin typeface="Arial"/>
              </a:rPr>
              <a:t>No proprietary EV platform when the cycle turned</a:t>
            </a:r>
          </a:p>
        </p:txBody>
      </p:sp>
      <p:sp>
        <p:nvSpPr>
          <p:cNvPr id="11" name="Rectangle 10"/>
          <p:cNvSpPr/>
          <p:nvPr/>
        </p:nvSpPr>
        <p:spPr>
          <a:xfrm>
            <a:off x="4279392" y="1965960"/>
            <a:ext cx="3593592" cy="29260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79392" y="1965960"/>
            <a:ext cx="3593592"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43984" y="2167128"/>
            <a:ext cx="3264408" cy="548640"/>
          </a:xfrm>
          <a:prstGeom prst="rect">
            <a:avLst/>
          </a:prstGeom>
          <a:noFill/>
        </p:spPr>
        <p:txBody>
          <a:bodyPr wrap="square" lIns="0" tIns="0" rIns="0" bIns="0" anchor="t">
            <a:spAutoFit/>
          </a:bodyPr>
          <a:lstStyle/>
          <a:p>
            <a:pPr algn="l">
              <a:lnSpc>
                <a:spcPct val="98000"/>
              </a:lnSpc>
              <a:spcBef>
                <a:spcPts val="0"/>
              </a:spcBef>
              <a:spcAft>
                <a:spcPts val="200"/>
              </a:spcAft>
            </a:pPr>
            <a:r>
              <a:rPr sz="1855" b="1" i="0" dirty="0">
                <a:solidFill>
                  <a:srgbClr val="2563EB"/>
                </a:solidFill>
                <a:latin typeface="Arial"/>
              </a:rPr>
              <a:t>BYD — organic build</a:t>
            </a:r>
          </a:p>
        </p:txBody>
      </p:sp>
      <p:sp>
        <p:nvSpPr>
          <p:cNvPr id="14" name="TextBox 13"/>
          <p:cNvSpPr txBox="1"/>
          <p:nvPr/>
        </p:nvSpPr>
        <p:spPr>
          <a:xfrm>
            <a:off x="4443983" y="2895804"/>
            <a:ext cx="3264408" cy="1517904"/>
          </a:xfrm>
          <a:prstGeom prst="rect">
            <a:avLst/>
          </a:prstGeom>
          <a:noFill/>
        </p:spPr>
        <p:txBody>
          <a:bodyPr wrap="square" lIns="0" tIns="0" rIns="0" bIns="0">
            <a:spAutoFit/>
          </a:bodyPr>
          <a:lstStyle/>
          <a:p>
            <a:pPr>
              <a:lnSpc>
                <a:spcPct val="105000"/>
              </a:lnSpc>
              <a:spcBef>
                <a:spcPts val="0"/>
              </a:spcBef>
              <a:spcAft>
                <a:spcPts val="500"/>
              </a:spcAft>
              <a:buNone/>
            </a:pPr>
            <a:r>
              <a:rPr sz="1565" dirty="0">
                <a:solidFill>
                  <a:srgbClr val="2563EB"/>
                </a:solidFill>
                <a:latin typeface="Arial"/>
              </a:rPr>
              <a:t>–  </a:t>
            </a:r>
            <a:r>
              <a:rPr sz="1565" dirty="0">
                <a:solidFill>
                  <a:srgbClr val="0F172A"/>
                </a:solidFill>
                <a:latin typeface="Arial"/>
              </a:rPr>
              <a:t>Built in-house: battery → power electronics → software</a:t>
            </a:r>
          </a:p>
          <a:p>
            <a:pPr>
              <a:lnSpc>
                <a:spcPct val="105000"/>
              </a:lnSpc>
              <a:spcBef>
                <a:spcPts val="0"/>
              </a:spcBef>
              <a:spcAft>
                <a:spcPts val="500"/>
              </a:spcAft>
              <a:buNone/>
            </a:pPr>
            <a:r>
              <a:rPr sz="1565" dirty="0">
                <a:solidFill>
                  <a:srgbClr val="2563EB"/>
                </a:solidFill>
                <a:latin typeface="Arial"/>
              </a:rPr>
              <a:t>–  </a:t>
            </a:r>
            <a:r>
              <a:rPr sz="1565" dirty="0">
                <a:solidFill>
                  <a:srgbClr val="0F172A"/>
                </a:solidFill>
                <a:latin typeface="Arial"/>
              </a:rPr>
              <a:t>Path-dependent, non-imitable knowledge (Teece, 1997)</a:t>
            </a:r>
          </a:p>
          <a:p>
            <a:pPr>
              <a:lnSpc>
                <a:spcPct val="105000"/>
              </a:lnSpc>
              <a:spcBef>
                <a:spcPts val="0"/>
              </a:spcBef>
              <a:spcAft>
                <a:spcPts val="500"/>
              </a:spcAft>
              <a:buNone/>
            </a:pPr>
            <a:r>
              <a:rPr sz="1565" dirty="0">
                <a:solidFill>
                  <a:srgbClr val="2563EB"/>
                </a:solidFill>
                <a:latin typeface="Arial"/>
              </a:rPr>
              <a:t>–  </a:t>
            </a:r>
            <a:r>
              <a:rPr sz="1565" dirty="0">
                <a:solidFill>
                  <a:srgbClr val="0F172A"/>
                </a:solidFill>
                <a:latin typeface="Arial"/>
              </a:rPr>
              <a:t>Slowest to build, but the deepest moat</a:t>
            </a:r>
          </a:p>
        </p:txBody>
      </p:sp>
      <p:sp>
        <p:nvSpPr>
          <p:cNvPr id="15" name="Rectangle 14"/>
          <p:cNvSpPr/>
          <p:nvPr/>
        </p:nvSpPr>
        <p:spPr>
          <a:xfrm>
            <a:off x="8010144" y="1965960"/>
            <a:ext cx="3593592" cy="29260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10144" y="1965960"/>
            <a:ext cx="3593592" cy="8229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74736" y="2167128"/>
            <a:ext cx="3264408" cy="559512"/>
          </a:xfrm>
          <a:prstGeom prst="rect">
            <a:avLst/>
          </a:prstGeom>
          <a:noFill/>
        </p:spPr>
        <p:txBody>
          <a:bodyPr wrap="square" lIns="0" tIns="0" rIns="0" bIns="0" anchor="t">
            <a:spAutoFit/>
          </a:bodyPr>
          <a:lstStyle/>
          <a:p>
            <a:pPr algn="l">
              <a:lnSpc>
                <a:spcPct val="98000"/>
              </a:lnSpc>
              <a:spcBef>
                <a:spcPts val="0"/>
              </a:spcBef>
              <a:spcAft>
                <a:spcPts val="200"/>
              </a:spcAft>
            </a:pPr>
            <a:r>
              <a:rPr sz="1855" b="1" i="0" dirty="0">
                <a:solidFill>
                  <a:srgbClr val="06B6D4"/>
                </a:solidFill>
                <a:latin typeface="Arial"/>
              </a:rPr>
              <a:t>Geely — acquisition + co-dev</a:t>
            </a:r>
            <a:r>
              <a:rPr lang="de-DE" sz="1855" b="1" i="0" dirty="0" err="1">
                <a:solidFill>
                  <a:srgbClr val="06B6D4"/>
                </a:solidFill>
                <a:latin typeface="Arial"/>
              </a:rPr>
              <a:t>elopment</a:t>
            </a:r>
            <a:endParaRPr sz="1855" b="1" i="0" dirty="0">
              <a:solidFill>
                <a:srgbClr val="06B6D4"/>
              </a:solidFill>
              <a:latin typeface="Arial"/>
            </a:endParaRPr>
          </a:p>
        </p:txBody>
      </p:sp>
      <p:sp>
        <p:nvSpPr>
          <p:cNvPr id="18" name="TextBox 17"/>
          <p:cNvSpPr txBox="1"/>
          <p:nvPr/>
        </p:nvSpPr>
        <p:spPr>
          <a:xfrm>
            <a:off x="8174736" y="2895804"/>
            <a:ext cx="3264408" cy="1517904"/>
          </a:xfrm>
          <a:prstGeom prst="rect">
            <a:avLst/>
          </a:prstGeom>
          <a:noFill/>
        </p:spPr>
        <p:txBody>
          <a:bodyPr wrap="square" lIns="0" tIns="0" rIns="0" bIns="0">
            <a:spAutoFit/>
          </a:bodyPr>
          <a:lstStyle/>
          <a:p>
            <a:pPr>
              <a:lnSpc>
                <a:spcPct val="105000"/>
              </a:lnSpc>
              <a:spcBef>
                <a:spcPts val="0"/>
              </a:spcBef>
              <a:spcAft>
                <a:spcPts val="500"/>
              </a:spcAft>
              <a:buNone/>
            </a:pPr>
            <a:r>
              <a:rPr sz="1565" dirty="0">
                <a:solidFill>
                  <a:srgbClr val="06B6D4"/>
                </a:solidFill>
                <a:latin typeface="Arial"/>
              </a:rPr>
              <a:t>–  </a:t>
            </a:r>
            <a:r>
              <a:rPr sz="1565" dirty="0">
                <a:solidFill>
                  <a:srgbClr val="0F172A"/>
                </a:solidFill>
                <a:latin typeface="Arial"/>
              </a:rPr>
              <a:t>Volvo (2010): engineering depth and brand at once</a:t>
            </a:r>
          </a:p>
          <a:p>
            <a:pPr>
              <a:lnSpc>
                <a:spcPct val="105000"/>
              </a:lnSpc>
              <a:spcBef>
                <a:spcPts val="0"/>
              </a:spcBef>
              <a:spcAft>
                <a:spcPts val="500"/>
              </a:spcAft>
              <a:buNone/>
            </a:pPr>
            <a:r>
              <a:rPr sz="1565" dirty="0">
                <a:solidFill>
                  <a:srgbClr val="06B6D4"/>
                </a:solidFill>
                <a:latin typeface="Arial"/>
              </a:rPr>
              <a:t>–  </a:t>
            </a:r>
            <a:r>
              <a:rPr sz="1565" dirty="0">
                <a:solidFill>
                  <a:srgbClr val="0F172A"/>
                </a:solidFill>
                <a:latin typeface="Arial"/>
              </a:rPr>
              <a:t>Real co-development, not copying (CMA platform)</a:t>
            </a:r>
          </a:p>
          <a:p>
            <a:pPr>
              <a:lnSpc>
                <a:spcPct val="105000"/>
              </a:lnSpc>
              <a:spcBef>
                <a:spcPts val="0"/>
              </a:spcBef>
              <a:spcAft>
                <a:spcPts val="500"/>
              </a:spcAft>
              <a:buNone/>
            </a:pPr>
            <a:r>
              <a:rPr sz="1565" dirty="0">
                <a:solidFill>
                  <a:srgbClr val="06B6D4"/>
                </a:solidFill>
                <a:latin typeface="Arial"/>
              </a:rPr>
              <a:t>–  </a:t>
            </a:r>
            <a:r>
              <a:rPr sz="1565" dirty="0">
                <a:solidFill>
                  <a:srgbClr val="0F172A"/>
                </a:solidFill>
                <a:latin typeface="Arial"/>
              </a:rPr>
              <a:t>Patent convergence confirms co-creation (Konda, 2022)</a:t>
            </a:r>
          </a:p>
        </p:txBody>
      </p:sp>
      <p:sp>
        <p:nvSpPr>
          <p:cNvPr id="19" name="TextBox 18"/>
          <p:cNvSpPr txBox="1"/>
          <p:nvPr/>
        </p:nvSpPr>
        <p:spPr>
          <a:xfrm>
            <a:off x="548640" y="5113324"/>
            <a:ext cx="11064240" cy="548640"/>
          </a:xfrm>
          <a:prstGeom prst="rect">
            <a:avLst/>
          </a:prstGeom>
          <a:noFill/>
        </p:spPr>
        <p:txBody>
          <a:bodyPr wrap="square" lIns="0" tIns="0" rIns="0" bIns="0" anchor="t">
            <a:spAutoFit/>
          </a:bodyPr>
          <a:lstStyle/>
          <a:p>
            <a:pPr algn="l">
              <a:lnSpc>
                <a:spcPct val="105000"/>
              </a:lnSpc>
              <a:spcBef>
                <a:spcPts val="0"/>
              </a:spcBef>
              <a:spcAft>
                <a:spcPts val="200"/>
              </a:spcAft>
            </a:pPr>
            <a:r>
              <a:rPr sz="1623" b="1" i="0" dirty="0">
                <a:solidFill>
                  <a:srgbClr val="0F172A"/>
                </a:solidFill>
                <a:latin typeface="Arial"/>
              </a:rPr>
              <a:t>The mode of learning sets durability: handed-over technology fades when the cycle turns; built or co-developed knowledge lasts.</a:t>
            </a:r>
          </a:p>
        </p:txBody>
      </p:sp>
      <p:sp>
        <p:nvSpPr>
          <p:cNvPr id="20" name="TextBox 19"/>
          <p:cNvSpPr txBox="1"/>
          <p:nvPr/>
        </p:nvSpPr>
        <p:spPr>
          <a:xfrm>
            <a:off x="548640" y="6199632"/>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276" b="0" i="1" dirty="0">
                <a:solidFill>
                  <a:srgbClr val="64748B"/>
                </a:solidFill>
                <a:latin typeface="Arial"/>
              </a:rPr>
              <a:t>Bai et al. (2025) · Howell (2018) · Teece et al. (1997) · Whitfield &amp; Wuttke (2026) · Konda et al. (2022)</a:t>
            </a:r>
          </a:p>
        </p:txBody>
      </p:sp>
      <p:sp>
        <p:nvSpPr>
          <p:cNvPr id="21" name="TextBox 20"/>
          <p:cNvSpPr txBox="1"/>
          <p:nvPr/>
        </p:nvSpPr>
        <p:spPr>
          <a:xfrm>
            <a:off x="548640" y="6473952"/>
            <a:ext cx="8686800" cy="274320"/>
          </a:xfrm>
          <a:prstGeom prst="rect">
            <a:avLst/>
          </a:prstGeom>
          <a:noFill/>
        </p:spPr>
        <p:txBody>
          <a:bodyPr wrap="square" lIns="0" tIns="0" rIns="0" bIns="0" anchor="t">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2" name="TextBox 21"/>
          <p:cNvSpPr txBox="1"/>
          <p:nvPr/>
        </p:nvSpPr>
        <p:spPr>
          <a:xfrm>
            <a:off x="10820095" y="6473952"/>
            <a:ext cx="822960" cy="274320"/>
          </a:xfrm>
          <a:prstGeom prst="rect">
            <a:avLst/>
          </a:prstGeom>
          <a:noFill/>
        </p:spPr>
        <p:txBody>
          <a:bodyPr wrap="square" lIns="0" tIns="0" rIns="0" bIns="0" anchor="t">
            <a:spAutoFit/>
          </a:bodyPr>
          <a:lstStyle/>
          <a:p>
            <a:pPr algn="r">
              <a:lnSpc>
                <a:spcPct val="100000"/>
              </a:lnSpc>
              <a:spcBef>
                <a:spcPts val="0"/>
              </a:spcBef>
              <a:spcAft>
                <a:spcPts val="200"/>
              </a:spcAft>
            </a:pPr>
            <a:r>
              <a:rPr sz="1218" b="0" i="0">
                <a:solidFill>
                  <a:srgbClr val="64748B"/>
                </a:solidFill>
                <a:latin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623" b="1" i="0">
                <a:solidFill>
                  <a:srgbClr val="06B6D4"/>
                </a:solidFill>
                <a:latin typeface="Arial"/>
              </a:rPr>
              <a:t>DIMENSION 3 · SPEED VS. DEPTH</a:t>
            </a:r>
          </a:p>
        </p:txBody>
      </p:sp>
      <p:sp>
        <p:nvSpPr>
          <p:cNvPr id="4" name="TextBox 3"/>
          <p:cNvSpPr txBox="1"/>
          <p:nvPr/>
        </p:nvSpPr>
        <p:spPr>
          <a:xfrm>
            <a:off x="548640" y="658368"/>
            <a:ext cx="11064240" cy="914400"/>
          </a:xfrm>
          <a:prstGeom prst="rect">
            <a:avLst/>
          </a:prstGeom>
          <a:noFill/>
        </p:spPr>
        <p:txBody>
          <a:bodyPr wrap="square" lIns="0" tIns="0" rIns="0" bIns="0" anchor="t">
            <a:spAutoFit/>
          </a:bodyPr>
          <a:lstStyle/>
          <a:p>
            <a:pPr algn="l">
              <a:lnSpc>
                <a:spcPct val="100000"/>
              </a:lnSpc>
              <a:spcBef>
                <a:spcPts val="0"/>
              </a:spcBef>
              <a:spcAft>
                <a:spcPts val="200"/>
              </a:spcAft>
            </a:pPr>
            <a:r>
              <a:rPr sz="2100" b="1" i="0">
                <a:solidFill>
                  <a:srgbClr val="0F172A"/>
                </a:solidFill>
                <a:latin typeface="Arial"/>
              </a:rPr>
              <a:t>Capability building trades speed against depth against independence</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828800"/>
            <a:ext cx="11064240" cy="8686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828800"/>
            <a:ext cx="1554480" cy="86868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828800"/>
            <a:ext cx="1554480" cy="868680"/>
          </a:xfrm>
          <a:prstGeom prst="rect">
            <a:avLst/>
          </a:prstGeom>
          <a:noFill/>
        </p:spPr>
        <p:txBody>
          <a:bodyPr wrap="square" lIns="0" tIns="0" rIns="0" bIns="0" anchor="ctr">
            <a:spAutoFit/>
          </a:bodyPr>
          <a:lstStyle/>
          <a:p>
            <a:pPr algn="ctr">
              <a:lnSpc>
                <a:spcPct val="100000"/>
              </a:lnSpc>
              <a:spcBef>
                <a:spcPts val="0"/>
              </a:spcBef>
              <a:spcAft>
                <a:spcPts val="200"/>
              </a:spcAft>
            </a:pPr>
            <a:r>
              <a:rPr sz="1855" b="1" i="0">
                <a:solidFill>
                  <a:srgbClr val="FFFFFF"/>
                </a:solidFill>
                <a:latin typeface="Arial"/>
              </a:rPr>
              <a:t>SAIC</a:t>
            </a:r>
          </a:p>
        </p:txBody>
      </p:sp>
      <p:sp>
        <p:nvSpPr>
          <p:cNvPr id="10" name="TextBox 9"/>
          <p:cNvSpPr txBox="1"/>
          <p:nvPr/>
        </p:nvSpPr>
        <p:spPr>
          <a:xfrm>
            <a:off x="2331720" y="1828800"/>
            <a:ext cx="2926080" cy="868680"/>
          </a:xfrm>
          <a:prstGeom prst="rect">
            <a:avLst/>
          </a:prstGeom>
          <a:noFill/>
        </p:spPr>
        <p:txBody>
          <a:bodyPr wrap="square" lIns="0" tIns="0" rIns="0" bIns="0" anchor="ctr">
            <a:spAutoFit/>
          </a:bodyPr>
          <a:lstStyle/>
          <a:p>
            <a:pPr algn="l">
              <a:lnSpc>
                <a:spcPct val="100000"/>
              </a:lnSpc>
              <a:spcBef>
                <a:spcPts val="0"/>
              </a:spcBef>
              <a:spcAft>
                <a:spcPts val="200"/>
              </a:spcAft>
            </a:pPr>
            <a:r>
              <a:rPr sz="1739" b="1" i="0">
                <a:solidFill>
                  <a:srgbClr val="DC2626"/>
                </a:solidFill>
                <a:latin typeface="Arial"/>
              </a:rPr>
              <a:t>Fast, but shallow</a:t>
            </a:r>
          </a:p>
        </p:txBody>
      </p:sp>
      <p:sp>
        <p:nvSpPr>
          <p:cNvPr id="11" name="TextBox 10"/>
          <p:cNvSpPr txBox="1"/>
          <p:nvPr/>
        </p:nvSpPr>
        <p:spPr>
          <a:xfrm>
            <a:off x="5303520" y="2019034"/>
            <a:ext cx="6126480" cy="488211"/>
          </a:xfrm>
          <a:prstGeom prst="rect">
            <a:avLst/>
          </a:prstGeom>
          <a:noFill/>
        </p:spPr>
        <p:txBody>
          <a:bodyPr wrap="square" lIns="0" tIns="0" rIns="0" bIns="0" anchor="ctr">
            <a:spAutoFit/>
          </a:bodyPr>
          <a:lstStyle/>
          <a:p>
            <a:pPr algn="l">
              <a:lnSpc>
                <a:spcPct val="105000"/>
              </a:lnSpc>
              <a:spcBef>
                <a:spcPts val="0"/>
              </a:spcBef>
              <a:spcAft>
                <a:spcPts val="200"/>
              </a:spcAft>
            </a:pPr>
            <a:r>
              <a:rPr sz="1565" b="0" i="0" dirty="0">
                <a:solidFill>
                  <a:srgbClr val="0F172A"/>
                </a:solidFill>
                <a:latin typeface="Arial"/>
              </a:rPr>
              <a:t>Fastest to quality (+8.3%)</a:t>
            </a:r>
            <a:r>
              <a:rPr lang="de-DE" sz="1565" b="0" i="0" dirty="0">
                <a:solidFill>
                  <a:srgbClr val="0F172A"/>
                </a:solidFill>
                <a:latin typeface="Arial"/>
              </a:rPr>
              <a:t>, </a:t>
            </a:r>
            <a:r>
              <a:rPr sz="1565" b="0" i="0" dirty="0">
                <a:solidFill>
                  <a:srgbClr val="0F172A"/>
                </a:solidFill>
                <a:latin typeface="Arial"/>
              </a:rPr>
              <a:t>but dependent, with no EV platform of its own.</a:t>
            </a:r>
          </a:p>
        </p:txBody>
      </p:sp>
      <p:sp>
        <p:nvSpPr>
          <p:cNvPr id="12" name="Rectangle 11"/>
          <p:cNvSpPr/>
          <p:nvPr/>
        </p:nvSpPr>
        <p:spPr>
          <a:xfrm>
            <a:off x="548640" y="2816352"/>
            <a:ext cx="11064240" cy="8686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2816352"/>
            <a:ext cx="1554480" cy="8686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2816352"/>
            <a:ext cx="1554480" cy="868680"/>
          </a:xfrm>
          <a:prstGeom prst="rect">
            <a:avLst/>
          </a:prstGeom>
          <a:noFill/>
        </p:spPr>
        <p:txBody>
          <a:bodyPr wrap="square" lIns="0" tIns="0" rIns="0" bIns="0" anchor="ctr">
            <a:spAutoFit/>
          </a:bodyPr>
          <a:lstStyle/>
          <a:p>
            <a:pPr algn="ctr">
              <a:lnSpc>
                <a:spcPct val="100000"/>
              </a:lnSpc>
              <a:spcBef>
                <a:spcPts val="0"/>
              </a:spcBef>
              <a:spcAft>
                <a:spcPts val="200"/>
              </a:spcAft>
            </a:pPr>
            <a:r>
              <a:rPr sz="1855" b="1" i="0">
                <a:solidFill>
                  <a:srgbClr val="FFFFFF"/>
                </a:solidFill>
                <a:latin typeface="Arial"/>
              </a:rPr>
              <a:t>Geely</a:t>
            </a:r>
          </a:p>
        </p:txBody>
      </p:sp>
      <p:sp>
        <p:nvSpPr>
          <p:cNvPr id="15" name="TextBox 14"/>
          <p:cNvSpPr txBox="1"/>
          <p:nvPr/>
        </p:nvSpPr>
        <p:spPr>
          <a:xfrm>
            <a:off x="2331720" y="2816352"/>
            <a:ext cx="2926080" cy="868680"/>
          </a:xfrm>
          <a:prstGeom prst="rect">
            <a:avLst/>
          </a:prstGeom>
          <a:noFill/>
        </p:spPr>
        <p:txBody>
          <a:bodyPr wrap="square" lIns="0" tIns="0" rIns="0" bIns="0" anchor="ctr">
            <a:spAutoFit/>
          </a:bodyPr>
          <a:lstStyle/>
          <a:p>
            <a:pPr algn="l">
              <a:lnSpc>
                <a:spcPct val="100000"/>
              </a:lnSpc>
              <a:spcBef>
                <a:spcPts val="0"/>
              </a:spcBef>
              <a:spcAft>
                <a:spcPts val="200"/>
              </a:spcAft>
            </a:pPr>
            <a:r>
              <a:rPr sz="1739" b="1" i="0">
                <a:solidFill>
                  <a:srgbClr val="06B6D4"/>
                </a:solidFill>
                <a:latin typeface="Arial"/>
              </a:rPr>
              <a:t>Fast and deep</a:t>
            </a:r>
          </a:p>
        </p:txBody>
      </p:sp>
      <p:sp>
        <p:nvSpPr>
          <p:cNvPr id="16" name="TextBox 15"/>
          <p:cNvSpPr txBox="1"/>
          <p:nvPr/>
        </p:nvSpPr>
        <p:spPr>
          <a:xfrm>
            <a:off x="5303520" y="2816352"/>
            <a:ext cx="6126480" cy="868680"/>
          </a:xfrm>
          <a:prstGeom prst="rect">
            <a:avLst/>
          </a:prstGeom>
          <a:noFill/>
        </p:spPr>
        <p:txBody>
          <a:bodyPr wrap="square" lIns="0" tIns="0" rIns="0" bIns="0" anchor="ctr">
            <a:spAutoFit/>
          </a:bodyPr>
          <a:lstStyle/>
          <a:p>
            <a:pPr algn="l">
              <a:lnSpc>
                <a:spcPct val="105000"/>
              </a:lnSpc>
              <a:spcBef>
                <a:spcPts val="0"/>
              </a:spcBef>
              <a:spcAft>
                <a:spcPts val="200"/>
              </a:spcAft>
            </a:pPr>
            <a:r>
              <a:rPr sz="1565" b="0" i="0">
                <a:solidFill>
                  <a:srgbClr val="0F172A"/>
                </a:solidFill>
                <a:latin typeface="Arial"/>
              </a:rPr>
              <a:t>Turned the Volvo purchase into real co-development (CMA platform; patent convergence).</a:t>
            </a:r>
          </a:p>
        </p:txBody>
      </p:sp>
      <p:sp>
        <p:nvSpPr>
          <p:cNvPr id="17" name="Rectangle 16"/>
          <p:cNvSpPr/>
          <p:nvPr/>
        </p:nvSpPr>
        <p:spPr>
          <a:xfrm>
            <a:off x="548640" y="3803904"/>
            <a:ext cx="11064240" cy="8686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 y="3803904"/>
            <a:ext cx="1554480" cy="8686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3803904"/>
            <a:ext cx="1554480" cy="868680"/>
          </a:xfrm>
          <a:prstGeom prst="rect">
            <a:avLst/>
          </a:prstGeom>
          <a:noFill/>
        </p:spPr>
        <p:txBody>
          <a:bodyPr wrap="square" lIns="0" tIns="0" rIns="0" bIns="0" anchor="ctr">
            <a:spAutoFit/>
          </a:bodyPr>
          <a:lstStyle/>
          <a:p>
            <a:pPr algn="ctr">
              <a:lnSpc>
                <a:spcPct val="100000"/>
              </a:lnSpc>
              <a:spcBef>
                <a:spcPts val="0"/>
              </a:spcBef>
              <a:spcAft>
                <a:spcPts val="200"/>
              </a:spcAft>
            </a:pPr>
            <a:r>
              <a:rPr sz="1855" b="1" i="0">
                <a:solidFill>
                  <a:srgbClr val="FFFFFF"/>
                </a:solidFill>
                <a:latin typeface="Arial"/>
              </a:rPr>
              <a:t>BYD</a:t>
            </a:r>
          </a:p>
        </p:txBody>
      </p:sp>
      <p:sp>
        <p:nvSpPr>
          <p:cNvPr id="20" name="TextBox 19"/>
          <p:cNvSpPr txBox="1"/>
          <p:nvPr/>
        </p:nvSpPr>
        <p:spPr>
          <a:xfrm>
            <a:off x="2331720" y="3803904"/>
            <a:ext cx="2926080" cy="868680"/>
          </a:xfrm>
          <a:prstGeom prst="rect">
            <a:avLst/>
          </a:prstGeom>
          <a:noFill/>
        </p:spPr>
        <p:txBody>
          <a:bodyPr wrap="square" lIns="0" tIns="0" rIns="0" bIns="0" anchor="ctr">
            <a:spAutoFit/>
          </a:bodyPr>
          <a:lstStyle/>
          <a:p>
            <a:pPr algn="l">
              <a:lnSpc>
                <a:spcPct val="100000"/>
              </a:lnSpc>
              <a:spcBef>
                <a:spcPts val="0"/>
              </a:spcBef>
              <a:spcAft>
                <a:spcPts val="200"/>
              </a:spcAft>
            </a:pPr>
            <a:r>
              <a:rPr sz="1739" b="1" i="0">
                <a:solidFill>
                  <a:srgbClr val="2563EB"/>
                </a:solidFill>
                <a:latin typeface="Arial"/>
              </a:rPr>
              <a:t>Slow, but deepest</a:t>
            </a:r>
          </a:p>
        </p:txBody>
      </p:sp>
      <p:sp>
        <p:nvSpPr>
          <p:cNvPr id="21" name="TextBox 20"/>
          <p:cNvSpPr txBox="1"/>
          <p:nvPr/>
        </p:nvSpPr>
        <p:spPr>
          <a:xfrm>
            <a:off x="5303520" y="3994138"/>
            <a:ext cx="6126480" cy="488211"/>
          </a:xfrm>
          <a:prstGeom prst="rect">
            <a:avLst/>
          </a:prstGeom>
          <a:noFill/>
        </p:spPr>
        <p:txBody>
          <a:bodyPr wrap="square" lIns="0" tIns="0" rIns="0" bIns="0" anchor="ctr">
            <a:spAutoFit/>
          </a:bodyPr>
          <a:lstStyle/>
          <a:p>
            <a:pPr algn="l">
              <a:lnSpc>
                <a:spcPct val="105000"/>
              </a:lnSpc>
              <a:spcBef>
                <a:spcPts val="0"/>
              </a:spcBef>
              <a:spcAft>
                <a:spcPts val="200"/>
              </a:spcAft>
            </a:pPr>
            <a:r>
              <a:rPr sz="1565" b="0" i="0" dirty="0">
                <a:solidFill>
                  <a:srgbClr val="0F172A"/>
                </a:solidFill>
                <a:latin typeface="Arial"/>
              </a:rPr>
              <a:t>30 years from cells to software</a:t>
            </a:r>
            <a:r>
              <a:rPr lang="de-DE" sz="1565" b="0" i="0" dirty="0">
                <a:solidFill>
                  <a:srgbClr val="0F172A"/>
                </a:solidFill>
                <a:latin typeface="Arial"/>
              </a:rPr>
              <a:t>;</a:t>
            </a:r>
            <a:r>
              <a:rPr sz="1565" b="0" i="0" dirty="0">
                <a:solidFill>
                  <a:srgbClr val="0F172A"/>
                </a:solidFill>
                <a:latin typeface="Arial"/>
              </a:rPr>
              <a:t> non-imitable, fully its own (Teece, 1997).</a:t>
            </a:r>
          </a:p>
        </p:txBody>
      </p:sp>
      <p:sp>
        <p:nvSpPr>
          <p:cNvPr id="23" name="TextBox 22"/>
          <p:cNvSpPr txBox="1"/>
          <p:nvPr/>
        </p:nvSpPr>
        <p:spPr>
          <a:xfrm>
            <a:off x="708414" y="5022949"/>
            <a:ext cx="10607040" cy="528222"/>
          </a:xfrm>
          <a:prstGeom prst="rect">
            <a:avLst/>
          </a:prstGeom>
          <a:noFill/>
        </p:spPr>
        <p:txBody>
          <a:bodyPr wrap="square" lIns="0" tIns="0" rIns="0" bIns="0" anchor="ctr">
            <a:spAutoFit/>
          </a:bodyPr>
          <a:lstStyle/>
          <a:p>
            <a:pPr algn="l">
              <a:lnSpc>
                <a:spcPct val="110000"/>
              </a:lnSpc>
              <a:spcBef>
                <a:spcPts val="0"/>
              </a:spcBef>
              <a:spcAft>
                <a:spcPts val="200"/>
              </a:spcAft>
            </a:pPr>
            <a:r>
              <a:rPr sz="1623" b="1" dirty="0">
                <a:solidFill>
                  <a:srgbClr val="0F172A"/>
                </a:solidFill>
                <a:latin typeface="Arial"/>
              </a:rPr>
              <a:t>The proof: SAIC-GM plants run at just 37% capacity and VW's MEB plant at 14% (2025)</a:t>
            </a:r>
            <a:r>
              <a:rPr lang="de-DE" sz="1623" b="1" dirty="0">
                <a:solidFill>
                  <a:srgbClr val="0F172A"/>
                </a:solidFill>
                <a:latin typeface="Arial"/>
              </a:rPr>
              <a:t>; </a:t>
            </a:r>
            <a:r>
              <a:rPr sz="1623" b="1" dirty="0">
                <a:solidFill>
                  <a:srgbClr val="0F172A"/>
                </a:solidFill>
                <a:latin typeface="Arial"/>
              </a:rPr>
              <a:t>dependency hardened into a capability deficit, while organic depth and co-development kept autonomy.</a:t>
            </a:r>
          </a:p>
        </p:txBody>
      </p:sp>
      <p:sp>
        <p:nvSpPr>
          <p:cNvPr id="24" name="TextBox 23"/>
          <p:cNvSpPr txBox="1"/>
          <p:nvPr/>
        </p:nvSpPr>
        <p:spPr>
          <a:xfrm>
            <a:off x="548640" y="6199632"/>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276" b="0" i="1">
                <a:solidFill>
                  <a:srgbClr val="64748B"/>
                </a:solidFill>
                <a:latin typeface="Arial"/>
              </a:rPr>
              <a:t>Bai et al. (2025) · Konda et al. (2022) · Teece et al. (1997) · SAIC Motor (2026)</a:t>
            </a:r>
          </a:p>
        </p:txBody>
      </p:sp>
      <p:sp>
        <p:nvSpPr>
          <p:cNvPr id="25" name="TextBox 24"/>
          <p:cNvSpPr txBox="1"/>
          <p:nvPr/>
        </p:nvSpPr>
        <p:spPr>
          <a:xfrm>
            <a:off x="548640" y="6473952"/>
            <a:ext cx="8686800" cy="274320"/>
          </a:xfrm>
          <a:prstGeom prst="rect">
            <a:avLst/>
          </a:prstGeom>
          <a:noFill/>
        </p:spPr>
        <p:txBody>
          <a:bodyPr wrap="square" lIns="0" tIns="0" rIns="0" bIns="0" anchor="t">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6" name="TextBox 25"/>
          <p:cNvSpPr txBox="1"/>
          <p:nvPr/>
        </p:nvSpPr>
        <p:spPr>
          <a:xfrm>
            <a:off x="10820095" y="6473952"/>
            <a:ext cx="822960" cy="274320"/>
          </a:xfrm>
          <a:prstGeom prst="rect">
            <a:avLst/>
          </a:prstGeom>
          <a:noFill/>
        </p:spPr>
        <p:txBody>
          <a:bodyPr wrap="square" lIns="0" tIns="0" rIns="0" bIns="0" anchor="t">
            <a:spAutoFit/>
          </a:bodyPr>
          <a:lstStyle/>
          <a:p>
            <a:pPr algn="r">
              <a:lnSpc>
                <a:spcPct val="100000"/>
              </a:lnSpc>
              <a:spcBef>
                <a:spcPts val="0"/>
              </a:spcBef>
              <a:spcAft>
                <a:spcPts val="200"/>
              </a:spcAft>
            </a:pPr>
            <a:r>
              <a:rPr sz="1218" b="0" i="0">
                <a:solidFill>
                  <a:srgbClr val="64748B"/>
                </a:solidFill>
                <a:latin typeface="Aria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623" b="1" i="0">
                <a:solidFill>
                  <a:srgbClr val="06B6D4"/>
                </a:solidFill>
                <a:latin typeface="Arial"/>
              </a:rPr>
              <a:t>DIMENSION 4 · LONG-TERM VIABILITY</a:t>
            </a:r>
          </a:p>
        </p:txBody>
      </p:sp>
      <p:sp>
        <p:nvSpPr>
          <p:cNvPr id="4" name="TextBox 3"/>
          <p:cNvSpPr txBox="1"/>
          <p:nvPr/>
        </p:nvSpPr>
        <p:spPr>
          <a:xfrm>
            <a:off x="548640" y="658368"/>
            <a:ext cx="11064240" cy="914400"/>
          </a:xfrm>
          <a:prstGeom prst="rect">
            <a:avLst/>
          </a:prstGeom>
          <a:noFill/>
        </p:spPr>
        <p:txBody>
          <a:bodyPr wrap="square" lIns="0" tIns="0" rIns="0" bIns="0" anchor="t">
            <a:spAutoFit/>
          </a:bodyPr>
          <a:lstStyle/>
          <a:p>
            <a:pPr algn="l">
              <a:lnSpc>
                <a:spcPct val="100000"/>
              </a:lnSpc>
              <a:spcBef>
                <a:spcPts val="0"/>
              </a:spcBef>
              <a:spcAft>
                <a:spcPts val="200"/>
              </a:spcAft>
            </a:pPr>
            <a:r>
              <a:rPr sz="2100" b="1" i="0">
                <a:solidFill>
                  <a:srgbClr val="0F172A"/>
                </a:solidFill>
                <a:latin typeface="Arial"/>
              </a:rPr>
              <a:t>The EV transition tests which model was built to adapt</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965960"/>
            <a:ext cx="3593592" cy="24688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965960"/>
            <a:ext cx="3593592" cy="8229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2167128"/>
            <a:ext cx="3264408" cy="548640"/>
          </a:xfrm>
          <a:prstGeom prst="rect">
            <a:avLst/>
          </a:prstGeom>
          <a:noFill/>
        </p:spPr>
        <p:txBody>
          <a:bodyPr wrap="square" lIns="0" tIns="0" rIns="0" bIns="0" anchor="t">
            <a:spAutoFit/>
          </a:bodyPr>
          <a:lstStyle/>
          <a:p>
            <a:pPr algn="l">
              <a:lnSpc>
                <a:spcPct val="98000"/>
              </a:lnSpc>
              <a:spcBef>
                <a:spcPts val="0"/>
              </a:spcBef>
              <a:spcAft>
                <a:spcPts val="200"/>
              </a:spcAft>
            </a:pPr>
            <a:r>
              <a:rPr sz="1855" b="1" i="0">
                <a:solidFill>
                  <a:srgbClr val="DC2626"/>
                </a:solidFill>
                <a:latin typeface="Arial"/>
              </a:rPr>
              <a:t>SAIC — most exposed</a:t>
            </a:r>
          </a:p>
        </p:txBody>
      </p:sp>
      <p:sp>
        <p:nvSpPr>
          <p:cNvPr id="10" name="TextBox 9"/>
          <p:cNvSpPr txBox="1"/>
          <p:nvPr/>
        </p:nvSpPr>
        <p:spPr>
          <a:xfrm>
            <a:off x="713232" y="2752344"/>
            <a:ext cx="3264408" cy="1517904"/>
          </a:xfrm>
          <a:prstGeom prst="rect">
            <a:avLst/>
          </a:prstGeom>
          <a:noFill/>
        </p:spPr>
        <p:txBody>
          <a:bodyPr wrap="square" lIns="0" tIns="0" rIns="0" bIns="0">
            <a:spAutoFit/>
          </a:bodyPr>
          <a:lstStyle/>
          <a:p>
            <a:pPr>
              <a:lnSpc>
                <a:spcPct val="105000"/>
              </a:lnSpc>
              <a:spcBef>
                <a:spcPts val="0"/>
              </a:spcBef>
              <a:spcAft>
                <a:spcPts val="500"/>
              </a:spcAft>
              <a:buNone/>
            </a:pPr>
            <a:r>
              <a:rPr sz="1565">
                <a:solidFill>
                  <a:srgbClr val="DC2626"/>
                </a:solidFill>
                <a:latin typeface="Arial"/>
              </a:rPr>
              <a:t>–  </a:t>
            </a:r>
            <a:r>
              <a:rPr sz="1565">
                <a:solidFill>
                  <a:srgbClr val="0F172A"/>
                </a:solidFill>
                <a:latin typeface="Arial"/>
              </a:rPr>
              <a:t>JV plants at 14–37% capacity</a:t>
            </a:r>
          </a:p>
          <a:p>
            <a:pPr>
              <a:lnSpc>
                <a:spcPct val="105000"/>
              </a:lnSpc>
              <a:spcBef>
                <a:spcPts val="0"/>
              </a:spcBef>
              <a:spcAft>
                <a:spcPts val="500"/>
              </a:spcAft>
              <a:buNone/>
            </a:pPr>
            <a:r>
              <a:rPr sz="1565">
                <a:solidFill>
                  <a:srgbClr val="DC2626"/>
                </a:solidFill>
                <a:latin typeface="Arial"/>
              </a:rPr>
              <a:t>–  </a:t>
            </a:r>
            <a:r>
              <a:rPr sz="1565">
                <a:solidFill>
                  <a:srgbClr val="0F172A"/>
                </a:solidFill>
                <a:latin typeface="Arial"/>
              </a:rPr>
              <a:t>But own-brand NEV +33%, with zero subsidies</a:t>
            </a:r>
          </a:p>
          <a:p>
            <a:pPr>
              <a:lnSpc>
                <a:spcPct val="105000"/>
              </a:lnSpc>
              <a:spcBef>
                <a:spcPts val="0"/>
              </a:spcBef>
              <a:spcAft>
                <a:spcPts val="500"/>
              </a:spcAft>
              <a:buNone/>
            </a:pPr>
            <a:r>
              <a:rPr sz="1565">
                <a:solidFill>
                  <a:srgbClr val="DC2626"/>
                </a:solidFill>
                <a:latin typeface="Arial"/>
              </a:rPr>
              <a:t>–  </a:t>
            </a:r>
            <a:r>
              <a:rPr sz="1565">
                <a:solidFill>
                  <a:srgbClr val="0F172A"/>
                </a:solidFill>
                <a:latin typeface="Arial"/>
              </a:rPr>
              <a:t>A race: eroding JV rents vs. thin margin</a:t>
            </a:r>
          </a:p>
        </p:txBody>
      </p:sp>
      <p:sp>
        <p:nvSpPr>
          <p:cNvPr id="11" name="Rectangle 10"/>
          <p:cNvSpPr/>
          <p:nvPr/>
        </p:nvSpPr>
        <p:spPr>
          <a:xfrm>
            <a:off x="4279392" y="1965960"/>
            <a:ext cx="3593592" cy="24688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79392" y="1965960"/>
            <a:ext cx="3593592"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43984" y="2167128"/>
            <a:ext cx="3264408" cy="548640"/>
          </a:xfrm>
          <a:prstGeom prst="rect">
            <a:avLst/>
          </a:prstGeom>
          <a:noFill/>
        </p:spPr>
        <p:txBody>
          <a:bodyPr wrap="square" lIns="0" tIns="0" rIns="0" bIns="0" anchor="t">
            <a:spAutoFit/>
          </a:bodyPr>
          <a:lstStyle/>
          <a:p>
            <a:pPr algn="l">
              <a:lnSpc>
                <a:spcPct val="98000"/>
              </a:lnSpc>
              <a:spcBef>
                <a:spcPts val="0"/>
              </a:spcBef>
              <a:spcAft>
                <a:spcPts val="200"/>
              </a:spcAft>
            </a:pPr>
            <a:r>
              <a:rPr sz="1855" b="1" i="0">
                <a:solidFill>
                  <a:srgbClr val="2563EB"/>
                </a:solidFill>
                <a:latin typeface="Arial"/>
              </a:rPr>
              <a:t>BYD — strongest position</a:t>
            </a:r>
          </a:p>
        </p:txBody>
      </p:sp>
      <p:sp>
        <p:nvSpPr>
          <p:cNvPr id="14" name="TextBox 13"/>
          <p:cNvSpPr txBox="1"/>
          <p:nvPr/>
        </p:nvSpPr>
        <p:spPr>
          <a:xfrm>
            <a:off x="4443984" y="2752344"/>
            <a:ext cx="3264408" cy="1517904"/>
          </a:xfrm>
          <a:prstGeom prst="rect">
            <a:avLst/>
          </a:prstGeom>
          <a:noFill/>
        </p:spPr>
        <p:txBody>
          <a:bodyPr wrap="square" lIns="0" tIns="0" rIns="0" bIns="0">
            <a:spAutoFit/>
          </a:bodyPr>
          <a:lstStyle/>
          <a:p>
            <a:pPr>
              <a:lnSpc>
                <a:spcPct val="105000"/>
              </a:lnSpc>
              <a:spcBef>
                <a:spcPts val="0"/>
              </a:spcBef>
              <a:spcAft>
                <a:spcPts val="500"/>
              </a:spcAft>
              <a:buNone/>
            </a:pPr>
            <a:r>
              <a:rPr sz="1565">
                <a:solidFill>
                  <a:srgbClr val="2563EB"/>
                </a:solidFill>
                <a:latin typeface="Arial"/>
              </a:rPr>
              <a:t>–  </a:t>
            </a:r>
            <a:r>
              <a:rPr sz="1565">
                <a:solidFill>
                  <a:srgbClr val="0F172A"/>
                </a:solidFill>
                <a:latin typeface="Arial"/>
              </a:rPr>
              <a:t>No combustion engines since 2022; #1 NEV 4 years</a:t>
            </a:r>
          </a:p>
          <a:p>
            <a:pPr>
              <a:lnSpc>
                <a:spcPct val="105000"/>
              </a:lnSpc>
              <a:spcBef>
                <a:spcPts val="0"/>
              </a:spcBef>
              <a:spcAft>
                <a:spcPts val="500"/>
              </a:spcAft>
              <a:buNone/>
            </a:pPr>
            <a:r>
              <a:rPr sz="1565">
                <a:solidFill>
                  <a:srgbClr val="2563EB"/>
                </a:solidFill>
                <a:latin typeface="Arial"/>
              </a:rPr>
              <a:t>–  </a:t>
            </a:r>
            <a:r>
              <a:rPr sz="1565">
                <a:solidFill>
                  <a:srgbClr val="0F172A"/>
                </a:solidFill>
                <a:latin typeface="Arial"/>
              </a:rPr>
              <a:t>&gt;1 m exports (+140%), 119 countries</a:t>
            </a:r>
          </a:p>
          <a:p>
            <a:pPr>
              <a:lnSpc>
                <a:spcPct val="105000"/>
              </a:lnSpc>
              <a:spcBef>
                <a:spcPts val="0"/>
              </a:spcBef>
              <a:spcAft>
                <a:spcPts val="500"/>
              </a:spcAft>
              <a:buNone/>
            </a:pPr>
            <a:r>
              <a:rPr sz="1565">
                <a:solidFill>
                  <a:srgbClr val="2563EB"/>
                </a:solidFill>
                <a:latin typeface="Arial"/>
              </a:rPr>
              <a:t>–  </a:t>
            </a:r>
            <a:r>
              <a:rPr sz="1565">
                <a:solidFill>
                  <a:srgbClr val="0F172A"/>
                </a:solidFill>
                <a:latin typeface="Arial"/>
              </a:rPr>
              <a:t>Self-funded; only margin under pressure</a:t>
            </a:r>
          </a:p>
        </p:txBody>
      </p:sp>
      <p:sp>
        <p:nvSpPr>
          <p:cNvPr id="15" name="Rectangle 14"/>
          <p:cNvSpPr/>
          <p:nvPr/>
        </p:nvSpPr>
        <p:spPr>
          <a:xfrm>
            <a:off x="8010144" y="1965960"/>
            <a:ext cx="3593592" cy="24688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10144" y="1965960"/>
            <a:ext cx="3593592" cy="8229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74736" y="2167128"/>
            <a:ext cx="3264408" cy="548640"/>
          </a:xfrm>
          <a:prstGeom prst="rect">
            <a:avLst/>
          </a:prstGeom>
          <a:noFill/>
        </p:spPr>
        <p:txBody>
          <a:bodyPr wrap="square" lIns="0" tIns="0" rIns="0" bIns="0" anchor="t">
            <a:spAutoFit/>
          </a:bodyPr>
          <a:lstStyle/>
          <a:p>
            <a:pPr algn="l">
              <a:lnSpc>
                <a:spcPct val="98000"/>
              </a:lnSpc>
              <a:spcBef>
                <a:spcPts val="0"/>
              </a:spcBef>
              <a:spcAft>
                <a:spcPts val="200"/>
              </a:spcAft>
            </a:pPr>
            <a:r>
              <a:rPr sz="1855" b="1" i="0">
                <a:solidFill>
                  <a:srgbClr val="06B6D4"/>
                </a:solidFill>
                <a:latin typeface="Arial"/>
              </a:rPr>
              <a:t>Geely — most asymmetric</a:t>
            </a:r>
          </a:p>
        </p:txBody>
      </p:sp>
      <p:sp>
        <p:nvSpPr>
          <p:cNvPr id="18" name="TextBox 17"/>
          <p:cNvSpPr txBox="1"/>
          <p:nvPr/>
        </p:nvSpPr>
        <p:spPr>
          <a:xfrm>
            <a:off x="8174736" y="2752344"/>
            <a:ext cx="3264408" cy="1517904"/>
          </a:xfrm>
          <a:prstGeom prst="rect">
            <a:avLst/>
          </a:prstGeom>
          <a:noFill/>
        </p:spPr>
        <p:txBody>
          <a:bodyPr wrap="square" lIns="0" tIns="0" rIns="0" bIns="0">
            <a:spAutoFit/>
          </a:bodyPr>
          <a:lstStyle/>
          <a:p>
            <a:pPr>
              <a:lnSpc>
                <a:spcPct val="105000"/>
              </a:lnSpc>
              <a:spcBef>
                <a:spcPts val="0"/>
              </a:spcBef>
              <a:spcAft>
                <a:spcPts val="500"/>
              </a:spcAft>
              <a:buNone/>
            </a:pPr>
            <a:r>
              <a:rPr sz="1565">
                <a:solidFill>
                  <a:srgbClr val="06B6D4"/>
                </a:solidFill>
                <a:latin typeface="Arial"/>
              </a:rPr>
              <a:t>–  </a:t>
            </a:r>
            <a:r>
              <a:rPr sz="1565">
                <a:solidFill>
                  <a:srgbClr val="0F172A"/>
                </a:solidFill>
                <a:latin typeface="Arial"/>
              </a:rPr>
              <a:t>NEV 51.5% in H1 2025; H1 profit +102%</a:t>
            </a:r>
          </a:p>
          <a:p>
            <a:pPr>
              <a:lnSpc>
                <a:spcPct val="105000"/>
              </a:lnSpc>
              <a:spcBef>
                <a:spcPts val="0"/>
              </a:spcBef>
              <a:spcAft>
                <a:spcPts val="500"/>
              </a:spcAft>
              <a:buNone/>
            </a:pPr>
            <a:r>
              <a:rPr sz="1565">
                <a:solidFill>
                  <a:srgbClr val="06B6D4"/>
                </a:solidFill>
                <a:latin typeface="Arial"/>
              </a:rPr>
              <a:t>–  </a:t>
            </a:r>
            <a:r>
              <a:rPr sz="1565">
                <a:solidFill>
                  <a:srgbClr val="0F172A"/>
                </a:solidFill>
                <a:latin typeface="Arial"/>
              </a:rPr>
              <a:t>Strong cash flow gives headroom</a:t>
            </a:r>
          </a:p>
          <a:p>
            <a:pPr>
              <a:lnSpc>
                <a:spcPct val="105000"/>
              </a:lnSpc>
              <a:spcBef>
                <a:spcPts val="0"/>
              </a:spcBef>
              <a:spcAft>
                <a:spcPts val="500"/>
              </a:spcAft>
              <a:buNone/>
            </a:pPr>
            <a:r>
              <a:rPr sz="1565">
                <a:solidFill>
                  <a:srgbClr val="06B6D4"/>
                </a:solidFill>
                <a:latin typeface="Arial"/>
              </a:rPr>
              <a:t>–  </a:t>
            </a:r>
            <a:r>
              <a:rPr sz="1565">
                <a:solidFill>
                  <a:srgbClr val="0F172A"/>
                </a:solidFill>
                <a:latin typeface="Arial"/>
              </a:rPr>
              <a:t>But partner-dependent; Polestar/Lotus losses</a:t>
            </a:r>
          </a:p>
        </p:txBody>
      </p:sp>
      <p:sp>
        <p:nvSpPr>
          <p:cNvPr id="19" name="TextBox 18"/>
          <p:cNvSpPr txBox="1"/>
          <p:nvPr/>
        </p:nvSpPr>
        <p:spPr>
          <a:xfrm>
            <a:off x="548640" y="4892040"/>
            <a:ext cx="11064240" cy="506357"/>
          </a:xfrm>
          <a:prstGeom prst="rect">
            <a:avLst/>
          </a:prstGeom>
          <a:noFill/>
        </p:spPr>
        <p:txBody>
          <a:bodyPr wrap="square" lIns="0" tIns="0" rIns="0" bIns="0" anchor="t">
            <a:spAutoFit/>
          </a:bodyPr>
          <a:lstStyle/>
          <a:p>
            <a:pPr algn="l">
              <a:lnSpc>
                <a:spcPct val="105000"/>
              </a:lnSpc>
              <a:spcBef>
                <a:spcPts val="0"/>
              </a:spcBef>
              <a:spcAft>
                <a:spcPts val="200"/>
              </a:spcAft>
            </a:pPr>
            <a:r>
              <a:rPr sz="1623" b="1" i="0" dirty="0">
                <a:solidFill>
                  <a:srgbClr val="0F172A"/>
                </a:solidFill>
                <a:latin typeface="Arial"/>
              </a:rPr>
              <a:t>Same technology shock, three very different outcomes</a:t>
            </a:r>
            <a:r>
              <a:rPr lang="de-DE" sz="1623" b="1" i="0" dirty="0">
                <a:solidFill>
                  <a:srgbClr val="0F172A"/>
                </a:solidFill>
                <a:latin typeface="Arial"/>
              </a:rPr>
              <a:t>;</a:t>
            </a:r>
            <a:r>
              <a:rPr sz="1623" b="1" i="0" dirty="0">
                <a:solidFill>
                  <a:srgbClr val="0F172A"/>
                </a:solidFill>
                <a:latin typeface="Arial"/>
              </a:rPr>
              <a:t> exactly what the governance and capability choices predicted.</a:t>
            </a:r>
          </a:p>
        </p:txBody>
      </p:sp>
      <p:sp>
        <p:nvSpPr>
          <p:cNvPr id="20" name="TextBox 19"/>
          <p:cNvSpPr txBox="1"/>
          <p:nvPr/>
        </p:nvSpPr>
        <p:spPr>
          <a:xfrm>
            <a:off x="548640" y="6199632"/>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276" b="0" i="1">
                <a:solidFill>
                  <a:srgbClr val="64748B"/>
                </a:solidFill>
                <a:latin typeface="Arial"/>
              </a:rPr>
              <a:t>Annual Reports 2025 (FY2024) &amp; 2026 (FY2025) · Geely interim results H1 2025 · European Commission (2024)</a:t>
            </a:r>
          </a:p>
        </p:txBody>
      </p:sp>
      <p:sp>
        <p:nvSpPr>
          <p:cNvPr id="21" name="TextBox 20"/>
          <p:cNvSpPr txBox="1"/>
          <p:nvPr/>
        </p:nvSpPr>
        <p:spPr>
          <a:xfrm>
            <a:off x="548640" y="6473952"/>
            <a:ext cx="8686800" cy="274320"/>
          </a:xfrm>
          <a:prstGeom prst="rect">
            <a:avLst/>
          </a:prstGeom>
          <a:noFill/>
        </p:spPr>
        <p:txBody>
          <a:bodyPr wrap="square" lIns="0" tIns="0" rIns="0" bIns="0" anchor="t">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2" name="TextBox 21"/>
          <p:cNvSpPr txBox="1"/>
          <p:nvPr/>
        </p:nvSpPr>
        <p:spPr>
          <a:xfrm>
            <a:off x="10820095" y="6473952"/>
            <a:ext cx="822960" cy="274320"/>
          </a:xfrm>
          <a:prstGeom prst="rect">
            <a:avLst/>
          </a:prstGeom>
          <a:noFill/>
        </p:spPr>
        <p:txBody>
          <a:bodyPr wrap="square" lIns="0" tIns="0" rIns="0" bIns="0" anchor="t">
            <a:spAutoFit/>
          </a:bodyPr>
          <a:lstStyle/>
          <a:p>
            <a:pPr algn="r">
              <a:lnSpc>
                <a:spcPct val="100000"/>
              </a:lnSpc>
              <a:spcBef>
                <a:spcPts val="0"/>
              </a:spcBef>
              <a:spcAft>
                <a:spcPts val="200"/>
              </a:spcAft>
            </a:pPr>
            <a:r>
              <a:rPr sz="1218" b="0" i="0">
                <a:solidFill>
                  <a:srgbClr val="64748B"/>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457200"/>
            <a:ext cx="10972800" cy="274320"/>
          </a:xfrm>
          <a:prstGeom prst="rect">
            <a:avLst/>
          </a:prstGeom>
          <a:noFill/>
        </p:spPr>
        <p:txBody>
          <a:bodyPr wrap="square" lIns="0" tIns="0" rIns="0" bIns="0" anchor="t">
            <a:spAutoFit/>
          </a:bodyPr>
          <a:lstStyle/>
          <a:p>
            <a:pPr algn="l">
              <a:lnSpc>
                <a:spcPct val="100000"/>
              </a:lnSpc>
              <a:spcBef>
                <a:spcPts val="0"/>
              </a:spcBef>
              <a:spcAft>
                <a:spcPts val="200"/>
              </a:spcAft>
            </a:pPr>
            <a:r>
              <a:rPr sz="1623" b="1" i="0">
                <a:solidFill>
                  <a:srgbClr val="06B6D4"/>
                </a:solidFill>
                <a:latin typeface="Arial"/>
              </a:rPr>
              <a:t>RESULT</a:t>
            </a:r>
          </a:p>
        </p:txBody>
      </p:sp>
      <p:sp>
        <p:nvSpPr>
          <p:cNvPr id="5" name="TextBox 4"/>
          <p:cNvSpPr txBox="1"/>
          <p:nvPr/>
        </p:nvSpPr>
        <p:spPr>
          <a:xfrm>
            <a:off x="548640" y="777240"/>
            <a:ext cx="11064240" cy="914400"/>
          </a:xfrm>
          <a:prstGeom prst="rect">
            <a:avLst/>
          </a:prstGeom>
          <a:noFill/>
        </p:spPr>
        <p:txBody>
          <a:bodyPr wrap="square" lIns="0" tIns="0" rIns="0" bIns="0" anchor="t">
            <a:spAutoFit/>
          </a:bodyPr>
          <a:lstStyle/>
          <a:p>
            <a:pPr algn="l">
              <a:lnSpc>
                <a:spcPct val="100000"/>
              </a:lnSpc>
              <a:spcBef>
                <a:spcPts val="0"/>
              </a:spcBef>
              <a:spcAft>
                <a:spcPts val="200"/>
              </a:spcAft>
            </a:pPr>
            <a:r>
              <a:rPr sz="2600" b="1" i="0">
                <a:solidFill>
                  <a:srgbClr val="FFFFFF"/>
                </a:solidFill>
                <a:latin typeface="Arial"/>
              </a:rPr>
              <a:t>BYD's founder-led vertical integration is the model most likely</a:t>
            </a:r>
          </a:p>
          <a:p>
            <a:pPr algn="l">
              <a:lnSpc>
                <a:spcPct val="100000"/>
              </a:lnSpc>
              <a:spcBef>
                <a:spcPts val="0"/>
              </a:spcBef>
              <a:spcAft>
                <a:spcPts val="200"/>
              </a:spcAft>
            </a:pPr>
            <a:r>
              <a:rPr sz="2600" b="1" i="0">
                <a:solidFill>
                  <a:srgbClr val="FFFFFF"/>
                </a:solidFill>
                <a:latin typeface="Arial"/>
              </a:rPr>
              <a:t>to create long-term shareholder value</a:t>
            </a:r>
          </a:p>
        </p:txBody>
      </p:sp>
      <p:sp>
        <p:nvSpPr>
          <p:cNvPr id="6" name="Rectangle 5"/>
          <p:cNvSpPr/>
          <p:nvPr/>
        </p:nvSpPr>
        <p:spPr>
          <a:xfrm>
            <a:off x="548640" y="2286000"/>
            <a:ext cx="3593592" cy="13716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2423160"/>
            <a:ext cx="3593592" cy="640080"/>
          </a:xfrm>
          <a:prstGeom prst="rect">
            <a:avLst/>
          </a:prstGeom>
          <a:noFill/>
        </p:spPr>
        <p:txBody>
          <a:bodyPr wrap="square" lIns="0" tIns="0" rIns="0" bIns="0" anchor="t">
            <a:spAutoFit/>
          </a:bodyPr>
          <a:lstStyle/>
          <a:p>
            <a:pPr algn="ctr">
              <a:lnSpc>
                <a:spcPct val="100000"/>
              </a:lnSpc>
              <a:spcBef>
                <a:spcPts val="0"/>
              </a:spcBef>
              <a:spcAft>
                <a:spcPts val="200"/>
              </a:spcAft>
            </a:pPr>
            <a:r>
              <a:rPr sz="3200" b="1" i="0">
                <a:solidFill>
                  <a:srgbClr val="FFFFFF"/>
                </a:solidFill>
                <a:latin typeface="Arial"/>
              </a:rPr>
              <a:t>21.7%</a:t>
            </a:r>
          </a:p>
        </p:txBody>
      </p:sp>
      <p:sp>
        <p:nvSpPr>
          <p:cNvPr id="8" name="TextBox 7"/>
          <p:cNvSpPr txBox="1"/>
          <p:nvPr/>
        </p:nvSpPr>
        <p:spPr>
          <a:xfrm>
            <a:off x="685800" y="3127248"/>
            <a:ext cx="3319272" cy="457200"/>
          </a:xfrm>
          <a:prstGeom prst="rect">
            <a:avLst/>
          </a:prstGeom>
          <a:noFill/>
        </p:spPr>
        <p:txBody>
          <a:bodyPr wrap="square" lIns="0" tIns="0" rIns="0" bIns="0" anchor="t">
            <a:spAutoFit/>
          </a:bodyPr>
          <a:lstStyle/>
          <a:p>
            <a:pPr algn="ctr">
              <a:lnSpc>
                <a:spcPct val="100000"/>
              </a:lnSpc>
              <a:spcBef>
                <a:spcPts val="0"/>
              </a:spcBef>
              <a:spcAft>
                <a:spcPts val="200"/>
              </a:spcAft>
            </a:pPr>
            <a:r>
              <a:rPr sz="1391" b="0" i="0">
                <a:solidFill>
                  <a:srgbClr val="CBD5E1"/>
                </a:solidFill>
                <a:latin typeface="Arial"/>
              </a:rPr>
              <a:t>highest ROE of the three</a:t>
            </a:r>
          </a:p>
          <a:p>
            <a:pPr algn="ctr">
              <a:lnSpc>
                <a:spcPct val="100000"/>
              </a:lnSpc>
              <a:spcBef>
                <a:spcPts val="0"/>
              </a:spcBef>
              <a:spcAft>
                <a:spcPts val="200"/>
              </a:spcAft>
            </a:pPr>
            <a:r>
              <a:rPr sz="1391" b="0" i="0">
                <a:solidFill>
                  <a:srgbClr val="CBD5E1"/>
                </a:solidFill>
                <a:latin typeface="Arial"/>
              </a:rPr>
              <a:t>firms (FY2024)</a:t>
            </a:r>
          </a:p>
        </p:txBody>
      </p:sp>
      <p:sp>
        <p:nvSpPr>
          <p:cNvPr id="9" name="Rectangle 8"/>
          <p:cNvSpPr/>
          <p:nvPr/>
        </p:nvSpPr>
        <p:spPr>
          <a:xfrm>
            <a:off x="4279392" y="2286000"/>
            <a:ext cx="3593592" cy="13716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79392" y="2423160"/>
            <a:ext cx="3593592" cy="640080"/>
          </a:xfrm>
          <a:prstGeom prst="rect">
            <a:avLst/>
          </a:prstGeom>
          <a:noFill/>
        </p:spPr>
        <p:txBody>
          <a:bodyPr wrap="square" lIns="0" tIns="0" rIns="0" bIns="0" anchor="t">
            <a:spAutoFit/>
          </a:bodyPr>
          <a:lstStyle/>
          <a:p>
            <a:pPr algn="ctr">
              <a:lnSpc>
                <a:spcPct val="100000"/>
              </a:lnSpc>
              <a:spcBef>
                <a:spcPts val="0"/>
              </a:spcBef>
              <a:spcAft>
                <a:spcPts val="200"/>
              </a:spcAft>
            </a:pPr>
            <a:r>
              <a:rPr sz="3200" b="1" i="0">
                <a:solidFill>
                  <a:srgbClr val="FFFFFF"/>
                </a:solidFill>
                <a:latin typeface="Arial"/>
              </a:rPr>
              <a:t>4 yrs</a:t>
            </a:r>
          </a:p>
        </p:txBody>
      </p:sp>
      <p:sp>
        <p:nvSpPr>
          <p:cNvPr id="11" name="TextBox 10"/>
          <p:cNvSpPr txBox="1"/>
          <p:nvPr/>
        </p:nvSpPr>
        <p:spPr>
          <a:xfrm>
            <a:off x="4416552" y="3127248"/>
            <a:ext cx="3319272" cy="457200"/>
          </a:xfrm>
          <a:prstGeom prst="rect">
            <a:avLst/>
          </a:prstGeom>
          <a:noFill/>
        </p:spPr>
        <p:txBody>
          <a:bodyPr wrap="square" lIns="0" tIns="0" rIns="0" bIns="0" anchor="t">
            <a:spAutoFit/>
          </a:bodyPr>
          <a:lstStyle/>
          <a:p>
            <a:pPr algn="ctr">
              <a:lnSpc>
                <a:spcPct val="100000"/>
              </a:lnSpc>
              <a:spcBef>
                <a:spcPts val="0"/>
              </a:spcBef>
              <a:spcAft>
                <a:spcPts val="200"/>
              </a:spcAft>
            </a:pPr>
            <a:r>
              <a:rPr sz="1391" b="0" i="0">
                <a:solidFill>
                  <a:srgbClr val="CBD5E1"/>
                </a:solidFill>
                <a:latin typeface="Arial"/>
              </a:rPr>
              <a:t>consecutive global NEV</a:t>
            </a:r>
          </a:p>
          <a:p>
            <a:pPr algn="ctr">
              <a:lnSpc>
                <a:spcPct val="100000"/>
              </a:lnSpc>
              <a:spcBef>
                <a:spcPts val="0"/>
              </a:spcBef>
              <a:spcAft>
                <a:spcPts val="200"/>
              </a:spcAft>
            </a:pPr>
            <a:r>
              <a:rPr sz="1391" b="0" i="0">
                <a:solidFill>
                  <a:srgbClr val="CBD5E1"/>
                </a:solidFill>
                <a:latin typeface="Arial"/>
              </a:rPr>
              <a:t>market leader</a:t>
            </a:r>
          </a:p>
        </p:txBody>
      </p:sp>
      <p:sp>
        <p:nvSpPr>
          <p:cNvPr id="12" name="Rectangle 11"/>
          <p:cNvSpPr/>
          <p:nvPr/>
        </p:nvSpPr>
        <p:spPr>
          <a:xfrm>
            <a:off x="8010144" y="2286000"/>
            <a:ext cx="3593592" cy="13716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10144" y="2423160"/>
            <a:ext cx="3593592" cy="640080"/>
          </a:xfrm>
          <a:prstGeom prst="rect">
            <a:avLst/>
          </a:prstGeom>
          <a:noFill/>
        </p:spPr>
        <p:txBody>
          <a:bodyPr wrap="square" lIns="0" tIns="0" rIns="0" bIns="0" anchor="t">
            <a:spAutoFit/>
          </a:bodyPr>
          <a:lstStyle/>
          <a:p>
            <a:pPr algn="ctr">
              <a:lnSpc>
                <a:spcPct val="100000"/>
              </a:lnSpc>
              <a:spcBef>
                <a:spcPts val="0"/>
              </a:spcBef>
              <a:spcAft>
                <a:spcPts val="200"/>
              </a:spcAft>
            </a:pPr>
            <a:r>
              <a:rPr sz="3200" b="1" i="0">
                <a:solidFill>
                  <a:srgbClr val="FFFFFF"/>
                </a:solidFill>
                <a:latin typeface="Arial"/>
              </a:rPr>
              <a:t>USD 5.6 bn</a:t>
            </a:r>
          </a:p>
        </p:txBody>
      </p:sp>
      <p:sp>
        <p:nvSpPr>
          <p:cNvPr id="14" name="TextBox 13"/>
          <p:cNvSpPr txBox="1"/>
          <p:nvPr/>
        </p:nvSpPr>
        <p:spPr>
          <a:xfrm>
            <a:off x="8147304" y="3127248"/>
            <a:ext cx="3319272" cy="457200"/>
          </a:xfrm>
          <a:prstGeom prst="rect">
            <a:avLst/>
          </a:prstGeom>
          <a:noFill/>
        </p:spPr>
        <p:txBody>
          <a:bodyPr wrap="square" lIns="0" tIns="0" rIns="0" bIns="0" anchor="t">
            <a:spAutoFit/>
          </a:bodyPr>
          <a:lstStyle/>
          <a:p>
            <a:pPr algn="ctr">
              <a:lnSpc>
                <a:spcPct val="100000"/>
              </a:lnSpc>
              <a:spcBef>
                <a:spcPts val="0"/>
              </a:spcBef>
              <a:spcAft>
                <a:spcPts val="200"/>
              </a:spcAft>
            </a:pPr>
            <a:r>
              <a:rPr sz="1391" b="0" i="0">
                <a:solidFill>
                  <a:srgbClr val="CBD5E1"/>
                </a:solidFill>
                <a:latin typeface="Arial"/>
              </a:rPr>
              <a:t>2025 raise incl. sovereign</a:t>
            </a:r>
          </a:p>
          <a:p>
            <a:pPr algn="ctr">
              <a:lnSpc>
                <a:spcPct val="100000"/>
              </a:lnSpc>
              <a:spcBef>
                <a:spcPts val="0"/>
              </a:spcBef>
              <a:spcAft>
                <a:spcPts val="200"/>
              </a:spcAft>
            </a:pPr>
            <a:r>
              <a:rPr sz="1391" b="0" i="0">
                <a:solidFill>
                  <a:srgbClr val="CBD5E1"/>
                </a:solidFill>
                <a:latin typeface="Arial"/>
              </a:rPr>
              <a:t>wealth funds</a:t>
            </a:r>
          </a:p>
        </p:txBody>
      </p:sp>
      <p:sp>
        <p:nvSpPr>
          <p:cNvPr id="15" name="Rectangle 14"/>
          <p:cNvSpPr/>
          <p:nvPr/>
        </p:nvSpPr>
        <p:spPr>
          <a:xfrm>
            <a:off x="548640" y="3977639"/>
            <a:ext cx="11064240" cy="146304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3977639"/>
            <a:ext cx="82296" cy="146304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4160520"/>
            <a:ext cx="10607040" cy="867866"/>
          </a:xfrm>
          <a:prstGeom prst="rect">
            <a:avLst/>
          </a:prstGeom>
          <a:noFill/>
        </p:spPr>
        <p:txBody>
          <a:bodyPr wrap="square" lIns="0" tIns="0" rIns="0" bIns="0" anchor="t">
            <a:spAutoFit/>
          </a:bodyPr>
          <a:lstStyle/>
          <a:p>
            <a:pPr algn="l">
              <a:lnSpc>
                <a:spcPct val="115000"/>
              </a:lnSpc>
              <a:spcBef>
                <a:spcPts val="0"/>
              </a:spcBef>
              <a:spcAft>
                <a:spcPts val="200"/>
              </a:spcAft>
            </a:pPr>
            <a:r>
              <a:rPr sz="1682" b="0" i="0" dirty="0">
                <a:solidFill>
                  <a:srgbClr val="FFFFFF"/>
                </a:solidFill>
                <a:latin typeface="Arial"/>
              </a:rPr>
              <a:t>Why BYD and why not simply “vertical integration is best”: the model wins because it aligns concentrated, commercially-oriented control with a self-financing structure that stays resilient when markets contract</a:t>
            </a:r>
            <a:r>
              <a:rPr lang="de-DE" sz="1682" b="0" i="0" dirty="0">
                <a:solidFill>
                  <a:srgbClr val="FFFFFF"/>
                </a:solidFill>
                <a:latin typeface="Arial"/>
              </a:rPr>
              <a:t>, </a:t>
            </a:r>
            <a:r>
              <a:rPr sz="1682" b="0" i="0" dirty="0">
                <a:solidFill>
                  <a:srgbClr val="FFFFFF"/>
                </a:solidFill>
                <a:latin typeface="Arial"/>
              </a:rPr>
              <a:t>not because integration is inherently superior. The advantage is governance and capital discipline working together.</a:t>
            </a:r>
          </a:p>
        </p:txBody>
      </p:sp>
      <p:sp>
        <p:nvSpPr>
          <p:cNvPr id="18" name="TextBox 17"/>
          <p:cNvSpPr txBox="1"/>
          <p:nvPr/>
        </p:nvSpPr>
        <p:spPr>
          <a:xfrm>
            <a:off x="548640" y="5669280"/>
            <a:ext cx="11064240" cy="365760"/>
          </a:xfrm>
          <a:prstGeom prst="rect">
            <a:avLst/>
          </a:prstGeom>
          <a:noFill/>
        </p:spPr>
        <p:txBody>
          <a:bodyPr wrap="square" lIns="0" tIns="0" rIns="0" bIns="0" anchor="t">
            <a:spAutoFit/>
          </a:bodyPr>
          <a:lstStyle/>
          <a:p>
            <a:pPr algn="l">
              <a:lnSpc>
                <a:spcPct val="100000"/>
              </a:lnSpc>
              <a:spcBef>
                <a:spcPts val="0"/>
              </a:spcBef>
              <a:spcAft>
                <a:spcPts val="200"/>
              </a:spcAft>
            </a:pPr>
            <a:r>
              <a:rPr sz="1276" b="0" i="1">
                <a:solidFill>
                  <a:srgbClr val="64748B"/>
                </a:solidFill>
                <a:latin typeface="Arial"/>
              </a:rPr>
              <a:t>Consistent with Allen et al. (2024): privately governed Chinese firms structurally outperform state-controlled peers. ROE compressed to 13.2% in FY2025 under price-war pressure.</a:t>
            </a:r>
          </a:p>
        </p:txBody>
      </p:sp>
      <p:sp>
        <p:nvSpPr>
          <p:cNvPr id="19" name="TextBox 18"/>
          <p:cNvSpPr txBox="1"/>
          <p:nvPr/>
        </p:nvSpPr>
        <p:spPr>
          <a:xfrm>
            <a:off x="548640" y="6473952"/>
            <a:ext cx="8686800" cy="274320"/>
          </a:xfrm>
          <a:prstGeom prst="rect">
            <a:avLst/>
          </a:prstGeom>
          <a:noFill/>
        </p:spPr>
        <p:txBody>
          <a:bodyPr wrap="square" lIns="0" tIns="0" rIns="0" bIns="0" anchor="t">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0" name="TextBox 19"/>
          <p:cNvSpPr txBox="1"/>
          <p:nvPr/>
        </p:nvSpPr>
        <p:spPr>
          <a:xfrm>
            <a:off x="10820095" y="6473952"/>
            <a:ext cx="822960" cy="274320"/>
          </a:xfrm>
          <a:prstGeom prst="rect">
            <a:avLst/>
          </a:prstGeom>
          <a:noFill/>
        </p:spPr>
        <p:txBody>
          <a:bodyPr wrap="square" lIns="0" tIns="0" rIns="0" bIns="0" anchor="t">
            <a:spAutoFit/>
          </a:bodyPr>
          <a:lstStyle/>
          <a:p>
            <a:pPr algn="r">
              <a:lnSpc>
                <a:spcPct val="100000"/>
              </a:lnSpc>
              <a:spcBef>
                <a:spcPts val="0"/>
              </a:spcBef>
              <a:spcAft>
                <a:spcPts val="200"/>
              </a:spcAft>
            </a:pPr>
            <a:r>
              <a:rPr sz="1218" b="0" i="0">
                <a:solidFill>
                  <a:srgbClr val="64748B"/>
                </a:solidFill>
                <a:latin typeface="Aria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623" b="1" i="0">
                <a:solidFill>
                  <a:srgbClr val="06B6D4"/>
                </a:solidFill>
                <a:latin typeface="Arial"/>
              </a:rPr>
              <a:t>GENERALIZABLE LESSONS</a:t>
            </a:r>
          </a:p>
        </p:txBody>
      </p:sp>
      <p:sp>
        <p:nvSpPr>
          <p:cNvPr id="4" name="TextBox 3"/>
          <p:cNvSpPr txBox="1"/>
          <p:nvPr/>
        </p:nvSpPr>
        <p:spPr>
          <a:xfrm>
            <a:off x="548640" y="658368"/>
            <a:ext cx="11064240" cy="914400"/>
          </a:xfrm>
          <a:prstGeom prst="rect">
            <a:avLst/>
          </a:prstGeom>
          <a:noFill/>
        </p:spPr>
        <p:txBody>
          <a:bodyPr wrap="square" lIns="0" tIns="0" rIns="0" bIns="0" anchor="t">
            <a:spAutoFit/>
          </a:bodyPr>
          <a:lstStyle/>
          <a:p>
            <a:pPr algn="l">
              <a:lnSpc>
                <a:spcPct val="100000"/>
              </a:lnSpc>
              <a:spcBef>
                <a:spcPts val="0"/>
              </a:spcBef>
              <a:spcAft>
                <a:spcPts val="200"/>
              </a:spcAft>
            </a:pPr>
            <a:r>
              <a:rPr sz="2100" b="1" i="0">
                <a:solidFill>
                  <a:srgbClr val="0F172A"/>
                </a:solidFill>
                <a:latin typeface="Arial"/>
              </a:rPr>
              <a:t>Three transferable lessons on governance and value in high-growth markets</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783080"/>
            <a:ext cx="11064240" cy="11887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783080"/>
            <a:ext cx="109728" cy="1188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783080"/>
            <a:ext cx="914400" cy="1188720"/>
          </a:xfrm>
          <a:prstGeom prst="rect">
            <a:avLst/>
          </a:prstGeom>
          <a:noFill/>
        </p:spPr>
        <p:txBody>
          <a:bodyPr wrap="square" lIns="0" tIns="0" rIns="0" bIns="0" anchor="ctr">
            <a:spAutoFit/>
          </a:bodyPr>
          <a:lstStyle/>
          <a:p>
            <a:pPr algn="l">
              <a:lnSpc>
                <a:spcPct val="100000"/>
              </a:lnSpc>
              <a:spcBef>
                <a:spcPts val="0"/>
              </a:spcBef>
              <a:spcAft>
                <a:spcPts val="200"/>
              </a:spcAft>
            </a:pPr>
            <a:r>
              <a:rPr sz="4400" b="1" i="0">
                <a:solidFill>
                  <a:srgbClr val="2563EB"/>
                </a:solidFill>
                <a:latin typeface="Arial"/>
              </a:rPr>
              <a:t>1</a:t>
            </a:r>
          </a:p>
        </p:txBody>
      </p:sp>
      <p:sp>
        <p:nvSpPr>
          <p:cNvPr id="10" name="TextBox 9"/>
          <p:cNvSpPr txBox="1"/>
          <p:nvPr/>
        </p:nvSpPr>
        <p:spPr>
          <a:xfrm>
            <a:off x="1828800" y="1947672"/>
            <a:ext cx="9509760" cy="457200"/>
          </a:xfrm>
          <a:prstGeom prst="rect">
            <a:avLst/>
          </a:prstGeom>
          <a:noFill/>
        </p:spPr>
        <p:txBody>
          <a:bodyPr wrap="square" lIns="0" tIns="0" rIns="0" bIns="0" anchor="t">
            <a:spAutoFit/>
          </a:bodyPr>
          <a:lstStyle/>
          <a:p>
            <a:pPr algn="l">
              <a:lnSpc>
                <a:spcPct val="100000"/>
              </a:lnSpc>
              <a:spcBef>
                <a:spcPts val="0"/>
              </a:spcBef>
              <a:spcAft>
                <a:spcPts val="200"/>
              </a:spcAft>
            </a:pPr>
            <a:r>
              <a:rPr sz="1913" b="1" i="0">
                <a:solidFill>
                  <a:srgbClr val="0F172A"/>
                </a:solidFill>
                <a:latin typeface="Arial"/>
              </a:rPr>
              <a:t>Capability mode determines durability across technology cycles</a:t>
            </a:r>
          </a:p>
        </p:txBody>
      </p:sp>
      <p:sp>
        <p:nvSpPr>
          <p:cNvPr id="11" name="TextBox 10"/>
          <p:cNvSpPr txBox="1"/>
          <p:nvPr/>
        </p:nvSpPr>
        <p:spPr>
          <a:xfrm>
            <a:off x="1828800" y="2350008"/>
            <a:ext cx="9509760" cy="548640"/>
          </a:xfrm>
          <a:prstGeom prst="rect">
            <a:avLst/>
          </a:prstGeom>
          <a:noFill/>
        </p:spPr>
        <p:txBody>
          <a:bodyPr wrap="square" lIns="0" tIns="0" rIns="0" bIns="0" anchor="t">
            <a:spAutoFit/>
          </a:bodyPr>
          <a:lstStyle/>
          <a:p>
            <a:pPr algn="l">
              <a:lnSpc>
                <a:spcPct val="105000"/>
              </a:lnSpc>
              <a:spcBef>
                <a:spcPts val="0"/>
              </a:spcBef>
              <a:spcAft>
                <a:spcPts val="200"/>
              </a:spcAft>
            </a:pPr>
            <a:r>
              <a:rPr sz="1507" b="0" i="0">
                <a:solidFill>
                  <a:srgbClr val="0F172A"/>
                </a:solidFill>
                <a:latin typeface="Arial"/>
              </a:rPr>
              <a:t>Mandatory transfer buys short-run quality but displaces the autonomous innovation the next cycle needs; organic and voluntary modes preserve it.</a:t>
            </a:r>
          </a:p>
        </p:txBody>
      </p:sp>
      <p:sp>
        <p:nvSpPr>
          <p:cNvPr id="12" name="Rectangle 11"/>
          <p:cNvSpPr/>
          <p:nvPr/>
        </p:nvSpPr>
        <p:spPr>
          <a:xfrm>
            <a:off x="548640" y="3154680"/>
            <a:ext cx="11064240" cy="11887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3154680"/>
            <a:ext cx="109728" cy="11887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3154680"/>
            <a:ext cx="914400" cy="1188720"/>
          </a:xfrm>
          <a:prstGeom prst="rect">
            <a:avLst/>
          </a:prstGeom>
          <a:noFill/>
        </p:spPr>
        <p:txBody>
          <a:bodyPr wrap="square" lIns="0" tIns="0" rIns="0" bIns="0" anchor="ctr">
            <a:spAutoFit/>
          </a:bodyPr>
          <a:lstStyle/>
          <a:p>
            <a:pPr algn="l">
              <a:lnSpc>
                <a:spcPct val="100000"/>
              </a:lnSpc>
              <a:spcBef>
                <a:spcPts val="0"/>
              </a:spcBef>
              <a:spcAft>
                <a:spcPts val="200"/>
              </a:spcAft>
            </a:pPr>
            <a:r>
              <a:rPr sz="4400" b="1" i="0">
                <a:solidFill>
                  <a:srgbClr val="DC2626"/>
                </a:solidFill>
                <a:latin typeface="Arial"/>
              </a:rPr>
              <a:t>2</a:t>
            </a:r>
          </a:p>
        </p:txBody>
      </p:sp>
      <p:sp>
        <p:nvSpPr>
          <p:cNvPr id="15" name="TextBox 14"/>
          <p:cNvSpPr txBox="1"/>
          <p:nvPr/>
        </p:nvSpPr>
        <p:spPr>
          <a:xfrm>
            <a:off x="1828800" y="3319272"/>
            <a:ext cx="9509760" cy="457200"/>
          </a:xfrm>
          <a:prstGeom prst="rect">
            <a:avLst/>
          </a:prstGeom>
          <a:noFill/>
        </p:spPr>
        <p:txBody>
          <a:bodyPr wrap="square" lIns="0" tIns="0" rIns="0" bIns="0" anchor="t">
            <a:spAutoFit/>
          </a:bodyPr>
          <a:lstStyle/>
          <a:p>
            <a:pPr algn="l">
              <a:lnSpc>
                <a:spcPct val="100000"/>
              </a:lnSpc>
              <a:spcBef>
                <a:spcPts val="0"/>
              </a:spcBef>
              <a:spcAft>
                <a:spcPts val="200"/>
              </a:spcAft>
            </a:pPr>
            <a:r>
              <a:rPr sz="1913" b="1" i="0">
                <a:solidFill>
                  <a:srgbClr val="0F172A"/>
                </a:solidFill>
                <a:latin typeface="Arial"/>
              </a:rPr>
              <a:t>Governance is a first-order determinant of strategic adaptability</a:t>
            </a:r>
          </a:p>
        </p:txBody>
      </p:sp>
      <p:sp>
        <p:nvSpPr>
          <p:cNvPr id="16" name="TextBox 15"/>
          <p:cNvSpPr txBox="1"/>
          <p:nvPr/>
        </p:nvSpPr>
        <p:spPr>
          <a:xfrm>
            <a:off x="1828800" y="3721608"/>
            <a:ext cx="9509760" cy="548640"/>
          </a:xfrm>
          <a:prstGeom prst="rect">
            <a:avLst/>
          </a:prstGeom>
          <a:noFill/>
        </p:spPr>
        <p:txBody>
          <a:bodyPr wrap="square" lIns="0" tIns="0" rIns="0" bIns="0" anchor="t">
            <a:spAutoFit/>
          </a:bodyPr>
          <a:lstStyle/>
          <a:p>
            <a:pPr algn="l">
              <a:lnSpc>
                <a:spcPct val="105000"/>
              </a:lnSpc>
              <a:spcBef>
                <a:spcPts val="0"/>
              </a:spcBef>
              <a:spcAft>
                <a:spcPts val="200"/>
              </a:spcAft>
            </a:pPr>
            <a:r>
              <a:rPr sz="1507" b="0" i="0">
                <a:solidFill>
                  <a:srgbClr val="0F172A"/>
                </a:solidFill>
                <a:latin typeface="Arial"/>
              </a:rPr>
              <a:t>Control concentrated with commercial principals adapts faster. When change outpaces the decision cycle, governance becomes the binding constraint.</a:t>
            </a:r>
          </a:p>
        </p:txBody>
      </p:sp>
      <p:sp>
        <p:nvSpPr>
          <p:cNvPr id="17" name="Rectangle 16"/>
          <p:cNvSpPr/>
          <p:nvPr/>
        </p:nvSpPr>
        <p:spPr>
          <a:xfrm>
            <a:off x="548640" y="4526280"/>
            <a:ext cx="11064240" cy="11887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 y="4526280"/>
            <a:ext cx="109728" cy="11887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4526280"/>
            <a:ext cx="914400" cy="1188720"/>
          </a:xfrm>
          <a:prstGeom prst="rect">
            <a:avLst/>
          </a:prstGeom>
          <a:noFill/>
        </p:spPr>
        <p:txBody>
          <a:bodyPr wrap="square" lIns="0" tIns="0" rIns="0" bIns="0" anchor="ctr">
            <a:spAutoFit/>
          </a:bodyPr>
          <a:lstStyle/>
          <a:p>
            <a:pPr algn="l">
              <a:lnSpc>
                <a:spcPct val="100000"/>
              </a:lnSpc>
              <a:spcBef>
                <a:spcPts val="0"/>
              </a:spcBef>
              <a:spcAft>
                <a:spcPts val="200"/>
              </a:spcAft>
            </a:pPr>
            <a:r>
              <a:rPr sz="4400" b="1" i="0">
                <a:solidFill>
                  <a:srgbClr val="06B6D4"/>
                </a:solidFill>
                <a:latin typeface="Arial"/>
              </a:rPr>
              <a:t>3</a:t>
            </a:r>
          </a:p>
        </p:txBody>
      </p:sp>
      <p:sp>
        <p:nvSpPr>
          <p:cNvPr id="20" name="TextBox 19"/>
          <p:cNvSpPr txBox="1"/>
          <p:nvPr/>
        </p:nvSpPr>
        <p:spPr>
          <a:xfrm>
            <a:off x="1828800" y="4690872"/>
            <a:ext cx="9509760" cy="457200"/>
          </a:xfrm>
          <a:prstGeom prst="rect">
            <a:avLst/>
          </a:prstGeom>
          <a:noFill/>
        </p:spPr>
        <p:txBody>
          <a:bodyPr wrap="square" lIns="0" tIns="0" rIns="0" bIns="0" anchor="t">
            <a:spAutoFit/>
          </a:bodyPr>
          <a:lstStyle/>
          <a:p>
            <a:pPr algn="l">
              <a:lnSpc>
                <a:spcPct val="100000"/>
              </a:lnSpc>
              <a:spcBef>
                <a:spcPts val="0"/>
              </a:spcBef>
              <a:spcAft>
                <a:spcPts val="200"/>
              </a:spcAft>
            </a:pPr>
            <a:r>
              <a:rPr sz="1913" b="1" i="0">
                <a:solidFill>
                  <a:srgbClr val="0F172A"/>
                </a:solidFill>
                <a:latin typeface="Arial"/>
              </a:rPr>
              <a:t>Capital structure determines resilience when markets contract</a:t>
            </a:r>
          </a:p>
        </p:txBody>
      </p:sp>
      <p:sp>
        <p:nvSpPr>
          <p:cNvPr id="21" name="TextBox 20"/>
          <p:cNvSpPr txBox="1"/>
          <p:nvPr/>
        </p:nvSpPr>
        <p:spPr>
          <a:xfrm>
            <a:off x="1828800" y="5093208"/>
            <a:ext cx="9509760" cy="548640"/>
          </a:xfrm>
          <a:prstGeom prst="rect">
            <a:avLst/>
          </a:prstGeom>
          <a:noFill/>
        </p:spPr>
        <p:txBody>
          <a:bodyPr wrap="square" lIns="0" tIns="0" rIns="0" bIns="0" anchor="t">
            <a:spAutoFit/>
          </a:bodyPr>
          <a:lstStyle/>
          <a:p>
            <a:pPr algn="l">
              <a:lnSpc>
                <a:spcPct val="105000"/>
              </a:lnSpc>
              <a:spcBef>
                <a:spcPts val="0"/>
              </a:spcBef>
              <a:spcAft>
                <a:spcPts val="200"/>
              </a:spcAft>
            </a:pPr>
            <a:r>
              <a:rPr sz="1507" b="0" i="0">
                <a:solidFill>
                  <a:srgbClr val="0F172A"/>
                </a:solidFill>
                <a:latin typeface="Arial"/>
              </a:rPr>
              <a:t>Risk-sharing captures upside in growth but exposes the firm in downturns; self-financing trades speed for resilience, leverage trades safety for speed.</a:t>
            </a:r>
          </a:p>
        </p:txBody>
      </p:sp>
      <p:sp>
        <p:nvSpPr>
          <p:cNvPr id="22" name="TextBox 21"/>
          <p:cNvSpPr txBox="1"/>
          <p:nvPr/>
        </p:nvSpPr>
        <p:spPr>
          <a:xfrm>
            <a:off x="548640" y="6473952"/>
            <a:ext cx="8686800" cy="274320"/>
          </a:xfrm>
          <a:prstGeom prst="rect">
            <a:avLst/>
          </a:prstGeom>
          <a:noFill/>
        </p:spPr>
        <p:txBody>
          <a:bodyPr wrap="square" lIns="0" tIns="0" rIns="0" bIns="0" anchor="t">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3" name="TextBox 22"/>
          <p:cNvSpPr txBox="1"/>
          <p:nvPr/>
        </p:nvSpPr>
        <p:spPr>
          <a:xfrm>
            <a:off x="10820095" y="6473952"/>
            <a:ext cx="822960" cy="274320"/>
          </a:xfrm>
          <a:prstGeom prst="rect">
            <a:avLst/>
          </a:prstGeom>
          <a:noFill/>
        </p:spPr>
        <p:txBody>
          <a:bodyPr wrap="square" lIns="0" tIns="0" rIns="0" bIns="0" anchor="t">
            <a:spAutoFit/>
          </a:bodyPr>
          <a:lstStyle/>
          <a:p>
            <a:pPr algn="r">
              <a:lnSpc>
                <a:spcPct val="100000"/>
              </a:lnSpc>
              <a:spcBef>
                <a:spcPts val="0"/>
              </a:spcBef>
              <a:spcAft>
                <a:spcPts val="200"/>
              </a:spcAft>
            </a:pPr>
            <a:r>
              <a:rPr sz="1218" b="0" i="0">
                <a:solidFill>
                  <a:srgbClr val="64748B"/>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457200"/>
            <a:ext cx="10972800" cy="274320"/>
          </a:xfrm>
          <a:prstGeom prst="rect">
            <a:avLst/>
          </a:prstGeom>
          <a:noFill/>
        </p:spPr>
        <p:txBody>
          <a:bodyPr wrap="square" lIns="0" tIns="0" rIns="0" bIns="0" anchor="t">
            <a:spAutoFit/>
          </a:bodyPr>
          <a:lstStyle/>
          <a:p>
            <a:pPr algn="l">
              <a:lnSpc>
                <a:spcPct val="100000"/>
              </a:lnSpc>
              <a:spcBef>
                <a:spcPts val="0"/>
              </a:spcBef>
              <a:spcAft>
                <a:spcPts val="200"/>
              </a:spcAft>
            </a:pPr>
            <a:r>
              <a:rPr sz="1623" b="1" i="0">
                <a:solidFill>
                  <a:srgbClr val="06B6D4"/>
                </a:solidFill>
                <a:latin typeface="Arial"/>
              </a:rPr>
              <a:t>CONCLUSION</a:t>
            </a:r>
          </a:p>
        </p:txBody>
      </p:sp>
      <p:sp>
        <p:nvSpPr>
          <p:cNvPr id="5" name="TextBox 4"/>
          <p:cNvSpPr txBox="1"/>
          <p:nvPr/>
        </p:nvSpPr>
        <p:spPr>
          <a:xfrm>
            <a:off x="548640" y="868680"/>
            <a:ext cx="11064240" cy="548640"/>
          </a:xfrm>
          <a:prstGeom prst="rect">
            <a:avLst/>
          </a:prstGeom>
          <a:noFill/>
        </p:spPr>
        <p:txBody>
          <a:bodyPr wrap="square" lIns="0" tIns="0" rIns="0" bIns="0" anchor="t">
            <a:spAutoFit/>
          </a:bodyPr>
          <a:lstStyle/>
          <a:p>
            <a:pPr algn="l">
              <a:lnSpc>
                <a:spcPct val="100000"/>
              </a:lnSpc>
              <a:spcBef>
                <a:spcPts val="0"/>
              </a:spcBef>
              <a:spcAft>
                <a:spcPts val="200"/>
              </a:spcAft>
            </a:pPr>
            <a:r>
              <a:rPr sz="2800" b="1" i="0">
                <a:solidFill>
                  <a:srgbClr val="FFFFFF"/>
                </a:solidFill>
                <a:latin typeface="Arial"/>
              </a:rPr>
              <a:t>Structure, more than technology, decided the outcome</a:t>
            </a:r>
          </a:p>
        </p:txBody>
      </p:sp>
      <p:sp>
        <p:nvSpPr>
          <p:cNvPr id="6" name="Rectangle 5"/>
          <p:cNvSpPr/>
          <p:nvPr/>
        </p:nvSpPr>
        <p:spPr>
          <a:xfrm>
            <a:off x="548640" y="1783080"/>
            <a:ext cx="6675120" cy="36576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783080"/>
            <a:ext cx="6675120" cy="8229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965960"/>
            <a:ext cx="3474720" cy="731520"/>
          </a:xfrm>
          <a:prstGeom prst="rect">
            <a:avLst/>
          </a:prstGeom>
          <a:noFill/>
        </p:spPr>
        <p:txBody>
          <a:bodyPr wrap="square" lIns="0" tIns="0" rIns="0" bIns="0" anchor="t">
            <a:spAutoFit/>
          </a:bodyPr>
          <a:lstStyle/>
          <a:p>
            <a:pPr algn="l">
              <a:lnSpc>
                <a:spcPct val="100000"/>
              </a:lnSpc>
              <a:spcBef>
                <a:spcPts val="0"/>
              </a:spcBef>
              <a:spcAft>
                <a:spcPts val="200"/>
              </a:spcAft>
            </a:pPr>
            <a:r>
              <a:rPr sz="6000" b="1" i="0">
                <a:solidFill>
                  <a:srgbClr val="06B6D4"/>
                </a:solidFill>
                <a:latin typeface="Arial"/>
              </a:rPr>
              <a:t>“</a:t>
            </a:r>
          </a:p>
        </p:txBody>
      </p:sp>
      <p:sp>
        <p:nvSpPr>
          <p:cNvPr id="9" name="TextBox 8"/>
          <p:cNvSpPr txBox="1"/>
          <p:nvPr/>
        </p:nvSpPr>
        <p:spPr>
          <a:xfrm>
            <a:off x="822960" y="2697480"/>
            <a:ext cx="6126480" cy="2560320"/>
          </a:xfrm>
          <a:prstGeom prst="rect">
            <a:avLst/>
          </a:prstGeom>
          <a:noFill/>
        </p:spPr>
        <p:txBody>
          <a:bodyPr wrap="square" lIns="0" tIns="0" rIns="0" bIns="0" anchor="t">
            <a:spAutoFit/>
          </a:bodyPr>
          <a:lstStyle/>
          <a:p>
            <a:pPr algn="l">
              <a:lnSpc>
                <a:spcPct val="112000"/>
              </a:lnSpc>
              <a:spcBef>
                <a:spcPts val="0"/>
              </a:spcBef>
              <a:spcAft>
                <a:spcPts val="200"/>
              </a:spcAft>
            </a:pPr>
            <a:r>
              <a:rPr sz="2200" b="1" i="1">
                <a:solidFill>
                  <a:srgbClr val="FFFFFF"/>
                </a:solidFill>
                <a:latin typeface="Arial"/>
              </a:rPr>
              <a:t>When technology moves faster than firms can decide, governance is no longer a footnote to strategy — it is strategy.</a:t>
            </a:r>
          </a:p>
        </p:txBody>
      </p:sp>
      <p:sp>
        <p:nvSpPr>
          <p:cNvPr id="10" name="TextBox 9"/>
          <p:cNvSpPr txBox="1"/>
          <p:nvPr/>
        </p:nvSpPr>
        <p:spPr>
          <a:xfrm>
            <a:off x="7589520" y="1920240"/>
            <a:ext cx="4023360" cy="365760"/>
          </a:xfrm>
          <a:prstGeom prst="rect">
            <a:avLst/>
          </a:prstGeom>
          <a:noFill/>
        </p:spPr>
        <p:txBody>
          <a:bodyPr wrap="square" lIns="0" tIns="0" rIns="0" bIns="0" anchor="t">
            <a:spAutoFit/>
          </a:bodyPr>
          <a:lstStyle/>
          <a:p>
            <a:pPr algn="l">
              <a:lnSpc>
                <a:spcPct val="100000"/>
              </a:lnSpc>
              <a:spcBef>
                <a:spcPts val="0"/>
              </a:spcBef>
              <a:spcAft>
                <a:spcPts val="200"/>
              </a:spcAft>
            </a:pPr>
            <a:r>
              <a:rPr sz="1623" b="1" i="0">
                <a:solidFill>
                  <a:srgbClr val="06B6D4"/>
                </a:solidFill>
                <a:latin typeface="Arial"/>
              </a:rPr>
              <a:t>What the evidence shows</a:t>
            </a:r>
          </a:p>
        </p:txBody>
      </p:sp>
      <p:sp>
        <p:nvSpPr>
          <p:cNvPr id="11" name="TextBox 10"/>
          <p:cNvSpPr txBox="1"/>
          <p:nvPr/>
        </p:nvSpPr>
        <p:spPr>
          <a:xfrm>
            <a:off x="7589520" y="2377440"/>
            <a:ext cx="4023360" cy="3046668"/>
          </a:xfrm>
          <a:prstGeom prst="rect">
            <a:avLst/>
          </a:prstGeom>
          <a:noFill/>
        </p:spPr>
        <p:txBody>
          <a:bodyPr wrap="square" lIns="0" tIns="0" rIns="0" bIns="0">
            <a:spAutoFit/>
          </a:bodyPr>
          <a:lstStyle/>
          <a:p>
            <a:pPr>
              <a:lnSpc>
                <a:spcPct val="105000"/>
              </a:lnSpc>
              <a:spcBef>
                <a:spcPts val="0"/>
              </a:spcBef>
              <a:spcAft>
                <a:spcPts val="1000"/>
              </a:spcAft>
              <a:buNone/>
            </a:pPr>
            <a:r>
              <a:rPr sz="1507" dirty="0">
                <a:solidFill>
                  <a:srgbClr val="06B6D4"/>
                </a:solidFill>
                <a:latin typeface="Arial"/>
              </a:rPr>
              <a:t>–  </a:t>
            </a:r>
            <a:r>
              <a:rPr sz="1507" dirty="0">
                <a:solidFill>
                  <a:srgbClr val="E2E8F0"/>
                </a:solidFill>
                <a:latin typeface="Arial"/>
              </a:rPr>
              <a:t>The JV model fell not to a better technology, but to a better way of allocating control and capital.</a:t>
            </a:r>
          </a:p>
          <a:p>
            <a:pPr>
              <a:lnSpc>
                <a:spcPct val="105000"/>
              </a:lnSpc>
              <a:spcBef>
                <a:spcPts val="0"/>
              </a:spcBef>
              <a:spcAft>
                <a:spcPts val="1000"/>
              </a:spcAft>
              <a:buNone/>
            </a:pPr>
            <a:r>
              <a:rPr sz="1507" dirty="0">
                <a:solidFill>
                  <a:srgbClr val="06B6D4"/>
                </a:solidFill>
                <a:latin typeface="Arial"/>
              </a:rPr>
              <a:t>–  </a:t>
            </a:r>
            <a:r>
              <a:rPr sz="1507" dirty="0">
                <a:solidFill>
                  <a:srgbClr val="E2E8F0"/>
                </a:solidFill>
                <a:latin typeface="Arial"/>
              </a:rPr>
              <a:t>BYD</a:t>
            </a:r>
            <a:r>
              <a:rPr lang="de-DE" sz="1507" dirty="0">
                <a:solidFill>
                  <a:srgbClr val="E2E8F0"/>
                </a:solidFill>
                <a:latin typeface="Arial"/>
              </a:rPr>
              <a:t>‘s</a:t>
            </a:r>
            <a:r>
              <a:rPr sz="1507" dirty="0">
                <a:solidFill>
                  <a:srgbClr val="E2E8F0"/>
                </a:solidFill>
                <a:latin typeface="Arial"/>
              </a:rPr>
              <a:t> founder control + self-financing was the most adaptive combination in the transition.</a:t>
            </a:r>
          </a:p>
          <a:p>
            <a:pPr>
              <a:lnSpc>
                <a:spcPct val="105000"/>
              </a:lnSpc>
              <a:spcBef>
                <a:spcPts val="0"/>
              </a:spcBef>
              <a:spcAft>
                <a:spcPts val="1000"/>
              </a:spcAft>
              <a:buNone/>
            </a:pPr>
            <a:r>
              <a:rPr sz="1507" dirty="0">
                <a:solidFill>
                  <a:srgbClr val="06B6D4"/>
                </a:solidFill>
                <a:latin typeface="Arial"/>
              </a:rPr>
              <a:t>–  </a:t>
            </a:r>
            <a:r>
              <a:rPr sz="1507" dirty="0">
                <a:solidFill>
                  <a:srgbClr val="E2E8F0"/>
                </a:solidFill>
                <a:latin typeface="Arial"/>
              </a:rPr>
              <a:t>SAIC's state model </a:t>
            </a:r>
            <a:r>
              <a:rPr sz="1507" dirty="0" err="1">
                <a:solidFill>
                  <a:srgbClr val="E2E8F0"/>
                </a:solidFill>
                <a:latin typeface="Arial"/>
              </a:rPr>
              <a:t>optimises</a:t>
            </a:r>
            <a:r>
              <a:rPr sz="1507" dirty="0">
                <a:solidFill>
                  <a:srgbClr val="E2E8F0"/>
                </a:solidFill>
                <a:latin typeface="Arial"/>
              </a:rPr>
              <a:t> beyond shareholder value: a permanent structural discount.</a:t>
            </a:r>
          </a:p>
          <a:p>
            <a:pPr>
              <a:lnSpc>
                <a:spcPct val="105000"/>
              </a:lnSpc>
              <a:spcBef>
                <a:spcPts val="0"/>
              </a:spcBef>
              <a:spcAft>
                <a:spcPts val="1000"/>
              </a:spcAft>
              <a:buNone/>
            </a:pPr>
            <a:r>
              <a:rPr sz="1507" dirty="0">
                <a:solidFill>
                  <a:srgbClr val="06B6D4"/>
                </a:solidFill>
                <a:latin typeface="Arial"/>
              </a:rPr>
              <a:t>–  </a:t>
            </a:r>
            <a:r>
              <a:rPr sz="1507" dirty="0">
                <a:solidFill>
                  <a:srgbClr val="E2E8F0"/>
                </a:solidFill>
                <a:latin typeface="Arial"/>
              </a:rPr>
              <a:t>2020–2025 is a natural experiment: governance, more than endowment, decides who wins.</a:t>
            </a:r>
          </a:p>
        </p:txBody>
      </p:sp>
      <p:sp>
        <p:nvSpPr>
          <p:cNvPr id="12" name="TextBox 11"/>
          <p:cNvSpPr txBox="1"/>
          <p:nvPr/>
        </p:nvSpPr>
        <p:spPr>
          <a:xfrm>
            <a:off x="548640" y="6473952"/>
            <a:ext cx="8686800" cy="274320"/>
          </a:xfrm>
          <a:prstGeom prst="rect">
            <a:avLst/>
          </a:prstGeom>
          <a:noFill/>
        </p:spPr>
        <p:txBody>
          <a:bodyPr wrap="square" lIns="0" tIns="0" rIns="0" bIns="0" anchor="t">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13" name="TextBox 12"/>
          <p:cNvSpPr txBox="1"/>
          <p:nvPr/>
        </p:nvSpPr>
        <p:spPr>
          <a:xfrm>
            <a:off x="10820095" y="6473952"/>
            <a:ext cx="822960" cy="274320"/>
          </a:xfrm>
          <a:prstGeom prst="rect">
            <a:avLst/>
          </a:prstGeom>
          <a:noFill/>
        </p:spPr>
        <p:txBody>
          <a:bodyPr wrap="square" lIns="0" tIns="0" rIns="0" bIns="0" anchor="t">
            <a:spAutoFit/>
          </a:bodyPr>
          <a:lstStyle/>
          <a:p>
            <a:pPr algn="r">
              <a:lnSpc>
                <a:spcPct val="100000"/>
              </a:lnSpc>
              <a:spcBef>
                <a:spcPts val="0"/>
              </a:spcBef>
              <a:spcAft>
                <a:spcPts val="200"/>
              </a:spcAft>
            </a:pPr>
            <a:r>
              <a:rPr sz="1218" b="0" i="0">
                <a:solidFill>
                  <a:srgbClr val="64748B"/>
                </a:solidFill>
                <a:latin typeface="Arial"/>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623" b="1" i="0">
                <a:solidFill>
                  <a:srgbClr val="06B6D4"/>
                </a:solidFill>
                <a:latin typeface="Arial"/>
              </a:rPr>
              <a:t>LIMITATIONS &amp; FUTURE RESEARCH</a:t>
            </a:r>
          </a:p>
        </p:txBody>
      </p:sp>
      <p:sp>
        <p:nvSpPr>
          <p:cNvPr id="4" name="TextBox 3"/>
          <p:cNvSpPr txBox="1"/>
          <p:nvPr/>
        </p:nvSpPr>
        <p:spPr>
          <a:xfrm>
            <a:off x="548640" y="658368"/>
            <a:ext cx="11064240" cy="914400"/>
          </a:xfrm>
          <a:prstGeom prst="rect">
            <a:avLst/>
          </a:prstGeom>
          <a:noFill/>
        </p:spPr>
        <p:txBody>
          <a:bodyPr wrap="square" lIns="0" tIns="0" rIns="0" bIns="0" anchor="t">
            <a:spAutoFit/>
          </a:bodyPr>
          <a:lstStyle/>
          <a:p>
            <a:pPr algn="l">
              <a:lnSpc>
                <a:spcPct val="100000"/>
              </a:lnSpc>
              <a:spcBef>
                <a:spcPts val="0"/>
              </a:spcBef>
              <a:spcAft>
                <a:spcPts val="200"/>
              </a:spcAft>
            </a:pPr>
            <a:r>
              <a:rPr sz="2100" b="1" i="0">
                <a:solidFill>
                  <a:srgbClr val="0F172A"/>
                </a:solidFill>
                <a:latin typeface="Arial"/>
              </a:rPr>
              <a:t>Scope conditions and where the analysis could be extended</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783080"/>
            <a:ext cx="5440680" cy="352044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783080"/>
            <a:ext cx="5440680" cy="822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965960"/>
            <a:ext cx="5074920" cy="365760"/>
          </a:xfrm>
          <a:prstGeom prst="rect">
            <a:avLst/>
          </a:prstGeom>
          <a:noFill/>
        </p:spPr>
        <p:txBody>
          <a:bodyPr wrap="square" lIns="0" tIns="0" rIns="0" bIns="0" anchor="t">
            <a:spAutoFit/>
          </a:bodyPr>
          <a:lstStyle/>
          <a:p>
            <a:pPr algn="l">
              <a:lnSpc>
                <a:spcPct val="100000"/>
              </a:lnSpc>
              <a:spcBef>
                <a:spcPts val="0"/>
              </a:spcBef>
              <a:spcAft>
                <a:spcPts val="200"/>
              </a:spcAft>
            </a:pPr>
            <a:r>
              <a:rPr sz="1855" b="1" i="0">
                <a:solidFill>
                  <a:srgbClr val="D97706"/>
                </a:solidFill>
                <a:latin typeface="Arial"/>
              </a:rPr>
              <a:t>Limitations</a:t>
            </a:r>
          </a:p>
        </p:txBody>
      </p:sp>
      <p:sp>
        <p:nvSpPr>
          <p:cNvPr id="10" name="TextBox 9"/>
          <p:cNvSpPr txBox="1"/>
          <p:nvPr/>
        </p:nvSpPr>
        <p:spPr>
          <a:xfrm>
            <a:off x="731520" y="2423160"/>
            <a:ext cx="5074920" cy="829138"/>
          </a:xfrm>
          <a:prstGeom prst="rect">
            <a:avLst/>
          </a:prstGeom>
          <a:noFill/>
        </p:spPr>
        <p:txBody>
          <a:bodyPr wrap="square" lIns="0" tIns="0" rIns="0" bIns="0">
            <a:spAutoFit/>
          </a:bodyPr>
          <a:lstStyle/>
          <a:p>
            <a:pPr>
              <a:lnSpc>
                <a:spcPct val="105000"/>
              </a:lnSpc>
              <a:spcBef>
                <a:spcPts val="0"/>
              </a:spcBef>
              <a:spcAft>
                <a:spcPts val="900"/>
              </a:spcAft>
              <a:buNone/>
            </a:pPr>
            <a:r>
              <a:rPr sz="1507" dirty="0">
                <a:solidFill>
                  <a:srgbClr val="D97706"/>
                </a:solidFill>
                <a:latin typeface="Arial"/>
              </a:rPr>
              <a:t>–  </a:t>
            </a:r>
            <a:r>
              <a:rPr sz="1507" dirty="0">
                <a:solidFill>
                  <a:srgbClr val="0F172A"/>
                </a:solidFill>
                <a:latin typeface="Arial"/>
              </a:rPr>
              <a:t>Three firms, one industry, one country — limited statistical </a:t>
            </a:r>
            <a:r>
              <a:rPr sz="1507" dirty="0" err="1">
                <a:solidFill>
                  <a:srgbClr val="0F172A"/>
                </a:solidFill>
                <a:latin typeface="Arial"/>
              </a:rPr>
              <a:t>generalisability</a:t>
            </a:r>
            <a:r>
              <a:rPr sz="1507" dirty="0">
                <a:solidFill>
                  <a:srgbClr val="0F172A"/>
                </a:solidFill>
                <a:latin typeface="Arial"/>
              </a:rPr>
              <a:t>.</a:t>
            </a:r>
          </a:p>
          <a:p>
            <a:pPr>
              <a:lnSpc>
                <a:spcPct val="105000"/>
              </a:lnSpc>
              <a:spcBef>
                <a:spcPts val="0"/>
              </a:spcBef>
              <a:spcAft>
                <a:spcPts val="900"/>
              </a:spcAft>
              <a:buNone/>
            </a:pPr>
            <a:r>
              <a:rPr sz="1507" dirty="0">
                <a:solidFill>
                  <a:srgbClr val="D97706"/>
                </a:solidFill>
                <a:latin typeface="Arial"/>
              </a:rPr>
              <a:t>–  </a:t>
            </a:r>
            <a:r>
              <a:rPr sz="1507" dirty="0">
                <a:solidFill>
                  <a:srgbClr val="0F172A"/>
                </a:solidFill>
                <a:latin typeface="Arial"/>
              </a:rPr>
              <a:t>Short post-EV window; the transition is still unfolding.</a:t>
            </a:r>
          </a:p>
        </p:txBody>
      </p:sp>
      <p:sp>
        <p:nvSpPr>
          <p:cNvPr id="11" name="Rectangle 10"/>
          <p:cNvSpPr/>
          <p:nvPr/>
        </p:nvSpPr>
        <p:spPr>
          <a:xfrm>
            <a:off x="6172200" y="1783080"/>
            <a:ext cx="5440680" cy="352044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783080"/>
            <a:ext cx="5440680"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965960"/>
            <a:ext cx="5074920" cy="365760"/>
          </a:xfrm>
          <a:prstGeom prst="rect">
            <a:avLst/>
          </a:prstGeom>
          <a:noFill/>
        </p:spPr>
        <p:txBody>
          <a:bodyPr wrap="square" lIns="0" tIns="0" rIns="0" bIns="0" anchor="t">
            <a:spAutoFit/>
          </a:bodyPr>
          <a:lstStyle/>
          <a:p>
            <a:pPr algn="l">
              <a:lnSpc>
                <a:spcPct val="100000"/>
              </a:lnSpc>
              <a:spcBef>
                <a:spcPts val="0"/>
              </a:spcBef>
              <a:spcAft>
                <a:spcPts val="200"/>
              </a:spcAft>
            </a:pPr>
            <a:r>
              <a:rPr sz="1855" b="1" i="0">
                <a:solidFill>
                  <a:srgbClr val="2563EB"/>
                </a:solidFill>
                <a:latin typeface="Arial"/>
              </a:rPr>
              <a:t>Future research</a:t>
            </a:r>
          </a:p>
        </p:txBody>
      </p:sp>
      <p:sp>
        <p:nvSpPr>
          <p:cNvPr id="14" name="TextBox 13"/>
          <p:cNvSpPr txBox="1"/>
          <p:nvPr/>
        </p:nvSpPr>
        <p:spPr>
          <a:xfrm>
            <a:off x="6355080" y="2423160"/>
            <a:ext cx="5074920" cy="1675139"/>
          </a:xfrm>
          <a:prstGeom prst="rect">
            <a:avLst/>
          </a:prstGeom>
          <a:noFill/>
        </p:spPr>
        <p:txBody>
          <a:bodyPr wrap="square" lIns="0" tIns="0" rIns="0" bIns="0">
            <a:spAutoFit/>
          </a:bodyPr>
          <a:lstStyle/>
          <a:p>
            <a:pPr>
              <a:lnSpc>
                <a:spcPct val="105000"/>
              </a:lnSpc>
              <a:spcBef>
                <a:spcPts val="0"/>
              </a:spcBef>
              <a:spcAft>
                <a:spcPts val="900"/>
              </a:spcAft>
              <a:buNone/>
            </a:pPr>
            <a:r>
              <a:rPr sz="1507" dirty="0">
                <a:solidFill>
                  <a:srgbClr val="2563EB"/>
                </a:solidFill>
                <a:latin typeface="Arial"/>
              </a:rPr>
              <a:t>–  </a:t>
            </a:r>
            <a:r>
              <a:rPr sz="1507" dirty="0">
                <a:solidFill>
                  <a:srgbClr val="0F172A"/>
                </a:solidFill>
                <a:latin typeface="Arial"/>
              </a:rPr>
              <a:t>Add a fourth archetype (NIO, capital-market model) for a fuller typology.</a:t>
            </a:r>
          </a:p>
          <a:p>
            <a:pPr>
              <a:lnSpc>
                <a:spcPct val="105000"/>
              </a:lnSpc>
              <a:spcBef>
                <a:spcPts val="0"/>
              </a:spcBef>
              <a:spcAft>
                <a:spcPts val="900"/>
              </a:spcAft>
              <a:buNone/>
            </a:pPr>
            <a:r>
              <a:rPr sz="1507" dirty="0">
                <a:solidFill>
                  <a:srgbClr val="2563EB"/>
                </a:solidFill>
                <a:latin typeface="Arial"/>
              </a:rPr>
              <a:t>–  </a:t>
            </a:r>
            <a:r>
              <a:rPr sz="1507" dirty="0">
                <a:solidFill>
                  <a:srgbClr val="0F172A"/>
                </a:solidFill>
                <a:latin typeface="Arial"/>
              </a:rPr>
              <a:t>Track outcomes over a longer EV cycle to test durability of the ranking.</a:t>
            </a:r>
          </a:p>
          <a:p>
            <a:pPr>
              <a:lnSpc>
                <a:spcPct val="105000"/>
              </a:lnSpc>
              <a:spcBef>
                <a:spcPts val="0"/>
              </a:spcBef>
              <a:spcAft>
                <a:spcPts val="900"/>
              </a:spcAft>
              <a:buNone/>
            </a:pPr>
            <a:r>
              <a:rPr sz="1507" dirty="0">
                <a:solidFill>
                  <a:srgbClr val="2563EB"/>
                </a:solidFill>
                <a:latin typeface="Arial"/>
              </a:rPr>
              <a:t>–  </a:t>
            </a:r>
            <a:r>
              <a:rPr sz="1507" dirty="0">
                <a:solidFill>
                  <a:srgbClr val="0F172A"/>
                </a:solidFill>
                <a:latin typeface="Arial"/>
              </a:rPr>
              <a:t>Examine how EU tariffs reshape each model's export strategy.</a:t>
            </a:r>
          </a:p>
        </p:txBody>
      </p:sp>
      <p:sp>
        <p:nvSpPr>
          <p:cNvPr id="15" name="TextBox 14"/>
          <p:cNvSpPr txBox="1"/>
          <p:nvPr/>
        </p:nvSpPr>
        <p:spPr>
          <a:xfrm>
            <a:off x="548640" y="6473952"/>
            <a:ext cx="8686800" cy="274320"/>
          </a:xfrm>
          <a:prstGeom prst="rect">
            <a:avLst/>
          </a:prstGeom>
          <a:noFill/>
        </p:spPr>
        <p:txBody>
          <a:bodyPr wrap="square" lIns="0" tIns="0" rIns="0" bIns="0" anchor="t">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16" name="TextBox 15"/>
          <p:cNvSpPr txBox="1"/>
          <p:nvPr/>
        </p:nvSpPr>
        <p:spPr>
          <a:xfrm>
            <a:off x="10820095" y="6473952"/>
            <a:ext cx="822960" cy="274320"/>
          </a:xfrm>
          <a:prstGeom prst="rect">
            <a:avLst/>
          </a:prstGeom>
          <a:noFill/>
        </p:spPr>
        <p:txBody>
          <a:bodyPr wrap="square" lIns="0" tIns="0" rIns="0" bIns="0" anchor="t">
            <a:spAutoFit/>
          </a:bodyPr>
          <a:lstStyle/>
          <a:p>
            <a:pPr algn="r">
              <a:lnSpc>
                <a:spcPct val="100000"/>
              </a:lnSpc>
              <a:spcBef>
                <a:spcPts val="0"/>
              </a:spcBef>
              <a:spcAft>
                <a:spcPts val="200"/>
              </a:spcAft>
            </a:pPr>
            <a:r>
              <a:rPr sz="1218" b="0" i="0">
                <a:solidFill>
                  <a:srgbClr val="64748B"/>
                </a:solidFill>
                <a:latin typeface="Arial"/>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623" b="1" i="0">
                <a:solidFill>
                  <a:srgbClr val="06B6D4"/>
                </a:solidFill>
                <a:latin typeface="Arial"/>
              </a:rPr>
              <a:t>AI ANNEX · ARCHITECTURE &amp; WORKFLOW</a:t>
            </a:r>
          </a:p>
        </p:txBody>
      </p:sp>
      <p:sp>
        <p:nvSpPr>
          <p:cNvPr id="4" name="TextBox 3"/>
          <p:cNvSpPr txBox="1"/>
          <p:nvPr/>
        </p:nvSpPr>
        <p:spPr>
          <a:xfrm>
            <a:off x="548640" y="658368"/>
            <a:ext cx="11064240" cy="914400"/>
          </a:xfrm>
          <a:prstGeom prst="rect">
            <a:avLst/>
          </a:prstGeom>
          <a:noFill/>
        </p:spPr>
        <p:txBody>
          <a:bodyPr wrap="square" lIns="0" tIns="0" rIns="0" bIns="0" anchor="t">
            <a:spAutoFit/>
          </a:bodyPr>
          <a:lstStyle/>
          <a:p>
            <a:pPr algn="l">
              <a:lnSpc>
                <a:spcPct val="100000"/>
              </a:lnSpc>
              <a:spcBef>
                <a:spcPts val="0"/>
              </a:spcBef>
              <a:spcAft>
                <a:spcPts val="200"/>
              </a:spcAft>
            </a:pPr>
            <a:r>
              <a:rPr sz="2100" b="1" i="0">
                <a:solidFill>
                  <a:srgbClr val="0F172A"/>
                </a:solidFill>
                <a:latin typeface="Arial"/>
              </a:rPr>
              <a:t>AI as research infrastructure — a layered agent system, not a chatbot</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645920"/>
            <a:ext cx="11064240" cy="214033"/>
          </a:xfrm>
          <a:prstGeom prst="rect">
            <a:avLst/>
          </a:prstGeom>
          <a:noFill/>
        </p:spPr>
        <p:txBody>
          <a:bodyPr wrap="square" lIns="0" tIns="0" rIns="0" bIns="0" anchor="t">
            <a:spAutoFit/>
          </a:bodyPr>
          <a:lstStyle/>
          <a:p>
            <a:pPr algn="l">
              <a:lnSpc>
                <a:spcPct val="100000"/>
              </a:lnSpc>
              <a:spcBef>
                <a:spcPts val="0"/>
              </a:spcBef>
              <a:spcAft>
                <a:spcPts val="200"/>
              </a:spcAft>
            </a:pPr>
            <a:r>
              <a:rPr sz="1391" b="1" i="0" dirty="0">
                <a:solidFill>
                  <a:srgbClr val="64748B"/>
                </a:solidFill>
                <a:latin typeface="Arial"/>
              </a:rPr>
              <a:t>Platform: Claude Code (Anthropic) —</a:t>
            </a:r>
            <a:r>
              <a:rPr lang="de-DE" sz="1391" b="1" i="0" dirty="0">
                <a:solidFill>
                  <a:srgbClr val="64748B"/>
                </a:solidFill>
                <a:latin typeface="Arial"/>
              </a:rPr>
              <a:t>&gt; </a:t>
            </a:r>
            <a:r>
              <a:rPr sz="1391" b="1" i="0" dirty="0">
                <a:solidFill>
                  <a:srgbClr val="64748B"/>
                </a:solidFill>
                <a:latin typeface="Arial"/>
              </a:rPr>
              <a:t>claude-sonnet-4-6 (primary) · claude-opus-4 (hard analysis)</a:t>
            </a:r>
          </a:p>
        </p:txBody>
      </p:sp>
      <p:sp>
        <p:nvSpPr>
          <p:cNvPr id="8" name="TextBox 7"/>
          <p:cNvSpPr txBox="1"/>
          <p:nvPr/>
        </p:nvSpPr>
        <p:spPr>
          <a:xfrm>
            <a:off x="548640" y="1993392"/>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391" b="1" i="0">
                <a:solidFill>
                  <a:srgbClr val="64748B"/>
                </a:solidFill>
                <a:latin typeface="Arial"/>
              </a:rPr>
              <a:t>5 agents: wiki-ingest · wiki-query · wiki-lint · verify-claims · find-references</a:t>
            </a:r>
          </a:p>
        </p:txBody>
      </p:sp>
      <p:sp>
        <p:nvSpPr>
          <p:cNvPr id="9" name="Rectangle 8"/>
          <p:cNvSpPr/>
          <p:nvPr/>
        </p:nvSpPr>
        <p:spPr>
          <a:xfrm>
            <a:off x="548640" y="2514600"/>
            <a:ext cx="5943600" cy="32461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514600"/>
            <a:ext cx="5943600"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97480"/>
            <a:ext cx="5486400" cy="365760"/>
          </a:xfrm>
          <a:prstGeom prst="rect">
            <a:avLst/>
          </a:prstGeom>
          <a:noFill/>
        </p:spPr>
        <p:txBody>
          <a:bodyPr wrap="square" lIns="0" tIns="0" rIns="0" bIns="0" anchor="t">
            <a:spAutoFit/>
          </a:bodyPr>
          <a:lstStyle/>
          <a:p>
            <a:pPr algn="l">
              <a:lnSpc>
                <a:spcPct val="100000"/>
              </a:lnSpc>
              <a:spcBef>
                <a:spcPts val="0"/>
              </a:spcBef>
              <a:spcAft>
                <a:spcPts val="200"/>
              </a:spcAft>
            </a:pPr>
            <a:r>
              <a:rPr sz="1972" b="1" i="0">
                <a:solidFill>
                  <a:srgbClr val="0F172A"/>
                </a:solidFill>
                <a:latin typeface="Arial"/>
              </a:rPr>
              <a:t>One shared git repository</a:t>
            </a:r>
          </a:p>
        </p:txBody>
      </p:sp>
      <p:sp>
        <p:nvSpPr>
          <p:cNvPr id="12" name="TextBox 11"/>
          <p:cNvSpPr txBox="1"/>
          <p:nvPr/>
        </p:nvSpPr>
        <p:spPr>
          <a:xfrm>
            <a:off x="914400" y="3200400"/>
            <a:ext cx="5303520" cy="365760"/>
          </a:xfrm>
          <a:prstGeom prst="rect">
            <a:avLst/>
          </a:prstGeom>
          <a:noFill/>
        </p:spPr>
        <p:txBody>
          <a:bodyPr wrap="square" lIns="0" tIns="0" rIns="0" bIns="0" anchor="t">
            <a:spAutoFit/>
          </a:bodyPr>
          <a:lstStyle/>
          <a:p>
            <a:pPr algn="l">
              <a:lnSpc>
                <a:spcPct val="100000"/>
              </a:lnSpc>
              <a:spcBef>
                <a:spcPts val="0"/>
              </a:spcBef>
              <a:spcAft>
                <a:spcPts val="200"/>
              </a:spcAft>
            </a:pPr>
            <a:r>
              <a:rPr sz="1739" b="1" i="0">
                <a:solidFill>
                  <a:srgbClr val="0F172A"/>
                </a:solidFill>
                <a:latin typeface="Consolas"/>
              </a:rPr>
              <a:t>research/wiki/</a:t>
            </a:r>
          </a:p>
        </p:txBody>
      </p:sp>
      <p:sp>
        <p:nvSpPr>
          <p:cNvPr id="13" name="TextBox 12"/>
          <p:cNvSpPr txBox="1"/>
          <p:nvPr/>
        </p:nvSpPr>
        <p:spPr>
          <a:xfrm>
            <a:off x="1188720" y="3621024"/>
            <a:ext cx="5303520" cy="365760"/>
          </a:xfrm>
          <a:prstGeom prst="rect">
            <a:avLst/>
          </a:prstGeom>
          <a:noFill/>
        </p:spPr>
        <p:txBody>
          <a:bodyPr wrap="square" lIns="0" tIns="0" rIns="0" bIns="0" anchor="t">
            <a:spAutoFit/>
          </a:bodyPr>
          <a:lstStyle/>
          <a:p>
            <a:pPr algn="l">
              <a:lnSpc>
                <a:spcPct val="100000"/>
              </a:lnSpc>
              <a:spcBef>
                <a:spcPts val="0"/>
              </a:spcBef>
              <a:spcAft>
                <a:spcPts val="200"/>
              </a:spcAft>
            </a:pPr>
            <a:r>
              <a:rPr sz="1739" b="0" i="0">
                <a:solidFill>
                  <a:srgbClr val="DC2626"/>
                </a:solidFill>
                <a:latin typeface="Consolas"/>
              </a:rPr>
              <a:t>├─ saic-motor/</a:t>
            </a:r>
          </a:p>
        </p:txBody>
      </p:sp>
      <p:sp>
        <p:nvSpPr>
          <p:cNvPr id="14" name="TextBox 13"/>
          <p:cNvSpPr txBox="1"/>
          <p:nvPr/>
        </p:nvSpPr>
        <p:spPr>
          <a:xfrm>
            <a:off x="1188720" y="4041648"/>
            <a:ext cx="5303520" cy="365760"/>
          </a:xfrm>
          <a:prstGeom prst="rect">
            <a:avLst/>
          </a:prstGeom>
          <a:noFill/>
        </p:spPr>
        <p:txBody>
          <a:bodyPr wrap="square" lIns="0" tIns="0" rIns="0" bIns="0" anchor="t">
            <a:spAutoFit/>
          </a:bodyPr>
          <a:lstStyle/>
          <a:p>
            <a:pPr algn="l">
              <a:lnSpc>
                <a:spcPct val="100000"/>
              </a:lnSpc>
              <a:spcBef>
                <a:spcPts val="0"/>
              </a:spcBef>
              <a:spcAft>
                <a:spcPts val="200"/>
              </a:spcAft>
            </a:pPr>
            <a:r>
              <a:rPr sz="1739" b="0" i="0">
                <a:solidFill>
                  <a:srgbClr val="2563EB"/>
                </a:solidFill>
                <a:latin typeface="Consolas"/>
              </a:rPr>
              <a:t>├─ byd/</a:t>
            </a:r>
          </a:p>
        </p:txBody>
      </p:sp>
      <p:sp>
        <p:nvSpPr>
          <p:cNvPr id="15" name="TextBox 14"/>
          <p:cNvSpPr txBox="1"/>
          <p:nvPr/>
        </p:nvSpPr>
        <p:spPr>
          <a:xfrm>
            <a:off x="1188720" y="4462272"/>
            <a:ext cx="5303520" cy="365760"/>
          </a:xfrm>
          <a:prstGeom prst="rect">
            <a:avLst/>
          </a:prstGeom>
          <a:noFill/>
        </p:spPr>
        <p:txBody>
          <a:bodyPr wrap="square" lIns="0" tIns="0" rIns="0" bIns="0" anchor="t">
            <a:spAutoFit/>
          </a:bodyPr>
          <a:lstStyle/>
          <a:p>
            <a:pPr algn="l">
              <a:lnSpc>
                <a:spcPct val="100000"/>
              </a:lnSpc>
              <a:spcBef>
                <a:spcPts val="0"/>
              </a:spcBef>
              <a:spcAft>
                <a:spcPts val="200"/>
              </a:spcAft>
            </a:pPr>
            <a:r>
              <a:rPr sz="1739" b="0" i="0">
                <a:solidFill>
                  <a:srgbClr val="06B6D4"/>
                </a:solidFill>
                <a:latin typeface="Consolas"/>
              </a:rPr>
              <a:t>├─ geely/</a:t>
            </a:r>
          </a:p>
        </p:txBody>
      </p:sp>
      <p:sp>
        <p:nvSpPr>
          <p:cNvPr id="16" name="TextBox 15"/>
          <p:cNvSpPr txBox="1"/>
          <p:nvPr/>
        </p:nvSpPr>
        <p:spPr>
          <a:xfrm>
            <a:off x="1188720" y="4882896"/>
            <a:ext cx="5303520" cy="365760"/>
          </a:xfrm>
          <a:prstGeom prst="rect">
            <a:avLst/>
          </a:prstGeom>
          <a:noFill/>
        </p:spPr>
        <p:txBody>
          <a:bodyPr wrap="square" lIns="0" tIns="0" rIns="0" bIns="0" anchor="t">
            <a:spAutoFit/>
          </a:bodyPr>
          <a:lstStyle/>
          <a:p>
            <a:pPr algn="l">
              <a:lnSpc>
                <a:spcPct val="100000"/>
              </a:lnSpc>
              <a:spcBef>
                <a:spcPts val="0"/>
              </a:spcBef>
              <a:spcAft>
                <a:spcPts val="200"/>
              </a:spcAft>
            </a:pPr>
            <a:r>
              <a:rPr sz="1739" b="0" i="0">
                <a:solidFill>
                  <a:srgbClr val="64748B"/>
                </a:solidFill>
                <a:latin typeface="Consolas"/>
              </a:rPr>
              <a:t>└─ shared/   — EU regulation · IEA data</a:t>
            </a:r>
          </a:p>
        </p:txBody>
      </p:sp>
      <p:sp>
        <p:nvSpPr>
          <p:cNvPr id="17" name="TextBox 16"/>
          <p:cNvSpPr txBox="1"/>
          <p:nvPr/>
        </p:nvSpPr>
        <p:spPr>
          <a:xfrm>
            <a:off x="6858000" y="2697480"/>
            <a:ext cx="4937760" cy="365760"/>
          </a:xfrm>
          <a:prstGeom prst="rect">
            <a:avLst/>
          </a:prstGeom>
          <a:noFill/>
        </p:spPr>
        <p:txBody>
          <a:bodyPr wrap="square" lIns="0" tIns="0" rIns="0" bIns="0" anchor="t">
            <a:spAutoFit/>
          </a:bodyPr>
          <a:lstStyle/>
          <a:p>
            <a:pPr algn="l">
              <a:lnSpc>
                <a:spcPct val="100000"/>
              </a:lnSpc>
              <a:spcBef>
                <a:spcPts val="0"/>
              </a:spcBef>
              <a:spcAft>
                <a:spcPts val="200"/>
              </a:spcAft>
            </a:pPr>
            <a:r>
              <a:rPr sz="1972" b="1" i="0">
                <a:solidFill>
                  <a:srgbClr val="2563EB"/>
                </a:solidFill>
                <a:latin typeface="Arial"/>
              </a:rPr>
              <a:t>Why it mattered</a:t>
            </a:r>
          </a:p>
        </p:txBody>
      </p:sp>
      <p:sp>
        <p:nvSpPr>
          <p:cNvPr id="18" name="TextBox 17"/>
          <p:cNvSpPr txBox="1"/>
          <p:nvPr/>
        </p:nvSpPr>
        <p:spPr>
          <a:xfrm>
            <a:off x="6858000" y="3200400"/>
            <a:ext cx="4937760" cy="2560320"/>
          </a:xfrm>
          <a:prstGeom prst="rect">
            <a:avLst/>
          </a:prstGeom>
          <a:noFill/>
        </p:spPr>
        <p:txBody>
          <a:bodyPr wrap="square" lIns="0" tIns="0" rIns="0" bIns="0">
            <a:spAutoFit/>
          </a:bodyPr>
          <a:lstStyle/>
          <a:p>
            <a:pPr>
              <a:lnSpc>
                <a:spcPct val="105000"/>
              </a:lnSpc>
              <a:spcBef>
                <a:spcPts val="0"/>
              </a:spcBef>
              <a:spcAft>
                <a:spcPts val="1000"/>
              </a:spcAft>
              <a:buNone/>
            </a:pPr>
            <a:r>
              <a:rPr sz="1623">
                <a:solidFill>
                  <a:srgbClr val="2563EB"/>
                </a:solidFill>
                <a:latin typeface="Arial"/>
              </a:rPr>
              <a:t>–  </a:t>
            </a:r>
            <a:r>
              <a:rPr sz="1623">
                <a:solidFill>
                  <a:srgbClr val="0F172A"/>
                </a:solidFill>
                <a:latin typeface="Arial"/>
              </a:rPr>
              <a:t>One folder per case + a shared layer for common data</a:t>
            </a:r>
          </a:p>
          <a:p>
            <a:pPr>
              <a:lnSpc>
                <a:spcPct val="105000"/>
              </a:lnSpc>
              <a:spcBef>
                <a:spcPts val="0"/>
              </a:spcBef>
              <a:spcAft>
                <a:spcPts val="1000"/>
              </a:spcAft>
              <a:buNone/>
            </a:pPr>
            <a:r>
              <a:rPr sz="1623">
                <a:solidFill>
                  <a:srgbClr val="2563EB"/>
                </a:solidFill>
                <a:latin typeface="Arial"/>
              </a:rPr>
              <a:t>–  </a:t>
            </a:r>
            <a:r>
              <a:rPr sz="1623">
                <a:solidFill>
                  <a:srgbClr val="0F172A"/>
                </a:solidFill>
                <a:latin typeface="Arial"/>
              </a:rPr>
              <a:t>Rule: git pull before each session, push after</a:t>
            </a:r>
          </a:p>
          <a:p>
            <a:pPr>
              <a:lnSpc>
                <a:spcPct val="105000"/>
              </a:lnSpc>
              <a:spcBef>
                <a:spcPts val="0"/>
              </a:spcBef>
              <a:spcAft>
                <a:spcPts val="1000"/>
              </a:spcAft>
              <a:buNone/>
            </a:pPr>
            <a:r>
              <a:rPr sz="1623">
                <a:solidFill>
                  <a:srgbClr val="2563EB"/>
                </a:solidFill>
                <a:latin typeface="Arial"/>
              </a:rPr>
              <a:t>–  </a:t>
            </a:r>
            <a:r>
              <a:rPr sz="1623">
                <a:solidFill>
                  <a:srgbClr val="0F172A"/>
                </a:solidFill>
                <a:latin typeface="Arial"/>
              </a:rPr>
              <a:t>The tool read all three case wikis at once</a:t>
            </a:r>
          </a:p>
          <a:p>
            <a:pPr>
              <a:lnSpc>
                <a:spcPct val="105000"/>
              </a:lnSpc>
              <a:spcBef>
                <a:spcPts val="0"/>
              </a:spcBef>
              <a:spcAft>
                <a:spcPts val="1000"/>
              </a:spcAft>
              <a:buNone/>
            </a:pPr>
            <a:r>
              <a:rPr sz="1623">
                <a:solidFill>
                  <a:srgbClr val="2563EB"/>
                </a:solidFill>
                <a:latin typeface="Arial"/>
              </a:rPr>
              <a:t>–  </a:t>
            </a:r>
            <a:r>
              <a:rPr sz="1623">
                <a:solidFill>
                  <a:srgbClr val="0F172A"/>
                </a:solidFill>
                <a:latin typeface="Arial"/>
              </a:rPr>
              <a:t>Direct cross-case comparison — no manual hand-offs</a:t>
            </a:r>
          </a:p>
        </p:txBody>
      </p:sp>
      <p:sp>
        <p:nvSpPr>
          <p:cNvPr id="19" name="TextBox 18"/>
          <p:cNvSpPr txBox="1"/>
          <p:nvPr/>
        </p:nvSpPr>
        <p:spPr>
          <a:xfrm>
            <a:off x="548640" y="6473952"/>
            <a:ext cx="8686800" cy="274320"/>
          </a:xfrm>
          <a:prstGeom prst="rect">
            <a:avLst/>
          </a:prstGeom>
          <a:noFill/>
        </p:spPr>
        <p:txBody>
          <a:bodyPr wrap="square" lIns="0" tIns="0" rIns="0" bIns="0" anchor="t">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0" name="TextBox 19"/>
          <p:cNvSpPr txBox="1"/>
          <p:nvPr/>
        </p:nvSpPr>
        <p:spPr>
          <a:xfrm>
            <a:off x="10820095" y="6473952"/>
            <a:ext cx="822960" cy="274320"/>
          </a:xfrm>
          <a:prstGeom prst="rect">
            <a:avLst/>
          </a:prstGeom>
          <a:noFill/>
        </p:spPr>
        <p:txBody>
          <a:bodyPr wrap="square" lIns="0" tIns="0" rIns="0" bIns="0" anchor="t">
            <a:spAutoFit/>
          </a:bodyPr>
          <a:lstStyle/>
          <a:p>
            <a:pPr algn="r">
              <a:lnSpc>
                <a:spcPct val="100000"/>
              </a:lnSpc>
              <a:spcBef>
                <a:spcPts val="0"/>
              </a:spcBef>
              <a:spcAft>
                <a:spcPts val="200"/>
              </a:spcAft>
            </a:pPr>
            <a:r>
              <a:rPr sz="1218" b="0" i="0">
                <a:solidFill>
                  <a:srgbClr val="64748B"/>
                </a:solidFill>
                <a:latin typeface="Arial"/>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623" b="1" i="0">
                <a:solidFill>
                  <a:srgbClr val="06B6D4"/>
                </a:solidFill>
                <a:latin typeface="Arial"/>
              </a:rPr>
              <a:t>AI ANNEX · VALUE &amp; QUALITY CONTROL</a:t>
            </a:r>
          </a:p>
        </p:txBody>
      </p:sp>
      <p:sp>
        <p:nvSpPr>
          <p:cNvPr id="4" name="TextBox 3"/>
          <p:cNvSpPr txBox="1"/>
          <p:nvPr/>
        </p:nvSpPr>
        <p:spPr>
          <a:xfrm>
            <a:off x="548640" y="658368"/>
            <a:ext cx="11064240" cy="914400"/>
          </a:xfrm>
          <a:prstGeom prst="rect">
            <a:avLst/>
          </a:prstGeom>
          <a:noFill/>
        </p:spPr>
        <p:txBody>
          <a:bodyPr wrap="square" lIns="0" tIns="0" rIns="0" bIns="0" anchor="t">
            <a:spAutoFit/>
          </a:bodyPr>
          <a:lstStyle/>
          <a:p>
            <a:pPr algn="l">
              <a:lnSpc>
                <a:spcPct val="100000"/>
              </a:lnSpc>
              <a:spcBef>
                <a:spcPts val="0"/>
              </a:spcBef>
              <a:spcAft>
                <a:spcPts val="200"/>
              </a:spcAft>
            </a:pPr>
            <a:r>
              <a:rPr sz="2100" b="1" i="0">
                <a:solidFill>
                  <a:srgbClr val="0F172A"/>
                </a:solidFill>
                <a:latin typeface="Arial"/>
              </a:rPr>
              <a:t>Where AI added the most value</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645920"/>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507" b="1" i="0">
                <a:solidFill>
                  <a:srgbClr val="2563EB"/>
                </a:solidFill>
                <a:latin typeface="Arial"/>
              </a:rPr>
              <a:t>WHAT WORKED IN PRACTICE</a:t>
            </a:r>
          </a:p>
        </p:txBody>
      </p:sp>
      <p:sp>
        <p:nvSpPr>
          <p:cNvPr id="8" name="TextBox 7"/>
          <p:cNvSpPr txBox="1"/>
          <p:nvPr/>
        </p:nvSpPr>
        <p:spPr>
          <a:xfrm>
            <a:off x="548640" y="1965960"/>
            <a:ext cx="11064240" cy="1828800"/>
          </a:xfrm>
          <a:prstGeom prst="rect">
            <a:avLst/>
          </a:prstGeom>
          <a:noFill/>
        </p:spPr>
        <p:txBody>
          <a:bodyPr wrap="square" lIns="0" tIns="0" rIns="0" bIns="0">
            <a:spAutoFit/>
          </a:bodyPr>
          <a:lstStyle/>
          <a:p>
            <a:pPr>
              <a:lnSpc>
                <a:spcPct val="105000"/>
              </a:lnSpc>
              <a:spcBef>
                <a:spcPts val="0"/>
              </a:spcBef>
              <a:spcAft>
                <a:spcPts val="900"/>
              </a:spcAft>
              <a:buNone/>
            </a:pPr>
            <a:r>
              <a:rPr sz="1623">
                <a:solidFill>
                  <a:srgbClr val="2563EB"/>
                </a:solidFill>
                <a:latin typeface="Arial"/>
              </a:rPr>
              <a:t>–  </a:t>
            </a:r>
            <a:r>
              <a:rPr sz="1623">
                <a:solidFill>
                  <a:srgbClr val="0F172A"/>
                </a:solidFill>
                <a:latin typeface="Arial"/>
              </a:rPr>
              <a:t>Compressed research time: 30+ papers and reports ingested, indexed and made searchable.</a:t>
            </a:r>
          </a:p>
          <a:p>
            <a:pPr>
              <a:lnSpc>
                <a:spcPct val="105000"/>
              </a:lnSpc>
              <a:spcBef>
                <a:spcPts val="0"/>
              </a:spcBef>
              <a:spcAft>
                <a:spcPts val="900"/>
              </a:spcAft>
              <a:buNone/>
            </a:pPr>
            <a:r>
              <a:rPr sz="1623">
                <a:solidFill>
                  <a:srgbClr val="2563EB"/>
                </a:solidFill>
                <a:latin typeface="Arial"/>
              </a:rPr>
              <a:t>–  </a:t>
            </a:r>
            <a:r>
              <a:rPr sz="1623">
                <a:solidFill>
                  <a:srgbClr val="0F172A"/>
                </a:solidFill>
                <a:latin typeface="Arial"/>
              </a:rPr>
              <a:t>Source discipline: every source rated by quality (Q1–Q5) × relevance (R1–R4), arguments on Q1/Q2 only.</a:t>
            </a:r>
          </a:p>
          <a:p>
            <a:pPr>
              <a:lnSpc>
                <a:spcPct val="105000"/>
              </a:lnSpc>
              <a:spcBef>
                <a:spcPts val="0"/>
              </a:spcBef>
              <a:spcAft>
                <a:spcPts val="900"/>
              </a:spcAft>
              <a:buNone/>
            </a:pPr>
            <a:r>
              <a:rPr sz="1623">
                <a:solidFill>
                  <a:srgbClr val="2563EB"/>
                </a:solidFill>
                <a:latin typeface="Arial"/>
              </a:rPr>
              <a:t>–  </a:t>
            </a:r>
            <a:r>
              <a:rPr sz="1623">
                <a:solidFill>
                  <a:srgbClr val="0F172A"/>
                </a:solidFill>
                <a:latin typeface="Arial"/>
              </a:rPr>
              <a:t>Sharpest prompt: “review this as a Dozent looking for overclaims, logical gaps and APA errors.”</a:t>
            </a:r>
          </a:p>
          <a:p>
            <a:pPr>
              <a:lnSpc>
                <a:spcPct val="105000"/>
              </a:lnSpc>
              <a:spcBef>
                <a:spcPts val="0"/>
              </a:spcBef>
              <a:spcAft>
                <a:spcPts val="900"/>
              </a:spcAft>
              <a:buNone/>
            </a:pPr>
            <a:r>
              <a:rPr sz="1623">
                <a:solidFill>
                  <a:srgbClr val="2563EB"/>
                </a:solidFill>
                <a:latin typeface="Arial"/>
              </a:rPr>
              <a:t>–  </a:t>
            </a:r>
            <a:r>
              <a:rPr sz="1623">
                <a:solidFill>
                  <a:srgbClr val="0F172A"/>
                </a:solidFill>
                <a:latin typeface="Arial"/>
              </a:rPr>
              <a:t>Fact-checking: isolate one claim and make it quote the exact source passage before use.</a:t>
            </a:r>
          </a:p>
        </p:txBody>
      </p:sp>
      <p:sp>
        <p:nvSpPr>
          <p:cNvPr id="9" name="TextBox 8"/>
          <p:cNvSpPr txBox="1"/>
          <p:nvPr/>
        </p:nvSpPr>
        <p:spPr>
          <a:xfrm>
            <a:off x="548640" y="4160520"/>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391" b="1" i="0">
                <a:solidFill>
                  <a:srgbClr val="16A34A"/>
                </a:solidFill>
                <a:latin typeface="Arial"/>
              </a:rPr>
              <a:t>AND IT CAUGHT THREE DATA ERRORS BEFORE SUBMISSION</a:t>
            </a:r>
          </a:p>
        </p:txBody>
      </p:sp>
      <p:sp>
        <p:nvSpPr>
          <p:cNvPr id="10" name="Rectangle 9"/>
          <p:cNvSpPr/>
          <p:nvPr/>
        </p:nvSpPr>
        <p:spPr>
          <a:xfrm>
            <a:off x="548640" y="4480560"/>
            <a:ext cx="3593592" cy="10515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4480560"/>
            <a:ext cx="82296" cy="10515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4590288"/>
            <a:ext cx="3291840" cy="320040"/>
          </a:xfrm>
          <a:prstGeom prst="rect">
            <a:avLst/>
          </a:prstGeom>
          <a:noFill/>
        </p:spPr>
        <p:txBody>
          <a:bodyPr wrap="square" lIns="0" tIns="0" rIns="0" bIns="0" anchor="t">
            <a:spAutoFit/>
          </a:bodyPr>
          <a:lstStyle/>
          <a:p>
            <a:pPr algn="l">
              <a:lnSpc>
                <a:spcPct val="100000"/>
              </a:lnSpc>
              <a:spcBef>
                <a:spcPts val="0"/>
              </a:spcBef>
              <a:spcAft>
                <a:spcPts val="200"/>
              </a:spcAft>
            </a:pPr>
            <a:r>
              <a:rPr sz="1507" b="1" i="0">
                <a:solidFill>
                  <a:srgbClr val="16A34A"/>
                </a:solidFill>
                <a:latin typeface="Arial"/>
              </a:rPr>
              <a:t>1 · EU tariff</a:t>
            </a:r>
          </a:p>
        </p:txBody>
      </p:sp>
      <p:sp>
        <p:nvSpPr>
          <p:cNvPr id="13" name="TextBox 12"/>
          <p:cNvSpPr txBox="1"/>
          <p:nvPr/>
        </p:nvSpPr>
        <p:spPr>
          <a:xfrm>
            <a:off x="713232" y="4937760"/>
            <a:ext cx="3291840" cy="548640"/>
          </a:xfrm>
          <a:prstGeom prst="rect">
            <a:avLst/>
          </a:prstGeom>
          <a:noFill/>
        </p:spPr>
        <p:txBody>
          <a:bodyPr wrap="square" lIns="0" tIns="0" rIns="0" bIns="0" anchor="t">
            <a:spAutoFit/>
          </a:bodyPr>
          <a:lstStyle/>
          <a:p>
            <a:pPr algn="l">
              <a:lnSpc>
                <a:spcPct val="100000"/>
              </a:lnSpc>
              <a:spcBef>
                <a:spcPts val="0"/>
              </a:spcBef>
              <a:spcAft>
                <a:spcPts val="200"/>
              </a:spcAft>
            </a:pPr>
            <a:r>
              <a:rPr sz="1391" b="0" i="0">
                <a:solidFill>
                  <a:srgbClr val="0F172A"/>
                </a:solidFill>
                <a:latin typeface="Arial"/>
              </a:rPr>
              <a:t>Provisional 36.3% → final 35.3% (SAIC).</a:t>
            </a:r>
          </a:p>
        </p:txBody>
      </p:sp>
      <p:sp>
        <p:nvSpPr>
          <p:cNvPr id="14" name="Rectangle 13"/>
          <p:cNvSpPr/>
          <p:nvPr/>
        </p:nvSpPr>
        <p:spPr>
          <a:xfrm>
            <a:off x="4279392" y="4480560"/>
            <a:ext cx="3593592" cy="10515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79392" y="4480560"/>
            <a:ext cx="82296" cy="10515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43984" y="4590288"/>
            <a:ext cx="3291840" cy="320040"/>
          </a:xfrm>
          <a:prstGeom prst="rect">
            <a:avLst/>
          </a:prstGeom>
          <a:noFill/>
        </p:spPr>
        <p:txBody>
          <a:bodyPr wrap="square" lIns="0" tIns="0" rIns="0" bIns="0" anchor="t">
            <a:spAutoFit/>
          </a:bodyPr>
          <a:lstStyle/>
          <a:p>
            <a:pPr algn="l">
              <a:lnSpc>
                <a:spcPct val="100000"/>
              </a:lnSpc>
              <a:spcBef>
                <a:spcPts val="0"/>
              </a:spcBef>
              <a:spcAft>
                <a:spcPts val="200"/>
              </a:spcAft>
            </a:pPr>
            <a:r>
              <a:rPr sz="1507" b="1" i="0">
                <a:solidFill>
                  <a:srgbClr val="16A34A"/>
                </a:solidFill>
                <a:latin typeface="Arial"/>
              </a:rPr>
              <a:t>2 · Currency unit</a:t>
            </a:r>
          </a:p>
        </p:txBody>
      </p:sp>
      <p:sp>
        <p:nvSpPr>
          <p:cNvPr id="17" name="TextBox 16"/>
          <p:cNvSpPr txBox="1"/>
          <p:nvPr/>
        </p:nvSpPr>
        <p:spPr>
          <a:xfrm>
            <a:off x="4443984" y="4937760"/>
            <a:ext cx="3291840" cy="548640"/>
          </a:xfrm>
          <a:prstGeom prst="rect">
            <a:avLst/>
          </a:prstGeom>
          <a:noFill/>
        </p:spPr>
        <p:txBody>
          <a:bodyPr wrap="square" lIns="0" tIns="0" rIns="0" bIns="0" anchor="t">
            <a:spAutoFit/>
          </a:bodyPr>
          <a:lstStyle/>
          <a:p>
            <a:pPr algn="l">
              <a:lnSpc>
                <a:spcPct val="100000"/>
              </a:lnSpc>
              <a:spcBef>
                <a:spcPts val="0"/>
              </a:spcBef>
              <a:spcAft>
                <a:spcPts val="200"/>
              </a:spcAft>
            </a:pPr>
            <a:r>
              <a:rPr sz="1391" b="0" i="0">
                <a:solidFill>
                  <a:srgbClr val="0F172A"/>
                </a:solidFill>
                <a:latin typeface="Arial"/>
              </a:rPr>
              <a:t>A net-profit figure inflated 10× in a source.</a:t>
            </a:r>
          </a:p>
        </p:txBody>
      </p:sp>
      <p:sp>
        <p:nvSpPr>
          <p:cNvPr id="18" name="Rectangle 17"/>
          <p:cNvSpPr/>
          <p:nvPr/>
        </p:nvSpPr>
        <p:spPr>
          <a:xfrm>
            <a:off x="8010144" y="4480560"/>
            <a:ext cx="3593592" cy="10515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10144" y="4480560"/>
            <a:ext cx="82296" cy="10515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74736" y="4590288"/>
            <a:ext cx="3291840" cy="320040"/>
          </a:xfrm>
          <a:prstGeom prst="rect">
            <a:avLst/>
          </a:prstGeom>
          <a:noFill/>
        </p:spPr>
        <p:txBody>
          <a:bodyPr wrap="square" lIns="0" tIns="0" rIns="0" bIns="0" anchor="t">
            <a:spAutoFit/>
          </a:bodyPr>
          <a:lstStyle/>
          <a:p>
            <a:pPr algn="l">
              <a:lnSpc>
                <a:spcPct val="100000"/>
              </a:lnSpc>
              <a:spcBef>
                <a:spcPts val="0"/>
              </a:spcBef>
              <a:spcAft>
                <a:spcPts val="200"/>
              </a:spcAft>
            </a:pPr>
            <a:r>
              <a:rPr sz="1507" b="1" i="0">
                <a:solidFill>
                  <a:srgbClr val="16A34A"/>
                </a:solidFill>
                <a:latin typeface="Arial"/>
              </a:rPr>
              <a:t>3 · Share count</a:t>
            </a:r>
          </a:p>
        </p:txBody>
      </p:sp>
      <p:sp>
        <p:nvSpPr>
          <p:cNvPr id="21" name="TextBox 20"/>
          <p:cNvSpPr txBox="1"/>
          <p:nvPr/>
        </p:nvSpPr>
        <p:spPr>
          <a:xfrm>
            <a:off x="8174736" y="4937760"/>
            <a:ext cx="3291840" cy="548640"/>
          </a:xfrm>
          <a:prstGeom prst="rect">
            <a:avLst/>
          </a:prstGeom>
          <a:noFill/>
        </p:spPr>
        <p:txBody>
          <a:bodyPr wrap="square" lIns="0" tIns="0" rIns="0" bIns="0" anchor="t">
            <a:spAutoFit/>
          </a:bodyPr>
          <a:lstStyle/>
          <a:p>
            <a:pPr algn="l">
              <a:lnSpc>
                <a:spcPct val="100000"/>
              </a:lnSpc>
              <a:spcBef>
                <a:spcPts val="0"/>
              </a:spcBef>
              <a:spcAft>
                <a:spcPts val="200"/>
              </a:spcAft>
            </a:pPr>
            <a:r>
              <a:rPr sz="1391" b="0" i="0">
                <a:solidFill>
                  <a:srgbClr val="0F172A"/>
                </a:solidFill>
                <a:latin typeface="Arial"/>
              </a:rPr>
              <a:t>A BYD EPS built on the wrong share count.</a:t>
            </a:r>
          </a:p>
        </p:txBody>
      </p:sp>
      <p:sp>
        <p:nvSpPr>
          <p:cNvPr id="22" name="TextBox 21"/>
          <p:cNvSpPr txBox="1"/>
          <p:nvPr/>
        </p:nvSpPr>
        <p:spPr>
          <a:xfrm>
            <a:off x="548640" y="6199632"/>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276" b="0" i="1">
                <a:solidFill>
                  <a:srgbClr val="64748B"/>
                </a:solidFill>
                <a:latin typeface="Arial"/>
              </a:rPr>
              <a:t>All three corrections traced back to the PwC- / Ernst &amp; Young-audited annual reports.</a:t>
            </a:r>
          </a:p>
        </p:txBody>
      </p:sp>
      <p:sp>
        <p:nvSpPr>
          <p:cNvPr id="23" name="TextBox 22"/>
          <p:cNvSpPr txBox="1"/>
          <p:nvPr/>
        </p:nvSpPr>
        <p:spPr>
          <a:xfrm>
            <a:off x="548640" y="6473952"/>
            <a:ext cx="8686800" cy="274320"/>
          </a:xfrm>
          <a:prstGeom prst="rect">
            <a:avLst/>
          </a:prstGeom>
          <a:noFill/>
        </p:spPr>
        <p:txBody>
          <a:bodyPr wrap="square" lIns="0" tIns="0" rIns="0" bIns="0" anchor="t">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4" name="TextBox 23"/>
          <p:cNvSpPr txBox="1"/>
          <p:nvPr/>
        </p:nvSpPr>
        <p:spPr>
          <a:xfrm>
            <a:off x="10820095" y="6473952"/>
            <a:ext cx="822960" cy="274320"/>
          </a:xfrm>
          <a:prstGeom prst="rect">
            <a:avLst/>
          </a:prstGeom>
          <a:noFill/>
        </p:spPr>
        <p:txBody>
          <a:bodyPr wrap="square" lIns="0" tIns="0" rIns="0" bIns="0" anchor="t">
            <a:spAutoFit/>
          </a:bodyPr>
          <a:lstStyle/>
          <a:p>
            <a:pPr algn="r">
              <a:lnSpc>
                <a:spcPct val="100000"/>
              </a:lnSpc>
              <a:spcBef>
                <a:spcPts val="0"/>
              </a:spcBef>
              <a:spcAft>
                <a:spcPts val="200"/>
              </a:spcAft>
            </a:pPr>
            <a:r>
              <a:rPr sz="1218" b="0" i="0">
                <a:solidFill>
                  <a:srgbClr val="64748B"/>
                </a:solidFill>
                <a:latin typeface="Arial"/>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623" b="1" i="0">
                <a:solidFill>
                  <a:srgbClr val="06B6D4"/>
                </a:solidFill>
                <a:latin typeface="Arial"/>
              </a:rPr>
              <a:t>AI ANNEX · LIMITS, COST &amp; JUDGMENT</a:t>
            </a:r>
          </a:p>
        </p:txBody>
      </p:sp>
      <p:sp>
        <p:nvSpPr>
          <p:cNvPr id="4" name="TextBox 3"/>
          <p:cNvSpPr txBox="1"/>
          <p:nvPr/>
        </p:nvSpPr>
        <p:spPr>
          <a:xfrm>
            <a:off x="548640" y="658368"/>
            <a:ext cx="11064240" cy="914400"/>
          </a:xfrm>
          <a:prstGeom prst="rect">
            <a:avLst/>
          </a:prstGeom>
          <a:noFill/>
        </p:spPr>
        <p:txBody>
          <a:bodyPr wrap="square" lIns="0" tIns="0" rIns="0" bIns="0" anchor="t">
            <a:spAutoFit/>
          </a:bodyPr>
          <a:lstStyle/>
          <a:p>
            <a:pPr algn="l">
              <a:lnSpc>
                <a:spcPct val="100000"/>
              </a:lnSpc>
              <a:spcBef>
                <a:spcPts val="0"/>
              </a:spcBef>
              <a:spcAft>
                <a:spcPts val="200"/>
              </a:spcAft>
            </a:pPr>
            <a:r>
              <a:rPr sz="2100" b="1" i="0">
                <a:solidFill>
                  <a:srgbClr val="0F172A"/>
                </a:solidFill>
                <a:latin typeface="Arial"/>
              </a:rPr>
              <a:t>Useful but bounded — and the thinking stayed human</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783080"/>
            <a:ext cx="5440680" cy="32461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783080"/>
            <a:ext cx="5440680" cy="822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965960"/>
            <a:ext cx="5074920" cy="365760"/>
          </a:xfrm>
          <a:prstGeom prst="rect">
            <a:avLst/>
          </a:prstGeom>
          <a:noFill/>
        </p:spPr>
        <p:txBody>
          <a:bodyPr wrap="square" lIns="0" tIns="0" rIns="0" bIns="0" anchor="t">
            <a:spAutoFit/>
          </a:bodyPr>
          <a:lstStyle/>
          <a:p>
            <a:pPr algn="l">
              <a:lnSpc>
                <a:spcPct val="100000"/>
              </a:lnSpc>
              <a:spcBef>
                <a:spcPts val="0"/>
              </a:spcBef>
              <a:spcAft>
                <a:spcPts val="200"/>
              </a:spcAft>
            </a:pPr>
            <a:r>
              <a:rPr sz="1855" b="1" i="0">
                <a:solidFill>
                  <a:srgbClr val="D97706"/>
                </a:solidFill>
                <a:latin typeface="Arial"/>
              </a:rPr>
              <a:t>Real limitations</a:t>
            </a:r>
          </a:p>
        </p:txBody>
      </p:sp>
      <p:sp>
        <p:nvSpPr>
          <p:cNvPr id="10" name="TextBox 9"/>
          <p:cNvSpPr txBox="1"/>
          <p:nvPr/>
        </p:nvSpPr>
        <p:spPr>
          <a:xfrm>
            <a:off x="731520" y="2423160"/>
            <a:ext cx="5074920" cy="2468880"/>
          </a:xfrm>
          <a:prstGeom prst="rect">
            <a:avLst/>
          </a:prstGeom>
          <a:noFill/>
        </p:spPr>
        <p:txBody>
          <a:bodyPr wrap="square" lIns="0" tIns="0" rIns="0" bIns="0">
            <a:spAutoFit/>
          </a:bodyPr>
          <a:lstStyle/>
          <a:p>
            <a:pPr>
              <a:lnSpc>
                <a:spcPct val="105000"/>
              </a:lnSpc>
              <a:spcBef>
                <a:spcPts val="0"/>
              </a:spcBef>
              <a:spcAft>
                <a:spcPts val="800"/>
              </a:spcAft>
              <a:buNone/>
            </a:pPr>
            <a:r>
              <a:rPr sz="1449">
                <a:solidFill>
                  <a:srgbClr val="D97706"/>
                </a:solidFill>
                <a:latin typeface="Arial"/>
              </a:rPr>
              <a:t>–  </a:t>
            </a:r>
            <a:r>
              <a:rPr sz="1449">
                <a:solidFill>
                  <a:srgbClr val="0F172A"/>
                </a:solidFill>
                <a:latin typeface="Arial"/>
              </a:rPr>
              <a:t>Cannot download paywalled PDFs — it knows the papers' content, but key claims still needed manual reading and checking.</a:t>
            </a:r>
          </a:p>
          <a:p>
            <a:pPr>
              <a:lnSpc>
                <a:spcPct val="105000"/>
              </a:lnSpc>
              <a:spcBef>
                <a:spcPts val="0"/>
              </a:spcBef>
              <a:spcAft>
                <a:spcPts val="800"/>
              </a:spcAft>
              <a:buNone/>
            </a:pPr>
            <a:r>
              <a:rPr sz="1449">
                <a:solidFill>
                  <a:srgbClr val="D97706"/>
                </a:solidFill>
                <a:latin typeface="Arial"/>
              </a:rPr>
              <a:t>–  </a:t>
            </a:r>
            <a:r>
              <a:rPr sz="1449">
                <a:solidFill>
                  <a:srgbClr val="0F172A"/>
                </a:solidFill>
                <a:latin typeface="Arial"/>
              </a:rPr>
              <a:t>Token / context limits hit quickly on the stronger model in long sessions.</a:t>
            </a:r>
          </a:p>
          <a:p>
            <a:pPr>
              <a:lnSpc>
                <a:spcPct val="105000"/>
              </a:lnSpc>
              <a:spcBef>
                <a:spcPts val="0"/>
              </a:spcBef>
              <a:spcAft>
                <a:spcPts val="800"/>
              </a:spcAft>
              <a:buNone/>
            </a:pPr>
            <a:r>
              <a:rPr sz="1449">
                <a:solidFill>
                  <a:srgbClr val="D97706"/>
                </a:solidFill>
                <a:latin typeface="Arial"/>
              </a:rPr>
              <a:t>–  </a:t>
            </a:r>
            <a:r>
              <a:rPr sz="1449">
                <a:solidFill>
                  <a:srgbClr val="0F172A"/>
                </a:solidFill>
                <a:latin typeface="Arial"/>
              </a:rPr>
              <a:t>Output was often verbose and needed active editing; some DOIs were wrong.</a:t>
            </a:r>
          </a:p>
        </p:txBody>
      </p:sp>
      <p:sp>
        <p:nvSpPr>
          <p:cNvPr id="11" name="Rectangle 10"/>
          <p:cNvSpPr/>
          <p:nvPr/>
        </p:nvSpPr>
        <p:spPr>
          <a:xfrm>
            <a:off x="6172200" y="1783080"/>
            <a:ext cx="5440680" cy="32461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783080"/>
            <a:ext cx="5440680"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965960"/>
            <a:ext cx="5074920" cy="365760"/>
          </a:xfrm>
          <a:prstGeom prst="rect">
            <a:avLst/>
          </a:prstGeom>
          <a:noFill/>
        </p:spPr>
        <p:txBody>
          <a:bodyPr wrap="square" lIns="0" tIns="0" rIns="0" bIns="0" anchor="t">
            <a:spAutoFit/>
          </a:bodyPr>
          <a:lstStyle/>
          <a:p>
            <a:pPr algn="l">
              <a:lnSpc>
                <a:spcPct val="100000"/>
              </a:lnSpc>
              <a:spcBef>
                <a:spcPts val="0"/>
              </a:spcBef>
              <a:spcAft>
                <a:spcPts val="200"/>
              </a:spcAft>
            </a:pPr>
            <a:r>
              <a:rPr sz="1855" b="1" i="0">
                <a:solidFill>
                  <a:srgbClr val="2563EB"/>
                </a:solidFill>
                <a:latin typeface="Arial"/>
              </a:rPr>
              <a:t>Lessons &amp; cost</a:t>
            </a:r>
          </a:p>
        </p:txBody>
      </p:sp>
      <p:sp>
        <p:nvSpPr>
          <p:cNvPr id="14" name="TextBox 13"/>
          <p:cNvSpPr txBox="1"/>
          <p:nvPr/>
        </p:nvSpPr>
        <p:spPr>
          <a:xfrm>
            <a:off x="6355080" y="2423160"/>
            <a:ext cx="5074920" cy="2164888"/>
          </a:xfrm>
          <a:prstGeom prst="rect">
            <a:avLst/>
          </a:prstGeom>
          <a:noFill/>
        </p:spPr>
        <p:txBody>
          <a:bodyPr wrap="square" lIns="0" tIns="0" rIns="0" bIns="0">
            <a:spAutoFit/>
          </a:bodyPr>
          <a:lstStyle/>
          <a:p>
            <a:pPr>
              <a:lnSpc>
                <a:spcPct val="105000"/>
              </a:lnSpc>
              <a:spcBef>
                <a:spcPts val="0"/>
              </a:spcBef>
              <a:spcAft>
                <a:spcPts val="800"/>
              </a:spcAft>
              <a:buNone/>
            </a:pPr>
            <a:r>
              <a:rPr sz="1449" dirty="0">
                <a:solidFill>
                  <a:srgbClr val="2563EB"/>
                </a:solidFill>
                <a:latin typeface="Arial"/>
              </a:rPr>
              <a:t>–  </a:t>
            </a:r>
            <a:r>
              <a:rPr sz="1449" dirty="0">
                <a:solidFill>
                  <a:srgbClr val="0F172A"/>
                </a:solidFill>
                <a:latin typeface="Arial"/>
              </a:rPr>
              <a:t>A learning curve: several hours to use the agent system productively, not as a chat tool.</a:t>
            </a:r>
          </a:p>
          <a:p>
            <a:pPr>
              <a:lnSpc>
                <a:spcPct val="105000"/>
              </a:lnSpc>
              <a:spcBef>
                <a:spcPts val="0"/>
              </a:spcBef>
              <a:spcAft>
                <a:spcPts val="800"/>
              </a:spcAft>
              <a:buNone/>
            </a:pPr>
            <a:r>
              <a:rPr sz="1449" dirty="0">
                <a:solidFill>
                  <a:srgbClr val="2563EB"/>
                </a:solidFill>
                <a:latin typeface="Arial"/>
              </a:rPr>
              <a:t>–  </a:t>
            </a:r>
            <a:r>
              <a:rPr sz="1449" dirty="0">
                <a:solidFill>
                  <a:srgbClr val="0F172A"/>
                </a:solidFill>
                <a:latin typeface="Arial"/>
              </a:rPr>
              <a:t>AI output always needs critical review</a:t>
            </a:r>
            <a:r>
              <a:rPr lang="de-DE" sz="1449" dirty="0">
                <a:solidFill>
                  <a:srgbClr val="0F172A"/>
                </a:solidFill>
                <a:latin typeface="Arial"/>
              </a:rPr>
              <a:t>,</a:t>
            </a:r>
            <a:r>
              <a:rPr sz="1449" dirty="0">
                <a:solidFill>
                  <a:srgbClr val="0F172A"/>
                </a:solidFill>
                <a:latin typeface="Arial"/>
              </a:rPr>
              <a:t> early drafts contained overclaims.</a:t>
            </a:r>
          </a:p>
          <a:p>
            <a:pPr>
              <a:lnSpc>
                <a:spcPct val="105000"/>
              </a:lnSpc>
              <a:spcBef>
                <a:spcPts val="0"/>
              </a:spcBef>
              <a:spcAft>
                <a:spcPts val="800"/>
              </a:spcAft>
              <a:buNone/>
            </a:pPr>
            <a:r>
              <a:rPr sz="1449" dirty="0">
                <a:solidFill>
                  <a:srgbClr val="2563EB"/>
                </a:solidFill>
                <a:latin typeface="Arial"/>
              </a:rPr>
              <a:t>–  </a:t>
            </a:r>
            <a:r>
              <a:rPr sz="1449" dirty="0">
                <a:solidFill>
                  <a:srgbClr val="0F172A"/>
                </a:solidFill>
                <a:latin typeface="Arial"/>
              </a:rPr>
              <a:t>Cost: Claude Pro at ~€21/month per member; no per-query charge, no paid data services.</a:t>
            </a:r>
          </a:p>
          <a:p>
            <a:pPr>
              <a:lnSpc>
                <a:spcPct val="105000"/>
              </a:lnSpc>
              <a:spcBef>
                <a:spcPts val="0"/>
              </a:spcBef>
              <a:spcAft>
                <a:spcPts val="800"/>
              </a:spcAft>
              <a:buNone/>
            </a:pPr>
            <a:r>
              <a:rPr sz="1449" dirty="0">
                <a:solidFill>
                  <a:srgbClr val="2563EB"/>
                </a:solidFill>
                <a:latin typeface="Arial"/>
              </a:rPr>
              <a:t>–  </a:t>
            </a:r>
            <a:r>
              <a:rPr sz="1449" dirty="0">
                <a:solidFill>
                  <a:srgbClr val="0F172A"/>
                </a:solidFill>
                <a:latin typeface="Arial"/>
              </a:rPr>
              <a:t>Framing that worked: a source-quality enforcer and critical reviewer, not a writer.</a:t>
            </a:r>
          </a:p>
        </p:txBody>
      </p:sp>
      <p:sp>
        <p:nvSpPr>
          <p:cNvPr id="15" name="Rectangle 14"/>
          <p:cNvSpPr/>
          <p:nvPr/>
        </p:nvSpPr>
        <p:spPr>
          <a:xfrm>
            <a:off x="548640" y="5257800"/>
            <a:ext cx="11064240" cy="64008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5257800"/>
            <a:ext cx="10698480" cy="640080"/>
          </a:xfrm>
          <a:prstGeom prst="rect">
            <a:avLst/>
          </a:prstGeom>
          <a:noFill/>
        </p:spPr>
        <p:txBody>
          <a:bodyPr wrap="square" lIns="0" tIns="0" rIns="0" bIns="0" anchor="ctr">
            <a:spAutoFit/>
          </a:bodyPr>
          <a:lstStyle/>
          <a:p>
            <a:pPr algn="l">
              <a:lnSpc>
                <a:spcPct val="100000"/>
              </a:lnSpc>
              <a:spcBef>
                <a:spcPts val="0"/>
              </a:spcBef>
              <a:spcAft>
                <a:spcPts val="200"/>
              </a:spcAft>
            </a:pPr>
            <a:r>
              <a:rPr sz="1565" b="1" i="0">
                <a:solidFill>
                  <a:srgbClr val="FFFFFF"/>
                </a:solidFill>
                <a:latin typeface="Arial"/>
              </a:rPr>
              <a:t>Bottom line: AI compressed research time and caught errors — but every judgment, argument and conclusion remained the authors' own.</a:t>
            </a:r>
          </a:p>
        </p:txBody>
      </p:sp>
      <p:sp>
        <p:nvSpPr>
          <p:cNvPr id="17" name="TextBox 16"/>
          <p:cNvSpPr txBox="1"/>
          <p:nvPr/>
        </p:nvSpPr>
        <p:spPr>
          <a:xfrm>
            <a:off x="548640" y="6473952"/>
            <a:ext cx="8686800" cy="274320"/>
          </a:xfrm>
          <a:prstGeom prst="rect">
            <a:avLst/>
          </a:prstGeom>
          <a:noFill/>
        </p:spPr>
        <p:txBody>
          <a:bodyPr wrap="square" lIns="0" tIns="0" rIns="0" bIns="0" anchor="t">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18" name="TextBox 17"/>
          <p:cNvSpPr txBox="1"/>
          <p:nvPr/>
        </p:nvSpPr>
        <p:spPr>
          <a:xfrm>
            <a:off x="10820095" y="6473952"/>
            <a:ext cx="822960" cy="274320"/>
          </a:xfrm>
          <a:prstGeom prst="rect">
            <a:avLst/>
          </a:prstGeom>
          <a:noFill/>
        </p:spPr>
        <p:txBody>
          <a:bodyPr wrap="square" lIns="0" tIns="0" rIns="0" bIns="0" anchor="t">
            <a:spAutoFit/>
          </a:bodyPr>
          <a:lstStyle/>
          <a:p>
            <a:pPr algn="r">
              <a:lnSpc>
                <a:spcPct val="100000"/>
              </a:lnSpc>
              <a:spcBef>
                <a:spcPts val="0"/>
              </a:spcBef>
              <a:spcAft>
                <a:spcPts val="200"/>
              </a:spcAft>
            </a:pPr>
            <a:r>
              <a:rPr sz="1218" b="0" i="0">
                <a:solidFill>
                  <a:srgbClr val="64748B"/>
                </a:solidFill>
                <a:latin typeface="Arial"/>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623" b="1" i="0">
                <a:solidFill>
                  <a:srgbClr val="06B6D4"/>
                </a:solidFill>
                <a:latin typeface="Arial"/>
              </a:rPr>
              <a:t>REFERENCES</a:t>
            </a:r>
          </a:p>
        </p:txBody>
      </p:sp>
      <p:sp>
        <p:nvSpPr>
          <p:cNvPr id="4" name="TextBox 3"/>
          <p:cNvSpPr txBox="1"/>
          <p:nvPr/>
        </p:nvSpPr>
        <p:spPr>
          <a:xfrm>
            <a:off x="548640" y="658368"/>
            <a:ext cx="11064240" cy="914400"/>
          </a:xfrm>
          <a:prstGeom prst="rect">
            <a:avLst/>
          </a:prstGeom>
          <a:noFill/>
        </p:spPr>
        <p:txBody>
          <a:bodyPr wrap="square" lIns="0" tIns="0" rIns="0" bIns="0" anchor="t">
            <a:spAutoFit/>
          </a:bodyPr>
          <a:lstStyle/>
          <a:p>
            <a:pPr algn="l">
              <a:lnSpc>
                <a:spcPct val="100000"/>
              </a:lnSpc>
              <a:spcBef>
                <a:spcPts val="0"/>
              </a:spcBef>
              <a:spcAft>
                <a:spcPts val="200"/>
              </a:spcAft>
            </a:pPr>
            <a:r>
              <a:rPr sz="2100" b="1" i="0">
                <a:solidFill>
                  <a:srgbClr val="0F172A"/>
                </a:solidFill>
                <a:latin typeface="Arial"/>
              </a:rPr>
              <a:t>Key sources</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691640"/>
            <a:ext cx="5440680" cy="4572000"/>
          </a:xfrm>
          <a:prstGeom prst="rect">
            <a:avLst/>
          </a:prstGeom>
          <a:noFill/>
        </p:spPr>
        <p:txBody>
          <a:bodyPr wrap="square" lIns="0" tIns="0" rIns="0" bIns="0">
            <a:spAutoFit/>
          </a:bodyPr>
          <a:lstStyle/>
          <a:p>
            <a:pPr>
              <a:lnSpc>
                <a:spcPct val="100000"/>
              </a:lnSpc>
              <a:spcBef>
                <a:spcPts val="0"/>
              </a:spcBef>
              <a:spcAft>
                <a:spcPts val="700"/>
              </a:spcAft>
              <a:buNone/>
            </a:pPr>
            <a:r>
              <a:rPr sz="1218">
                <a:solidFill>
                  <a:srgbClr val="0F172A"/>
                </a:solidFill>
                <a:latin typeface="Arial"/>
              </a:rPr>
              <a:t>Allen, F., Qian, J., Shan, C., &amp; Zhu, J. L. (2024). Dissecting the long-term performance of the Chinese stock market. Journal of Finance, 79(2).</a:t>
            </a:r>
          </a:p>
          <a:p>
            <a:pPr>
              <a:lnSpc>
                <a:spcPct val="100000"/>
              </a:lnSpc>
              <a:spcBef>
                <a:spcPts val="0"/>
              </a:spcBef>
              <a:spcAft>
                <a:spcPts val="700"/>
              </a:spcAft>
              <a:buNone/>
            </a:pPr>
            <a:r>
              <a:rPr sz="1218">
                <a:solidFill>
                  <a:srgbClr val="0F172A"/>
                </a:solidFill>
                <a:latin typeface="Arial"/>
              </a:rPr>
              <a:t>Bai, J., Barwick, P. J., Cao, S., &amp; Li, S. (2025). Quid pro quo, knowledge spillovers, and industrial quality upgrading. American Economic Review, 115(11).</a:t>
            </a:r>
          </a:p>
          <a:p>
            <a:pPr>
              <a:lnSpc>
                <a:spcPct val="100000"/>
              </a:lnSpc>
              <a:spcBef>
                <a:spcPts val="0"/>
              </a:spcBef>
              <a:spcAft>
                <a:spcPts val="700"/>
              </a:spcAft>
              <a:buNone/>
            </a:pPr>
            <a:r>
              <a:rPr sz="1218">
                <a:solidFill>
                  <a:srgbClr val="0F172A"/>
                </a:solidFill>
                <a:latin typeface="Arial"/>
              </a:rPr>
              <a:t>Balcet, G., Wang, H., &amp; Richet, X. (2012). Geely: A trajectory of catching up and asset-seeking growth. IJATM, 12(4).</a:t>
            </a:r>
          </a:p>
          <a:p>
            <a:pPr>
              <a:lnSpc>
                <a:spcPct val="100000"/>
              </a:lnSpc>
              <a:spcBef>
                <a:spcPts val="0"/>
              </a:spcBef>
              <a:spcAft>
                <a:spcPts val="700"/>
              </a:spcAft>
              <a:buNone/>
            </a:pPr>
            <a:r>
              <a:rPr sz="1218">
                <a:solidFill>
                  <a:srgbClr val="0F172A"/>
                </a:solidFill>
                <a:latin typeface="Arial"/>
              </a:rPr>
              <a:t>European Commission. (2024). Implementing Regulation (EU) 2024/2754. Official Journal of the EU.</a:t>
            </a:r>
          </a:p>
          <a:p>
            <a:pPr>
              <a:lnSpc>
                <a:spcPct val="100000"/>
              </a:lnSpc>
              <a:spcBef>
                <a:spcPts val="0"/>
              </a:spcBef>
              <a:spcAft>
                <a:spcPts val="700"/>
              </a:spcAft>
              <a:buNone/>
            </a:pPr>
            <a:r>
              <a:rPr sz="1218">
                <a:solidFill>
                  <a:srgbClr val="0F172A"/>
                </a:solidFill>
                <a:latin typeface="Arial"/>
              </a:rPr>
              <a:t>Fan, J. P. H., Wong, T. J., &amp; Zhang, T. (2007). Politically connected CEOs and post-IPO performance. JFE, 84(2).</a:t>
            </a:r>
          </a:p>
          <a:p>
            <a:pPr>
              <a:lnSpc>
                <a:spcPct val="100000"/>
              </a:lnSpc>
              <a:spcBef>
                <a:spcPts val="0"/>
              </a:spcBef>
              <a:spcAft>
                <a:spcPts val="700"/>
              </a:spcAft>
              <a:buNone/>
            </a:pPr>
            <a:r>
              <a:rPr sz="1218">
                <a:solidFill>
                  <a:srgbClr val="0F172A"/>
                </a:solidFill>
                <a:latin typeface="Arial"/>
              </a:rPr>
              <a:t>Holmes, T. J., McGrattan, E. R., &amp; Prescott, E. C. (2015). Quid pro quo: Technology capital transfers for market access in China. RES, 82(3).</a:t>
            </a:r>
          </a:p>
          <a:p>
            <a:pPr>
              <a:lnSpc>
                <a:spcPct val="100000"/>
              </a:lnSpc>
              <a:spcBef>
                <a:spcPts val="0"/>
              </a:spcBef>
              <a:spcAft>
                <a:spcPts val="700"/>
              </a:spcAft>
              <a:buNone/>
            </a:pPr>
            <a:r>
              <a:rPr sz="1218">
                <a:solidFill>
                  <a:srgbClr val="0F172A"/>
                </a:solidFill>
                <a:latin typeface="Arial"/>
              </a:rPr>
              <a:t>Howell, S. T. (2018). Joint ventures and technology adoption: A Chinese industrial policy that backfired. Research Policy, 47(8).</a:t>
            </a:r>
          </a:p>
          <a:p>
            <a:pPr>
              <a:lnSpc>
                <a:spcPct val="100000"/>
              </a:lnSpc>
              <a:spcBef>
                <a:spcPts val="0"/>
              </a:spcBef>
              <a:spcAft>
                <a:spcPts val="700"/>
              </a:spcAft>
              <a:buNone/>
            </a:pPr>
            <a:r>
              <a:rPr sz="1218">
                <a:solidFill>
                  <a:srgbClr val="0F172A"/>
                </a:solidFill>
                <a:latin typeface="Arial"/>
              </a:rPr>
              <a:t>Jensen, M. C., &amp; Meckling, W. H. (1976). Theory of the firm. JFE, 3(4).</a:t>
            </a:r>
          </a:p>
          <a:p>
            <a:pPr>
              <a:lnSpc>
                <a:spcPct val="100000"/>
              </a:lnSpc>
              <a:spcBef>
                <a:spcPts val="0"/>
              </a:spcBef>
              <a:spcAft>
                <a:spcPts val="700"/>
              </a:spcAft>
              <a:buNone/>
            </a:pPr>
            <a:r>
              <a:rPr sz="1218">
                <a:solidFill>
                  <a:srgbClr val="0F172A"/>
                </a:solidFill>
                <a:latin typeface="Arial"/>
              </a:rPr>
              <a:t>Konda, P., Slepnikov, D., &amp; Jin, J. (2022). From transaction to co-creation in Geely's acquisition of Volvo Cars. AJTI, 31(3).</a:t>
            </a:r>
          </a:p>
        </p:txBody>
      </p:sp>
      <p:sp>
        <p:nvSpPr>
          <p:cNvPr id="8" name="TextBox 7"/>
          <p:cNvSpPr txBox="1"/>
          <p:nvPr/>
        </p:nvSpPr>
        <p:spPr>
          <a:xfrm>
            <a:off x="6172200" y="1691640"/>
            <a:ext cx="5440680" cy="4572000"/>
          </a:xfrm>
          <a:prstGeom prst="rect">
            <a:avLst/>
          </a:prstGeom>
          <a:noFill/>
        </p:spPr>
        <p:txBody>
          <a:bodyPr wrap="square" lIns="0" tIns="0" rIns="0" bIns="0">
            <a:spAutoFit/>
          </a:bodyPr>
          <a:lstStyle/>
          <a:p>
            <a:pPr>
              <a:lnSpc>
                <a:spcPct val="100000"/>
              </a:lnSpc>
              <a:spcBef>
                <a:spcPts val="0"/>
              </a:spcBef>
              <a:spcAft>
                <a:spcPts val="700"/>
              </a:spcAft>
              <a:buNone/>
            </a:pPr>
            <a:r>
              <a:rPr sz="1218">
                <a:solidFill>
                  <a:srgbClr val="0F172A"/>
                </a:solidFill>
                <a:latin typeface="Arial"/>
              </a:rPr>
              <a:t>Luo, Y., &amp; Tung, R. L. (2007). International expansion of emerging market enterprises: A springboard perspective. JIBS, 38(4).</a:t>
            </a:r>
          </a:p>
          <a:p>
            <a:pPr>
              <a:lnSpc>
                <a:spcPct val="100000"/>
              </a:lnSpc>
              <a:spcBef>
                <a:spcPts val="0"/>
              </a:spcBef>
              <a:spcAft>
                <a:spcPts val="700"/>
              </a:spcAft>
              <a:buNone/>
            </a:pPr>
            <a:r>
              <a:rPr sz="1218">
                <a:solidFill>
                  <a:srgbClr val="0F172A"/>
                </a:solidFill>
                <a:latin typeface="Arial"/>
              </a:rPr>
              <a:t>Megginson, W. L., &amp; Netter, J. M. (2001). From state to market: A survey of empirical studies on privatization. JEL, 39(2).</a:t>
            </a:r>
          </a:p>
          <a:p>
            <a:pPr>
              <a:lnSpc>
                <a:spcPct val="100000"/>
              </a:lnSpc>
              <a:spcBef>
                <a:spcPts val="0"/>
              </a:spcBef>
              <a:spcAft>
                <a:spcPts val="700"/>
              </a:spcAft>
              <a:buNone/>
            </a:pPr>
            <a:r>
              <a:rPr sz="1218">
                <a:solidFill>
                  <a:srgbClr val="0F172A"/>
                </a:solidFill>
                <a:latin typeface="Arial"/>
              </a:rPr>
              <a:t>Shleifer, A., &amp; Vishny, R. W. (1994). Politicians and firms. Quarterly Journal of Economics, 109(4).</a:t>
            </a:r>
          </a:p>
          <a:p>
            <a:pPr>
              <a:lnSpc>
                <a:spcPct val="100000"/>
              </a:lnSpc>
              <a:spcBef>
                <a:spcPts val="0"/>
              </a:spcBef>
              <a:spcAft>
                <a:spcPts val="700"/>
              </a:spcAft>
              <a:buNone/>
            </a:pPr>
            <a:r>
              <a:rPr sz="1218">
                <a:solidFill>
                  <a:srgbClr val="0F172A"/>
                </a:solidFill>
                <a:latin typeface="Arial"/>
              </a:rPr>
              <a:t>Teece, D. J., Pisano, G., &amp; Shuen, A. (1997). Dynamic capabilities and strategic management. SMJ, 18(7).</a:t>
            </a:r>
          </a:p>
          <a:p>
            <a:pPr>
              <a:lnSpc>
                <a:spcPct val="100000"/>
              </a:lnSpc>
              <a:spcBef>
                <a:spcPts val="0"/>
              </a:spcBef>
              <a:spcAft>
                <a:spcPts val="700"/>
              </a:spcAft>
              <a:buNone/>
            </a:pPr>
            <a:r>
              <a:rPr sz="1218">
                <a:solidFill>
                  <a:srgbClr val="0F172A"/>
                </a:solidFill>
                <a:latin typeface="Arial"/>
              </a:rPr>
              <a:t>Whitfield, L., &amp; Wuttke, T. (2026). China's technological catch-up and leapfrogging in electric vehicles. Progress in Economic Geography, 4.</a:t>
            </a:r>
          </a:p>
          <a:p>
            <a:pPr>
              <a:lnSpc>
                <a:spcPct val="100000"/>
              </a:lnSpc>
              <a:spcBef>
                <a:spcPts val="0"/>
              </a:spcBef>
              <a:spcAft>
                <a:spcPts val="700"/>
              </a:spcAft>
              <a:buNone/>
            </a:pPr>
            <a:r>
              <a:rPr sz="1218">
                <a:solidFill>
                  <a:srgbClr val="0F172A"/>
                </a:solidFill>
                <a:latin typeface="Arial"/>
              </a:rPr>
              <a:t>Zhang, Z.-Q., Tang, B.-J., Su, Z., &amp; Zhang, Y. (2025). Founder control and breakthrough innovation. China Economic Review, 94.</a:t>
            </a:r>
          </a:p>
          <a:p>
            <a:pPr>
              <a:lnSpc>
                <a:spcPct val="100000"/>
              </a:lnSpc>
              <a:spcBef>
                <a:spcPts val="0"/>
              </a:spcBef>
              <a:spcAft>
                <a:spcPts val="700"/>
              </a:spcAft>
              <a:buNone/>
            </a:pPr>
            <a:r>
              <a:rPr sz="1218">
                <a:solidFill>
                  <a:srgbClr val="0F172A"/>
                </a:solidFill>
                <a:latin typeface="Arial"/>
              </a:rPr>
              <a:t>Zheng, Q., Noorderhaven, N., &amp; Du, J. (2022). Making the unlikely marriage work. Journal of World Business, 57(2).</a:t>
            </a:r>
          </a:p>
          <a:p>
            <a:pPr>
              <a:lnSpc>
                <a:spcPct val="100000"/>
              </a:lnSpc>
              <a:spcBef>
                <a:spcPts val="0"/>
              </a:spcBef>
              <a:spcAft>
                <a:spcPts val="700"/>
              </a:spcAft>
              <a:buNone/>
            </a:pPr>
            <a:r>
              <a:rPr sz="1218">
                <a:solidFill>
                  <a:srgbClr val="0F172A"/>
                </a:solidFill>
                <a:latin typeface="Arial"/>
              </a:rPr>
              <a:t>International Energy Agency. (2026). Global EV Outlook 2026. IEA.</a:t>
            </a:r>
          </a:p>
          <a:p>
            <a:pPr>
              <a:lnSpc>
                <a:spcPct val="100000"/>
              </a:lnSpc>
              <a:spcBef>
                <a:spcPts val="0"/>
              </a:spcBef>
              <a:spcAft>
                <a:spcPts val="700"/>
              </a:spcAft>
              <a:buNone/>
            </a:pPr>
            <a:r>
              <a:rPr sz="1218">
                <a:solidFill>
                  <a:srgbClr val="0F172A"/>
                </a:solidFill>
                <a:latin typeface="Arial"/>
              </a:rPr>
              <a:t>Annual Reports: SAIC Motor (2025, 2026); BYD (2025, 2026); Geely Automobile Holdings (2025, 2026).</a:t>
            </a:r>
          </a:p>
        </p:txBody>
      </p:sp>
      <p:sp>
        <p:nvSpPr>
          <p:cNvPr id="9" name="TextBox 8"/>
          <p:cNvSpPr txBox="1"/>
          <p:nvPr/>
        </p:nvSpPr>
        <p:spPr>
          <a:xfrm>
            <a:off x="548640" y="6473952"/>
            <a:ext cx="8686800" cy="274320"/>
          </a:xfrm>
          <a:prstGeom prst="rect">
            <a:avLst/>
          </a:prstGeom>
          <a:noFill/>
        </p:spPr>
        <p:txBody>
          <a:bodyPr wrap="square" lIns="0" tIns="0" rIns="0" bIns="0" anchor="t">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10" name="TextBox 9"/>
          <p:cNvSpPr txBox="1"/>
          <p:nvPr/>
        </p:nvSpPr>
        <p:spPr>
          <a:xfrm>
            <a:off x="10820095" y="6473952"/>
            <a:ext cx="822960" cy="274320"/>
          </a:xfrm>
          <a:prstGeom prst="rect">
            <a:avLst/>
          </a:prstGeom>
          <a:noFill/>
        </p:spPr>
        <p:txBody>
          <a:bodyPr wrap="square" lIns="0" tIns="0" rIns="0" bIns="0" anchor="t">
            <a:spAutoFit/>
          </a:bodyPr>
          <a:lstStyle/>
          <a:p>
            <a:pPr algn="r">
              <a:lnSpc>
                <a:spcPct val="100000"/>
              </a:lnSpc>
              <a:spcBef>
                <a:spcPts val="0"/>
              </a:spcBef>
              <a:spcAft>
                <a:spcPts val="200"/>
              </a:spcAft>
            </a:pPr>
            <a:r>
              <a:rPr sz="1218" b="0" i="0">
                <a:solidFill>
                  <a:srgbClr val="64748B"/>
                </a:solidFill>
                <a:latin typeface="Arial"/>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5908</Words>
  <Application>Microsoft Office PowerPoint</Application>
  <PresentationFormat>Breitbild</PresentationFormat>
  <Paragraphs>408</Paragraphs>
  <Slides>20</Slides>
  <Notes>20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20</vt:i4>
      </vt:variant>
    </vt:vector>
  </HeadingPairs>
  <TitlesOfParts>
    <vt:vector size="24" baseType="lpstr">
      <vt:lpstr>Arial</vt:lpstr>
      <vt:lpstr>Calibri</vt:lpstr>
      <vt:lpstr>Consolas</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ve1kgbs242@goetheuniversitaet.onmicrosoft.com</cp:lastModifiedBy>
  <cp:revision>2</cp:revision>
  <dcterms:created xsi:type="dcterms:W3CDTF">2013-01-27T09:14:16Z</dcterms:created>
  <dcterms:modified xsi:type="dcterms:W3CDTF">2026-06-29T15:17:18Z</dcterms:modified>
  <cp:category/>
</cp:coreProperties>
</file>