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76" r:id="rId2"/>
    <p:sldId id="282" r:id="rId3"/>
    <p:sldId id="278" r:id="rId4"/>
    <p:sldId id="279" r:id="rId5"/>
    <p:sldId id="281" r:id="rId6"/>
    <p:sldId id="280" r:id="rId7"/>
    <p:sldId id="283" r:id="rId8"/>
    <p:sldId id="284" r:id="rId9"/>
    <p:sldId id="285" r:id="rId10"/>
    <p:sldId id="286" r:id="rId11"/>
    <p:sldId id="287" r:id="rId12"/>
    <p:sldId id="288" r:id="rId13"/>
    <p:sldId id="289" r:id="rId14"/>
    <p:sldId id="290" r:id="rId15"/>
    <p:sldId id="291" r:id="rId16"/>
    <p:sldId id="292" r:id="rId17"/>
    <p:sldId id="293" r:id="rId18"/>
    <p:sldId id="295" r:id="rId19"/>
    <p:sldId id="275" r:id="rId20"/>
    <p:sldId id="256" r:id="rId21"/>
    <p:sldId id="257" r:id="rId22"/>
    <p:sldId id="258" r:id="rId23"/>
    <p:sldId id="262" r:id="rId24"/>
    <p:sldId id="259" r:id="rId25"/>
    <p:sldId id="260" r:id="rId26"/>
    <p:sldId id="261" r:id="rId27"/>
    <p:sldId id="263" r:id="rId28"/>
    <p:sldId id="264" r:id="rId29"/>
    <p:sldId id="265" r:id="rId30"/>
    <p:sldId id="266" r:id="rId31"/>
    <p:sldId id="267" r:id="rId32"/>
    <p:sldId id="268" r:id="rId33"/>
    <p:sldId id="269" r:id="rId34"/>
    <p:sldId id="270" r:id="rId35"/>
    <p:sldId id="271" r:id="rId36"/>
    <p:sldId id="273" r:id="rId37"/>
    <p:sldId id="272" r:id="rId38"/>
    <p:sldId id="294" r:id="rId39"/>
    <p:sldId id="27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00" autoAdjust="0"/>
    <p:restoredTop sz="94610"/>
  </p:normalViewPr>
  <p:slideViewPr>
    <p:cSldViewPr snapToGrid="0" snapToObjects="1">
      <p:cViewPr>
        <p:scale>
          <a:sx n="150" d="100"/>
          <a:sy n="150" d="100"/>
        </p:scale>
        <p:origin x="1363" y="2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0"/>
        <c:ser>
          <c:idx val="0"/>
          <c:order val="0"/>
          <c:tx>
            <c:strRef>
              <c:f>Sheet1!$B$1</c:f>
              <c:strCache>
                <c:ptCount val="1"/>
                <c:pt idx="0">
                  <c:v>ROE FY2024</c:v>
                </c:pt>
              </c:strCache>
            </c:strRef>
          </c:tx>
          <c:spPr>
            <a:solidFill>
              <a:srgbClr val="2563EB"/>
            </a:solidFill>
            <a:effectLst/>
          </c:spPr>
          <c:invertIfNegative val="0"/>
          <c:dLbls>
            <c:dLbl>
              <c:idx val="0"/>
              <c:tx>
                <c:rich>
                  <a:bodyPr/>
                  <a:lstStyle/>
                  <a:p>
                    <a:r>
                      <a:rPr lang="en-US" dirty="0"/>
                      <a:t>0.6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7A6-4997-8B9B-D324848E2300}"/>
                </c:ext>
              </c:extLst>
            </c:dLbl>
            <c:dLbl>
              <c:idx val="1"/>
              <c:tx>
                <c:rich>
                  <a:bodyPr/>
                  <a:lstStyle/>
                  <a:p>
                    <a:r>
                      <a:rPr lang="en-US"/>
                      <a:t>21.7</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7A6-4997-8B9B-D324848E2300}"/>
                </c:ext>
              </c:extLst>
            </c:dLbl>
            <c:dLbl>
              <c:idx val="2"/>
              <c:tx>
                <c:rich>
                  <a:bodyPr/>
                  <a:lstStyle/>
                  <a:p>
                    <a:r>
                      <a:rPr lang="en-US"/>
                      <a:t>19.2</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E7A6-4997-8B9B-D324848E2300}"/>
                </c:ext>
              </c:extLst>
            </c:dLbl>
            <c:numFmt formatCode="#,##0" sourceLinked="0"/>
            <c:spPr>
              <a:noFill/>
              <a:ln>
                <a:noFill/>
              </a:ln>
              <a:effectLst/>
            </c:spPr>
            <c:txPr>
              <a:bodyPr/>
              <a:lstStyle/>
              <a:p>
                <a:pPr>
                  <a:defRPr sz="1100" b="1" i="0" u="none" strike="noStrike">
                    <a:solidFill>
                      <a:srgbClr val="0F17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SAIC</c:v>
                </c:pt>
                <c:pt idx="1">
                  <c:v>BYD</c:v>
                </c:pt>
                <c:pt idx="2">
                  <c:v>Geely</c:v>
                </c:pt>
              </c:strCache>
            </c:strRef>
          </c:cat>
          <c:val>
            <c:numRef>
              <c:f>Sheet1!$B$2:$B$4</c:f>
              <c:numCache>
                <c:formatCode>General</c:formatCode>
                <c:ptCount val="3"/>
                <c:pt idx="0">
                  <c:v>0.57999999999999996</c:v>
                </c:pt>
                <c:pt idx="1">
                  <c:v>21.7</c:v>
                </c:pt>
                <c:pt idx="2">
                  <c:v>19.2</c:v>
                </c:pt>
              </c:numCache>
            </c:numRef>
          </c:val>
          <c:extLst>
            <c:ext xmlns:c16="http://schemas.microsoft.com/office/drawing/2014/chart" uri="{C3380CC4-5D6E-409C-BE32-E72D297353CC}">
              <c16:uniqueId val="{00000000-E7A6-4997-8B9B-D324848E230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6350" cap="flat">
              <a:solidFill>
                <a:srgbClr val="EDF1F5"/>
              </a:solidFill>
              <a:prstDash val="solid"/>
              <a:round/>
            </a:ln>
          </c:spPr>
        </c:majorGridlines>
        <c:title>
          <c:tx>
            <c:rich>
              <a:bodyPr/>
              <a:lstStyle/>
              <a:p>
                <a:pPr>
                  <a:defRPr sz="1100" b="0" i="0" u="none" strike="noStrike">
                    <a:solidFill>
                      <a:srgbClr val="64748B"/>
                    </a:solidFill>
                    <a:latin typeface="Arial"/>
                  </a:defRPr>
                </a:pPr>
                <a:r>
                  <a:rPr lang="en-GB" sz="1100" b="0" i="0" u="none" strike="noStrike">
                    <a:solidFill>
                      <a:srgbClr val="64748B"/>
                    </a:solidFill>
                    <a:latin typeface="Arial"/>
                  </a:rPr>
                  <a:t>Return on equity, FY2024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majorUnit val="5"/>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seminar paper asks how a successful automotive company can be built in China, and which governance and financing structure is most likely to create long-term shareholder value. We compare three real archetypes — SAIC, BYD and Geely. I'll walk through the framework, the four-dimension comparison, our verdict, and finally reflect on how we used AI in the research process.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tension: for three decades the joint venture was THE way to build cars at scale in China — foreign tech for market access. By 2025 that model is breaking down. EVs are the majority of sales, Chinese independents lead globally, and the EU now puts different tariffs on different governance models — 35.3% on state-led SAIC versus 17% on BYD. That sets up our central question, on the right. Note we compare models, not companies.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strands of theory all point the same direction. Agency theory: founder ownership removes the principal-agent conflict. Shleifer and Vishny: in state firms, control rights steer capital toward political goals, not shareholder value. And the empirical literature — including Allen et al. 2024 on the Chinese market — finds state-controlled firms structurally underperform. So the prior is clear before we even look at the cases.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about who holds control rights. SAIC: SASAC owns ~73%, the Party mandate is written into the charter, and JV boards need bilateral consent — three brakes on decisions. BYD: the founder and team hold a third of votes under one-share-one-vote, enabling unilateral moves like exiting combustion entirely in 2022. Geely: Li Shufu controls the apex, agile on deals but paying multi-brand coordination cost. The takeaway: concentrated commercial control acts fastest.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financing story in one chart: return on equity in FY2024. SAIC essentially flat at 0.6%, BYD 21.7%, Geely 19.2%. The gap is structural, not luck. On the right: BYD's ROE did compress to 13.2% in FY2025 under the price war — I'm being honest about that — but it stays self-funded. SAIC's FY2025 'recovery' is just the absence of last year's impairments. Geely is resilient but levering 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goal — fund growth — but the risk lands differently. SAIC externalised capital risk onto 50/50 JV partners; capital-light worked until sales fell and it was contractually bound to absorb losses it couldn't restructure — a capital trap. BYD funds itself from operating cash flow, net-cash, spending more on R&amp;D than it earns in profit. Geely borrows to buy capability fast — highest financing risk, dependent on Volvo's profitability.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building is a speed-depth-independence trade-off, mapped here. SAIC's JV route was fastest for production quality — Bai et al. measure +8.3% — but rents cannibalised its own innovation, so it never built EV platforms. Geely bought capability fast and, uniquely, turned it into genuine co-development — the CMA platform. BYD took the slow organic road but accumulated tacit, non-imitable knowledge from cell chemistry to software. Slowest to build, hardest to copy.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 transition audited every prior choice. SAIC is most exposed: its plants run at 14-37% of capacity and the profit rebound is just the absence of last year's write-downs. BYD is strongest: no combustion legacy, fourth year as global NEV leader, exports up 140% — though margins are compressing and it's moved to net debt. Geely is the adaptive middle: a majority-EV sales mix and strong profit growth, but levered and platform-dependent on Volvo.</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cases we abstract three transferable lessons. One: how you acquire capability decides how durable it is across technology shifts. Two: governance is first-order for adaptability — when technology moves faster than your decision cycle, governance becomes the binding constraint. Three: capital structure decides who survives a contraction — self-financing trades speed for resilience, leverage does the opposite. These generalise beyond autos to any high-growth, high-uncertainty market.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to the central question. Of the three, BYD is most likely to create long-term shareholder value: highest ROE, four years as global NEV leader, a 5.6-billion-dollar raise that sovereign wealth funds joined, and private governance that the literature says structurally outperforms state control. The nuance in the box matters: it's not that vertical integration is magic — it's that BYD aligns commercial founder control with a self-financing structure. Governance and capital discipline together.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33EA-C7D6-FD95-61B4-6DD200105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A5F47-56C8-9387-57F2-0BF1B843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9704-4CEC-396C-4B8C-6AF538AF2693}"/>
              </a:ext>
            </a:extLst>
          </p:cNvPr>
          <p:cNvSpPr>
            <a:spLocks noGrp="1"/>
          </p:cNvSpPr>
          <p:nvPr>
            <p:ph type="body" idx="1"/>
          </p:nvPr>
        </p:nvSpPr>
        <p:spPr/>
        <p:txBody>
          <a:bodyPr/>
          <a:lstStyle/>
          <a:p>
            <a:r>
              <a:rPr lang="en-US" dirty="0"/>
              <a:t>Our answer to the central question. Of the three, BYD is most likely to create long-term shareholder value: highest ROE, four years as global NEV leader, a 5.6-billion-dollar raise that sovereign wealth funds joined, and private governance that the literature says structurally outperforms state control. The nuance in the box matters: it's not that vertical integration is magic — it's that BYD aligns commercial founder control with a self-financing structure. Governance and capital discipline together.</a:t>
            </a:r>
          </a:p>
        </p:txBody>
      </p:sp>
      <p:sp>
        <p:nvSpPr>
          <p:cNvPr id="4" name="Slide Number Placeholder 3">
            <a:extLst>
              <a:ext uri="{FF2B5EF4-FFF2-40B4-BE49-F238E27FC236}">
                <a16:creationId xmlns:a16="http://schemas.microsoft.com/office/drawing/2014/main" id="{FFF1B766-FDBA-CCCD-1876-6746E8287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466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and to widen the lens. The deep point: governance is not a knob you turn after picking a strategy — it is the mechanism that lets any strategy be executed at all. The JV model didn't lose to a better battery; it lost to a better way of allocating control and capital. And the open question, honestly stated: BYD's lead depends on the same discipline that built it, now under price-war pressure. The 2020-25 transition is, in effect, a natural experiment showing governance beats endowment in converting disruption into durable value.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required reflection on the AI platform. We didn't use a chatbot — we used Claude Code as a layered system. A core model — Sonnet for most work, Opus for the hard analytical passes — orchestrated five specialised agents: ingest, query, lint, verify-claims, and find-references, plus web-search and repo-Q&amp;A via MCP. Everything lived in a shared git repository with one wiki per case and a shared comparison layer.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role did it actually play? Two things. First, research infrastructure: a persistent wiki we ingested sources into once and then queried — far faster than re-reading PDFs. Second, a quality enforcer: every source was rated on journal quality and relevance, and a per-case writing guide held the verified numbers and citations so all three of us stayed consistent. Because the AI could read all three wikis, cross-case comparison didn't need manual data swapping.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lang="en-US" dirty="0"/>
              <a:t>What role did it actually play? Two things. First, research infrastructure: a persistent wiki we ingested sources into once and then queried — far faster than re-reading PDFs. Second, a quality enforcer: every source was rated on journal quality and relevance, and a per-case writing guide held the verified numbers and citations so all three of us stayed consistent. Because the AI could read all three wikis, cross-case comparison didn't need manual data swapping.</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1F852-F6FB-C81D-5A41-85852B77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F1E70-3F06-49E7-0892-92645E208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B565D-7CDA-D038-636B-4F2DAD030B39}"/>
              </a:ext>
            </a:extLst>
          </p:cNvPr>
          <p:cNvSpPr>
            <a:spLocks noGrp="1"/>
          </p:cNvSpPr>
          <p:nvPr>
            <p:ph type="body" idx="1"/>
          </p:nvPr>
        </p:nvSpPr>
        <p:spPr/>
        <p:txBody>
          <a:bodyPr/>
          <a:lstStyle/>
          <a:p>
            <a:r>
              <a:rPr lang="en-US" dirty="0"/>
              <a:t>What role did it actually play? Two things. First, research infrastructure: a persistent wiki we ingested sources into once and then queried — far faster than re-reading PDFs. Second, a quality enforcer: every source was rated on journal quality and relevance, and a per-case writing guide held the verified numbers and citations so all three of us stayed consistent. Because the AI could read all three wikis, cross-case comparison didn't need manual data swapping.</a:t>
            </a:r>
          </a:p>
        </p:txBody>
      </p:sp>
      <p:sp>
        <p:nvSpPr>
          <p:cNvPr id="4" name="Slide Number Placeholder 3">
            <a:extLst>
              <a:ext uri="{FF2B5EF4-FFF2-40B4-BE49-F238E27FC236}">
                <a16:creationId xmlns:a16="http://schemas.microsoft.com/office/drawing/2014/main" id="{531F51C1-B23A-22AB-AB62-A7EF181EF5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8810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it helpful? Most of all for compressing research time — and concretely, it caught three real data errors before they reached the paper: a provisional tariff we'd have quoted as final, a net-profit figure inflated by a currency-unit mix-up, and an EPS on the wrong share count. Each was caught by forcing a trace back to the audited annual report. It also flagged duplicated arguments and APA slips, and the persistent base survived a hardware crash.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limits were real. No paywalled journals, so some reading was manual. Geely's PDFs weren't machine-readable, which is why that case leaned more on web sources. Long sessions hit context limits, forcing us to split work. And AI text needed active review — early drafts overclaimed and we corrected them by hand. The line we held: infrastructure and review were AI-assisted; judgment and interpretation stayed human.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Full citations for all sources in the deck.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Chinese automakers, three governance models, one question: which ownership and financing structure best creates long-term shareholder value? Central claim: governance, more than initial technological endowment, determines who enters the EV era from strength.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and its relevance. EVs are 55% of China's market; JV-dependent firms are losing share while independents lead globally. The EU has even turned governance into a trade variable. Objective stated explicitly. Transition to the theoretical frame.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governance lens. Control rights drive allocation (Shleifer-Vishny); concentrated ownership removes agency costs (Jensen-Meckling); political connection and mixed ownership empirically underperform (Fan et al.; Megginson-Netter). Transition to capability theory.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The capital-light JV model captured upside in growth but became a capital trap in 2024 when SAIC had to absorb losses without control: ROE collapsed to 0.58%. BYD self-finances; Geely leverages for speed. Transition to capability building.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build capability, each with a different durability profile under technological discontinuity. Note the research gap: no prior work compares all three under one paradigm shift. That gap is our contribution. Transition into the comparison.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for the next five slides: three firms as columns, four dimensions as rows, one regulatory regime isolating ownership. One dimension per slide follows.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SAIC's control is split across SASAC, the Party mandate, and 50/50 JV boards; BYD's founder control enabled the unilateral 2022 ICE exit; Geely is agile but pays multi-brand coordination cost. The EU tariff prices the difference. Transition to financing.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 of capability acquisition sets durability. BYD slowest but non-imitable (Teece); Geely fast and genuine co-development (CMA, patent convergence); SAIC fast to quality but rent cannibalization left no proprietary EV platforms. Transition to viability.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 transition as a structural audit. SAIC's plants run far below capacity; BYD enters from strength; Geely's core executes but carries periphery risk at Polestar and Lotus. Transition to the synthesis dashboard.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One-glance synthesis: across all four dimensions, private founder control outperforms. SAIC's 0.58% ROE and 35.3% tariff are the signature of state-JV dependency. Note Geely FY2024 is as originally reported. Transition to the joint lessons.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Lesson 1 will argue that the mode of capability acquisition determines durability across technology cycles. Final wording pending.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Lesson 2 will argue that governance structure is a first-order determinant of strategic adaptability. Final wording pending.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Lesson 3 will argue that capital structure determines resilience when markets contract. Final wording pending.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work was done. A layered agent system on Claude Code, not a single chatbot: Sonnet for the bulk, Opus for cross-case analysis; five specialized agents over a persistent shared wiki.</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One shared git repository, a folder per case plus a shared layer; pull before, push after. Claude Code read all three wikis at once, enabling direct cross-case comparison. One merge conflict, resolved with git stash.</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discipline. Every source rated on journal quality (Q1-Q5) and direct relevance (R1-R4); arguments anchored only on Q1/Q2. A per-case writing guide kept data and citations consistent across sessions and authors.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platform delivered most: research volume that would be unmanageable manually, and persistence that survived a hardware shutdown with full recovery.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use, not blind trust. Asking the model to act as a critical reviewer and to verify each claim against its source caught three real data errors before submission, all traced to audited annual reports.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ease of use: the technique mattered more than the tool. The single most effective move was framing Claude as a critical reviewer — a supervisor hunting for errors — rather than a helpful collaborator validating our text. Isolating one claim and demanding the exact source passage is what caught our data errors. 'Shorten without changing the argument or dropping citations' kept edits safe. And bounding comparisons to verified wiki data beat free-form reasoning.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balance. Real limits: no paywalled journals, non-readable Geely PDFs, token limits, and AI formulations needing review. Cost was modest at ~21 euros per month. Judgment stayed with the authors.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SASAC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Optimizes state + commercial goals → slow</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SAIC — capital trap:</a:t>
            </a:r>
            <a:r>
              <a:rPr lang="en-US" sz="1150" dirty="0">
                <a:solidFill>
                  <a:srgbClr val="1E293B"/>
                </a:solidFill>
                <a:latin typeface="Arial" pitchFamily="34" charset="0"/>
                <a:ea typeface="Arial" pitchFamily="34" charset="-122"/>
                <a:cs typeface="Arial" pitchFamily="34" charset="-120"/>
              </a:rPr>
              <a:t> 50/50 risk-sharing inverted; 2024 net profit −88%, ROE 0.58% with no control to restructure.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
        <p:nvSpPr>
          <p:cNvPr id="50" name="Text 17">
            <a:extLst>
              <a:ext uri="{FF2B5EF4-FFF2-40B4-BE49-F238E27FC236}">
                <a16:creationId xmlns:a16="http://schemas.microsoft.com/office/drawing/2014/main" id="{A40ED70B-5706-27A3-1990-2ACC083D40A9}"/>
              </a:ext>
            </a:extLst>
          </p:cNvPr>
          <p:cNvSpPr/>
          <p:nvPr/>
        </p:nvSpPr>
        <p:spPr>
          <a:xfrm>
            <a:off x="502920" y="3915169"/>
            <a:ext cx="8280350" cy="692051"/>
          </a:xfrm>
          <a:prstGeom prst="rect">
            <a:avLst/>
          </a:prstGeom>
          <a:solidFill>
            <a:srgbClr val="0F172A"/>
          </a:solidFill>
          <a:ln/>
        </p:spPr>
        <p:txBody>
          <a:bodyPr wrap="square" rtlCol="0" anchor="ctr"/>
          <a:lstStyle/>
          <a:p>
            <a:pPr marL="0" indent="0">
              <a:buNone/>
            </a:pPr>
            <a:endParaRPr lang="en-US" dirty="0"/>
          </a:p>
        </p:txBody>
      </p:sp>
      <p:sp>
        <p:nvSpPr>
          <p:cNvPr id="52" name="Text 18">
            <a:extLst>
              <a:ext uri="{FF2B5EF4-FFF2-40B4-BE49-F238E27FC236}">
                <a16:creationId xmlns:a16="http://schemas.microsoft.com/office/drawing/2014/main" id="{A0BB4929-D26A-4511-67B7-B2B82FBEE923}"/>
              </a:ext>
            </a:extLst>
          </p:cNvPr>
          <p:cNvSpPr/>
          <p:nvPr/>
        </p:nvSpPr>
        <p:spPr>
          <a:xfrm>
            <a:off x="706071" y="4054769"/>
            <a:ext cx="8031531" cy="412849"/>
          </a:xfrm>
          <a:prstGeom prst="rect">
            <a:avLst/>
          </a:prstGeom>
          <a:noFill/>
          <a:ln/>
        </p:spPr>
        <p:txBody>
          <a:bodyPr wrap="square" lIns="0" tIns="0" rIns="0" bIns="0" rtlCol="0" anchor="t"/>
          <a:lstStyle/>
          <a:p>
            <a:pPr marL="0" indent="0" algn="l">
              <a:lnSpc>
                <a:spcPts val="1625"/>
              </a:lnSpc>
              <a:buNone/>
            </a:pPr>
            <a:r>
              <a:rPr lang="en-US" sz="1250" b="1" dirty="0">
                <a:solidFill>
                  <a:srgbClr val="06B6D4"/>
                </a:solidFill>
                <a:latin typeface="Arial" pitchFamily="34" charset="0"/>
                <a:ea typeface="Arial" pitchFamily="34" charset="-122"/>
                <a:cs typeface="Arial" pitchFamily="34" charset="-120"/>
              </a:rPr>
              <a:t>Research gap:</a:t>
            </a:r>
            <a:r>
              <a:rPr lang="en-US" sz="1250" dirty="0">
                <a:solidFill>
                  <a:srgbClr val="FFFFFF"/>
                </a:solidFill>
                <a:latin typeface="Arial" pitchFamily="34" charset="0"/>
                <a:ea typeface="Arial" pitchFamily="34" charset="-122"/>
                <a:cs typeface="Arial" pitchFamily="34" charset="-120"/>
              </a:rPr>
              <a:t> no prior work compares all three acquisition modes under a single technology discontinuity — this paper's contribution.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999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85067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SAIC-GM at 37% capacity utilisation, VW's MEB plant at 14%; the "JV 2.0" pivot with Huawei arrives years after BYD's lead.</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483AD8-1182-6961-5B2A-22C320BC5A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D10C80-AF00-07BE-93A9-29E3E63768BA}"/>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0CDB0E2-9D28-D079-57C1-E1B9F73926A3}"/>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000" dirty="0"/>
          </a:p>
        </p:txBody>
      </p:sp>
      <p:sp>
        <p:nvSpPr>
          <p:cNvPr id="4" name="Shape 2">
            <a:extLst>
              <a:ext uri="{FF2B5EF4-FFF2-40B4-BE49-F238E27FC236}">
                <a16:creationId xmlns:a16="http://schemas.microsoft.com/office/drawing/2014/main" id="{8C448FC5-4621-8F13-9F07-0A899274417F}"/>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DBF35B9-77B8-3ED9-6BEC-6B4ACF123CEB}"/>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27D91C88-BE0C-3419-63EC-E3D9A019D39E}"/>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Grafik 35">
            <a:extLst>
              <a:ext uri="{FF2B5EF4-FFF2-40B4-BE49-F238E27FC236}">
                <a16:creationId xmlns:a16="http://schemas.microsoft.com/office/drawing/2014/main" id="{D0EF95A0-FE44-E97B-FC38-A9A10D4D745F}"/>
              </a:ext>
            </a:extLst>
          </p:cNvPr>
          <p:cNvPicPr>
            <a:picLocks noChangeAspect="1"/>
          </p:cNvPicPr>
          <p:nvPr/>
        </p:nvPicPr>
        <p:blipFill>
          <a:blip r:embed="rId3"/>
          <a:stretch>
            <a:fillRect/>
          </a:stretch>
        </p:blipFill>
        <p:spPr>
          <a:xfrm>
            <a:off x="411480" y="1431036"/>
            <a:ext cx="7980026" cy="3760435"/>
          </a:xfrm>
          <a:prstGeom prst="rect">
            <a:avLst/>
          </a:prstGeom>
        </p:spPr>
      </p:pic>
    </p:spTree>
    <p:extLst>
      <p:ext uri="{BB962C8B-B14F-4D97-AF65-F5344CB8AC3E}">
        <p14:creationId xmlns:p14="http://schemas.microsoft.com/office/powerpoint/2010/main" val="195861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8"/>
            <a:ext cx="2920901" cy="400050"/>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000"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
            <a:extLst>
              <a:ext uri="{FF2B5EF4-FFF2-40B4-BE49-F238E27FC236}">
                <a16:creationId xmlns:a16="http://schemas.microsoft.com/office/drawing/2014/main" id="{48035EEB-7F4A-51DA-0FD5-B120A84A2CC2}"/>
              </a:ext>
            </a:extLst>
          </p:cNvPr>
          <p:cNvSpPr/>
          <p:nvPr/>
        </p:nvSpPr>
        <p:spPr>
          <a:xfrm>
            <a:off x="502920" y="149215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2" name="Text 3">
            <a:extLst>
              <a:ext uri="{FF2B5EF4-FFF2-40B4-BE49-F238E27FC236}">
                <a16:creationId xmlns:a16="http://schemas.microsoft.com/office/drawing/2014/main" id="{BA7F00AB-A470-6075-30FF-CC9A52BCBC7C}"/>
              </a:ext>
            </a:extLst>
          </p:cNvPr>
          <p:cNvSpPr/>
          <p:nvPr/>
        </p:nvSpPr>
        <p:spPr>
          <a:xfrm>
            <a:off x="502920" y="1819126"/>
            <a:ext cx="3962400" cy="1529655"/>
          </a:xfrm>
          <a:prstGeom prst="rect">
            <a:avLst/>
          </a:prstGeom>
          <a:solidFill>
            <a:srgbClr val="0F172A"/>
          </a:solidFill>
          <a:ln/>
        </p:spPr>
        <p:txBody>
          <a:bodyPr wrap="square" rtlCol="0" anchor="ctr"/>
          <a:lstStyle/>
          <a:p>
            <a:pPr marL="0" indent="0">
              <a:buNone/>
            </a:pPr>
            <a:endParaRPr lang="en-US" dirty="0"/>
          </a:p>
        </p:txBody>
      </p:sp>
      <p:sp>
        <p:nvSpPr>
          <p:cNvPr id="54" name="Text 4">
            <a:extLst>
              <a:ext uri="{FF2B5EF4-FFF2-40B4-BE49-F238E27FC236}">
                <a16:creationId xmlns:a16="http://schemas.microsoft.com/office/drawing/2014/main" id="{FABC788A-6C31-6A69-10A8-823536026B69}"/>
              </a:ext>
            </a:extLst>
          </p:cNvPr>
          <p:cNvSpPr/>
          <p:nvPr/>
        </p:nvSpPr>
        <p:spPr>
          <a:xfrm>
            <a:off x="706071" y="199682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56" name="Text 5">
            <a:extLst>
              <a:ext uri="{FF2B5EF4-FFF2-40B4-BE49-F238E27FC236}">
                <a16:creationId xmlns:a16="http://schemas.microsoft.com/office/drawing/2014/main" id="{A4B00112-FA32-45B8-3E73-79476FA57626}"/>
              </a:ext>
            </a:extLst>
          </p:cNvPr>
          <p:cNvSpPr/>
          <p:nvPr/>
        </p:nvSpPr>
        <p:spPr>
          <a:xfrm>
            <a:off x="706071" y="223167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58" name="Text 6">
            <a:extLst>
              <a:ext uri="{FF2B5EF4-FFF2-40B4-BE49-F238E27FC236}">
                <a16:creationId xmlns:a16="http://schemas.microsoft.com/office/drawing/2014/main" id="{C03D925C-56EC-ECE8-959C-91B77229E556}"/>
              </a:ext>
            </a:extLst>
          </p:cNvPr>
          <p:cNvSpPr/>
          <p:nvPr/>
        </p:nvSpPr>
        <p:spPr>
          <a:xfrm>
            <a:off x="706071" y="24665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60" name="Text 7">
            <a:extLst>
              <a:ext uri="{FF2B5EF4-FFF2-40B4-BE49-F238E27FC236}">
                <a16:creationId xmlns:a16="http://schemas.microsoft.com/office/drawing/2014/main" id="{2169690D-3584-8825-7DE3-1E112A4EAB15}"/>
              </a:ext>
            </a:extLst>
          </p:cNvPr>
          <p:cNvSpPr/>
          <p:nvPr/>
        </p:nvSpPr>
        <p:spPr>
          <a:xfrm>
            <a:off x="706071" y="27013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62" name="Text 8">
            <a:extLst>
              <a:ext uri="{FF2B5EF4-FFF2-40B4-BE49-F238E27FC236}">
                <a16:creationId xmlns:a16="http://schemas.microsoft.com/office/drawing/2014/main" id="{D6A29FC5-DD57-AEA7-EDC6-E93209490C0D}"/>
              </a:ext>
            </a:extLst>
          </p:cNvPr>
          <p:cNvSpPr/>
          <p:nvPr/>
        </p:nvSpPr>
        <p:spPr>
          <a:xfrm>
            <a:off x="706071" y="293623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64" name="Text 9">
            <a:extLst>
              <a:ext uri="{FF2B5EF4-FFF2-40B4-BE49-F238E27FC236}">
                <a16:creationId xmlns:a16="http://schemas.microsoft.com/office/drawing/2014/main" id="{E2B64F65-9694-700D-D183-0D5768BD80AF}"/>
              </a:ext>
            </a:extLst>
          </p:cNvPr>
          <p:cNvSpPr/>
          <p:nvPr/>
        </p:nvSpPr>
        <p:spPr>
          <a:xfrm>
            <a:off x="4871621" y="149215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66" name="Text 10">
            <a:extLst>
              <a:ext uri="{FF2B5EF4-FFF2-40B4-BE49-F238E27FC236}">
                <a16:creationId xmlns:a16="http://schemas.microsoft.com/office/drawing/2014/main" id="{80705E64-932F-F0B2-E249-5D9F34DBCEE2}"/>
              </a:ext>
            </a:extLst>
          </p:cNvPr>
          <p:cNvSpPr/>
          <p:nvPr/>
        </p:nvSpPr>
        <p:spPr>
          <a:xfrm>
            <a:off x="4871621" y="181912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Claude Code read all three wikis at once direct cross-case comparison, no manual sharing.</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68" name="Text 11">
            <a:extLst>
              <a:ext uri="{FF2B5EF4-FFF2-40B4-BE49-F238E27FC236}">
                <a16:creationId xmlns:a16="http://schemas.microsoft.com/office/drawing/2014/main" id="{D1DD3D36-E1A6-B14C-4903-59B1A464CEDC}"/>
              </a:ext>
            </a:extLst>
          </p:cNvPr>
          <p:cNvSpPr/>
          <p:nvPr/>
        </p:nvSpPr>
        <p:spPr>
          <a:xfrm>
            <a:off x="502920" y="487025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F86F9A-9BFC-8E73-440C-DAF8866D00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207F40-024E-8E57-F45E-A9E39E110524}"/>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EA5B664-3513-42F3-436C-01D0D936489C}"/>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The "critical reviewer" prompt caught three data errors before submission</a:t>
            </a:r>
            <a:endParaRPr lang="en-US" sz="2000" dirty="0"/>
          </a:p>
        </p:txBody>
      </p:sp>
      <p:sp>
        <p:nvSpPr>
          <p:cNvPr id="4" name="Shape 2">
            <a:extLst>
              <a:ext uri="{FF2B5EF4-FFF2-40B4-BE49-F238E27FC236}">
                <a16:creationId xmlns:a16="http://schemas.microsoft.com/office/drawing/2014/main" id="{767B12B2-C242-736D-DB21-3FA177929FE0}"/>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5284B75-2010-C086-ABFA-016CBF66A342}"/>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DBDE520F-E136-BB58-CD0F-05A9BDE2D48A}"/>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2">
            <a:extLst>
              <a:ext uri="{FF2B5EF4-FFF2-40B4-BE49-F238E27FC236}">
                <a16:creationId xmlns:a16="http://schemas.microsoft.com/office/drawing/2014/main" id="{179455F4-F581-540B-A750-C311E7A94DE5}"/>
              </a:ext>
            </a:extLst>
          </p:cNvPr>
          <p:cNvSpPr/>
          <p:nvPr/>
        </p:nvSpPr>
        <p:spPr>
          <a:xfrm>
            <a:off x="502920" y="4340507"/>
            <a:ext cx="8280350" cy="381000"/>
          </a:xfrm>
          <a:prstGeom prst="rect">
            <a:avLst/>
          </a:prstGeom>
          <a:solidFill>
            <a:srgbClr val="0F172A"/>
          </a:solidFill>
          <a:ln/>
        </p:spPr>
        <p:txBody>
          <a:bodyPr wrap="square" rtlCol="0" anchor="ctr"/>
          <a:lstStyle/>
          <a:p>
            <a:pPr marL="0" indent="0">
              <a:buNone/>
            </a:pPr>
            <a:endParaRPr lang="en-US" dirty="0"/>
          </a:p>
        </p:txBody>
      </p:sp>
      <p:sp>
        <p:nvSpPr>
          <p:cNvPr id="13" name="Text 3">
            <a:extLst>
              <a:ext uri="{FF2B5EF4-FFF2-40B4-BE49-F238E27FC236}">
                <a16:creationId xmlns:a16="http://schemas.microsoft.com/office/drawing/2014/main" id="{7B294C8B-68DE-AB9A-8441-F30FA664CC2F}"/>
              </a:ext>
            </a:extLst>
          </p:cNvPr>
          <p:cNvSpPr/>
          <p:nvPr/>
        </p:nvSpPr>
        <p:spPr>
          <a:xfrm>
            <a:off x="706071" y="4454807"/>
            <a:ext cx="8031531" cy="152400"/>
          </a:xfrm>
          <a:prstGeom prst="rect">
            <a:avLst/>
          </a:prstGeom>
          <a:noFill/>
          <a:ln/>
        </p:spPr>
        <p:txBody>
          <a:bodyPr wrap="square" lIns="0" tIns="0" rIns="0" bIns="0" rtlCol="0" anchor="t"/>
          <a:lstStyle/>
          <a:p>
            <a:pPr marL="0" indent="0" algn="l">
              <a:buNone/>
            </a:pPr>
            <a:r>
              <a:rPr lang="en-US" sz="1100" dirty="0">
                <a:solidFill>
                  <a:srgbClr val="FFFFFF"/>
                </a:solidFill>
                <a:latin typeface="Arial" pitchFamily="34" charset="0"/>
                <a:ea typeface="Arial" pitchFamily="34" charset="-122"/>
                <a:cs typeface="Arial" pitchFamily="34" charset="-120"/>
              </a:rPr>
              <a:t>All three traced back to PwC- or Ernst &amp; Young-audited annual reports before entering the paper.</a:t>
            </a:r>
            <a:endParaRPr lang="en-US" sz="1100" dirty="0"/>
          </a:p>
        </p:txBody>
      </p:sp>
      <p:sp>
        <p:nvSpPr>
          <p:cNvPr id="17" name="Text 4">
            <a:extLst>
              <a:ext uri="{FF2B5EF4-FFF2-40B4-BE49-F238E27FC236}">
                <a16:creationId xmlns:a16="http://schemas.microsoft.com/office/drawing/2014/main" id="{95C97D40-7152-C8BF-9EE7-B5C90F3F5F17}"/>
              </a:ext>
            </a:extLst>
          </p:cNvPr>
          <p:cNvSpPr/>
          <p:nvPr/>
        </p:nvSpPr>
        <p:spPr>
          <a:xfrm>
            <a:off x="502920" y="477240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graphicFrame>
        <p:nvGraphicFramePr>
          <p:cNvPr id="21" name="Table 0">
            <a:extLst>
              <a:ext uri="{FF2B5EF4-FFF2-40B4-BE49-F238E27FC236}">
                <a16:creationId xmlns:a16="http://schemas.microsoft.com/office/drawing/2014/main" id="{0B57548A-E9CE-F747-9588-9E4E1D2AAC6D}"/>
              </a:ext>
            </a:extLst>
          </p:cNvPr>
          <p:cNvGraphicFramePr>
            <a:graphicFrameLocks noGrp="1"/>
          </p:cNvGraphicFramePr>
          <p:nvPr>
            <p:extLst>
              <p:ext uri="{D42A27DB-BD31-4B8C-83A1-F6EECF244321}">
                <p14:modId xmlns:p14="http://schemas.microsoft.com/office/powerpoint/2010/main" val="4179168995"/>
              </p:ext>
            </p:extLst>
          </p:nvPr>
        </p:nvGraphicFramePr>
        <p:xfrm>
          <a:off x="502920" y="1537329"/>
          <a:ext cx="8280351" cy="2387500"/>
        </p:xfrm>
        <a:graphic>
          <a:graphicData uri="http://schemas.openxmlformats.org/drawingml/2006/table">
            <a:tbl>
              <a:tblPr/>
              <a:tblGrid>
                <a:gridCol w="2484105">
                  <a:extLst>
                    <a:ext uri="{9D8B030D-6E8A-4147-A177-3AD203B41FA5}">
                      <a16:colId xmlns:a16="http://schemas.microsoft.com/office/drawing/2014/main" val="20000"/>
                    </a:ext>
                  </a:extLst>
                </a:gridCol>
                <a:gridCol w="2898123">
                  <a:extLst>
                    <a:ext uri="{9D8B030D-6E8A-4147-A177-3AD203B41FA5}">
                      <a16:colId xmlns:a16="http://schemas.microsoft.com/office/drawing/2014/main" val="20001"/>
                    </a:ext>
                  </a:extLst>
                </a:gridCol>
                <a:gridCol w="2898123">
                  <a:extLst>
                    <a:ext uri="{9D8B030D-6E8A-4147-A177-3AD203B41FA5}">
                      <a16:colId xmlns:a16="http://schemas.microsoft.com/office/drawing/2014/main" val="20002"/>
                    </a:ext>
                  </a:extLst>
                </a:gridCol>
              </a:tblGrid>
              <a:tr h="596875">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Data point</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Initial (wrong)</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Corrected (audited)</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EU countervailing tariff</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36.3% (provisional)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35.3% (final regulation)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Net profit figure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~10× inflated (currency unit)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Corrected via audited report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Earnings per share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Wrong share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Recomputed on correct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0496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 2">
            <a:extLst>
              <a:ext uri="{FF2B5EF4-FFF2-40B4-BE49-F238E27FC236}">
                <a16:creationId xmlns:a16="http://schemas.microsoft.com/office/drawing/2014/main" id="{A5ACDD48-3E6E-C56F-DFC5-418BCD5EC59E}"/>
              </a:ext>
            </a:extLst>
          </p:cNvPr>
          <p:cNvSpPr/>
          <p:nvPr/>
        </p:nvSpPr>
        <p:spPr>
          <a:xfrm>
            <a:off x="502920" y="1572451"/>
            <a:ext cx="3962400" cy="2133600"/>
          </a:xfrm>
          <a:prstGeom prst="rect">
            <a:avLst/>
          </a:prstGeom>
          <a:solidFill>
            <a:srgbClr val="F8FAFC"/>
          </a:solidFill>
          <a:ln/>
        </p:spPr>
        <p:txBody>
          <a:bodyPr wrap="square" rtlCol="0" anchor="ctr"/>
          <a:lstStyle/>
          <a:p>
            <a:pPr marL="0" indent="0">
              <a:buNone/>
            </a:pPr>
            <a:endParaRPr lang="en-US" dirty="0"/>
          </a:p>
        </p:txBody>
      </p:sp>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48182"/>
            <a:ext cx="8138160" cy="402083"/>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Advantages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9016" y="1640269"/>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Where it helped most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9016" y="1969453"/>
            <a:ext cx="4114800" cy="158292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1100"/>
              </a:spcAft>
              <a:buClrTx/>
              <a:buSzPct val="100000"/>
              <a:buFont typeface="Arial" panose="020B0604020202020204" pitchFamily="34" charset="0"/>
              <a:buChar char="•"/>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Ingested &amp; indexed sources across all three cases.</a:t>
            </a:r>
          </a:p>
          <a:p>
            <a:pPr marL="171450" indent="-171450">
              <a:spcAft>
                <a:spcPts val="1100"/>
              </a:spcAft>
              <a:buSzPct val="100000"/>
              <a:buFont typeface="Arial" panose="020B0604020202020204" pitchFamily="34" charset="0"/>
              <a:buChar char="•"/>
              <a:defRPr/>
            </a:pPr>
            <a:r>
              <a:rPr lang="en-US" sz="1200" dirty="0">
                <a:solidFill>
                  <a:srgbClr val="1E293B"/>
                </a:solidFill>
                <a:latin typeface="Arial" pitchFamily="34" charset="0"/>
                <a:cs typeface="Arial" pitchFamily="34" charset="-120"/>
              </a:rPr>
              <a:t>Critical-reviewer framing</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ea typeface="Arial" pitchFamily="34" charset="-122"/>
                <a:cs typeface="Arial" pitchFamily="34" charset="-120"/>
              </a:rPr>
              <a:t>Handled research volume unmanageable by hand</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Evidence-bounded comparison</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Single-claim verification</a:t>
            </a:r>
            <a:endParaRPr lang="en-US" sz="1200" dirty="0"/>
          </a:p>
          <a:p>
            <a:pPr marL="171450" marR="0" lvl="0" indent="-171450" algn="l" defTabSz="914400" rtl="0" eaLnBrk="1" fontAlgn="auto" latinLnBrk="0" hangingPunct="1">
              <a:lnSpc>
                <a:spcPct val="100000"/>
              </a:lnSpc>
              <a:spcBef>
                <a:spcPts val="0"/>
              </a:spcBef>
              <a:spcAft>
                <a:spcPts val="11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892040" y="1572768"/>
            <a:ext cx="3749040" cy="3063240"/>
          </a:xfrm>
          <a:prstGeom prst="roundRect">
            <a:avLst>
              <a:gd name="adj" fmla="val 2388"/>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892040" y="1572768"/>
            <a:ext cx="374904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572768"/>
            <a:ext cx="3474720" cy="4206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 data errors caught before submission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74920" y="2148840"/>
            <a:ext cx="3429000" cy="2286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1  Provisional EU tariff → corrected to the final regulatory figure.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2  Net profit inflated by a currency-unit ambiguity in a secondary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3  EPS based on a wrong share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All traced back to the audited (E&amp;Y / PwC) annual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3">
            <a:extLst>
              <a:ext uri="{FF2B5EF4-FFF2-40B4-BE49-F238E27FC236}">
                <a16:creationId xmlns:a16="http://schemas.microsoft.com/office/drawing/2014/main" id="{20C77BFA-E8BD-4948-1C97-350B78E8D1A6}"/>
              </a:ext>
            </a:extLst>
          </p:cNvPr>
          <p:cNvSpPr/>
          <p:nvPr/>
        </p:nvSpPr>
        <p:spPr>
          <a:xfrm>
            <a:off x="502920" y="1596264"/>
            <a:ext cx="3962400" cy="0"/>
          </a:xfrm>
          <a:prstGeom prst="line">
            <a:avLst/>
          </a:prstGeom>
          <a:noFill/>
          <a:ln w="47625">
            <a:solidFill>
              <a:srgbClr val="2563EB"/>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Slight variations in data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On high-performance modes like Opus token limits were met fairly quick</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34901" y="584150"/>
            <a:ext cx="8031682" cy="171450"/>
          </a:xfrm>
          <a:prstGeom prst="rect">
            <a:avLst/>
          </a:prstGeom>
          <a:noFill/>
          <a:ln/>
        </p:spPr>
        <p:txBody>
          <a:bodyPr wrap="square" lIns="0" tIns="0" rIns="0" bIns="0" rtlCol="0" anchor="t"/>
          <a:lstStyle/>
          <a:p>
            <a:pPr marL="0" indent="0" algn="l">
              <a:spcAft>
                <a:spcPts val="1600"/>
              </a:spcAft>
              <a:buNone/>
            </a:pPr>
            <a:r>
              <a:rPr lang="en-US" sz="1200" b="1" dirty="0">
                <a:solidFill>
                  <a:srgbClr val="06B6D4"/>
                </a:solidFill>
                <a:latin typeface="Arial" pitchFamily="34" charset="0"/>
                <a:ea typeface="Arial" pitchFamily="34" charset="-122"/>
                <a:cs typeface="Arial" pitchFamily="34" charset="-120"/>
              </a:rPr>
              <a:t>SEMINAR PAPER · M&amp;A AS TRANSFORMER OF THE AUTOMOTIVE INDUSTRY</a:t>
            </a:r>
            <a:endParaRPr lang="en-US" sz="1200" dirty="0"/>
          </a:p>
        </p:txBody>
      </p:sp>
      <p:sp>
        <p:nvSpPr>
          <p:cNvPr id="3" name="Text 1"/>
          <p:cNvSpPr/>
          <p:nvPr/>
        </p:nvSpPr>
        <p:spPr>
          <a:xfrm>
            <a:off x="634901" y="958751"/>
            <a:ext cx="8031682" cy="839093"/>
          </a:xfrm>
          <a:prstGeom prst="rect">
            <a:avLst/>
          </a:prstGeom>
          <a:noFill/>
          <a:ln/>
        </p:spPr>
        <p:txBody>
          <a:bodyPr wrap="square" lIns="0" tIns="0" rIns="0" bIns="0" rtlCol="0" anchor="t"/>
          <a:lstStyle/>
          <a:p>
            <a:pPr marL="0" indent="0" algn="l">
              <a:lnSpc>
                <a:spcPts val="3304"/>
              </a:lnSpc>
              <a:buNone/>
            </a:pPr>
            <a:r>
              <a:rPr lang="en-US" sz="2800" b="1" dirty="0">
                <a:solidFill>
                  <a:srgbClr val="FFFFFF"/>
                </a:solidFill>
                <a:latin typeface="Arial" pitchFamily="34" charset="0"/>
                <a:ea typeface="Arial" pitchFamily="34" charset="-122"/>
                <a:cs typeface="Arial" pitchFamily="34" charset="-120"/>
              </a:rPr>
              <a:t>Governance as the First-Order Driver of Long-Term Value in China's EV Transition</a:t>
            </a:r>
            <a:endParaRPr lang="en-US" sz="2800" dirty="0"/>
          </a:p>
        </p:txBody>
      </p:sp>
      <p:sp>
        <p:nvSpPr>
          <p:cNvPr id="4" name="Text 2"/>
          <p:cNvSpPr/>
          <p:nvPr/>
        </p:nvSpPr>
        <p:spPr>
          <a:xfrm>
            <a:off x="634901" y="2026444"/>
            <a:ext cx="1117550" cy="50750"/>
          </a:xfrm>
          <a:prstGeom prst="rect">
            <a:avLst/>
          </a:prstGeom>
          <a:solidFill>
            <a:srgbClr val="2563EB"/>
          </a:solidFill>
          <a:ln/>
        </p:spPr>
        <p:txBody>
          <a:bodyPr wrap="square" rtlCol="0" anchor="ctr"/>
          <a:lstStyle/>
          <a:p>
            <a:pPr marL="0" indent="0">
              <a:buNone/>
            </a:pPr>
            <a:endParaRPr lang="en-US" dirty="0"/>
          </a:p>
        </p:txBody>
      </p:sp>
      <p:sp>
        <p:nvSpPr>
          <p:cNvPr id="5" name="Text 3"/>
          <p:cNvSpPr/>
          <p:nvPr/>
        </p:nvSpPr>
        <p:spPr>
          <a:xfrm>
            <a:off x="634901" y="2305794"/>
            <a:ext cx="8031682" cy="214461"/>
          </a:xfrm>
          <a:prstGeom prst="rect">
            <a:avLst/>
          </a:prstGeom>
          <a:noFill/>
          <a:ln/>
        </p:spPr>
        <p:txBody>
          <a:bodyPr wrap="square" lIns="0" tIns="0" rIns="0" bIns="0" rtlCol="0" anchor="t"/>
          <a:lstStyle/>
          <a:p>
            <a:pPr marL="0" indent="0" algn="l">
              <a:lnSpc>
                <a:spcPts val="1690"/>
              </a:lnSpc>
              <a:buNone/>
            </a:pPr>
            <a:r>
              <a:rPr lang="en-US" sz="1300" dirty="0">
                <a:solidFill>
                  <a:srgbClr val="93C5FD"/>
                </a:solidFill>
                <a:latin typeface="Arial" pitchFamily="34" charset="0"/>
                <a:ea typeface="Arial" pitchFamily="34" charset="-122"/>
                <a:cs typeface="Arial" pitchFamily="34" charset="-120"/>
              </a:rPr>
              <a:t>SAIC Motor · BYD · Geely — three ownership models, one technological discontinuity</a:t>
            </a:r>
            <a:endParaRPr lang="en-US" sz="1300" dirty="0"/>
          </a:p>
        </p:txBody>
      </p:sp>
      <p:sp>
        <p:nvSpPr>
          <p:cNvPr id="6" name="Text 4"/>
          <p:cNvSpPr/>
          <p:nvPr/>
        </p:nvSpPr>
        <p:spPr>
          <a:xfrm>
            <a:off x="634901" y="2952006"/>
            <a:ext cx="8031682" cy="200025"/>
          </a:xfrm>
          <a:prstGeom prst="rect">
            <a:avLst/>
          </a:prstGeom>
          <a:noFill/>
          <a:ln/>
        </p:spPr>
        <p:txBody>
          <a:bodyPr wrap="square" lIns="0" tIns="0" rIns="0" bIns="0" rtlCol="0" anchor="t"/>
          <a:lstStyle/>
          <a:p>
            <a:pPr marL="0" indent="0" algn="l">
              <a:buNone/>
            </a:pPr>
            <a:r>
              <a:rPr lang="en-US" sz="1300" b="1" dirty="0">
                <a:solidFill>
                  <a:srgbClr val="E2E8F0"/>
                </a:solidFill>
                <a:latin typeface="Arial" pitchFamily="34" charset="0"/>
                <a:ea typeface="Arial" pitchFamily="34" charset="-122"/>
                <a:cs typeface="Arial" pitchFamily="34" charset="-120"/>
              </a:rPr>
              <a:t>Julia Ort · Batughan Maus · Chiara Stubner</a:t>
            </a:r>
            <a:endParaRPr lang="en-US" sz="1300" dirty="0"/>
          </a:p>
        </p:txBody>
      </p:sp>
      <p:sp>
        <p:nvSpPr>
          <p:cNvPr id="7" name="Text 5"/>
          <p:cNvSpPr/>
          <p:nvPr/>
        </p:nvSpPr>
        <p:spPr>
          <a:xfrm>
            <a:off x="634901" y="3228231"/>
            <a:ext cx="8031682" cy="202555"/>
          </a:xfrm>
          <a:prstGeom prst="rect">
            <a:avLst/>
          </a:prstGeom>
          <a:noFill/>
          <a:ln/>
        </p:spPr>
        <p:txBody>
          <a:bodyPr wrap="square" lIns="0" tIns="0" rIns="0" bIns="0" rtlCol="0" anchor="t"/>
          <a:lstStyle/>
          <a:p>
            <a:pPr marL="0" indent="0" algn="l">
              <a:lnSpc>
                <a:spcPts val="1595"/>
              </a:lnSpc>
              <a:buNone/>
            </a:pPr>
            <a:r>
              <a:rPr lang="en-US" sz="1100" dirty="0">
                <a:solidFill>
                  <a:srgbClr val="94A3B8"/>
                </a:solidFill>
                <a:latin typeface="Arial" pitchFamily="34" charset="0"/>
                <a:ea typeface="Arial" pitchFamily="34" charset="-122"/>
                <a:cs typeface="Arial" pitchFamily="34" charset="-120"/>
              </a:rPr>
              <a:t>Goethe-University Frankfurt · Chair of Banking and Finance</a:t>
            </a:r>
            <a:endParaRPr lang="en-US" sz="1100" dirty="0"/>
          </a:p>
        </p:txBody>
      </p:sp>
      <p:sp>
        <p:nvSpPr>
          <p:cNvPr id="8" name="Text 6"/>
          <p:cNvSpPr/>
          <p:nvPr/>
        </p:nvSpPr>
        <p:spPr>
          <a:xfrm>
            <a:off x="634901" y="3430786"/>
            <a:ext cx="8031682" cy="202555"/>
          </a:xfrm>
          <a:prstGeom prst="rect">
            <a:avLst/>
          </a:prstGeom>
          <a:noFill/>
          <a:ln/>
        </p:spPr>
        <p:txBody>
          <a:bodyPr wrap="square" lIns="0" tIns="0" rIns="0" bIns="0" rtlCol="0" anchor="t"/>
          <a:lstStyle/>
          <a:p>
            <a:pPr marL="0" indent="0" algn="l">
              <a:lnSpc>
                <a:spcPts val="1595"/>
              </a:lnSpc>
              <a:buNone/>
            </a:pPr>
            <a:r>
              <a:rPr lang="en-US" sz="1100" dirty="0">
                <a:solidFill>
                  <a:srgbClr val="94A3B8"/>
                </a:solidFill>
                <a:latin typeface="Arial" pitchFamily="34" charset="0"/>
                <a:ea typeface="Arial" pitchFamily="34" charset="-122"/>
                <a:cs typeface="Arial" pitchFamily="34" charset="-120"/>
              </a:rPr>
              <a:t>Supervisor: Prof. Dr. Mark Wahrenburg · 29 June 2026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A 30-year JV consensus is unraveling as EVs reach 55% of China's market</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44501"/>
            <a:ext cx="4724400" cy="1946970"/>
          </a:xfrm>
          <a:prstGeom prst="rect">
            <a:avLst/>
          </a:prstGeom>
          <a:noFill/>
          <a:ln/>
        </p:spPr>
        <p:txBody>
          <a:bodyPr wrap="square" lIns="95250" tIns="0" rIns="0" bIns="0" rtlCol="0" anchor="t"/>
          <a:lstStyle/>
          <a:p>
            <a:pPr marL="95250" indent="-95250" algn="l">
              <a:lnSpc>
                <a:spcPts val="1820"/>
              </a:lnSpc>
              <a:spcAft>
                <a:spcPts val="1300"/>
              </a:spcAft>
              <a:buSzPct val="100000"/>
              <a:buChar char="•"/>
            </a:pPr>
            <a:r>
              <a:rPr lang="en-US" sz="1300" dirty="0">
                <a:solidFill>
                  <a:srgbClr val="1E293B"/>
                </a:solidFill>
                <a:latin typeface="Arial" pitchFamily="34" charset="0"/>
                <a:ea typeface="Arial" pitchFamily="34" charset="-122"/>
                <a:cs typeface="Arial" pitchFamily="34" charset="-120"/>
              </a:rPr>
              <a:t>For three decades the only proven model: foreign technology for market access, with a state-owned enterprise as partner (Holmes et al. 2015).</a:t>
            </a:r>
            <a:endParaRPr lang="en-US" sz="1300" dirty="0"/>
          </a:p>
          <a:p>
            <a:pPr marL="95250" indent="-95250" algn="l">
              <a:lnSpc>
                <a:spcPts val="1820"/>
              </a:lnSpc>
              <a:spcAft>
                <a:spcPts val="1300"/>
              </a:spcAft>
              <a:buSzPct val="100000"/>
              <a:buChar char="•"/>
            </a:pPr>
            <a:r>
              <a:rPr lang="en-US" sz="1300" dirty="0">
                <a:solidFill>
                  <a:srgbClr val="1E293B"/>
                </a:solidFill>
                <a:latin typeface="Arial" pitchFamily="34" charset="0"/>
                <a:ea typeface="Arial" pitchFamily="34" charset="-122"/>
                <a:cs typeface="Arial" pitchFamily="34" charset="-120"/>
              </a:rPr>
              <a:t>That model is now unraveling — JV-dependent firms lose domestic share while independents become global leaders.</a:t>
            </a:r>
            <a:endParaRPr lang="en-US" sz="1300" dirty="0"/>
          </a:p>
          <a:p>
            <a:pPr marL="95250" indent="-95250" algn="l">
              <a:lnSpc>
                <a:spcPts val="1820"/>
              </a:lnSpc>
              <a:spcAft>
                <a:spcPts val="1300"/>
              </a:spcAft>
              <a:buSzPct val="100000"/>
              <a:buChar char="•"/>
            </a:pPr>
            <a:r>
              <a:rPr lang="en-US" sz="1300" b="1" dirty="0">
                <a:solidFill>
                  <a:srgbClr val="1E293B"/>
                </a:solidFill>
                <a:latin typeface="Arial" pitchFamily="34" charset="0"/>
                <a:ea typeface="Arial" pitchFamily="34" charset="-122"/>
                <a:cs typeface="Arial" pitchFamily="34" charset="-120"/>
              </a:rPr>
              <a:t>Objective:</a:t>
            </a:r>
            <a:r>
              <a:rPr lang="en-US" sz="1300" dirty="0">
                <a:solidFill>
                  <a:srgbClr val="1E293B"/>
                </a:solidFill>
                <a:latin typeface="Arial" pitchFamily="34" charset="0"/>
                <a:ea typeface="Arial" pitchFamily="34" charset="-122"/>
                <a:cs typeface="Arial" pitchFamily="34" charset="-120"/>
              </a:rPr>
              <a:t> which governance and financing structure best creates long-term shareholder value?</a:t>
            </a:r>
            <a:endParaRPr lang="en-US" sz="1300" dirty="0"/>
          </a:p>
        </p:txBody>
      </p:sp>
      <p:sp>
        <p:nvSpPr>
          <p:cNvPr id="5" name="Text 3"/>
          <p:cNvSpPr/>
          <p:nvPr/>
        </p:nvSpPr>
        <p:spPr>
          <a:xfrm>
            <a:off x="5562451" y="1219051"/>
            <a:ext cx="3276600" cy="858589"/>
          </a:xfrm>
          <a:prstGeom prst="rect">
            <a:avLst/>
          </a:prstGeom>
          <a:solidFill>
            <a:srgbClr val="F8FAFC"/>
          </a:solidFill>
          <a:ln/>
        </p:spPr>
        <p:txBody>
          <a:bodyPr wrap="square" rtlCol="0" anchor="ctr"/>
          <a:lstStyle/>
          <a:p>
            <a:pPr marL="0" indent="0">
              <a:buNone/>
            </a:pPr>
            <a:endParaRPr lang="en-US" dirty="0"/>
          </a:p>
        </p:txBody>
      </p:sp>
      <p:sp>
        <p:nvSpPr>
          <p:cNvPr id="6" name="Shape 4"/>
          <p:cNvSpPr/>
          <p:nvPr/>
        </p:nvSpPr>
        <p:spPr>
          <a:xfrm>
            <a:off x="5600551" y="1219051"/>
            <a:ext cx="0" cy="858589"/>
          </a:xfrm>
          <a:prstGeom prst="line">
            <a:avLst/>
          </a:prstGeom>
          <a:noFill/>
          <a:ln w="76200">
            <a:solidFill>
              <a:srgbClr val="06B6D4"/>
            </a:solidFill>
            <a:prstDash val="solid"/>
          </a:ln>
        </p:spPr>
        <p:txBody>
          <a:bodyPr/>
          <a:lstStyle/>
          <a:p>
            <a:endParaRPr lang="en-US"/>
          </a:p>
        </p:txBody>
      </p:sp>
      <p:sp>
        <p:nvSpPr>
          <p:cNvPr id="7" name="Text 5"/>
          <p:cNvSpPr/>
          <p:nvPr/>
        </p:nvSpPr>
        <p:spPr>
          <a:xfrm>
            <a:off x="5816352" y="1358652"/>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8" name="Text 6"/>
          <p:cNvSpPr/>
          <p:nvPr/>
        </p:nvSpPr>
        <p:spPr>
          <a:xfrm>
            <a:off x="5816352" y="1771352"/>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9" name="Text 7"/>
          <p:cNvSpPr/>
          <p:nvPr/>
        </p:nvSpPr>
        <p:spPr>
          <a:xfrm>
            <a:off x="5562451" y="2311301"/>
            <a:ext cx="3276600" cy="858589"/>
          </a:xfrm>
          <a:prstGeom prst="rect">
            <a:avLst/>
          </a:prstGeom>
          <a:solidFill>
            <a:srgbClr val="F8FAFC"/>
          </a:solidFill>
          <a:ln/>
        </p:spPr>
        <p:txBody>
          <a:bodyPr wrap="square" rtlCol="0" anchor="ctr"/>
          <a:lstStyle/>
          <a:p>
            <a:pPr marL="0" indent="0">
              <a:buNone/>
            </a:pPr>
            <a:endParaRPr lang="en-US" dirty="0"/>
          </a:p>
        </p:txBody>
      </p:sp>
      <p:sp>
        <p:nvSpPr>
          <p:cNvPr id="10" name="Shape 8"/>
          <p:cNvSpPr/>
          <p:nvPr/>
        </p:nvSpPr>
        <p:spPr>
          <a:xfrm>
            <a:off x="5600551" y="2311301"/>
            <a:ext cx="0" cy="858589"/>
          </a:xfrm>
          <a:prstGeom prst="line">
            <a:avLst/>
          </a:prstGeom>
          <a:noFill/>
          <a:ln w="76200">
            <a:solidFill>
              <a:srgbClr val="2563EB"/>
            </a:solidFill>
            <a:prstDash val="solid"/>
          </a:ln>
        </p:spPr>
        <p:txBody>
          <a:bodyPr/>
          <a:lstStyle/>
          <a:p>
            <a:endParaRPr lang="en-US"/>
          </a:p>
        </p:txBody>
      </p:sp>
      <p:sp>
        <p:nvSpPr>
          <p:cNvPr id="11" name="Text 9"/>
          <p:cNvSpPr/>
          <p:nvPr/>
        </p:nvSpPr>
        <p:spPr>
          <a:xfrm>
            <a:off x="5816352" y="2450902"/>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12" name="Text 10"/>
          <p:cNvSpPr/>
          <p:nvPr/>
        </p:nvSpPr>
        <p:spPr>
          <a:xfrm>
            <a:off x="5816352" y="2863602"/>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13" name="Text 11"/>
          <p:cNvSpPr/>
          <p:nvPr/>
        </p:nvSpPr>
        <p:spPr>
          <a:xfrm>
            <a:off x="5562451" y="3403402"/>
            <a:ext cx="3276600" cy="772864"/>
          </a:xfrm>
          <a:prstGeom prst="rect">
            <a:avLst/>
          </a:prstGeom>
          <a:solidFill>
            <a:srgbClr val="F8FAFC"/>
          </a:solidFill>
          <a:ln/>
        </p:spPr>
        <p:txBody>
          <a:bodyPr wrap="square" rtlCol="0" anchor="ctr"/>
          <a:lstStyle/>
          <a:p>
            <a:pPr marL="0" indent="0">
              <a:buNone/>
            </a:pPr>
            <a:endParaRPr lang="en-US" dirty="0"/>
          </a:p>
        </p:txBody>
      </p:sp>
      <p:sp>
        <p:nvSpPr>
          <p:cNvPr id="14" name="Shape 12"/>
          <p:cNvSpPr/>
          <p:nvPr/>
        </p:nvSpPr>
        <p:spPr>
          <a:xfrm>
            <a:off x="5600551" y="3403402"/>
            <a:ext cx="0" cy="772864"/>
          </a:xfrm>
          <a:prstGeom prst="line">
            <a:avLst/>
          </a:prstGeom>
          <a:noFill/>
          <a:ln w="76200">
            <a:solidFill>
              <a:srgbClr val="DC2626"/>
            </a:solidFill>
            <a:prstDash val="solid"/>
          </a:ln>
        </p:spPr>
        <p:txBody>
          <a:bodyPr/>
          <a:lstStyle/>
          <a:p>
            <a:endParaRPr lang="en-US"/>
          </a:p>
        </p:txBody>
      </p:sp>
      <p:sp>
        <p:nvSpPr>
          <p:cNvPr id="15" name="Text 13"/>
          <p:cNvSpPr/>
          <p:nvPr/>
        </p:nvSpPr>
        <p:spPr>
          <a:xfrm>
            <a:off x="5816352" y="3543002"/>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16" name="Text 14"/>
          <p:cNvSpPr/>
          <p:nvPr/>
        </p:nvSpPr>
        <p:spPr>
          <a:xfrm>
            <a:off x="5816352" y="386997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
        <p:nvSpPr>
          <p:cNvPr id="17" name="Text 15"/>
          <p:cNvSpPr/>
          <p:nvPr/>
        </p:nvSpPr>
        <p:spPr>
          <a:xfrm>
            <a:off x="431750" y="4546402"/>
            <a:ext cx="5004393"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IEA, Global EV Outlook (2026); European Commission (2024); Holmes et al. (2015)</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Ownership theory predicts state control depresses long-term firm value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69802"/>
            <a:ext cx="4038600" cy="1473101"/>
          </a:xfrm>
          <a:prstGeom prst="rect">
            <a:avLst/>
          </a:prstGeom>
          <a:solidFill>
            <a:srgbClr val="F8FAFC"/>
          </a:solidFill>
          <a:ln/>
        </p:spPr>
        <p:txBody>
          <a:bodyPr wrap="square" rtlCol="0" anchor="ctr"/>
          <a:lstStyle/>
          <a:p>
            <a:pPr marL="0" indent="0">
              <a:buNone/>
            </a:pPr>
            <a:endParaRPr lang="en-US" dirty="0"/>
          </a:p>
        </p:txBody>
      </p:sp>
      <p:sp>
        <p:nvSpPr>
          <p:cNvPr id="5" name="Shape 3"/>
          <p:cNvSpPr/>
          <p:nvPr/>
        </p:nvSpPr>
        <p:spPr>
          <a:xfrm>
            <a:off x="431750" y="1293614"/>
            <a:ext cx="4038600" cy="0"/>
          </a:xfrm>
          <a:prstGeom prst="line">
            <a:avLst/>
          </a:prstGeom>
          <a:noFill/>
          <a:ln w="47625">
            <a:solidFill>
              <a:srgbClr val="2563EB"/>
            </a:solidFill>
            <a:prstDash val="solid"/>
          </a:ln>
        </p:spPr>
        <p:txBody>
          <a:bodyPr/>
          <a:lstStyle/>
          <a:p>
            <a:endParaRPr lang="en-US"/>
          </a:p>
        </p:txBody>
      </p:sp>
      <p:sp>
        <p:nvSpPr>
          <p:cNvPr id="6" name="Text 4"/>
          <p:cNvSpPr/>
          <p:nvPr/>
        </p:nvSpPr>
        <p:spPr>
          <a:xfrm>
            <a:off x="634901" y="1482477"/>
            <a:ext cx="3704945" cy="200025"/>
          </a:xfrm>
          <a:prstGeom prst="rect">
            <a:avLst/>
          </a:prstGeom>
          <a:noFill/>
          <a:ln/>
        </p:spPr>
        <p:txBody>
          <a:bodyPr wrap="square" lIns="0" tIns="0" rIns="0" bIns="0" rtlCol="0" anchor="t"/>
          <a:lstStyle/>
          <a:p>
            <a:pPr marL="0" indent="0" algn="l">
              <a:spcAft>
                <a:spcPts val="600"/>
              </a:spcAft>
              <a:buNone/>
            </a:pPr>
            <a:r>
              <a:rPr lang="en-US" sz="1300" b="1" dirty="0">
                <a:solidFill>
                  <a:srgbClr val="2563EB"/>
                </a:solidFill>
                <a:latin typeface="Arial" pitchFamily="34" charset="0"/>
                <a:ea typeface="Arial" pitchFamily="34" charset="-122"/>
                <a:cs typeface="Arial" pitchFamily="34" charset="-120"/>
              </a:rPr>
              <a:t>Shleifer &amp; Vishny (1994)</a:t>
            </a:r>
            <a:endParaRPr lang="en-US" sz="1300" dirty="0"/>
          </a:p>
        </p:txBody>
      </p:sp>
      <p:sp>
        <p:nvSpPr>
          <p:cNvPr id="7" name="Text 5"/>
          <p:cNvSpPr/>
          <p:nvPr/>
        </p:nvSpPr>
        <p:spPr>
          <a:xfrm>
            <a:off x="634901" y="1758702"/>
            <a:ext cx="3704945" cy="638026"/>
          </a:xfrm>
          <a:prstGeom prst="rect">
            <a:avLst/>
          </a:prstGeom>
          <a:noFill/>
          <a:ln/>
        </p:spPr>
        <p:txBody>
          <a:bodyPr wrap="square" lIns="0" tIns="0" rIns="0" bIns="0" rtlCol="0" anchor="t"/>
          <a:lstStyle/>
          <a:p>
            <a:pPr marL="0" indent="0" algn="l">
              <a:lnSpc>
                <a:spcPts val="1675"/>
              </a:lnSpc>
              <a:buNone/>
            </a:pPr>
            <a:r>
              <a:rPr lang="en-US" sz="1250" dirty="0">
                <a:solidFill>
                  <a:srgbClr val="1E293B"/>
                </a:solidFill>
                <a:latin typeface="Arial" pitchFamily="34" charset="0"/>
                <a:ea typeface="Arial" pitchFamily="34" charset="-122"/>
                <a:cs typeface="Arial" pitchFamily="34" charset="-120"/>
              </a:rPr>
              <a:t>Control rights, not cash-flow rights, drive resource allocation — political principals pursue goals beyond shareholder value.</a:t>
            </a:r>
            <a:endParaRPr lang="en-US" sz="1250" dirty="0"/>
          </a:p>
        </p:txBody>
      </p:sp>
      <p:sp>
        <p:nvSpPr>
          <p:cNvPr id="8" name="Text 6"/>
          <p:cNvSpPr/>
          <p:nvPr/>
        </p:nvSpPr>
        <p:spPr>
          <a:xfrm>
            <a:off x="4673501" y="1269802"/>
            <a:ext cx="4038600" cy="1473101"/>
          </a:xfrm>
          <a:prstGeom prst="rect">
            <a:avLst/>
          </a:prstGeom>
          <a:solidFill>
            <a:srgbClr val="F8FAFC"/>
          </a:solidFill>
          <a:ln/>
        </p:spPr>
        <p:txBody>
          <a:bodyPr wrap="square" rtlCol="0" anchor="ctr"/>
          <a:lstStyle/>
          <a:p>
            <a:pPr marL="0" indent="0">
              <a:buNone/>
            </a:pPr>
            <a:endParaRPr lang="en-US" dirty="0"/>
          </a:p>
        </p:txBody>
      </p:sp>
      <p:sp>
        <p:nvSpPr>
          <p:cNvPr id="9" name="Shape 7"/>
          <p:cNvSpPr/>
          <p:nvPr/>
        </p:nvSpPr>
        <p:spPr>
          <a:xfrm>
            <a:off x="4673501" y="1293614"/>
            <a:ext cx="4038600" cy="0"/>
          </a:xfrm>
          <a:prstGeom prst="line">
            <a:avLst/>
          </a:prstGeom>
          <a:noFill/>
          <a:ln w="47625">
            <a:solidFill>
              <a:srgbClr val="2563EB"/>
            </a:solidFill>
            <a:prstDash val="solid"/>
          </a:ln>
        </p:spPr>
        <p:txBody>
          <a:bodyPr/>
          <a:lstStyle/>
          <a:p>
            <a:endParaRPr lang="en-US"/>
          </a:p>
        </p:txBody>
      </p:sp>
      <p:sp>
        <p:nvSpPr>
          <p:cNvPr id="10" name="Text 8"/>
          <p:cNvSpPr/>
          <p:nvPr/>
        </p:nvSpPr>
        <p:spPr>
          <a:xfrm>
            <a:off x="4876651" y="1482477"/>
            <a:ext cx="3704945" cy="200025"/>
          </a:xfrm>
          <a:prstGeom prst="rect">
            <a:avLst/>
          </a:prstGeom>
          <a:noFill/>
          <a:ln/>
        </p:spPr>
        <p:txBody>
          <a:bodyPr wrap="square" lIns="0" tIns="0" rIns="0" bIns="0" rtlCol="0" anchor="t"/>
          <a:lstStyle/>
          <a:p>
            <a:pPr marL="0" indent="0" algn="l">
              <a:spcAft>
                <a:spcPts val="600"/>
              </a:spcAft>
              <a:buNone/>
            </a:pPr>
            <a:r>
              <a:rPr lang="en-US" sz="1300" b="1" dirty="0">
                <a:solidFill>
                  <a:srgbClr val="2563EB"/>
                </a:solidFill>
                <a:latin typeface="Arial" pitchFamily="34" charset="0"/>
                <a:ea typeface="Arial" pitchFamily="34" charset="-122"/>
                <a:cs typeface="Arial" pitchFamily="34" charset="-120"/>
              </a:rPr>
              <a:t>Jensen &amp; Meckling (1976)</a:t>
            </a:r>
            <a:endParaRPr lang="en-US" sz="1300" dirty="0"/>
          </a:p>
        </p:txBody>
      </p:sp>
      <p:sp>
        <p:nvSpPr>
          <p:cNvPr id="11" name="Text 9"/>
          <p:cNvSpPr/>
          <p:nvPr/>
        </p:nvSpPr>
        <p:spPr>
          <a:xfrm>
            <a:off x="4876651" y="1758702"/>
            <a:ext cx="3704945" cy="638026"/>
          </a:xfrm>
          <a:prstGeom prst="rect">
            <a:avLst/>
          </a:prstGeom>
          <a:noFill/>
          <a:ln/>
        </p:spPr>
        <p:txBody>
          <a:bodyPr wrap="square" lIns="0" tIns="0" rIns="0" bIns="0" rtlCol="0" anchor="t"/>
          <a:lstStyle/>
          <a:p>
            <a:pPr marL="0" indent="0" algn="l">
              <a:lnSpc>
                <a:spcPts val="1675"/>
              </a:lnSpc>
              <a:buNone/>
            </a:pPr>
            <a:r>
              <a:rPr lang="en-US" sz="1250" dirty="0">
                <a:solidFill>
                  <a:srgbClr val="1E293B"/>
                </a:solidFill>
                <a:latin typeface="Arial" pitchFamily="34" charset="0"/>
                <a:ea typeface="Arial" pitchFamily="34" charset="-122"/>
                <a:cs typeface="Arial" pitchFamily="34" charset="-120"/>
              </a:rPr>
              <a:t>Concentrated owner-management aligns incentives and removes the principal-agent conflict of dispersed ownership.</a:t>
            </a:r>
            <a:endParaRPr lang="en-US" sz="1250" dirty="0"/>
          </a:p>
        </p:txBody>
      </p:sp>
      <p:sp>
        <p:nvSpPr>
          <p:cNvPr id="12" name="Text 10"/>
          <p:cNvSpPr/>
          <p:nvPr/>
        </p:nvSpPr>
        <p:spPr>
          <a:xfrm>
            <a:off x="431750" y="2920901"/>
            <a:ext cx="4038600" cy="1473101"/>
          </a:xfrm>
          <a:prstGeom prst="rect">
            <a:avLst/>
          </a:prstGeom>
          <a:solidFill>
            <a:srgbClr val="F8FAFC"/>
          </a:solidFill>
          <a:ln/>
        </p:spPr>
        <p:txBody>
          <a:bodyPr wrap="square" rtlCol="0" anchor="ctr"/>
          <a:lstStyle/>
          <a:p>
            <a:pPr marL="0" indent="0">
              <a:buNone/>
            </a:pPr>
            <a:endParaRPr lang="en-US" dirty="0"/>
          </a:p>
        </p:txBody>
      </p:sp>
      <p:sp>
        <p:nvSpPr>
          <p:cNvPr id="13" name="Shape 11"/>
          <p:cNvSpPr/>
          <p:nvPr/>
        </p:nvSpPr>
        <p:spPr>
          <a:xfrm>
            <a:off x="431750" y="2944713"/>
            <a:ext cx="4038600" cy="0"/>
          </a:xfrm>
          <a:prstGeom prst="line">
            <a:avLst/>
          </a:prstGeom>
          <a:noFill/>
          <a:ln w="47625">
            <a:solidFill>
              <a:srgbClr val="2563EB"/>
            </a:solidFill>
            <a:prstDash val="solid"/>
          </a:ln>
        </p:spPr>
        <p:txBody>
          <a:bodyPr/>
          <a:lstStyle/>
          <a:p>
            <a:endParaRPr lang="en-US"/>
          </a:p>
        </p:txBody>
      </p:sp>
      <p:sp>
        <p:nvSpPr>
          <p:cNvPr id="14" name="Text 12"/>
          <p:cNvSpPr/>
          <p:nvPr/>
        </p:nvSpPr>
        <p:spPr>
          <a:xfrm>
            <a:off x="634901" y="3133576"/>
            <a:ext cx="3704945" cy="200025"/>
          </a:xfrm>
          <a:prstGeom prst="rect">
            <a:avLst/>
          </a:prstGeom>
          <a:noFill/>
          <a:ln/>
        </p:spPr>
        <p:txBody>
          <a:bodyPr wrap="square" lIns="0" tIns="0" rIns="0" bIns="0" rtlCol="0" anchor="t"/>
          <a:lstStyle/>
          <a:p>
            <a:pPr marL="0" indent="0" algn="l">
              <a:spcAft>
                <a:spcPts val="600"/>
              </a:spcAft>
              <a:buNone/>
            </a:pPr>
            <a:r>
              <a:rPr lang="en-US" sz="1300" b="1" dirty="0">
                <a:solidFill>
                  <a:srgbClr val="2563EB"/>
                </a:solidFill>
                <a:latin typeface="Arial" pitchFamily="34" charset="0"/>
                <a:ea typeface="Arial" pitchFamily="34" charset="-122"/>
                <a:cs typeface="Arial" pitchFamily="34" charset="-120"/>
              </a:rPr>
              <a:t>Fan, Wong &amp; Zhang (2007)</a:t>
            </a:r>
            <a:endParaRPr lang="en-US" sz="1300" dirty="0"/>
          </a:p>
        </p:txBody>
      </p:sp>
      <p:sp>
        <p:nvSpPr>
          <p:cNvPr id="15" name="Text 13"/>
          <p:cNvSpPr/>
          <p:nvPr/>
        </p:nvSpPr>
        <p:spPr>
          <a:xfrm>
            <a:off x="634901" y="3409801"/>
            <a:ext cx="3704945" cy="425351"/>
          </a:xfrm>
          <a:prstGeom prst="rect">
            <a:avLst/>
          </a:prstGeom>
          <a:noFill/>
          <a:ln/>
        </p:spPr>
        <p:txBody>
          <a:bodyPr wrap="square" lIns="0" tIns="0" rIns="0" bIns="0" rtlCol="0" anchor="t"/>
          <a:lstStyle/>
          <a:p>
            <a:pPr marL="0" indent="0" algn="l">
              <a:lnSpc>
                <a:spcPts val="1675"/>
              </a:lnSpc>
              <a:buNone/>
            </a:pPr>
            <a:r>
              <a:rPr lang="en-US" sz="1250" dirty="0">
                <a:solidFill>
                  <a:srgbClr val="1E293B"/>
                </a:solidFill>
                <a:latin typeface="Arial" pitchFamily="34" charset="0"/>
                <a:ea typeface="Arial" pitchFamily="34" charset="-122"/>
                <a:cs typeface="Arial" pitchFamily="34" charset="-120"/>
              </a:rPr>
              <a:t>Politically connected Chinese firms underperform peers by ~18% in three-year post-IPO returns.</a:t>
            </a:r>
            <a:endParaRPr lang="en-US" sz="1250" dirty="0"/>
          </a:p>
        </p:txBody>
      </p:sp>
      <p:sp>
        <p:nvSpPr>
          <p:cNvPr id="16" name="Text 14"/>
          <p:cNvSpPr/>
          <p:nvPr/>
        </p:nvSpPr>
        <p:spPr>
          <a:xfrm>
            <a:off x="4673501" y="2920901"/>
            <a:ext cx="4038600" cy="1473101"/>
          </a:xfrm>
          <a:prstGeom prst="rect">
            <a:avLst/>
          </a:prstGeom>
          <a:solidFill>
            <a:srgbClr val="F8FAFC"/>
          </a:solidFill>
          <a:ln/>
        </p:spPr>
        <p:txBody>
          <a:bodyPr wrap="square" rtlCol="0" anchor="ctr"/>
          <a:lstStyle/>
          <a:p>
            <a:pPr marL="0" indent="0">
              <a:buNone/>
            </a:pPr>
            <a:endParaRPr lang="en-US" dirty="0"/>
          </a:p>
        </p:txBody>
      </p:sp>
      <p:sp>
        <p:nvSpPr>
          <p:cNvPr id="17" name="Shape 15"/>
          <p:cNvSpPr/>
          <p:nvPr/>
        </p:nvSpPr>
        <p:spPr>
          <a:xfrm>
            <a:off x="4673501" y="2944713"/>
            <a:ext cx="4038600" cy="0"/>
          </a:xfrm>
          <a:prstGeom prst="line">
            <a:avLst/>
          </a:prstGeom>
          <a:noFill/>
          <a:ln w="47625">
            <a:solidFill>
              <a:srgbClr val="2563EB"/>
            </a:solidFill>
            <a:prstDash val="solid"/>
          </a:ln>
        </p:spPr>
        <p:txBody>
          <a:bodyPr/>
          <a:lstStyle/>
          <a:p>
            <a:endParaRPr lang="en-US"/>
          </a:p>
        </p:txBody>
      </p:sp>
      <p:sp>
        <p:nvSpPr>
          <p:cNvPr id="18" name="Text 16"/>
          <p:cNvSpPr/>
          <p:nvPr/>
        </p:nvSpPr>
        <p:spPr>
          <a:xfrm>
            <a:off x="4876651" y="3133576"/>
            <a:ext cx="3704945" cy="200025"/>
          </a:xfrm>
          <a:prstGeom prst="rect">
            <a:avLst/>
          </a:prstGeom>
          <a:noFill/>
          <a:ln/>
        </p:spPr>
        <p:txBody>
          <a:bodyPr wrap="square" lIns="0" tIns="0" rIns="0" bIns="0" rtlCol="0" anchor="t"/>
          <a:lstStyle/>
          <a:p>
            <a:pPr marL="0" indent="0" algn="l">
              <a:spcAft>
                <a:spcPts val="600"/>
              </a:spcAft>
              <a:buNone/>
            </a:pPr>
            <a:r>
              <a:rPr lang="en-US" sz="1300" b="1" dirty="0">
                <a:solidFill>
                  <a:srgbClr val="2563EB"/>
                </a:solidFill>
                <a:latin typeface="Arial" pitchFamily="34" charset="0"/>
                <a:ea typeface="Arial" pitchFamily="34" charset="-122"/>
                <a:cs typeface="Arial" pitchFamily="34" charset="-120"/>
              </a:rPr>
              <a:t>Megginson &amp; Netter (2001)</a:t>
            </a:r>
            <a:endParaRPr lang="en-US" sz="1300" dirty="0"/>
          </a:p>
        </p:txBody>
      </p:sp>
      <p:sp>
        <p:nvSpPr>
          <p:cNvPr id="19" name="Text 17"/>
          <p:cNvSpPr/>
          <p:nvPr/>
        </p:nvSpPr>
        <p:spPr>
          <a:xfrm>
            <a:off x="4876651" y="3409801"/>
            <a:ext cx="3704945" cy="638026"/>
          </a:xfrm>
          <a:prstGeom prst="rect">
            <a:avLst/>
          </a:prstGeom>
          <a:noFill/>
          <a:ln/>
        </p:spPr>
        <p:txBody>
          <a:bodyPr wrap="square" lIns="0" tIns="0" rIns="0" bIns="0" rtlCol="0" anchor="t"/>
          <a:lstStyle/>
          <a:p>
            <a:pPr marL="0" indent="0" algn="l">
              <a:lnSpc>
                <a:spcPts val="1675"/>
              </a:lnSpc>
              <a:buNone/>
            </a:pPr>
            <a:r>
              <a:rPr lang="en-US" sz="1250" dirty="0">
                <a:solidFill>
                  <a:srgbClr val="1E293B"/>
                </a:solidFill>
                <a:latin typeface="Arial" pitchFamily="34" charset="0"/>
                <a:ea typeface="Arial" pitchFamily="34" charset="-122"/>
                <a:cs typeface="Arial" pitchFamily="34" charset="-120"/>
              </a:rPr>
              <a:t>Mixed-ownership enterprises systematically underperform fully privatized firms in profitability and efficiency.</a:t>
            </a:r>
            <a:endParaRPr lang="en-US" sz="1250" dirty="0"/>
          </a:p>
        </p:txBody>
      </p:sp>
      <p:sp>
        <p:nvSpPr>
          <p:cNvPr id="20" name="Text 18"/>
          <p:cNvSpPr/>
          <p:nvPr/>
        </p:nvSpPr>
        <p:spPr>
          <a:xfrm>
            <a:off x="431750" y="4698802"/>
            <a:ext cx="326805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Theoretical frame for the governance dimension (Chapter 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Capital-light JV efficiency became a capital trap when sales collapsed</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5410051" y="1295251"/>
            <a:ext cx="3497580" cy="200025"/>
          </a:xfrm>
          <a:prstGeom prst="rect">
            <a:avLst/>
          </a:prstGeom>
          <a:noFill/>
          <a:ln/>
        </p:spPr>
        <p:txBody>
          <a:bodyPr wrap="square" lIns="0" tIns="0" rIns="0" bIns="0" rtlCol="0" anchor="t"/>
          <a:lstStyle/>
          <a:p>
            <a:pPr marL="0" indent="0" algn="l">
              <a:spcAft>
                <a:spcPts val="900"/>
              </a:spcAft>
              <a:buNone/>
            </a:pPr>
            <a:r>
              <a:rPr lang="en-US" sz="1300" b="1" dirty="0">
                <a:solidFill>
                  <a:srgbClr val="2563EB"/>
                </a:solidFill>
                <a:latin typeface="Arial" pitchFamily="34" charset="0"/>
                <a:ea typeface="Arial" pitchFamily="34" charset="-122"/>
                <a:cs typeface="Arial" pitchFamily="34" charset="-120"/>
              </a:rPr>
              <a:t>Risk distribution under stress</a:t>
            </a:r>
            <a:endParaRPr lang="en-US" sz="1300" dirty="0"/>
          </a:p>
        </p:txBody>
      </p:sp>
      <p:sp>
        <p:nvSpPr>
          <p:cNvPr id="5" name="Text 3"/>
          <p:cNvSpPr/>
          <p:nvPr/>
        </p:nvSpPr>
        <p:spPr>
          <a:xfrm>
            <a:off x="5410051" y="1609576"/>
            <a:ext cx="3429000" cy="1819870"/>
          </a:xfrm>
          <a:prstGeom prst="rect">
            <a:avLst/>
          </a:prstGeom>
          <a:noFill/>
          <a:ln/>
        </p:spPr>
        <p:txBody>
          <a:bodyPr wrap="square" lIns="88900" tIns="0" rIns="0" bIns="0" rtlCol="0" anchor="t"/>
          <a:lstStyle/>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SAIC — capital trap:</a:t>
            </a:r>
            <a:r>
              <a:rPr lang="en-US" sz="1150" dirty="0">
                <a:solidFill>
                  <a:srgbClr val="1E293B"/>
                </a:solidFill>
                <a:latin typeface="Arial" pitchFamily="34" charset="0"/>
                <a:ea typeface="Arial" pitchFamily="34" charset="-122"/>
                <a:cs typeface="Arial" pitchFamily="34" charset="-120"/>
              </a:rPr>
              <a:t> 50/50 risk-sharing inverted; 2024 net profit −88%, ROE 0.58% with no control to restructure.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
        <p:nvSpPr>
          <p:cNvPr id="6" name="Text 4"/>
          <p:cNvSpPr/>
          <p:nvPr/>
        </p:nvSpPr>
        <p:spPr>
          <a:xfrm>
            <a:off x="431750" y="4698802"/>
            <a:ext cx="4434670"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Return on equity, FY2024. Source: SAIC Motor (2025); BYD (2025); Geely (2026)</a:t>
            </a:r>
            <a:endParaRPr lang="en-US" sz="950" dirty="0"/>
          </a:p>
        </p:txBody>
      </p:sp>
      <p:graphicFrame>
        <p:nvGraphicFramePr>
          <p:cNvPr id="7" name="Chart 0"/>
          <p:cNvGraphicFramePr/>
          <p:nvPr>
            <p:extLst>
              <p:ext uri="{D42A27DB-BD31-4B8C-83A1-F6EECF244321}">
                <p14:modId xmlns:p14="http://schemas.microsoft.com/office/powerpoint/2010/main" val="998727951"/>
              </p:ext>
            </p:extLst>
          </p:nvPr>
        </p:nvGraphicFramePr>
        <p:xfrm>
          <a:off x="431750" y="1311473"/>
          <a:ext cx="4521101" cy="3048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Capabilities are built three ways — each with a different durability profile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320701"/>
            <a:ext cx="2603450" cy="1905000"/>
          </a:xfrm>
          <a:prstGeom prst="rect">
            <a:avLst/>
          </a:prstGeom>
          <a:solidFill>
            <a:srgbClr val="FEF2F2"/>
          </a:solidFill>
          <a:ln/>
        </p:spPr>
        <p:txBody>
          <a:bodyPr wrap="square" rtlCol="0" anchor="ctr"/>
          <a:lstStyle/>
          <a:p>
            <a:pPr marL="0" indent="0">
              <a:buNone/>
            </a:pPr>
            <a:endParaRPr lang="en-US" dirty="0"/>
          </a:p>
        </p:txBody>
      </p:sp>
      <p:sp>
        <p:nvSpPr>
          <p:cNvPr id="5" name="Shape 3"/>
          <p:cNvSpPr/>
          <p:nvPr/>
        </p:nvSpPr>
        <p:spPr>
          <a:xfrm>
            <a:off x="431750" y="1344513"/>
            <a:ext cx="2603450" cy="0"/>
          </a:xfrm>
          <a:prstGeom prst="line">
            <a:avLst/>
          </a:prstGeom>
          <a:noFill/>
          <a:ln w="47625">
            <a:solidFill>
              <a:srgbClr val="DC2626"/>
            </a:solidFill>
            <a:prstDash val="solid"/>
          </a:ln>
        </p:spPr>
        <p:txBody>
          <a:bodyPr/>
          <a:lstStyle/>
          <a:p>
            <a:endParaRPr lang="en-US"/>
          </a:p>
        </p:txBody>
      </p:sp>
      <p:sp>
        <p:nvSpPr>
          <p:cNvPr id="6" name="Text 4"/>
          <p:cNvSpPr/>
          <p:nvPr/>
        </p:nvSpPr>
        <p:spPr>
          <a:xfrm>
            <a:off x="622250" y="1546027"/>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7" name="Text 5"/>
          <p:cNvSpPr/>
          <p:nvPr/>
        </p:nvSpPr>
        <p:spPr>
          <a:xfrm>
            <a:off x="622250" y="1806327"/>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8" name="Text 6"/>
          <p:cNvSpPr/>
          <p:nvPr/>
        </p:nvSpPr>
        <p:spPr>
          <a:xfrm>
            <a:off x="622250" y="2060228"/>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9" name="Text 7"/>
          <p:cNvSpPr/>
          <p:nvPr/>
        </p:nvSpPr>
        <p:spPr>
          <a:xfrm>
            <a:off x="3263801" y="1320701"/>
            <a:ext cx="2603450" cy="1905000"/>
          </a:xfrm>
          <a:prstGeom prst="rect">
            <a:avLst/>
          </a:prstGeom>
          <a:solidFill>
            <a:srgbClr val="EFF6FF"/>
          </a:solidFill>
          <a:ln/>
        </p:spPr>
        <p:txBody>
          <a:bodyPr wrap="square" rtlCol="0" anchor="ctr"/>
          <a:lstStyle/>
          <a:p>
            <a:pPr marL="0" indent="0">
              <a:buNone/>
            </a:pPr>
            <a:endParaRPr lang="en-US" dirty="0"/>
          </a:p>
        </p:txBody>
      </p:sp>
      <p:sp>
        <p:nvSpPr>
          <p:cNvPr id="10" name="Shape 8"/>
          <p:cNvSpPr/>
          <p:nvPr/>
        </p:nvSpPr>
        <p:spPr>
          <a:xfrm>
            <a:off x="3263801" y="1344513"/>
            <a:ext cx="2603450" cy="0"/>
          </a:xfrm>
          <a:prstGeom prst="line">
            <a:avLst/>
          </a:prstGeom>
          <a:noFill/>
          <a:ln w="47625">
            <a:solidFill>
              <a:srgbClr val="2563EB"/>
            </a:solidFill>
            <a:prstDash val="solid"/>
          </a:ln>
        </p:spPr>
        <p:txBody>
          <a:bodyPr/>
          <a:lstStyle/>
          <a:p>
            <a:endParaRPr lang="en-US"/>
          </a:p>
        </p:txBody>
      </p:sp>
      <p:sp>
        <p:nvSpPr>
          <p:cNvPr id="11" name="Text 9"/>
          <p:cNvSpPr/>
          <p:nvPr/>
        </p:nvSpPr>
        <p:spPr>
          <a:xfrm>
            <a:off x="3454301" y="1546027"/>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12" name="Text 10"/>
          <p:cNvSpPr/>
          <p:nvPr/>
        </p:nvSpPr>
        <p:spPr>
          <a:xfrm>
            <a:off x="3454301" y="1806327"/>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13" name="Text 11"/>
          <p:cNvSpPr/>
          <p:nvPr/>
        </p:nvSpPr>
        <p:spPr>
          <a:xfrm>
            <a:off x="3454301" y="2060228"/>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14" name="Text 12"/>
          <p:cNvSpPr/>
          <p:nvPr/>
        </p:nvSpPr>
        <p:spPr>
          <a:xfrm>
            <a:off x="6095851" y="1320701"/>
            <a:ext cx="2603450" cy="1905000"/>
          </a:xfrm>
          <a:prstGeom prst="rect">
            <a:avLst/>
          </a:prstGeom>
          <a:solidFill>
            <a:srgbClr val="ECFEFF"/>
          </a:solidFill>
          <a:ln/>
        </p:spPr>
        <p:txBody>
          <a:bodyPr wrap="square" rtlCol="0" anchor="ctr"/>
          <a:lstStyle/>
          <a:p>
            <a:pPr marL="0" indent="0">
              <a:buNone/>
            </a:pPr>
            <a:endParaRPr lang="en-US" dirty="0"/>
          </a:p>
        </p:txBody>
      </p:sp>
      <p:sp>
        <p:nvSpPr>
          <p:cNvPr id="15" name="Shape 13"/>
          <p:cNvSpPr/>
          <p:nvPr/>
        </p:nvSpPr>
        <p:spPr>
          <a:xfrm>
            <a:off x="6095851" y="1344513"/>
            <a:ext cx="2603450" cy="0"/>
          </a:xfrm>
          <a:prstGeom prst="line">
            <a:avLst/>
          </a:prstGeom>
          <a:noFill/>
          <a:ln w="47625">
            <a:solidFill>
              <a:srgbClr val="06B6D4"/>
            </a:solidFill>
            <a:prstDash val="solid"/>
          </a:ln>
        </p:spPr>
        <p:txBody>
          <a:bodyPr/>
          <a:lstStyle/>
          <a:p>
            <a:endParaRPr lang="en-US"/>
          </a:p>
        </p:txBody>
      </p:sp>
      <p:sp>
        <p:nvSpPr>
          <p:cNvPr id="16" name="Text 14"/>
          <p:cNvSpPr/>
          <p:nvPr/>
        </p:nvSpPr>
        <p:spPr>
          <a:xfrm>
            <a:off x="6286351" y="1546027"/>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17" name="Text 15"/>
          <p:cNvSpPr/>
          <p:nvPr/>
        </p:nvSpPr>
        <p:spPr>
          <a:xfrm>
            <a:off x="6286351" y="1806327"/>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18" name="Text 16"/>
          <p:cNvSpPr/>
          <p:nvPr/>
        </p:nvSpPr>
        <p:spPr>
          <a:xfrm>
            <a:off x="6286351" y="2060228"/>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
        <p:nvSpPr>
          <p:cNvPr id="19" name="Text 17"/>
          <p:cNvSpPr/>
          <p:nvPr/>
        </p:nvSpPr>
        <p:spPr>
          <a:xfrm>
            <a:off x="431750" y="3479602"/>
            <a:ext cx="8280350" cy="692051"/>
          </a:xfrm>
          <a:prstGeom prst="rect">
            <a:avLst/>
          </a:prstGeom>
          <a:solidFill>
            <a:srgbClr val="0F172A"/>
          </a:solidFill>
          <a:ln/>
        </p:spPr>
        <p:txBody>
          <a:bodyPr wrap="square" rtlCol="0" anchor="ctr"/>
          <a:lstStyle/>
          <a:p>
            <a:pPr marL="0" indent="0">
              <a:buNone/>
            </a:pPr>
            <a:endParaRPr lang="en-US" dirty="0"/>
          </a:p>
        </p:txBody>
      </p:sp>
      <p:sp>
        <p:nvSpPr>
          <p:cNvPr id="20" name="Text 18"/>
          <p:cNvSpPr/>
          <p:nvPr/>
        </p:nvSpPr>
        <p:spPr>
          <a:xfrm>
            <a:off x="634901" y="3619202"/>
            <a:ext cx="8031531" cy="412849"/>
          </a:xfrm>
          <a:prstGeom prst="rect">
            <a:avLst/>
          </a:prstGeom>
          <a:noFill/>
          <a:ln/>
        </p:spPr>
        <p:txBody>
          <a:bodyPr wrap="square" lIns="0" tIns="0" rIns="0" bIns="0" rtlCol="0" anchor="t"/>
          <a:lstStyle/>
          <a:p>
            <a:pPr marL="0" indent="0" algn="l">
              <a:lnSpc>
                <a:spcPts val="1625"/>
              </a:lnSpc>
              <a:buNone/>
            </a:pPr>
            <a:r>
              <a:rPr lang="en-US" sz="1250" b="1" dirty="0">
                <a:solidFill>
                  <a:srgbClr val="06B6D4"/>
                </a:solidFill>
                <a:latin typeface="Arial" pitchFamily="34" charset="0"/>
                <a:ea typeface="Arial" pitchFamily="34" charset="-122"/>
                <a:cs typeface="Arial" pitchFamily="34" charset="-120"/>
              </a:rPr>
              <a:t>Research gap:</a:t>
            </a:r>
            <a:r>
              <a:rPr lang="en-US" sz="1250" dirty="0">
                <a:solidFill>
                  <a:srgbClr val="FFFFFF"/>
                </a:solidFill>
                <a:latin typeface="Arial" pitchFamily="34" charset="0"/>
                <a:ea typeface="Arial" pitchFamily="34" charset="-122"/>
                <a:cs typeface="Arial" pitchFamily="34" charset="-120"/>
              </a:rPr>
              <a:t> no prior work compares all three acquisition modes under a single technology discontinuity — this paper's contribution.</a:t>
            </a:r>
            <a:endParaRPr lang="en-US" sz="1250" dirty="0"/>
          </a:p>
        </p:txBody>
      </p:sp>
      <p:sp>
        <p:nvSpPr>
          <p:cNvPr id="21" name="Text 19"/>
          <p:cNvSpPr/>
          <p:nvPr/>
        </p:nvSpPr>
        <p:spPr>
          <a:xfrm>
            <a:off x="431750" y="4698802"/>
            <a:ext cx="360293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Theoretical frame for the capability-building dimension (Chapter 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Three models, four dimensions, one regulatory regime isolating ownership</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4698802"/>
            <a:ext cx="614884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Analytical framework comparing SAIC Motor, BYD, and Geely across the paper's four dimensions (Chapters 2–5)</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31750" y="1286024"/>
          <a:ext cx="8280350" cy="3098750"/>
        </p:xfrm>
        <a:graphic>
          <a:graphicData uri="http://schemas.openxmlformats.org/drawingml/2006/table">
            <a:tbl>
              <a:tblPr/>
              <a:tblGrid>
                <a:gridCol w="1821677">
                  <a:extLst>
                    <a:ext uri="{9D8B030D-6E8A-4147-A177-3AD203B41FA5}">
                      <a16:colId xmlns:a16="http://schemas.microsoft.com/office/drawing/2014/main" val="20000"/>
                    </a:ext>
                  </a:extLst>
                </a:gridCol>
                <a:gridCol w="2152891">
                  <a:extLst>
                    <a:ext uri="{9D8B030D-6E8A-4147-A177-3AD203B41FA5}">
                      <a16:colId xmlns:a16="http://schemas.microsoft.com/office/drawing/2014/main" val="20001"/>
                    </a:ext>
                  </a:extLst>
                </a:gridCol>
                <a:gridCol w="2152891">
                  <a:extLst>
                    <a:ext uri="{9D8B030D-6E8A-4147-A177-3AD203B41FA5}">
                      <a16:colId xmlns:a16="http://schemas.microsoft.com/office/drawing/2014/main" val="20002"/>
                    </a:ext>
                  </a:extLst>
                </a:gridCol>
                <a:gridCol w="2152891">
                  <a:extLst>
                    <a:ext uri="{9D8B030D-6E8A-4147-A177-3AD203B41FA5}">
                      <a16:colId xmlns:a16="http://schemas.microsoft.com/office/drawing/2014/main" val="20003"/>
                    </a:ext>
                  </a:extLst>
                </a:gridCol>
              </a:tblGrid>
              <a:tr h="619750">
                <a:tc>
                  <a:txBody>
                    <a:bodyPr/>
                    <a:lstStyle/>
                    <a:p>
                      <a:pPr marL="0" indent="0">
                        <a:buNone/>
                      </a:pP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SAIC Motor</a:t>
                      </a: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(JV / SOE)</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DC2626"/>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BYD</a:t>
                      </a: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(Private / Vertical)</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Geely</a:t>
                      </a:r>
                      <a:endParaRPr lang="en-US" sz="1100" dirty="0">
                        <a:latin typeface="Arial" charset="0"/>
                        <a:ea typeface="Arial" charset="0"/>
                        <a:cs typeface="Arial" charset="0"/>
                      </a:endParaRPr>
                    </a:p>
                    <a:p>
                      <a:pPr marL="0" indent="0" algn="ctr">
                        <a:buNone/>
                      </a:pPr>
                      <a:r>
                        <a:rPr lang="en-US" sz="1100" b="1" dirty="0">
                          <a:solidFill>
                            <a:srgbClr val="FFFFFF"/>
                          </a:solidFill>
                          <a:latin typeface="Arial" pitchFamily="34" charset="0"/>
                          <a:ea typeface="Arial" pitchFamily="34" charset="-122"/>
                          <a:cs typeface="Arial" pitchFamily="34" charset="-120"/>
                        </a:rPr>
                        <a:t>(Private / M&amp;A)</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6B6D4"/>
                    </a:solidFill>
                  </a:tcPr>
                </a:tc>
                <a:extLst>
                  <a:ext uri="{0D108BD9-81ED-4DB2-BD59-A6C34878D82A}">
                    <a16:rowId xmlns:a16="http://schemas.microsoft.com/office/drawing/2014/main" val="10000"/>
                  </a:ext>
                </a:extLst>
              </a:tr>
              <a:tr h="61975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Governance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State / Party</a:t>
                      </a:r>
                      <a:endParaRPr lang="en-US" sz="1050" dirty="0">
                        <a:latin typeface="Arial" charset="0"/>
                        <a:ea typeface="Arial" charset="0"/>
                        <a:cs typeface="Arial" charset="0"/>
                      </a:endParaRPr>
                    </a:p>
                    <a:p>
                      <a:pPr marL="0" indent="0" algn="ctr">
                        <a:buNone/>
                      </a:pPr>
                      <a:r>
                        <a:rPr lang="en-US" sz="1050" dirty="0">
                          <a:solidFill>
                            <a:srgbClr val="1E293B"/>
                          </a:solidFill>
                          <a:latin typeface="Arial" pitchFamily="34" charset="0"/>
                          <a:ea typeface="Arial" pitchFamily="34" charset="-122"/>
                          <a:cs typeface="Arial" pitchFamily="34" charset="-120"/>
                        </a:rPr>
                        <a:t>(SASAC 63.71%)</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Founder</a:t>
                      </a:r>
                      <a:endParaRPr lang="en-US" sz="1050" dirty="0">
                        <a:latin typeface="Arial" charset="0"/>
                        <a:ea typeface="Arial" charset="0"/>
                        <a:cs typeface="Arial" charset="0"/>
                      </a:endParaRPr>
                    </a:p>
                    <a:p>
                      <a:pPr marL="0" indent="0" algn="ctr">
                        <a:buNone/>
                      </a:pPr>
                      <a:r>
                        <a:rPr lang="en-US" sz="1050" dirty="0">
                          <a:solidFill>
                            <a:srgbClr val="1E293B"/>
                          </a:solidFill>
                          <a:latin typeface="Arial" pitchFamily="34" charset="0"/>
                          <a:ea typeface="Arial" pitchFamily="34" charset="-122"/>
                          <a:cs typeface="Arial" pitchFamily="34" charset="-120"/>
                        </a:rPr>
                        <a:t>(Wang ~17%)</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Founder + M&amp;A</a:t>
                      </a:r>
                      <a:endParaRPr lang="en-US" sz="1050" dirty="0">
                        <a:latin typeface="Arial" charset="0"/>
                        <a:ea typeface="Arial" charset="0"/>
                        <a:cs typeface="Arial" charset="0"/>
                      </a:endParaRPr>
                    </a:p>
                    <a:p>
                      <a:pPr marL="0" indent="0" algn="ctr">
                        <a:buNone/>
                      </a:pPr>
                      <a:r>
                        <a:rPr lang="en-US" sz="1050" dirty="0">
                          <a:solidFill>
                            <a:srgbClr val="1E293B"/>
                          </a:solidFill>
                          <a:latin typeface="Arial" pitchFamily="34" charset="0"/>
                          <a:ea typeface="Arial" pitchFamily="34" charset="-122"/>
                          <a:cs typeface="Arial" pitchFamily="34" charset="-120"/>
                        </a:rPr>
                        <a:t>(Li Shufu)</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61975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Financing</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JV capital-light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Self-financed</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Leveraged acquisition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61975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Capability</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Mandatory transfer</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Organic build</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Acquisition + co-dev.</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61975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Long-term viability</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DC2626"/>
                          </a:solidFill>
                          <a:latin typeface="Arial" pitchFamily="34" charset="0"/>
                          <a:ea typeface="Arial" pitchFamily="34" charset="-122"/>
                          <a:cs typeface="Arial" pitchFamily="34" charset="-120"/>
                        </a:rPr>
                        <a:t>Eroding</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2563EB"/>
                          </a:solidFill>
                          <a:latin typeface="Arial" pitchFamily="34" charset="0"/>
                          <a:ea typeface="Arial" pitchFamily="34" charset="-122"/>
                          <a:cs typeface="Arial" pitchFamily="34" charset="-120"/>
                        </a:rPr>
                        <a:t>Leading</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06B6D4"/>
                          </a:solidFill>
                          <a:latin typeface="Arial" pitchFamily="34" charset="0"/>
                          <a:ea typeface="Arial" pitchFamily="34" charset="-122"/>
                          <a:cs typeface="Arial" pitchFamily="34" charset="-120"/>
                        </a:rPr>
                        <a:t>Adapting</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Founder control adapts fastest; the EU prices the difference at 35.3% vs 17%</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4749701"/>
            <a:ext cx="528917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(2025); European Commission (2024); Shleifer &amp; Vishny (1994)</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31750" y="1286024"/>
          <a:ext cx="8280352" cy="2946350"/>
        </p:xfrm>
        <a:graphic>
          <a:graphicData uri="http://schemas.openxmlformats.org/drawingml/2006/table">
            <a:tbl>
              <a:tblPr/>
              <a:tblGrid>
                <a:gridCol w="1573267">
                  <a:extLst>
                    <a:ext uri="{9D8B030D-6E8A-4147-A177-3AD203B41FA5}">
                      <a16:colId xmlns:a16="http://schemas.microsoft.com/office/drawing/2014/main" val="20000"/>
                    </a:ext>
                  </a:extLst>
                </a:gridCol>
                <a:gridCol w="2235695">
                  <a:extLst>
                    <a:ext uri="{9D8B030D-6E8A-4147-A177-3AD203B41FA5}">
                      <a16:colId xmlns:a16="http://schemas.microsoft.com/office/drawing/2014/main" val="20001"/>
                    </a:ext>
                  </a:extLst>
                </a:gridCol>
                <a:gridCol w="2235695">
                  <a:extLst>
                    <a:ext uri="{9D8B030D-6E8A-4147-A177-3AD203B41FA5}">
                      <a16:colId xmlns:a16="http://schemas.microsoft.com/office/drawing/2014/main" val="20002"/>
                    </a:ext>
                  </a:extLst>
                </a:gridCol>
                <a:gridCol w="2235695">
                  <a:extLst>
                    <a:ext uri="{9D8B030D-6E8A-4147-A177-3AD203B41FA5}">
                      <a16:colId xmlns:a16="http://schemas.microsoft.com/office/drawing/2014/main" val="20003"/>
                    </a:ext>
                  </a:extLst>
                </a:gridCol>
              </a:tblGrid>
              <a:tr h="589270">
                <a:tc>
                  <a:txBody>
                    <a:bodyPr/>
                    <a:lstStyle/>
                    <a:p>
                      <a:pPr marL="0" indent="0">
                        <a:buNone/>
                      </a:pP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SAIC Motor</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DC2626"/>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BYD</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Geely</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6B6D4"/>
                    </a:solidFill>
                  </a:tcPr>
                </a:tc>
                <a:extLst>
                  <a:ext uri="{0D108BD9-81ED-4DB2-BD59-A6C34878D82A}">
                    <a16:rowId xmlns:a16="http://schemas.microsoft.com/office/drawing/2014/main" val="10000"/>
                  </a:ext>
                </a:extLst>
              </a:tr>
              <a:tr h="58927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Controller</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SASAC 63.71% + Party</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Wang Chuanfu ~17%, team &gt;1/3</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Li Shufu, apex holding</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8927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Objective function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State + political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Commercial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Commercial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8927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Decision speed</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Bilateral JV consensus</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Unilateral (ICE exit 2022)</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Agile, multi-brand cost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89270">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EU anti-subsidy tariff</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b="1" dirty="0">
                          <a:solidFill>
                            <a:srgbClr val="DC2626"/>
                          </a:solidFill>
                          <a:latin typeface="Arial" pitchFamily="34" charset="0"/>
                          <a:ea typeface="Arial" pitchFamily="34" charset="-122"/>
                          <a:cs typeface="Arial" pitchFamily="34" charset="-120"/>
                        </a:rPr>
                        <a:t>35.3%</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17.0%</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050" dirty="0">
                          <a:solidFill>
                            <a:srgbClr val="1E293B"/>
                          </a:solidFill>
                          <a:latin typeface="Arial" pitchFamily="34" charset="0"/>
                          <a:ea typeface="Arial" pitchFamily="34" charset="-122"/>
                          <a:cs typeface="Arial" pitchFamily="34" charset="-120"/>
                        </a:rPr>
                        <a:t>18.8%</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Speed versus depth: BYD's organic stack is the slowest to build but the least imitable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965002"/>
            <a:ext cx="4741164" cy="133350"/>
          </a:xfrm>
          <a:prstGeom prst="rect">
            <a:avLst/>
          </a:prstGeom>
          <a:noFill/>
          <a:ln/>
        </p:spPr>
        <p:txBody>
          <a:bodyPr wrap="square" lIns="0" tIns="0" rIns="0" bIns="0" rtlCol="0" anchor="t"/>
          <a:lstStyle/>
          <a:p>
            <a:pPr marL="0" indent="0" algn="l">
              <a:buNone/>
            </a:pPr>
            <a:r>
              <a:rPr lang="en-US" sz="950" b="1" dirty="0">
                <a:solidFill>
                  <a:srgbClr val="475569"/>
                </a:solidFill>
                <a:latin typeface="Arial" pitchFamily="34" charset="0"/>
                <a:ea typeface="Arial" pitchFamily="34" charset="-122"/>
                <a:cs typeface="Arial" pitchFamily="34" charset="-120"/>
              </a:rPr>
              <a:t>↑ Higher proprietary / autonomous depth</a:t>
            </a:r>
            <a:endParaRPr lang="en-US" sz="950" dirty="0"/>
          </a:p>
        </p:txBody>
      </p:sp>
      <p:sp>
        <p:nvSpPr>
          <p:cNvPr id="5" name="Text 3"/>
          <p:cNvSpPr/>
          <p:nvPr/>
        </p:nvSpPr>
        <p:spPr>
          <a:xfrm>
            <a:off x="431750" y="1219051"/>
            <a:ext cx="2260550" cy="1460450"/>
          </a:xfrm>
          <a:prstGeom prst="rect">
            <a:avLst/>
          </a:prstGeom>
          <a:solidFill>
            <a:srgbClr val="EFF6FF"/>
          </a:solidFill>
          <a:ln w="9525">
            <a:solidFill>
              <a:srgbClr val="DBEAFE"/>
            </a:solidFill>
          </a:ln>
        </p:spPr>
        <p:txBody>
          <a:bodyPr wrap="square" rtlCol="0" anchor="ctr"/>
          <a:lstStyle/>
          <a:p>
            <a:pPr marL="0" indent="0">
              <a:buNone/>
            </a:pPr>
            <a:endParaRPr lang="en-US" dirty="0"/>
          </a:p>
        </p:txBody>
      </p:sp>
      <p:sp>
        <p:nvSpPr>
          <p:cNvPr id="6" name="Text 4"/>
          <p:cNvSpPr/>
          <p:nvPr/>
        </p:nvSpPr>
        <p:spPr>
          <a:xfrm>
            <a:off x="2768501" y="1219051"/>
            <a:ext cx="2260550" cy="1460450"/>
          </a:xfrm>
          <a:prstGeom prst="rect">
            <a:avLst/>
          </a:prstGeom>
          <a:solidFill>
            <a:srgbClr val="ECFEFF"/>
          </a:solidFill>
          <a:ln w="9525">
            <a:solidFill>
              <a:srgbClr val="CFFAFE"/>
            </a:solidFill>
          </a:ln>
        </p:spPr>
        <p:txBody>
          <a:bodyPr wrap="square" rtlCol="0" anchor="ctr"/>
          <a:lstStyle/>
          <a:p>
            <a:pPr marL="0" indent="0">
              <a:buNone/>
            </a:pPr>
            <a:endParaRPr lang="en-US" dirty="0"/>
          </a:p>
        </p:txBody>
      </p:sp>
      <p:sp>
        <p:nvSpPr>
          <p:cNvPr id="7" name="Text 5"/>
          <p:cNvSpPr/>
          <p:nvPr/>
        </p:nvSpPr>
        <p:spPr>
          <a:xfrm>
            <a:off x="431750" y="2755702"/>
            <a:ext cx="2260550" cy="1460450"/>
          </a:xfrm>
          <a:prstGeom prst="rect">
            <a:avLst/>
          </a:prstGeom>
          <a:solidFill>
            <a:srgbClr val="F1F5F9"/>
          </a:solidFill>
          <a:ln w="9525">
            <a:solidFill>
              <a:srgbClr val="E2E8F0"/>
            </a:solidFill>
          </a:ln>
        </p:spPr>
        <p:txBody>
          <a:bodyPr wrap="square" rtlCol="0" anchor="ctr"/>
          <a:lstStyle/>
          <a:p>
            <a:pPr marL="0" indent="0">
              <a:buNone/>
            </a:pPr>
            <a:endParaRPr lang="en-US" dirty="0"/>
          </a:p>
        </p:txBody>
      </p:sp>
      <p:sp>
        <p:nvSpPr>
          <p:cNvPr id="8" name="Text 6"/>
          <p:cNvSpPr/>
          <p:nvPr/>
        </p:nvSpPr>
        <p:spPr>
          <a:xfrm>
            <a:off x="2768501" y="2755702"/>
            <a:ext cx="2260550" cy="1460450"/>
          </a:xfrm>
          <a:prstGeom prst="rect">
            <a:avLst/>
          </a:prstGeom>
          <a:solidFill>
            <a:srgbClr val="FEF2F2"/>
          </a:solidFill>
          <a:ln w="9525">
            <a:solidFill>
              <a:srgbClr val="FECACA"/>
            </a:solidFill>
          </a:ln>
        </p:spPr>
        <p:txBody>
          <a:bodyPr wrap="square" rtlCol="0" anchor="ctr"/>
          <a:lstStyle/>
          <a:p>
            <a:pPr marL="0" indent="0">
              <a:buNone/>
            </a:pPr>
            <a:endParaRPr lang="en-US" dirty="0"/>
          </a:p>
        </p:txBody>
      </p:sp>
      <p:sp>
        <p:nvSpPr>
          <p:cNvPr id="9" name="Text 7"/>
          <p:cNvSpPr/>
          <p:nvPr/>
        </p:nvSpPr>
        <p:spPr>
          <a:xfrm>
            <a:off x="1155650" y="1536502"/>
            <a:ext cx="812750" cy="812750"/>
          </a:xfrm>
          <a:prstGeom prst="roundRect">
            <a:avLst>
              <a:gd name="adj" fmla="val 112507"/>
            </a:avLst>
          </a:prstGeom>
          <a:solidFill>
            <a:srgbClr val="2563EB"/>
          </a:solidFill>
          <a:ln/>
          <a:effectLst>
            <a:outerShdw blurRad="57150" dist="26941" dir="2700000" algn="bl" rotWithShape="0">
              <a:srgbClr val="0F172A">
                <a:alpha val="22000"/>
              </a:srgbClr>
            </a:outerShdw>
          </a:effectLst>
        </p:spPr>
        <p:txBody>
          <a:bodyPr wrap="square" rtlCol="0" anchor="ctr"/>
          <a:lstStyle/>
          <a:p>
            <a:pPr marL="0" indent="0">
              <a:buNone/>
            </a:pPr>
            <a:endParaRPr lang="en-US" dirty="0"/>
          </a:p>
        </p:txBody>
      </p:sp>
      <p:sp>
        <p:nvSpPr>
          <p:cNvPr id="10" name="Text 8"/>
          <p:cNvSpPr/>
          <p:nvPr/>
        </p:nvSpPr>
        <p:spPr>
          <a:xfrm>
            <a:off x="1387673" y="1842790"/>
            <a:ext cx="355527" cy="200025"/>
          </a:xfrm>
          <a:prstGeom prst="rect">
            <a:avLst/>
          </a:prstGeom>
          <a:noFill/>
          <a:ln/>
        </p:spPr>
        <p:txBody>
          <a:bodyPr wrap="square" lIns="0" tIns="0" rIns="0" bIns="0" rtlCol="0" anchor="t"/>
          <a:lstStyle/>
          <a:p>
            <a:pPr marL="0" indent="0" algn="l">
              <a:buNone/>
            </a:pPr>
            <a:r>
              <a:rPr lang="en-US" sz="1300" b="1" dirty="0">
                <a:solidFill>
                  <a:srgbClr val="FFFFFF"/>
                </a:solidFill>
                <a:latin typeface="Arial" pitchFamily="34" charset="0"/>
                <a:ea typeface="Arial" pitchFamily="34" charset="-122"/>
                <a:cs typeface="Arial" pitchFamily="34" charset="-120"/>
              </a:rPr>
              <a:t>BYD</a:t>
            </a:r>
            <a:endParaRPr lang="en-US" sz="1300" dirty="0"/>
          </a:p>
        </p:txBody>
      </p:sp>
      <p:sp>
        <p:nvSpPr>
          <p:cNvPr id="11" name="Text 9"/>
          <p:cNvSpPr/>
          <p:nvPr/>
        </p:nvSpPr>
        <p:spPr>
          <a:xfrm>
            <a:off x="3517850" y="1561951"/>
            <a:ext cx="762000" cy="762000"/>
          </a:xfrm>
          <a:prstGeom prst="roundRect">
            <a:avLst>
              <a:gd name="adj" fmla="val 120000"/>
            </a:avLst>
          </a:prstGeom>
          <a:solidFill>
            <a:srgbClr val="06B6D4"/>
          </a:solidFill>
          <a:ln/>
          <a:effectLst>
            <a:outerShdw blurRad="57150" dist="26941" dir="2700000" algn="bl" rotWithShape="0">
              <a:srgbClr val="0F172A">
                <a:alpha val="22000"/>
              </a:srgbClr>
            </a:outerShdw>
          </a:effectLst>
        </p:spPr>
        <p:txBody>
          <a:bodyPr wrap="square" rtlCol="0" anchor="ctr"/>
          <a:lstStyle/>
          <a:p>
            <a:pPr marL="0" indent="0">
              <a:buNone/>
            </a:pPr>
            <a:endParaRPr lang="en-US" dirty="0"/>
          </a:p>
        </p:txBody>
      </p:sp>
      <p:sp>
        <p:nvSpPr>
          <p:cNvPr id="12" name="Text 10"/>
          <p:cNvSpPr/>
          <p:nvPr/>
        </p:nvSpPr>
        <p:spPr>
          <a:xfrm>
            <a:off x="3673971" y="1842939"/>
            <a:ext cx="458754" cy="200025"/>
          </a:xfrm>
          <a:prstGeom prst="rect">
            <a:avLst/>
          </a:prstGeom>
          <a:noFill/>
          <a:ln/>
        </p:spPr>
        <p:txBody>
          <a:bodyPr wrap="square" lIns="0" tIns="0" rIns="0" bIns="0" rtlCol="0" anchor="t"/>
          <a:lstStyle/>
          <a:p>
            <a:pPr marL="0" indent="0" algn="l">
              <a:buNone/>
            </a:pPr>
            <a:r>
              <a:rPr lang="en-US" sz="1300" b="1" dirty="0">
                <a:solidFill>
                  <a:srgbClr val="FFFFFF"/>
                </a:solidFill>
                <a:latin typeface="Arial" pitchFamily="34" charset="0"/>
                <a:ea typeface="Arial" pitchFamily="34" charset="-122"/>
                <a:cs typeface="Arial" pitchFamily="34" charset="-120"/>
              </a:rPr>
              <a:t>Geely</a:t>
            </a:r>
            <a:endParaRPr lang="en-US" sz="1300" dirty="0"/>
          </a:p>
        </p:txBody>
      </p:sp>
      <p:sp>
        <p:nvSpPr>
          <p:cNvPr id="13" name="Text 11"/>
          <p:cNvSpPr/>
          <p:nvPr/>
        </p:nvSpPr>
        <p:spPr>
          <a:xfrm>
            <a:off x="3517850" y="3098602"/>
            <a:ext cx="762000" cy="762000"/>
          </a:xfrm>
          <a:prstGeom prst="roundRect">
            <a:avLst>
              <a:gd name="adj" fmla="val 120000"/>
            </a:avLst>
          </a:prstGeom>
          <a:solidFill>
            <a:srgbClr val="DC2626"/>
          </a:solidFill>
          <a:ln/>
          <a:effectLst>
            <a:outerShdw blurRad="57150" dist="26941" dir="2700000" algn="bl" rotWithShape="0">
              <a:srgbClr val="0F172A">
                <a:alpha val="22000"/>
              </a:srgbClr>
            </a:outerShdw>
          </a:effectLst>
        </p:spPr>
        <p:txBody>
          <a:bodyPr wrap="square" rtlCol="0" anchor="ctr"/>
          <a:lstStyle/>
          <a:p>
            <a:pPr marL="0" indent="0">
              <a:buNone/>
            </a:pPr>
            <a:endParaRPr lang="en-US" dirty="0"/>
          </a:p>
        </p:txBody>
      </p:sp>
      <p:sp>
        <p:nvSpPr>
          <p:cNvPr id="14" name="Text 12"/>
          <p:cNvSpPr/>
          <p:nvPr/>
        </p:nvSpPr>
        <p:spPr>
          <a:xfrm>
            <a:off x="3701653" y="3379589"/>
            <a:ext cx="402282" cy="200025"/>
          </a:xfrm>
          <a:prstGeom prst="rect">
            <a:avLst/>
          </a:prstGeom>
          <a:noFill/>
          <a:ln/>
        </p:spPr>
        <p:txBody>
          <a:bodyPr wrap="square" lIns="0" tIns="0" rIns="0" bIns="0" rtlCol="0" anchor="t"/>
          <a:lstStyle/>
          <a:p>
            <a:pPr marL="0" indent="0" algn="l">
              <a:buNone/>
            </a:pPr>
            <a:r>
              <a:rPr lang="en-US" sz="1300" b="1" dirty="0">
                <a:solidFill>
                  <a:srgbClr val="FFFFFF"/>
                </a:solidFill>
                <a:latin typeface="Arial" pitchFamily="34" charset="0"/>
                <a:ea typeface="Arial" pitchFamily="34" charset="-122"/>
                <a:cs typeface="Arial" pitchFamily="34" charset="-120"/>
              </a:rPr>
              <a:t>SAIC</a:t>
            </a:r>
            <a:endParaRPr lang="en-US" sz="1300" dirty="0"/>
          </a:p>
        </p:txBody>
      </p:sp>
      <p:sp>
        <p:nvSpPr>
          <p:cNvPr id="15" name="Text 13"/>
          <p:cNvSpPr/>
          <p:nvPr/>
        </p:nvSpPr>
        <p:spPr>
          <a:xfrm>
            <a:off x="385268" y="4343251"/>
            <a:ext cx="4741164" cy="133350"/>
          </a:xfrm>
          <a:prstGeom prst="rect">
            <a:avLst/>
          </a:prstGeom>
          <a:noFill/>
          <a:ln/>
        </p:spPr>
        <p:txBody>
          <a:bodyPr wrap="square" lIns="0" tIns="0" rIns="0" bIns="0" rtlCol="0" anchor="t"/>
          <a:lstStyle/>
          <a:p>
            <a:pPr marL="0" indent="0" algn="ctr">
              <a:buNone/>
            </a:pPr>
            <a:r>
              <a:rPr lang="en-US" sz="950" b="1" dirty="0">
                <a:solidFill>
                  <a:srgbClr val="475569"/>
                </a:solidFill>
                <a:latin typeface="Arial" pitchFamily="34" charset="0"/>
                <a:ea typeface="Arial" pitchFamily="34" charset="-122"/>
                <a:cs typeface="Arial" pitchFamily="34" charset="-120"/>
              </a:rPr>
              <a:t>Slow ← Speed of capability acquisition → Fast</a:t>
            </a:r>
            <a:endParaRPr lang="en-US" sz="950" dirty="0"/>
          </a:p>
        </p:txBody>
      </p:sp>
      <p:sp>
        <p:nvSpPr>
          <p:cNvPr id="16" name="Text 14"/>
          <p:cNvSpPr/>
          <p:nvPr/>
        </p:nvSpPr>
        <p:spPr>
          <a:xfrm>
            <a:off x="5562451" y="1168301"/>
            <a:ext cx="3342132" cy="200025"/>
          </a:xfrm>
          <a:prstGeom prst="rect">
            <a:avLst/>
          </a:prstGeom>
          <a:noFill/>
          <a:ln/>
        </p:spPr>
        <p:txBody>
          <a:bodyPr wrap="square" lIns="0" tIns="0" rIns="0" bIns="0" rtlCol="0" anchor="t"/>
          <a:lstStyle/>
          <a:p>
            <a:pPr marL="0" indent="0" algn="l">
              <a:spcAft>
                <a:spcPts val="900"/>
              </a:spcAft>
              <a:buNone/>
            </a:pPr>
            <a:r>
              <a:rPr lang="en-US" sz="1300" b="1" dirty="0">
                <a:solidFill>
                  <a:srgbClr val="2563EB"/>
                </a:solidFill>
                <a:latin typeface="Arial" pitchFamily="34" charset="0"/>
                <a:ea typeface="Arial" pitchFamily="34" charset="-122"/>
                <a:cs typeface="Arial" pitchFamily="34" charset="-120"/>
              </a:rPr>
              <a:t>What to take away</a:t>
            </a:r>
            <a:endParaRPr lang="en-US" sz="1300" dirty="0"/>
          </a:p>
        </p:txBody>
      </p:sp>
      <p:sp>
        <p:nvSpPr>
          <p:cNvPr id="17" name="Text 15"/>
          <p:cNvSpPr/>
          <p:nvPr/>
        </p:nvSpPr>
        <p:spPr>
          <a:xfrm>
            <a:off x="5562451" y="1482626"/>
            <a:ext cx="3276600" cy="2372320"/>
          </a:xfrm>
          <a:prstGeom prst="rect">
            <a:avLst/>
          </a:prstGeom>
          <a:noFill/>
          <a:ln/>
        </p:spPr>
        <p:txBody>
          <a:bodyPr wrap="square" lIns="88900" tIns="0" rIns="0" bIns="0" rtlCol="0" anchor="t"/>
          <a:lstStyle/>
          <a:p>
            <a:pPr marL="88900" indent="-88900" algn="l">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BYD — slow but deep:</a:t>
            </a:r>
            <a:r>
              <a:rPr lang="en-US" sz="1150" dirty="0">
                <a:solidFill>
                  <a:srgbClr val="1E293B"/>
                </a:solidFill>
                <a:latin typeface="Arial" pitchFamily="34" charset="0"/>
                <a:ea typeface="Arial" pitchFamily="34" charset="-122"/>
                <a:cs typeface="Arial" pitchFamily="34" charset="-120"/>
              </a:rPr>
              <a:t> three decades from cell chemistry to vehicle software; path-dependent, non-imitable (Teece et al. 1997).</a:t>
            </a:r>
            <a:endParaRPr lang="en-US" sz="1150" dirty="0"/>
          </a:p>
          <a:p>
            <a:pPr marL="88900" indent="-88900" algn="l">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Geely — fast and deep:</a:t>
            </a:r>
            <a:r>
              <a:rPr lang="en-US" sz="1150" dirty="0">
                <a:solidFill>
                  <a:srgbClr val="1E293B"/>
                </a:solidFill>
                <a:latin typeface="Arial" pitchFamily="34" charset="0"/>
                <a:ea typeface="Arial" pitchFamily="34" charset="-122"/>
                <a:cs typeface="Arial" pitchFamily="34" charset="-120"/>
              </a:rPr>
              <a:t> acquisition compressed the timeline; CMA co-development, patent convergence (Konda et al. 2022).</a:t>
            </a:r>
            <a:endParaRPr lang="en-US" sz="1150" dirty="0"/>
          </a:p>
          <a:p>
            <a:pPr marL="88900" indent="-88900" algn="l">
              <a:lnSpc>
                <a:spcPts val="1518"/>
              </a:lnSpc>
              <a:spcAft>
                <a:spcPts val="1000"/>
              </a:spcAft>
              <a:buSzPct val="100000"/>
              <a:buChar char="•"/>
            </a:pPr>
            <a:r>
              <a:rPr lang="en-US" sz="1150" b="1" dirty="0">
                <a:solidFill>
                  <a:srgbClr val="1E293B"/>
                </a:solidFill>
                <a:latin typeface="Arial" pitchFamily="34" charset="0"/>
                <a:ea typeface="Arial" pitchFamily="34" charset="-122"/>
                <a:cs typeface="Arial" pitchFamily="34" charset="-120"/>
              </a:rPr>
              <a:t>SAIC — fast but shallow:</a:t>
            </a:r>
            <a:r>
              <a:rPr lang="en-US" sz="1150" dirty="0">
                <a:solidFill>
                  <a:srgbClr val="1E293B"/>
                </a:solidFill>
                <a:latin typeface="Arial" pitchFamily="34" charset="0"/>
                <a:ea typeface="Arial" pitchFamily="34" charset="-122"/>
                <a:cs typeface="Arial" pitchFamily="34" charset="-120"/>
              </a:rPr>
              <a:t> 8.3% quality gain via JV transfer, yet rent cannibalization left no proprietary EV platforms (Bai et al. 2025; Howell 2018).</a:t>
            </a:r>
            <a:endParaRPr lang="en-US" sz="1150" dirty="0"/>
          </a:p>
        </p:txBody>
      </p:sp>
      <p:sp>
        <p:nvSpPr>
          <p:cNvPr id="18" name="Text 16"/>
          <p:cNvSpPr/>
          <p:nvPr/>
        </p:nvSpPr>
        <p:spPr>
          <a:xfrm>
            <a:off x="431750" y="4698802"/>
            <a:ext cx="5283107"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Bai et al. (2025); Zheng et al. (2022); Konda et al. (2022); Teece, Pisano &amp; Shuen (1997)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The EV transition is a structural audit — SAIC fails it, BYD passes, Geely adapts</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320701"/>
            <a:ext cx="8280350" cy="965150"/>
          </a:xfrm>
          <a:prstGeom prst="rect">
            <a:avLst/>
          </a:prstGeom>
          <a:solidFill>
            <a:srgbClr val="F8FAFC"/>
          </a:solidFill>
          <a:ln/>
        </p:spPr>
        <p:txBody>
          <a:bodyPr wrap="square" rtlCol="0" anchor="ctr"/>
          <a:lstStyle/>
          <a:p>
            <a:pPr marL="0" indent="0">
              <a:buNone/>
            </a:pPr>
            <a:endParaRPr lang="en-US" dirty="0"/>
          </a:p>
        </p:txBody>
      </p:sp>
      <p:sp>
        <p:nvSpPr>
          <p:cNvPr id="5" name="Shape 3"/>
          <p:cNvSpPr/>
          <p:nvPr/>
        </p:nvSpPr>
        <p:spPr>
          <a:xfrm>
            <a:off x="474613" y="1320701"/>
            <a:ext cx="0" cy="965150"/>
          </a:xfrm>
          <a:prstGeom prst="line">
            <a:avLst/>
          </a:prstGeom>
          <a:noFill/>
          <a:ln w="85725">
            <a:solidFill>
              <a:srgbClr val="DC2626"/>
            </a:solidFill>
            <a:prstDash val="solid"/>
          </a:ln>
        </p:spPr>
        <p:txBody>
          <a:bodyPr/>
          <a:lstStyle/>
          <a:p>
            <a:endParaRPr lang="en-US"/>
          </a:p>
        </p:txBody>
      </p:sp>
      <p:sp>
        <p:nvSpPr>
          <p:cNvPr id="6" name="Text 4"/>
          <p:cNvSpPr/>
          <p:nvPr/>
        </p:nvSpPr>
        <p:spPr>
          <a:xfrm>
            <a:off x="746075" y="1460302"/>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7" name="Text 5"/>
          <p:cNvSpPr/>
          <p:nvPr/>
        </p:nvSpPr>
        <p:spPr>
          <a:xfrm>
            <a:off x="746075" y="1711077"/>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SAIC-GM at 37% capacity utilisation, VW's MEB plant at 14%; the "JV 2.0" pivot with Huawei arrives years after BYD's lead.</a:t>
            </a:r>
            <a:endParaRPr lang="en-US" sz="1150" dirty="0"/>
          </a:p>
        </p:txBody>
      </p:sp>
      <p:sp>
        <p:nvSpPr>
          <p:cNvPr id="8" name="Text 6"/>
          <p:cNvSpPr/>
          <p:nvPr/>
        </p:nvSpPr>
        <p:spPr>
          <a:xfrm>
            <a:off x="431750" y="2438251"/>
            <a:ext cx="8280350" cy="965150"/>
          </a:xfrm>
          <a:prstGeom prst="rect">
            <a:avLst/>
          </a:prstGeom>
          <a:solidFill>
            <a:srgbClr val="F8FAFC"/>
          </a:solidFill>
          <a:ln/>
        </p:spPr>
        <p:txBody>
          <a:bodyPr wrap="square" rtlCol="0" anchor="ctr"/>
          <a:lstStyle/>
          <a:p>
            <a:pPr marL="0" indent="0">
              <a:buNone/>
            </a:pPr>
            <a:endParaRPr lang="en-US" dirty="0"/>
          </a:p>
        </p:txBody>
      </p:sp>
      <p:sp>
        <p:nvSpPr>
          <p:cNvPr id="9" name="Shape 7"/>
          <p:cNvSpPr/>
          <p:nvPr/>
        </p:nvSpPr>
        <p:spPr>
          <a:xfrm>
            <a:off x="474613" y="2438251"/>
            <a:ext cx="0" cy="965150"/>
          </a:xfrm>
          <a:prstGeom prst="line">
            <a:avLst/>
          </a:prstGeom>
          <a:noFill/>
          <a:ln w="85725">
            <a:solidFill>
              <a:srgbClr val="2563EB"/>
            </a:solidFill>
            <a:prstDash val="solid"/>
          </a:ln>
        </p:spPr>
        <p:txBody>
          <a:bodyPr/>
          <a:lstStyle/>
          <a:p>
            <a:endParaRPr lang="en-US"/>
          </a:p>
        </p:txBody>
      </p:sp>
      <p:sp>
        <p:nvSpPr>
          <p:cNvPr id="10" name="Text 8"/>
          <p:cNvSpPr/>
          <p:nvPr/>
        </p:nvSpPr>
        <p:spPr>
          <a:xfrm>
            <a:off x="746075" y="2577852"/>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11" name="Text 9"/>
          <p:cNvSpPr/>
          <p:nvPr/>
        </p:nvSpPr>
        <p:spPr>
          <a:xfrm>
            <a:off x="746075" y="2828627"/>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12" name="Text 10"/>
          <p:cNvSpPr/>
          <p:nvPr/>
        </p:nvSpPr>
        <p:spPr>
          <a:xfrm>
            <a:off x="431750" y="3555802"/>
            <a:ext cx="8280350" cy="965150"/>
          </a:xfrm>
          <a:prstGeom prst="rect">
            <a:avLst/>
          </a:prstGeom>
          <a:solidFill>
            <a:srgbClr val="F8FAFC"/>
          </a:solidFill>
          <a:ln/>
        </p:spPr>
        <p:txBody>
          <a:bodyPr wrap="square" rtlCol="0" anchor="ctr"/>
          <a:lstStyle/>
          <a:p>
            <a:pPr marL="0" indent="0">
              <a:buNone/>
            </a:pPr>
            <a:endParaRPr lang="en-US" dirty="0"/>
          </a:p>
        </p:txBody>
      </p:sp>
      <p:sp>
        <p:nvSpPr>
          <p:cNvPr id="13" name="Shape 11"/>
          <p:cNvSpPr/>
          <p:nvPr/>
        </p:nvSpPr>
        <p:spPr>
          <a:xfrm>
            <a:off x="474613" y="3555802"/>
            <a:ext cx="0" cy="965150"/>
          </a:xfrm>
          <a:prstGeom prst="line">
            <a:avLst/>
          </a:prstGeom>
          <a:noFill/>
          <a:ln w="85725">
            <a:solidFill>
              <a:srgbClr val="06B6D4"/>
            </a:solidFill>
            <a:prstDash val="solid"/>
          </a:ln>
        </p:spPr>
        <p:txBody>
          <a:bodyPr/>
          <a:lstStyle/>
          <a:p>
            <a:endParaRPr lang="en-US"/>
          </a:p>
        </p:txBody>
      </p:sp>
      <p:sp>
        <p:nvSpPr>
          <p:cNvPr id="14" name="Text 12"/>
          <p:cNvSpPr/>
          <p:nvPr/>
        </p:nvSpPr>
        <p:spPr>
          <a:xfrm>
            <a:off x="746075" y="3695402"/>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15" name="Text 13"/>
          <p:cNvSpPr/>
          <p:nvPr/>
        </p:nvSpPr>
        <p:spPr>
          <a:xfrm>
            <a:off x="746075" y="394617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16" name="Text 14"/>
          <p:cNvSpPr/>
          <p:nvPr/>
        </p:nvSpPr>
        <p:spPr>
          <a:xfrm>
            <a:off x="431750" y="4698802"/>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24789" y="4432250"/>
            <a:ext cx="8280350" cy="482501"/>
          </a:xfrm>
          <a:prstGeom prst="rect">
            <a:avLst/>
          </a:prstGeom>
          <a:solidFill>
            <a:srgbClr val="0F172A"/>
          </a:solidFill>
          <a:ln/>
        </p:spPr>
        <p:txBody>
          <a:bodyPr wrap="square" rtlCol="0" anchor="ctr"/>
          <a:lstStyle/>
          <a:p>
            <a:pPr marL="0" indent="0">
              <a:buNone/>
            </a:pPr>
            <a:endParaRPr lang="en-US" dirty="0"/>
          </a:p>
        </p:txBody>
      </p:sp>
      <p:sp>
        <p:nvSpPr>
          <p:cNvPr id="5" name="Text 3"/>
          <p:cNvSpPr/>
          <p:nvPr/>
        </p:nvSpPr>
        <p:spPr>
          <a:xfrm>
            <a:off x="577188" y="4521100"/>
            <a:ext cx="8135061" cy="304800"/>
          </a:xfrm>
          <a:prstGeom prst="rect">
            <a:avLst/>
          </a:prstGeom>
          <a:noFill/>
          <a:ln/>
        </p:spPr>
        <p:txBody>
          <a:bodyPr wrap="square" lIns="0" tIns="0" rIns="0" bIns="0" rtlCol="0" anchor="t"/>
          <a:lstStyle/>
          <a:p>
            <a:pPr marL="0" indent="0" algn="l">
              <a:buNone/>
            </a:pPr>
            <a:r>
              <a:rPr lang="en-US" sz="1100" b="1" dirty="0">
                <a:solidFill>
                  <a:srgbClr val="FFFFFF"/>
                </a:solidFill>
                <a:latin typeface="Arial" pitchFamily="34" charset="0"/>
                <a:ea typeface="Arial" pitchFamily="34" charset="-122"/>
                <a:cs typeface="Arial" pitchFamily="34" charset="-120"/>
              </a:rPr>
              <a:t>SAIC's 0.58% ROE and 35.3% EU tariff are the quantitative signature of state-JV dependency; BYD and Geely both clear 18%+ ROE.</a:t>
            </a:r>
            <a:endParaRPr lang="en-US" sz="1100" dirty="0"/>
          </a:p>
        </p:txBody>
      </p:sp>
      <p:sp>
        <p:nvSpPr>
          <p:cNvPr id="6" name="Text 4"/>
          <p:cNvSpPr/>
          <p:nvPr/>
        </p:nvSpPr>
        <p:spPr>
          <a:xfrm>
            <a:off x="431750" y="4978301"/>
            <a:ext cx="6310976"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AR 2024/2025; BYD AR 2024/2025; Geely AR 2024/2025. Geely FY2024 as originally reported.</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31750" y="1260574"/>
          <a:ext cx="8280351" cy="2858586"/>
        </p:xfrm>
        <a:graphic>
          <a:graphicData uri="http://schemas.openxmlformats.org/drawingml/2006/table">
            <a:tbl>
              <a:tblPr/>
              <a:tblGrid>
                <a:gridCol w="2484105">
                  <a:extLst>
                    <a:ext uri="{9D8B030D-6E8A-4147-A177-3AD203B41FA5}">
                      <a16:colId xmlns:a16="http://schemas.microsoft.com/office/drawing/2014/main" val="20000"/>
                    </a:ext>
                  </a:extLst>
                </a:gridCol>
                <a:gridCol w="1931806">
                  <a:extLst>
                    <a:ext uri="{9D8B030D-6E8A-4147-A177-3AD203B41FA5}">
                      <a16:colId xmlns:a16="http://schemas.microsoft.com/office/drawing/2014/main" val="20001"/>
                    </a:ext>
                  </a:extLst>
                </a:gridCol>
                <a:gridCol w="1931806">
                  <a:extLst>
                    <a:ext uri="{9D8B030D-6E8A-4147-A177-3AD203B41FA5}">
                      <a16:colId xmlns:a16="http://schemas.microsoft.com/office/drawing/2014/main" val="20002"/>
                    </a:ext>
                  </a:extLst>
                </a:gridCol>
                <a:gridCol w="1932634">
                  <a:extLst>
                    <a:ext uri="{9D8B030D-6E8A-4147-A177-3AD203B41FA5}">
                      <a16:colId xmlns:a16="http://schemas.microsoft.com/office/drawing/2014/main" val="20003"/>
                    </a:ext>
                  </a:extLst>
                </a:gridCol>
              </a:tblGrid>
              <a:tr h="402771">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Metric  (FY2024 → FY2025)</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SAIC Motor</a:t>
                      </a:r>
                      <a:endParaRPr lang="en-US" sz="1150" dirty="0">
                        <a:latin typeface="Arial" charset="0"/>
                        <a:ea typeface="Arial" charset="0"/>
                        <a:cs typeface="Arial" charset="0"/>
                      </a:endParaRPr>
                    </a:p>
                    <a:p>
                      <a:pPr marL="0" indent="0" algn="ctr">
                        <a:buNone/>
                      </a:pPr>
                      <a:r>
                        <a:rPr lang="en-US" sz="1150" b="1" dirty="0">
                          <a:solidFill>
                            <a:srgbClr val="FFFFFF"/>
                          </a:solidFill>
                          <a:latin typeface="Arial" pitchFamily="34" charset="0"/>
                          <a:ea typeface="Arial" pitchFamily="34" charset="-122"/>
                          <a:cs typeface="Arial" pitchFamily="34" charset="-120"/>
                        </a:rPr>
                        <a:t>(JV / SOE)</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DC2626"/>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BYD</a:t>
                      </a:r>
                      <a:endParaRPr lang="en-US" sz="1150" dirty="0">
                        <a:latin typeface="Arial" charset="0"/>
                        <a:ea typeface="Arial" charset="0"/>
                        <a:cs typeface="Arial" charset="0"/>
                      </a:endParaRPr>
                    </a:p>
                    <a:p>
                      <a:pPr marL="0" indent="0" algn="ctr">
                        <a:buNone/>
                      </a:pPr>
                      <a:r>
                        <a:rPr lang="en-US" sz="1150" b="1" dirty="0">
                          <a:solidFill>
                            <a:srgbClr val="FFFFFF"/>
                          </a:solidFill>
                          <a:latin typeface="Arial" pitchFamily="34" charset="0"/>
                          <a:ea typeface="Arial" pitchFamily="34" charset="-122"/>
                          <a:cs typeface="Arial" pitchFamily="34" charset="-120"/>
                        </a:rPr>
                        <a:t>(Private / Vertical)</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50" b="1" dirty="0">
                          <a:solidFill>
                            <a:srgbClr val="FFFFFF"/>
                          </a:solidFill>
                          <a:latin typeface="Arial" pitchFamily="34" charset="0"/>
                          <a:ea typeface="Arial" pitchFamily="34" charset="-122"/>
                          <a:cs typeface="Arial" pitchFamily="34" charset="-120"/>
                        </a:rPr>
                        <a:t>Geely</a:t>
                      </a:r>
                      <a:endParaRPr lang="en-US" sz="1150" dirty="0">
                        <a:latin typeface="Arial" charset="0"/>
                        <a:ea typeface="Arial" charset="0"/>
                        <a:cs typeface="Arial" charset="0"/>
                      </a:endParaRPr>
                    </a:p>
                    <a:p>
                      <a:pPr marL="0" indent="0" algn="ctr">
                        <a:buNone/>
                      </a:pPr>
                      <a:r>
                        <a:rPr lang="en-US" sz="1150" b="1" dirty="0">
                          <a:solidFill>
                            <a:srgbClr val="FFFFFF"/>
                          </a:solidFill>
                          <a:latin typeface="Arial" pitchFamily="34" charset="0"/>
                          <a:ea typeface="Arial" pitchFamily="34" charset="-122"/>
                          <a:cs typeface="Arial" pitchFamily="34" charset="-120"/>
                        </a:rPr>
                        <a:t>(Private / M&amp;A)</a:t>
                      </a:r>
                      <a:endParaRPr lang="en-US" sz="11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6B6D4"/>
                    </a:solidFill>
                  </a:tcPr>
                </a:tc>
                <a:extLst>
                  <a:ext uri="{0D108BD9-81ED-4DB2-BD59-A6C34878D82A}">
                    <a16:rowId xmlns:a16="http://schemas.microsoft.com/office/drawing/2014/main" val="10000"/>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Revenue (RMB bn)</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627.6 → 656.2</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777.1 → 804.0</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240.2 → 345.2</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Gross Margin</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9.4%</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19.4% → 17.7%</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15.9% → 16.6%</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Net Profit (RMB bn)</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DC2626"/>
                          </a:solidFill>
                          <a:latin typeface="Arial" pitchFamily="34" charset="0"/>
                          <a:ea typeface="Arial" pitchFamily="34" charset="-122"/>
                          <a:cs typeface="Arial" pitchFamily="34" charset="-120"/>
                        </a:rPr>
                        <a:t>1.7 → 10.1</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40.3 → 32.6</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16.8 → 16.9</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Return on Equity</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DC2626"/>
                          </a:solidFill>
                          <a:latin typeface="Arial" pitchFamily="34" charset="0"/>
                          <a:ea typeface="Arial" pitchFamily="34" charset="-122"/>
                          <a:cs typeface="Arial" pitchFamily="34" charset="-120"/>
                        </a:rPr>
                        <a:t>0.58% → 3.43%</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21.7% → 13.2%</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19.2% → 18.2%</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Net Gearing</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n.a.</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−36% → +25%</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8.8% → 19.8%</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02771">
                <a:tc>
                  <a:txBody>
                    <a:bodyPr/>
                    <a:lstStyle/>
                    <a:p>
                      <a:pPr marL="0" indent="0" algn="l">
                        <a:buNone/>
                      </a:pPr>
                      <a:r>
                        <a:rPr lang="en-US" sz="1100" b="1" dirty="0">
                          <a:solidFill>
                            <a:srgbClr val="1E293B"/>
                          </a:solidFill>
                          <a:latin typeface="Arial" pitchFamily="34" charset="0"/>
                          <a:ea typeface="Arial" pitchFamily="34" charset="-122"/>
                          <a:cs typeface="Arial" pitchFamily="34" charset="-120"/>
                        </a:rPr>
                        <a:t>EU Anti-Subsidy Tariff</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100" b="1" dirty="0">
                          <a:solidFill>
                            <a:srgbClr val="DC2626"/>
                          </a:solidFill>
                          <a:latin typeface="Arial" pitchFamily="34" charset="0"/>
                          <a:ea typeface="Arial" pitchFamily="34" charset="-122"/>
                          <a:cs typeface="Arial" pitchFamily="34" charset="-120"/>
                        </a:rPr>
                        <a:t>35.3%</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17.0%</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1E293B"/>
                          </a:solidFill>
                          <a:latin typeface="Arial" pitchFamily="34" charset="0"/>
                          <a:ea typeface="Arial" pitchFamily="34" charset="-122"/>
                          <a:cs typeface="Arial" pitchFamily="34" charset="-120"/>
                        </a:rPr>
                        <a:t>18.8%</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34901" y="507950"/>
            <a:ext cx="8031682" cy="171450"/>
          </a:xfrm>
          <a:prstGeom prst="rect">
            <a:avLst/>
          </a:prstGeom>
          <a:noFill/>
          <a:ln/>
        </p:spPr>
        <p:txBody>
          <a:bodyPr wrap="square" lIns="0" tIns="0" rIns="0" bIns="0" rtlCol="0" anchor="t"/>
          <a:lstStyle/>
          <a:p>
            <a:pPr marL="0" indent="0" algn="l">
              <a:buNone/>
            </a:pPr>
            <a:r>
              <a:rPr lang="en-US" sz="1200" b="1" dirty="0">
                <a:solidFill>
                  <a:srgbClr val="06B6D4"/>
                </a:solidFill>
                <a:latin typeface="Arial" pitchFamily="34" charset="0"/>
                <a:ea typeface="Arial" pitchFamily="34" charset="-122"/>
                <a:cs typeface="Arial" pitchFamily="34" charset="-120"/>
              </a:rPr>
              <a:t>KEY JOINT LESSONS &amp; CONCLUSIONS</a:t>
            </a:r>
            <a:endParaRPr lang="en-US" sz="1200" dirty="0"/>
          </a:p>
        </p:txBody>
      </p:sp>
      <p:sp>
        <p:nvSpPr>
          <p:cNvPr id="3" name="Text 1"/>
          <p:cNvSpPr/>
          <p:nvPr/>
        </p:nvSpPr>
        <p:spPr>
          <a:xfrm>
            <a:off x="634901" y="679400"/>
            <a:ext cx="8031682" cy="933450"/>
          </a:xfrm>
          <a:prstGeom prst="rect">
            <a:avLst/>
          </a:prstGeom>
          <a:noFill/>
          <a:ln/>
        </p:spPr>
        <p:txBody>
          <a:bodyPr wrap="square" lIns="0" tIns="0" rIns="0" bIns="0" rtlCol="0" anchor="t"/>
          <a:lstStyle/>
          <a:p>
            <a:pPr marL="0" indent="0" algn="l">
              <a:buNone/>
            </a:pPr>
            <a:r>
              <a:rPr lang="en-US" sz="6400" b="1" dirty="0">
                <a:solidFill>
                  <a:srgbClr val="1E3A5F"/>
                </a:solidFill>
                <a:latin typeface="Arial" pitchFamily="34" charset="0"/>
                <a:ea typeface="Arial" pitchFamily="34" charset="-122"/>
                <a:cs typeface="Arial" pitchFamily="34" charset="-120"/>
              </a:rPr>
              <a:t>01</a:t>
            </a:r>
            <a:endParaRPr lang="en-US" sz="6400" dirty="0"/>
          </a:p>
        </p:txBody>
      </p:sp>
      <p:sp>
        <p:nvSpPr>
          <p:cNvPr id="4" name="Text 2"/>
          <p:cNvSpPr/>
          <p:nvPr/>
        </p:nvSpPr>
        <p:spPr>
          <a:xfrm>
            <a:off x="634901" y="1739801"/>
            <a:ext cx="8031682" cy="700980"/>
          </a:xfrm>
          <a:prstGeom prst="rect">
            <a:avLst/>
          </a:prstGeom>
          <a:noFill/>
          <a:ln/>
        </p:spPr>
        <p:txBody>
          <a:bodyPr wrap="square" lIns="0" tIns="0" rIns="0" bIns="0" rtlCol="0" anchor="t"/>
          <a:lstStyle/>
          <a:p>
            <a:pPr marL="0" indent="0" algn="l">
              <a:lnSpc>
                <a:spcPts val="2760"/>
              </a:lnSpc>
              <a:spcBef>
                <a:spcPts val="1000"/>
              </a:spcBef>
              <a:buNone/>
            </a:pPr>
            <a:r>
              <a:rPr lang="en-US" sz="2400" b="1" dirty="0">
                <a:solidFill>
                  <a:srgbClr val="FFFFFF"/>
                </a:solidFill>
                <a:latin typeface="Arial" pitchFamily="34" charset="0"/>
                <a:ea typeface="Arial" pitchFamily="34" charset="-122"/>
                <a:cs typeface="Arial" pitchFamily="34" charset="-120"/>
              </a:rPr>
              <a:t>The mode of capability acquisition determines durability across technology cycles</a:t>
            </a:r>
            <a:endParaRPr lang="en-US" sz="2400" dirty="0"/>
          </a:p>
        </p:txBody>
      </p:sp>
      <p:sp>
        <p:nvSpPr>
          <p:cNvPr id="5" name="Text 3"/>
          <p:cNvSpPr/>
          <p:nvPr/>
        </p:nvSpPr>
        <p:spPr>
          <a:xfrm>
            <a:off x="634901" y="2643932"/>
            <a:ext cx="1015901" cy="50750"/>
          </a:xfrm>
          <a:prstGeom prst="rect">
            <a:avLst/>
          </a:prstGeom>
          <a:solidFill>
            <a:srgbClr val="2563EB"/>
          </a:solidFill>
          <a:ln/>
        </p:spPr>
        <p:txBody>
          <a:bodyPr wrap="square" rtlCol="0" anchor="ctr"/>
          <a:lstStyle/>
          <a:p>
            <a:pPr marL="0" indent="0">
              <a:buNone/>
            </a:pPr>
            <a:endParaRPr lang="en-US" dirty="0"/>
          </a:p>
        </p:txBody>
      </p:sp>
      <p:sp>
        <p:nvSpPr>
          <p:cNvPr id="6" name="Text 4"/>
          <p:cNvSpPr/>
          <p:nvPr/>
        </p:nvSpPr>
        <p:spPr>
          <a:xfrm>
            <a:off x="634901" y="2923282"/>
            <a:ext cx="7874198" cy="946845"/>
          </a:xfrm>
          <a:prstGeom prst="rect">
            <a:avLst/>
          </a:prstGeom>
          <a:noFill/>
          <a:ln/>
        </p:spPr>
        <p:txBody>
          <a:bodyPr wrap="square" lIns="101600" tIns="0" rIns="0" bIns="0" rtlCol="0" anchor="t"/>
          <a:lstStyle/>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Lorem ipsum dolor sit amet, consectetur adipiscing elit, sed do eiusmod tempor incididunt.</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Ut enim ad minim veniam, quis nostrud exercitation ullamco laboris nisi ut aliquip ex ea.</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Duis aute irure dolor in reprehenderit in voluptate velit esse cillum dolore.</a:t>
            </a:r>
            <a:endParaRPr lang="en-US" sz="1300" dirty="0"/>
          </a:p>
        </p:txBody>
      </p:sp>
      <p:sp>
        <p:nvSpPr>
          <p:cNvPr id="7" name="Text 5"/>
          <p:cNvSpPr/>
          <p:nvPr/>
        </p:nvSpPr>
        <p:spPr>
          <a:xfrm>
            <a:off x="634901" y="4648051"/>
            <a:ext cx="3866010" cy="142875"/>
          </a:xfrm>
          <a:prstGeom prst="rect">
            <a:avLst/>
          </a:prstGeom>
          <a:noFill/>
          <a:ln/>
        </p:spPr>
        <p:txBody>
          <a:bodyPr wrap="square" lIns="0" tIns="0" rIns="0" bIns="0" rtlCol="0" anchor="t"/>
          <a:lstStyle/>
          <a:p>
            <a:pPr marL="0" indent="0" algn="l">
              <a:buNone/>
            </a:pPr>
            <a:r>
              <a:rPr lang="en-US" sz="1000" i="1" dirty="0">
                <a:solidFill>
                  <a:srgbClr val="64748B"/>
                </a:solidFill>
                <a:latin typeface="Arial" pitchFamily="34" charset="0"/>
                <a:ea typeface="Arial" pitchFamily="34" charset="-122"/>
                <a:cs typeface="Arial" pitchFamily="34" charset="-120"/>
              </a:rPr>
              <a:t>[Placeholder — final wording pending; conclusions not yet finalised]</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34901" y="507950"/>
            <a:ext cx="8031682" cy="171450"/>
          </a:xfrm>
          <a:prstGeom prst="rect">
            <a:avLst/>
          </a:prstGeom>
          <a:noFill/>
          <a:ln/>
        </p:spPr>
        <p:txBody>
          <a:bodyPr wrap="square" lIns="0" tIns="0" rIns="0" bIns="0" rtlCol="0" anchor="t"/>
          <a:lstStyle/>
          <a:p>
            <a:pPr marL="0" indent="0" algn="l">
              <a:buNone/>
            </a:pPr>
            <a:r>
              <a:rPr lang="en-US" sz="1200" b="1" dirty="0">
                <a:solidFill>
                  <a:srgbClr val="06B6D4"/>
                </a:solidFill>
                <a:latin typeface="Arial" pitchFamily="34" charset="0"/>
                <a:ea typeface="Arial" pitchFamily="34" charset="-122"/>
                <a:cs typeface="Arial" pitchFamily="34" charset="-120"/>
              </a:rPr>
              <a:t>KEY JOINT LESSONS &amp; CONCLUSIONS</a:t>
            </a:r>
            <a:endParaRPr lang="en-US" sz="1200" dirty="0"/>
          </a:p>
        </p:txBody>
      </p:sp>
      <p:sp>
        <p:nvSpPr>
          <p:cNvPr id="3" name="Text 1"/>
          <p:cNvSpPr/>
          <p:nvPr/>
        </p:nvSpPr>
        <p:spPr>
          <a:xfrm>
            <a:off x="634901" y="679400"/>
            <a:ext cx="8031682" cy="933450"/>
          </a:xfrm>
          <a:prstGeom prst="rect">
            <a:avLst/>
          </a:prstGeom>
          <a:noFill/>
          <a:ln/>
        </p:spPr>
        <p:txBody>
          <a:bodyPr wrap="square" lIns="0" tIns="0" rIns="0" bIns="0" rtlCol="0" anchor="t"/>
          <a:lstStyle/>
          <a:p>
            <a:pPr marL="0" indent="0" algn="l">
              <a:buNone/>
            </a:pPr>
            <a:r>
              <a:rPr lang="en-US" sz="6400" b="1" dirty="0">
                <a:solidFill>
                  <a:srgbClr val="1E3A5F"/>
                </a:solidFill>
                <a:latin typeface="Arial" pitchFamily="34" charset="0"/>
                <a:ea typeface="Arial" pitchFamily="34" charset="-122"/>
                <a:cs typeface="Arial" pitchFamily="34" charset="-120"/>
              </a:rPr>
              <a:t>02</a:t>
            </a:r>
            <a:endParaRPr lang="en-US" sz="6400" dirty="0"/>
          </a:p>
        </p:txBody>
      </p:sp>
      <p:sp>
        <p:nvSpPr>
          <p:cNvPr id="4" name="Text 2"/>
          <p:cNvSpPr/>
          <p:nvPr/>
        </p:nvSpPr>
        <p:spPr>
          <a:xfrm>
            <a:off x="634901" y="1739801"/>
            <a:ext cx="8031682" cy="700980"/>
          </a:xfrm>
          <a:prstGeom prst="rect">
            <a:avLst/>
          </a:prstGeom>
          <a:noFill/>
          <a:ln/>
        </p:spPr>
        <p:txBody>
          <a:bodyPr wrap="square" lIns="0" tIns="0" rIns="0" bIns="0" rtlCol="0" anchor="t"/>
          <a:lstStyle/>
          <a:p>
            <a:pPr marL="0" indent="0" algn="l">
              <a:lnSpc>
                <a:spcPts val="2760"/>
              </a:lnSpc>
              <a:spcBef>
                <a:spcPts val="1000"/>
              </a:spcBef>
              <a:buNone/>
            </a:pPr>
            <a:r>
              <a:rPr lang="en-US" sz="2400" b="1" dirty="0">
                <a:solidFill>
                  <a:srgbClr val="FFFFFF"/>
                </a:solidFill>
                <a:latin typeface="Arial" pitchFamily="34" charset="0"/>
                <a:ea typeface="Arial" pitchFamily="34" charset="-122"/>
                <a:cs typeface="Arial" pitchFamily="34" charset="-120"/>
              </a:rPr>
              <a:t>Governance structure is a first-order determinant of strategic adaptability</a:t>
            </a:r>
            <a:endParaRPr lang="en-US" sz="2400" dirty="0"/>
          </a:p>
        </p:txBody>
      </p:sp>
      <p:sp>
        <p:nvSpPr>
          <p:cNvPr id="5" name="Text 3"/>
          <p:cNvSpPr/>
          <p:nvPr/>
        </p:nvSpPr>
        <p:spPr>
          <a:xfrm>
            <a:off x="634901" y="2643932"/>
            <a:ext cx="1015901" cy="50750"/>
          </a:xfrm>
          <a:prstGeom prst="rect">
            <a:avLst/>
          </a:prstGeom>
          <a:solidFill>
            <a:srgbClr val="2563EB"/>
          </a:solidFill>
          <a:ln/>
        </p:spPr>
        <p:txBody>
          <a:bodyPr wrap="square" rtlCol="0" anchor="ctr"/>
          <a:lstStyle/>
          <a:p>
            <a:pPr marL="0" indent="0">
              <a:buNone/>
            </a:pPr>
            <a:endParaRPr lang="en-US" dirty="0"/>
          </a:p>
        </p:txBody>
      </p:sp>
      <p:sp>
        <p:nvSpPr>
          <p:cNvPr id="6" name="Text 4"/>
          <p:cNvSpPr/>
          <p:nvPr/>
        </p:nvSpPr>
        <p:spPr>
          <a:xfrm>
            <a:off x="634901" y="2923282"/>
            <a:ext cx="7874198" cy="946845"/>
          </a:xfrm>
          <a:prstGeom prst="rect">
            <a:avLst/>
          </a:prstGeom>
          <a:noFill/>
          <a:ln/>
        </p:spPr>
        <p:txBody>
          <a:bodyPr wrap="square" lIns="101600" tIns="0" rIns="0" bIns="0" rtlCol="0" anchor="t"/>
          <a:lstStyle/>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Lorem ipsum dolor sit amet, consectetur adipiscing elit, sed do eiusmod tempor incididunt.</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Ut enim ad minim veniam, quis nostrud exercitation ullamco laboris nisi ut aliquip ex ea.</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Duis aute irure dolor in reprehenderit in voluptate velit esse cillum dolore.</a:t>
            </a:r>
            <a:endParaRPr lang="en-US" sz="1300" dirty="0"/>
          </a:p>
        </p:txBody>
      </p:sp>
      <p:sp>
        <p:nvSpPr>
          <p:cNvPr id="7" name="Text 5"/>
          <p:cNvSpPr/>
          <p:nvPr/>
        </p:nvSpPr>
        <p:spPr>
          <a:xfrm>
            <a:off x="634901" y="4648051"/>
            <a:ext cx="3866010" cy="142875"/>
          </a:xfrm>
          <a:prstGeom prst="rect">
            <a:avLst/>
          </a:prstGeom>
          <a:noFill/>
          <a:ln/>
        </p:spPr>
        <p:txBody>
          <a:bodyPr wrap="square" lIns="0" tIns="0" rIns="0" bIns="0" rtlCol="0" anchor="t"/>
          <a:lstStyle/>
          <a:p>
            <a:pPr marL="0" indent="0" algn="l">
              <a:buNone/>
            </a:pPr>
            <a:r>
              <a:rPr lang="en-US" sz="1000" i="1" dirty="0">
                <a:solidFill>
                  <a:srgbClr val="64748B"/>
                </a:solidFill>
                <a:latin typeface="Arial" pitchFamily="34" charset="0"/>
                <a:ea typeface="Arial" pitchFamily="34" charset="-122"/>
                <a:cs typeface="Arial" pitchFamily="34" charset="-120"/>
              </a:rPr>
              <a:t>[Placeholder — final wording pending; conclusions not yet finalised]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34901" y="507950"/>
            <a:ext cx="8031682" cy="171450"/>
          </a:xfrm>
          <a:prstGeom prst="rect">
            <a:avLst/>
          </a:prstGeom>
          <a:noFill/>
          <a:ln/>
        </p:spPr>
        <p:txBody>
          <a:bodyPr wrap="square" lIns="0" tIns="0" rIns="0" bIns="0" rtlCol="0" anchor="t"/>
          <a:lstStyle/>
          <a:p>
            <a:pPr marL="0" indent="0" algn="l">
              <a:buNone/>
            </a:pPr>
            <a:r>
              <a:rPr lang="en-US" sz="1200" b="1" dirty="0">
                <a:solidFill>
                  <a:srgbClr val="06B6D4"/>
                </a:solidFill>
                <a:latin typeface="Arial" pitchFamily="34" charset="0"/>
                <a:ea typeface="Arial" pitchFamily="34" charset="-122"/>
                <a:cs typeface="Arial" pitchFamily="34" charset="-120"/>
              </a:rPr>
              <a:t>KEY JOINT LESSONS &amp; CONCLUSIONS</a:t>
            </a:r>
            <a:endParaRPr lang="en-US" sz="1200" dirty="0"/>
          </a:p>
        </p:txBody>
      </p:sp>
      <p:sp>
        <p:nvSpPr>
          <p:cNvPr id="3" name="Text 1"/>
          <p:cNvSpPr/>
          <p:nvPr/>
        </p:nvSpPr>
        <p:spPr>
          <a:xfrm>
            <a:off x="634901" y="679400"/>
            <a:ext cx="8031682" cy="933450"/>
          </a:xfrm>
          <a:prstGeom prst="rect">
            <a:avLst/>
          </a:prstGeom>
          <a:noFill/>
          <a:ln/>
        </p:spPr>
        <p:txBody>
          <a:bodyPr wrap="square" lIns="0" tIns="0" rIns="0" bIns="0" rtlCol="0" anchor="t"/>
          <a:lstStyle/>
          <a:p>
            <a:pPr marL="0" indent="0" algn="l">
              <a:buNone/>
            </a:pPr>
            <a:r>
              <a:rPr lang="en-US" sz="6400" b="1" dirty="0">
                <a:solidFill>
                  <a:srgbClr val="1E3A5F"/>
                </a:solidFill>
                <a:latin typeface="Arial" pitchFamily="34" charset="0"/>
                <a:ea typeface="Arial" pitchFamily="34" charset="-122"/>
                <a:cs typeface="Arial" pitchFamily="34" charset="-120"/>
              </a:rPr>
              <a:t>03</a:t>
            </a:r>
            <a:endParaRPr lang="en-US" sz="6400" dirty="0"/>
          </a:p>
        </p:txBody>
      </p:sp>
      <p:sp>
        <p:nvSpPr>
          <p:cNvPr id="4" name="Text 2"/>
          <p:cNvSpPr/>
          <p:nvPr/>
        </p:nvSpPr>
        <p:spPr>
          <a:xfrm>
            <a:off x="634901" y="1739801"/>
            <a:ext cx="8031682" cy="700980"/>
          </a:xfrm>
          <a:prstGeom prst="rect">
            <a:avLst/>
          </a:prstGeom>
          <a:noFill/>
          <a:ln/>
        </p:spPr>
        <p:txBody>
          <a:bodyPr wrap="square" lIns="0" tIns="0" rIns="0" bIns="0" rtlCol="0" anchor="t"/>
          <a:lstStyle/>
          <a:p>
            <a:pPr marL="0" indent="0" algn="l">
              <a:lnSpc>
                <a:spcPts val="2760"/>
              </a:lnSpc>
              <a:spcBef>
                <a:spcPts val="1000"/>
              </a:spcBef>
              <a:buNone/>
            </a:pPr>
            <a:r>
              <a:rPr lang="en-US" sz="2400" b="1" dirty="0">
                <a:solidFill>
                  <a:srgbClr val="FFFFFF"/>
                </a:solidFill>
                <a:latin typeface="Arial" pitchFamily="34" charset="0"/>
                <a:ea typeface="Arial" pitchFamily="34" charset="-122"/>
                <a:cs typeface="Arial" pitchFamily="34" charset="-120"/>
              </a:rPr>
              <a:t>Capital structure determines resilience when markets contract</a:t>
            </a:r>
            <a:endParaRPr lang="en-US" sz="2400" dirty="0"/>
          </a:p>
        </p:txBody>
      </p:sp>
      <p:sp>
        <p:nvSpPr>
          <p:cNvPr id="5" name="Text 3"/>
          <p:cNvSpPr/>
          <p:nvPr/>
        </p:nvSpPr>
        <p:spPr>
          <a:xfrm>
            <a:off x="634901" y="2643932"/>
            <a:ext cx="1015901" cy="50750"/>
          </a:xfrm>
          <a:prstGeom prst="rect">
            <a:avLst/>
          </a:prstGeom>
          <a:solidFill>
            <a:srgbClr val="2563EB"/>
          </a:solidFill>
          <a:ln/>
        </p:spPr>
        <p:txBody>
          <a:bodyPr wrap="square" rtlCol="0" anchor="ctr"/>
          <a:lstStyle/>
          <a:p>
            <a:pPr marL="0" indent="0">
              <a:buNone/>
            </a:pPr>
            <a:endParaRPr lang="en-US" dirty="0"/>
          </a:p>
        </p:txBody>
      </p:sp>
      <p:sp>
        <p:nvSpPr>
          <p:cNvPr id="6" name="Text 4"/>
          <p:cNvSpPr/>
          <p:nvPr/>
        </p:nvSpPr>
        <p:spPr>
          <a:xfrm>
            <a:off x="634901" y="2923282"/>
            <a:ext cx="7874198" cy="946845"/>
          </a:xfrm>
          <a:prstGeom prst="rect">
            <a:avLst/>
          </a:prstGeom>
          <a:noFill/>
          <a:ln/>
        </p:spPr>
        <p:txBody>
          <a:bodyPr wrap="square" lIns="101600" tIns="0" rIns="0" bIns="0" rtlCol="0" anchor="t"/>
          <a:lstStyle/>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Lorem ipsum dolor sit amet, consectetur adipiscing elit, sed do eiusmod tempor incididunt.</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Ut enim ad minim veniam, quis nostrud exercitation ullamco laboris nisi ut aliquip ex ea.</a:t>
            </a:r>
            <a:endParaRPr lang="en-US" sz="1300" dirty="0"/>
          </a:p>
          <a:p>
            <a:pPr marL="101600" indent="-101600" algn="l">
              <a:lnSpc>
                <a:spcPts val="1820"/>
              </a:lnSpc>
              <a:spcAft>
                <a:spcPts val="1000"/>
              </a:spcAft>
              <a:buSzPct val="100000"/>
              <a:buChar char="•"/>
            </a:pPr>
            <a:r>
              <a:rPr lang="en-US" sz="1300" dirty="0">
                <a:solidFill>
                  <a:srgbClr val="93C5FD"/>
                </a:solidFill>
                <a:latin typeface="Arial" pitchFamily="34" charset="0"/>
                <a:ea typeface="Arial" pitchFamily="34" charset="-122"/>
                <a:cs typeface="Arial" pitchFamily="34" charset="-120"/>
              </a:rPr>
              <a:t>Duis aute irure dolor in reprehenderit in voluptate velit esse cillum dolore.</a:t>
            </a:r>
            <a:endParaRPr lang="en-US" sz="1300" dirty="0"/>
          </a:p>
        </p:txBody>
      </p:sp>
      <p:sp>
        <p:nvSpPr>
          <p:cNvPr id="7" name="Text 5"/>
          <p:cNvSpPr/>
          <p:nvPr/>
        </p:nvSpPr>
        <p:spPr>
          <a:xfrm>
            <a:off x="634901" y="4648051"/>
            <a:ext cx="3866010" cy="142875"/>
          </a:xfrm>
          <a:prstGeom prst="rect">
            <a:avLst/>
          </a:prstGeom>
          <a:noFill/>
          <a:ln/>
        </p:spPr>
        <p:txBody>
          <a:bodyPr wrap="square" lIns="0" tIns="0" rIns="0" bIns="0" rtlCol="0" anchor="t"/>
          <a:lstStyle/>
          <a:p>
            <a:pPr marL="0" indent="0" algn="l">
              <a:buNone/>
            </a:pPr>
            <a:r>
              <a:rPr lang="en-US" sz="1000" i="1" dirty="0">
                <a:solidFill>
                  <a:srgbClr val="64748B"/>
                </a:solidFill>
                <a:latin typeface="Arial" pitchFamily="34" charset="0"/>
                <a:ea typeface="Arial" pitchFamily="34" charset="-122"/>
                <a:cs typeface="Arial" pitchFamily="34" charset="-120"/>
              </a:rPr>
              <a:t>[Placeholder — final wording pending; conclusions not yet finalised]</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A layered agent system, not a single chatbot, carried the research</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95251"/>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5" name="Text 3"/>
          <p:cNvSpPr/>
          <p:nvPr/>
        </p:nvSpPr>
        <p:spPr>
          <a:xfrm>
            <a:off x="2336750" y="1498402"/>
            <a:ext cx="2920901" cy="400050"/>
          </a:xfrm>
          <a:prstGeom prst="rect">
            <a:avLst/>
          </a:prstGeom>
          <a:solidFill>
            <a:srgbClr val="0F172A"/>
          </a:solidFill>
          <a:ln/>
        </p:spPr>
        <p:txBody>
          <a:bodyPr wrap="square" rtlCol="0" anchor="ctr"/>
          <a:lstStyle/>
          <a:p>
            <a:pPr marL="0" indent="0">
              <a:buNone/>
            </a:pPr>
            <a:endParaRPr lang="en-US" dirty="0"/>
          </a:p>
        </p:txBody>
      </p:sp>
      <p:sp>
        <p:nvSpPr>
          <p:cNvPr id="6" name="Text 4"/>
          <p:cNvSpPr/>
          <p:nvPr/>
        </p:nvSpPr>
        <p:spPr>
          <a:xfrm>
            <a:off x="2514451" y="1612702"/>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7" name="Text 5"/>
          <p:cNvSpPr/>
          <p:nvPr/>
        </p:nvSpPr>
        <p:spPr>
          <a:xfrm>
            <a:off x="5410051" y="1498402"/>
            <a:ext cx="3429000" cy="571500"/>
          </a:xfrm>
          <a:prstGeom prst="rect">
            <a:avLst/>
          </a:prstGeom>
          <a:solidFill>
            <a:srgbClr val="0F172A"/>
          </a:solidFill>
          <a:ln/>
        </p:spPr>
        <p:txBody>
          <a:bodyPr wrap="square" rtlCol="0" anchor="ctr"/>
          <a:lstStyle/>
          <a:p>
            <a:pPr marL="0" indent="0">
              <a:buNone/>
            </a:pPr>
            <a:endParaRPr lang="en-US" dirty="0"/>
          </a:p>
        </p:txBody>
      </p:sp>
      <p:sp>
        <p:nvSpPr>
          <p:cNvPr id="8" name="Text 6"/>
          <p:cNvSpPr/>
          <p:nvPr/>
        </p:nvSpPr>
        <p:spPr>
          <a:xfrm>
            <a:off x="5587752" y="1612702"/>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9" name="Text 7"/>
          <p:cNvSpPr/>
          <p:nvPr/>
        </p:nvSpPr>
        <p:spPr>
          <a:xfrm>
            <a:off x="431750" y="2235101"/>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10" name="Text 8"/>
          <p:cNvSpPr/>
          <p:nvPr/>
        </p:nvSpPr>
        <p:spPr>
          <a:xfrm>
            <a:off x="431750" y="2438251"/>
            <a:ext cx="1549301" cy="990600"/>
          </a:xfrm>
          <a:prstGeom prst="rect">
            <a:avLst/>
          </a:prstGeom>
          <a:solidFill>
            <a:srgbClr val="EFF6FF"/>
          </a:solidFill>
          <a:ln/>
        </p:spPr>
        <p:txBody>
          <a:bodyPr wrap="square" rtlCol="0" anchor="ctr"/>
          <a:lstStyle/>
          <a:p>
            <a:pPr marL="0" indent="0">
              <a:buNone/>
            </a:pPr>
            <a:endParaRPr lang="en-US" dirty="0"/>
          </a:p>
        </p:txBody>
      </p:sp>
      <p:sp>
        <p:nvSpPr>
          <p:cNvPr id="11" name="Shape 9"/>
          <p:cNvSpPr/>
          <p:nvPr/>
        </p:nvSpPr>
        <p:spPr>
          <a:xfrm>
            <a:off x="431750" y="2457301"/>
            <a:ext cx="1549301" cy="0"/>
          </a:xfrm>
          <a:prstGeom prst="line">
            <a:avLst/>
          </a:prstGeom>
          <a:noFill/>
          <a:ln w="38100">
            <a:solidFill>
              <a:srgbClr val="06B6D4"/>
            </a:solidFill>
            <a:prstDash val="solid"/>
          </a:ln>
        </p:spPr>
        <p:txBody>
          <a:bodyPr/>
          <a:lstStyle/>
          <a:p>
            <a:endParaRPr lang="en-US"/>
          </a:p>
        </p:txBody>
      </p:sp>
      <p:sp>
        <p:nvSpPr>
          <p:cNvPr id="12" name="Text 10"/>
          <p:cNvSpPr/>
          <p:nvPr/>
        </p:nvSpPr>
        <p:spPr>
          <a:xfrm>
            <a:off x="533251" y="2590651"/>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13" name="Text 11"/>
          <p:cNvSpPr/>
          <p:nvPr/>
        </p:nvSpPr>
        <p:spPr>
          <a:xfrm>
            <a:off x="533251" y="2781151"/>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14" name="Text 12"/>
          <p:cNvSpPr/>
          <p:nvPr/>
        </p:nvSpPr>
        <p:spPr>
          <a:xfrm>
            <a:off x="2108150" y="2438251"/>
            <a:ext cx="1549301" cy="990600"/>
          </a:xfrm>
          <a:prstGeom prst="rect">
            <a:avLst/>
          </a:prstGeom>
          <a:solidFill>
            <a:srgbClr val="EFF6FF"/>
          </a:solidFill>
          <a:ln/>
        </p:spPr>
        <p:txBody>
          <a:bodyPr wrap="square" rtlCol="0" anchor="ctr"/>
          <a:lstStyle/>
          <a:p>
            <a:pPr marL="0" indent="0">
              <a:buNone/>
            </a:pPr>
            <a:endParaRPr lang="en-US" dirty="0"/>
          </a:p>
        </p:txBody>
      </p:sp>
      <p:sp>
        <p:nvSpPr>
          <p:cNvPr id="15" name="Shape 13"/>
          <p:cNvSpPr/>
          <p:nvPr/>
        </p:nvSpPr>
        <p:spPr>
          <a:xfrm>
            <a:off x="2108150" y="2457301"/>
            <a:ext cx="1549301" cy="0"/>
          </a:xfrm>
          <a:prstGeom prst="line">
            <a:avLst/>
          </a:prstGeom>
          <a:noFill/>
          <a:ln w="38100">
            <a:solidFill>
              <a:srgbClr val="06B6D4"/>
            </a:solidFill>
            <a:prstDash val="solid"/>
          </a:ln>
        </p:spPr>
        <p:txBody>
          <a:bodyPr/>
          <a:lstStyle/>
          <a:p>
            <a:endParaRPr lang="en-US"/>
          </a:p>
        </p:txBody>
      </p:sp>
      <p:sp>
        <p:nvSpPr>
          <p:cNvPr id="16" name="Text 14"/>
          <p:cNvSpPr/>
          <p:nvPr/>
        </p:nvSpPr>
        <p:spPr>
          <a:xfrm>
            <a:off x="2209651" y="2590651"/>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17" name="Text 15"/>
          <p:cNvSpPr/>
          <p:nvPr/>
        </p:nvSpPr>
        <p:spPr>
          <a:xfrm>
            <a:off x="2209651" y="2781151"/>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18" name="Text 16"/>
          <p:cNvSpPr/>
          <p:nvPr/>
        </p:nvSpPr>
        <p:spPr>
          <a:xfrm>
            <a:off x="3784550" y="2438251"/>
            <a:ext cx="1549301" cy="990600"/>
          </a:xfrm>
          <a:prstGeom prst="rect">
            <a:avLst/>
          </a:prstGeom>
          <a:solidFill>
            <a:srgbClr val="EFF6FF"/>
          </a:solidFill>
          <a:ln/>
        </p:spPr>
        <p:txBody>
          <a:bodyPr wrap="square" rtlCol="0" anchor="ctr"/>
          <a:lstStyle/>
          <a:p>
            <a:pPr marL="0" indent="0">
              <a:buNone/>
            </a:pPr>
            <a:endParaRPr lang="en-US" dirty="0"/>
          </a:p>
        </p:txBody>
      </p:sp>
      <p:sp>
        <p:nvSpPr>
          <p:cNvPr id="19" name="Shape 17"/>
          <p:cNvSpPr/>
          <p:nvPr/>
        </p:nvSpPr>
        <p:spPr>
          <a:xfrm>
            <a:off x="3784550" y="2457301"/>
            <a:ext cx="1549301" cy="0"/>
          </a:xfrm>
          <a:prstGeom prst="line">
            <a:avLst/>
          </a:prstGeom>
          <a:noFill/>
          <a:ln w="38100">
            <a:solidFill>
              <a:srgbClr val="06B6D4"/>
            </a:solidFill>
            <a:prstDash val="solid"/>
          </a:ln>
        </p:spPr>
        <p:txBody>
          <a:bodyPr/>
          <a:lstStyle/>
          <a:p>
            <a:endParaRPr lang="en-US"/>
          </a:p>
        </p:txBody>
      </p:sp>
      <p:sp>
        <p:nvSpPr>
          <p:cNvPr id="20" name="Text 18"/>
          <p:cNvSpPr/>
          <p:nvPr/>
        </p:nvSpPr>
        <p:spPr>
          <a:xfrm>
            <a:off x="3886051" y="2590651"/>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21" name="Text 19"/>
          <p:cNvSpPr/>
          <p:nvPr/>
        </p:nvSpPr>
        <p:spPr>
          <a:xfrm>
            <a:off x="3886051" y="2781151"/>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22" name="Text 20"/>
          <p:cNvSpPr/>
          <p:nvPr/>
        </p:nvSpPr>
        <p:spPr>
          <a:xfrm>
            <a:off x="5460950" y="2438251"/>
            <a:ext cx="1549301" cy="990600"/>
          </a:xfrm>
          <a:prstGeom prst="rect">
            <a:avLst/>
          </a:prstGeom>
          <a:solidFill>
            <a:srgbClr val="EFF6FF"/>
          </a:solidFill>
          <a:ln/>
        </p:spPr>
        <p:txBody>
          <a:bodyPr wrap="square" rtlCol="0" anchor="ctr"/>
          <a:lstStyle/>
          <a:p>
            <a:pPr marL="0" indent="0">
              <a:buNone/>
            </a:pPr>
            <a:endParaRPr lang="en-US" dirty="0"/>
          </a:p>
        </p:txBody>
      </p:sp>
      <p:sp>
        <p:nvSpPr>
          <p:cNvPr id="23" name="Shape 21"/>
          <p:cNvSpPr/>
          <p:nvPr/>
        </p:nvSpPr>
        <p:spPr>
          <a:xfrm>
            <a:off x="5460950" y="2457301"/>
            <a:ext cx="1549301" cy="0"/>
          </a:xfrm>
          <a:prstGeom prst="line">
            <a:avLst/>
          </a:prstGeom>
          <a:noFill/>
          <a:ln w="38100">
            <a:solidFill>
              <a:srgbClr val="06B6D4"/>
            </a:solidFill>
            <a:prstDash val="solid"/>
          </a:ln>
        </p:spPr>
        <p:txBody>
          <a:bodyPr/>
          <a:lstStyle/>
          <a:p>
            <a:endParaRPr lang="en-US"/>
          </a:p>
        </p:txBody>
      </p:sp>
      <p:sp>
        <p:nvSpPr>
          <p:cNvPr id="24" name="Text 22"/>
          <p:cNvSpPr/>
          <p:nvPr/>
        </p:nvSpPr>
        <p:spPr>
          <a:xfrm>
            <a:off x="5562451" y="2590651"/>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25" name="Text 23"/>
          <p:cNvSpPr/>
          <p:nvPr/>
        </p:nvSpPr>
        <p:spPr>
          <a:xfrm>
            <a:off x="5562451" y="2781151"/>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26" name="Text 24"/>
          <p:cNvSpPr/>
          <p:nvPr/>
        </p:nvSpPr>
        <p:spPr>
          <a:xfrm>
            <a:off x="7137350" y="2438251"/>
            <a:ext cx="1549301" cy="990600"/>
          </a:xfrm>
          <a:prstGeom prst="rect">
            <a:avLst/>
          </a:prstGeom>
          <a:solidFill>
            <a:srgbClr val="EFF6FF"/>
          </a:solidFill>
          <a:ln/>
        </p:spPr>
        <p:txBody>
          <a:bodyPr wrap="square" rtlCol="0" anchor="ctr"/>
          <a:lstStyle/>
          <a:p>
            <a:pPr marL="0" indent="0">
              <a:buNone/>
            </a:pPr>
            <a:endParaRPr lang="en-US" dirty="0"/>
          </a:p>
        </p:txBody>
      </p:sp>
      <p:sp>
        <p:nvSpPr>
          <p:cNvPr id="27" name="Shape 25"/>
          <p:cNvSpPr/>
          <p:nvPr/>
        </p:nvSpPr>
        <p:spPr>
          <a:xfrm>
            <a:off x="7137350" y="2457301"/>
            <a:ext cx="1549301" cy="0"/>
          </a:xfrm>
          <a:prstGeom prst="line">
            <a:avLst/>
          </a:prstGeom>
          <a:noFill/>
          <a:ln w="38100">
            <a:solidFill>
              <a:srgbClr val="06B6D4"/>
            </a:solidFill>
            <a:prstDash val="solid"/>
          </a:ln>
        </p:spPr>
        <p:txBody>
          <a:bodyPr/>
          <a:lstStyle/>
          <a:p>
            <a:endParaRPr lang="en-US"/>
          </a:p>
        </p:txBody>
      </p:sp>
      <p:sp>
        <p:nvSpPr>
          <p:cNvPr id="28" name="Text 26"/>
          <p:cNvSpPr/>
          <p:nvPr/>
        </p:nvSpPr>
        <p:spPr>
          <a:xfrm>
            <a:off x="7238851" y="2590651"/>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29" name="Text 27"/>
          <p:cNvSpPr/>
          <p:nvPr/>
        </p:nvSpPr>
        <p:spPr>
          <a:xfrm>
            <a:off x="7238851" y="2781151"/>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30" name="Text 28"/>
          <p:cNvSpPr/>
          <p:nvPr/>
        </p:nvSpPr>
        <p:spPr>
          <a:xfrm>
            <a:off x="431750" y="3733651"/>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31" name="Text 29"/>
          <p:cNvSpPr/>
          <p:nvPr/>
        </p:nvSpPr>
        <p:spPr>
          <a:xfrm>
            <a:off x="431750" y="3936802"/>
            <a:ext cx="8280350" cy="450652"/>
          </a:xfrm>
          <a:prstGeom prst="rect">
            <a:avLst/>
          </a:prstGeom>
          <a:solidFill>
            <a:srgbClr val="06B6D4"/>
          </a:solidFill>
          <a:ln/>
        </p:spPr>
        <p:txBody>
          <a:bodyPr wrap="square" rtlCol="0" anchor="ctr"/>
          <a:lstStyle/>
          <a:p>
            <a:pPr marL="0" indent="0">
              <a:buNone/>
            </a:pPr>
            <a:endParaRPr lang="en-US" dirty="0"/>
          </a:p>
        </p:txBody>
      </p:sp>
      <p:sp>
        <p:nvSpPr>
          <p:cNvPr id="32" name="Text 30"/>
          <p:cNvSpPr/>
          <p:nvPr/>
        </p:nvSpPr>
        <p:spPr>
          <a:xfrm>
            <a:off x="634901" y="4076402"/>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
        <p:nvSpPr>
          <p:cNvPr id="33" name="Text 31"/>
          <p:cNvSpPr/>
          <p:nvPr/>
        </p:nvSpPr>
        <p:spPr>
          <a:xfrm>
            <a:off x="431750" y="4698802"/>
            <a:ext cx="457417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Platform: Claude Code (Anthropic). Agents deployed via the apm package manager.</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32070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 name="Text 3"/>
          <p:cNvSpPr/>
          <p:nvPr/>
        </p:nvSpPr>
        <p:spPr>
          <a:xfrm>
            <a:off x="431750" y="1647676"/>
            <a:ext cx="3962400" cy="1529655"/>
          </a:xfrm>
          <a:prstGeom prst="rect">
            <a:avLst/>
          </a:prstGeom>
          <a:solidFill>
            <a:srgbClr val="0F172A"/>
          </a:solidFill>
          <a:ln/>
        </p:spPr>
        <p:txBody>
          <a:bodyPr wrap="square" rtlCol="0" anchor="ctr"/>
          <a:lstStyle/>
          <a:p>
            <a:pPr marL="0" indent="0">
              <a:buNone/>
            </a:pPr>
            <a:endParaRPr lang="en-US" dirty="0"/>
          </a:p>
        </p:txBody>
      </p:sp>
      <p:sp>
        <p:nvSpPr>
          <p:cNvPr id="6" name="Text 4"/>
          <p:cNvSpPr/>
          <p:nvPr/>
        </p:nvSpPr>
        <p:spPr>
          <a:xfrm>
            <a:off x="634901" y="182537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7" name="Text 5"/>
          <p:cNvSpPr/>
          <p:nvPr/>
        </p:nvSpPr>
        <p:spPr>
          <a:xfrm>
            <a:off x="634901" y="206022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8" name="Text 6"/>
          <p:cNvSpPr/>
          <p:nvPr/>
        </p:nvSpPr>
        <p:spPr>
          <a:xfrm>
            <a:off x="634901" y="22950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9" name="Text 7"/>
          <p:cNvSpPr/>
          <p:nvPr/>
        </p:nvSpPr>
        <p:spPr>
          <a:xfrm>
            <a:off x="634901" y="25299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10" name="Text 8"/>
          <p:cNvSpPr/>
          <p:nvPr/>
        </p:nvSpPr>
        <p:spPr>
          <a:xfrm>
            <a:off x="634901" y="276478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11" name="Text 9"/>
          <p:cNvSpPr/>
          <p:nvPr/>
        </p:nvSpPr>
        <p:spPr>
          <a:xfrm>
            <a:off x="4800451" y="132070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12" name="Text 10"/>
          <p:cNvSpPr/>
          <p:nvPr/>
        </p:nvSpPr>
        <p:spPr>
          <a:xfrm>
            <a:off x="4800451" y="164767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Claude Code read all three wikis at once — direct cross-case comparison, no manual sharing.</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13" name="Text 11"/>
          <p:cNvSpPr/>
          <p:nvPr/>
        </p:nvSpPr>
        <p:spPr>
          <a:xfrm>
            <a:off x="431750" y="469880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A two-axis source rating kept every claim anchored to the best evidence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95251"/>
            <a:ext cx="3962400" cy="2133600"/>
          </a:xfrm>
          <a:prstGeom prst="rect">
            <a:avLst/>
          </a:prstGeom>
          <a:solidFill>
            <a:srgbClr val="F8FAFC"/>
          </a:solidFill>
          <a:ln/>
        </p:spPr>
        <p:txBody>
          <a:bodyPr wrap="square" rtlCol="0" anchor="ctr"/>
          <a:lstStyle/>
          <a:p>
            <a:pPr marL="0" indent="0">
              <a:buNone/>
            </a:pPr>
            <a:endParaRPr lang="en-US" dirty="0"/>
          </a:p>
        </p:txBody>
      </p:sp>
      <p:sp>
        <p:nvSpPr>
          <p:cNvPr id="5" name="Shape 3"/>
          <p:cNvSpPr/>
          <p:nvPr/>
        </p:nvSpPr>
        <p:spPr>
          <a:xfrm>
            <a:off x="431750" y="1319064"/>
            <a:ext cx="3962400" cy="0"/>
          </a:xfrm>
          <a:prstGeom prst="line">
            <a:avLst/>
          </a:prstGeom>
          <a:noFill/>
          <a:ln w="47625">
            <a:solidFill>
              <a:srgbClr val="2563EB"/>
            </a:solidFill>
            <a:prstDash val="solid"/>
          </a:ln>
        </p:spPr>
        <p:txBody>
          <a:bodyPr/>
          <a:lstStyle/>
          <a:p>
            <a:endParaRPr lang="en-US"/>
          </a:p>
        </p:txBody>
      </p:sp>
      <p:sp>
        <p:nvSpPr>
          <p:cNvPr id="6" name="Text 4"/>
          <p:cNvSpPr/>
          <p:nvPr/>
        </p:nvSpPr>
        <p:spPr>
          <a:xfrm>
            <a:off x="634901" y="1520577"/>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7" name="Text 5"/>
          <p:cNvSpPr/>
          <p:nvPr/>
        </p:nvSpPr>
        <p:spPr>
          <a:xfrm>
            <a:off x="634901" y="1834902"/>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8" name="Text 6"/>
          <p:cNvSpPr/>
          <p:nvPr/>
        </p:nvSpPr>
        <p:spPr>
          <a:xfrm>
            <a:off x="4749701" y="1295251"/>
            <a:ext cx="3962400" cy="2133600"/>
          </a:xfrm>
          <a:prstGeom prst="rect">
            <a:avLst/>
          </a:prstGeom>
          <a:solidFill>
            <a:srgbClr val="F8FAFC"/>
          </a:solidFill>
          <a:ln/>
        </p:spPr>
        <p:txBody>
          <a:bodyPr wrap="square" rtlCol="0" anchor="ctr"/>
          <a:lstStyle/>
          <a:p>
            <a:pPr marL="0" indent="0">
              <a:buNone/>
            </a:pPr>
            <a:endParaRPr lang="en-US" dirty="0"/>
          </a:p>
        </p:txBody>
      </p:sp>
      <p:sp>
        <p:nvSpPr>
          <p:cNvPr id="9" name="Shape 7"/>
          <p:cNvSpPr/>
          <p:nvPr/>
        </p:nvSpPr>
        <p:spPr>
          <a:xfrm>
            <a:off x="4749701" y="1319064"/>
            <a:ext cx="3962400" cy="0"/>
          </a:xfrm>
          <a:prstGeom prst="line">
            <a:avLst/>
          </a:prstGeom>
          <a:noFill/>
          <a:ln w="47625">
            <a:solidFill>
              <a:srgbClr val="06B6D4"/>
            </a:solidFill>
            <a:prstDash val="solid"/>
          </a:ln>
        </p:spPr>
        <p:txBody>
          <a:bodyPr/>
          <a:lstStyle/>
          <a:p>
            <a:endParaRPr lang="en-US"/>
          </a:p>
        </p:txBody>
      </p:sp>
      <p:sp>
        <p:nvSpPr>
          <p:cNvPr id="10" name="Text 8"/>
          <p:cNvSpPr/>
          <p:nvPr/>
        </p:nvSpPr>
        <p:spPr>
          <a:xfrm>
            <a:off x="4952851" y="1520577"/>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11" name="Text 9"/>
          <p:cNvSpPr/>
          <p:nvPr/>
        </p:nvSpPr>
        <p:spPr>
          <a:xfrm>
            <a:off x="4952851" y="1834902"/>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12" name="Text 10"/>
          <p:cNvSpPr/>
          <p:nvPr/>
        </p:nvSpPr>
        <p:spPr>
          <a:xfrm>
            <a:off x="431750" y="3581251"/>
            <a:ext cx="8280350" cy="675382"/>
          </a:xfrm>
          <a:prstGeom prst="rect">
            <a:avLst/>
          </a:prstGeom>
          <a:solidFill>
            <a:srgbClr val="0F172A"/>
          </a:solidFill>
          <a:ln/>
        </p:spPr>
        <p:txBody>
          <a:bodyPr wrap="square" rtlCol="0" anchor="ctr"/>
          <a:lstStyle/>
          <a:p>
            <a:pPr marL="0" indent="0">
              <a:buNone/>
            </a:pPr>
            <a:endParaRPr lang="en-US" dirty="0"/>
          </a:p>
        </p:txBody>
      </p:sp>
      <p:sp>
        <p:nvSpPr>
          <p:cNvPr id="13" name="Text 11"/>
          <p:cNvSpPr/>
          <p:nvPr/>
        </p:nvSpPr>
        <p:spPr>
          <a:xfrm>
            <a:off x="634901" y="3720852"/>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14" name="Text 12"/>
          <p:cNvSpPr/>
          <p:nvPr/>
        </p:nvSpPr>
        <p:spPr>
          <a:xfrm>
            <a:off x="431750" y="4698802"/>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Over 30 papers and 1,500+ pages made queryable in one persistent base</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498402"/>
            <a:ext cx="2539901" cy="1905000"/>
          </a:xfrm>
          <a:prstGeom prst="rect">
            <a:avLst/>
          </a:prstGeom>
          <a:solidFill>
            <a:srgbClr val="0F172A"/>
          </a:solidFill>
          <a:ln/>
        </p:spPr>
        <p:txBody>
          <a:bodyPr wrap="square" rtlCol="0" anchor="ctr"/>
          <a:lstStyle/>
          <a:p>
            <a:pPr marL="0" indent="0">
              <a:buNone/>
            </a:pPr>
            <a:endParaRPr lang="en-US" dirty="0"/>
          </a:p>
        </p:txBody>
      </p:sp>
      <p:sp>
        <p:nvSpPr>
          <p:cNvPr id="5" name="Text 3"/>
          <p:cNvSpPr/>
          <p:nvPr/>
        </p:nvSpPr>
        <p:spPr>
          <a:xfrm>
            <a:off x="660350" y="1777752"/>
            <a:ext cx="2124355" cy="619125"/>
          </a:xfrm>
          <a:prstGeom prst="rect">
            <a:avLst/>
          </a:prstGeom>
          <a:noFill/>
          <a:ln/>
        </p:spPr>
        <p:txBody>
          <a:bodyPr wrap="square" lIns="0" tIns="0" rIns="0" bIns="0" rtlCol="0" anchor="t"/>
          <a:lstStyle/>
          <a:p>
            <a:pPr marL="0" indent="0" algn="l">
              <a:buNone/>
            </a:pPr>
            <a:r>
              <a:rPr lang="en-US" sz="4200" b="1" dirty="0">
                <a:solidFill>
                  <a:srgbClr val="06B6D4"/>
                </a:solidFill>
                <a:latin typeface="Arial" pitchFamily="34" charset="0"/>
                <a:ea typeface="Arial" pitchFamily="34" charset="-122"/>
                <a:cs typeface="Arial" pitchFamily="34" charset="-120"/>
              </a:rPr>
              <a:t>30+</a:t>
            </a:r>
            <a:endParaRPr lang="en-US" sz="4200" dirty="0"/>
          </a:p>
        </p:txBody>
      </p:sp>
      <p:sp>
        <p:nvSpPr>
          <p:cNvPr id="6" name="Text 4"/>
          <p:cNvSpPr/>
          <p:nvPr/>
        </p:nvSpPr>
        <p:spPr>
          <a:xfrm>
            <a:off x="660350" y="2549277"/>
            <a:ext cx="2124355" cy="396180"/>
          </a:xfrm>
          <a:prstGeom prst="rect">
            <a:avLst/>
          </a:prstGeom>
          <a:noFill/>
          <a:ln/>
        </p:spPr>
        <p:txBody>
          <a:bodyPr wrap="square" lIns="0" tIns="0" rIns="0" bIns="0" rtlCol="0" anchor="t"/>
          <a:lstStyle/>
          <a:p>
            <a:pPr marL="0" indent="0" algn="l">
              <a:lnSpc>
                <a:spcPts val="1560"/>
              </a:lnSpc>
              <a:spcBef>
                <a:spcPts val="1200"/>
              </a:spcBef>
              <a:buNone/>
            </a:pPr>
            <a:r>
              <a:rPr lang="en-US" sz="1200" dirty="0">
                <a:solidFill>
                  <a:srgbClr val="FFFFFF"/>
                </a:solidFill>
                <a:latin typeface="Arial" pitchFamily="34" charset="0"/>
                <a:ea typeface="Arial" pitchFamily="34" charset="-122"/>
                <a:cs typeface="Arial" pitchFamily="34" charset="-120"/>
              </a:rPr>
              <a:t>academic papers ingested across the three cases</a:t>
            </a:r>
            <a:endParaRPr lang="en-US" sz="1200" dirty="0"/>
          </a:p>
        </p:txBody>
      </p:sp>
      <p:sp>
        <p:nvSpPr>
          <p:cNvPr id="7" name="Text 5"/>
          <p:cNvSpPr/>
          <p:nvPr/>
        </p:nvSpPr>
        <p:spPr>
          <a:xfrm>
            <a:off x="3301901" y="1498402"/>
            <a:ext cx="2539901" cy="1905000"/>
          </a:xfrm>
          <a:prstGeom prst="rect">
            <a:avLst/>
          </a:prstGeom>
          <a:solidFill>
            <a:srgbClr val="0F172A"/>
          </a:solidFill>
          <a:ln/>
        </p:spPr>
        <p:txBody>
          <a:bodyPr wrap="square" rtlCol="0" anchor="ctr"/>
          <a:lstStyle/>
          <a:p>
            <a:pPr marL="0" indent="0">
              <a:buNone/>
            </a:pPr>
            <a:endParaRPr lang="en-US" dirty="0"/>
          </a:p>
        </p:txBody>
      </p:sp>
      <p:sp>
        <p:nvSpPr>
          <p:cNvPr id="8" name="Text 6"/>
          <p:cNvSpPr/>
          <p:nvPr/>
        </p:nvSpPr>
        <p:spPr>
          <a:xfrm>
            <a:off x="3530501" y="1777752"/>
            <a:ext cx="2124355" cy="619125"/>
          </a:xfrm>
          <a:prstGeom prst="rect">
            <a:avLst/>
          </a:prstGeom>
          <a:noFill/>
          <a:ln/>
        </p:spPr>
        <p:txBody>
          <a:bodyPr wrap="square" lIns="0" tIns="0" rIns="0" bIns="0" rtlCol="0" anchor="t"/>
          <a:lstStyle/>
          <a:p>
            <a:pPr marL="0" indent="0" algn="l">
              <a:buNone/>
            </a:pPr>
            <a:r>
              <a:rPr lang="en-US" sz="4200" b="1" dirty="0">
                <a:solidFill>
                  <a:srgbClr val="06B6D4"/>
                </a:solidFill>
                <a:latin typeface="Arial" pitchFamily="34" charset="0"/>
                <a:ea typeface="Arial" pitchFamily="34" charset="-122"/>
                <a:cs typeface="Arial" pitchFamily="34" charset="-120"/>
              </a:rPr>
              <a:t>1,500+</a:t>
            </a:r>
            <a:endParaRPr lang="en-US" sz="4200" dirty="0"/>
          </a:p>
        </p:txBody>
      </p:sp>
      <p:sp>
        <p:nvSpPr>
          <p:cNvPr id="9" name="Text 7"/>
          <p:cNvSpPr/>
          <p:nvPr/>
        </p:nvSpPr>
        <p:spPr>
          <a:xfrm>
            <a:off x="3530501" y="2549277"/>
            <a:ext cx="2124355" cy="594271"/>
          </a:xfrm>
          <a:prstGeom prst="rect">
            <a:avLst/>
          </a:prstGeom>
          <a:noFill/>
          <a:ln/>
        </p:spPr>
        <p:txBody>
          <a:bodyPr wrap="square" lIns="0" tIns="0" rIns="0" bIns="0" rtlCol="0" anchor="t"/>
          <a:lstStyle/>
          <a:p>
            <a:pPr marL="0" indent="0" algn="l">
              <a:lnSpc>
                <a:spcPts val="1560"/>
              </a:lnSpc>
              <a:spcBef>
                <a:spcPts val="1200"/>
              </a:spcBef>
              <a:buNone/>
            </a:pPr>
            <a:r>
              <a:rPr lang="en-US" sz="1200" dirty="0">
                <a:solidFill>
                  <a:srgbClr val="FFFFFF"/>
                </a:solidFill>
                <a:latin typeface="Arial" pitchFamily="34" charset="0"/>
                <a:ea typeface="Arial" pitchFamily="34" charset="-122"/>
                <a:cs typeface="Arial" pitchFamily="34" charset="-120"/>
              </a:rPr>
              <a:t>pages of papers and annual reports indexed and searchable</a:t>
            </a:r>
            <a:endParaRPr lang="en-US" sz="1200" dirty="0"/>
          </a:p>
        </p:txBody>
      </p:sp>
      <p:sp>
        <p:nvSpPr>
          <p:cNvPr id="10" name="Text 8"/>
          <p:cNvSpPr/>
          <p:nvPr/>
        </p:nvSpPr>
        <p:spPr>
          <a:xfrm>
            <a:off x="6172051" y="1498402"/>
            <a:ext cx="2539901" cy="1905000"/>
          </a:xfrm>
          <a:prstGeom prst="rect">
            <a:avLst/>
          </a:prstGeom>
          <a:solidFill>
            <a:srgbClr val="0F172A"/>
          </a:solidFill>
          <a:ln/>
        </p:spPr>
        <p:txBody>
          <a:bodyPr wrap="square" rtlCol="0" anchor="ctr"/>
          <a:lstStyle/>
          <a:p>
            <a:pPr marL="0" indent="0">
              <a:buNone/>
            </a:pPr>
            <a:endParaRPr lang="en-US" dirty="0"/>
          </a:p>
        </p:txBody>
      </p:sp>
      <p:sp>
        <p:nvSpPr>
          <p:cNvPr id="11" name="Text 9"/>
          <p:cNvSpPr/>
          <p:nvPr/>
        </p:nvSpPr>
        <p:spPr>
          <a:xfrm>
            <a:off x="6400651" y="1777752"/>
            <a:ext cx="2124355" cy="619125"/>
          </a:xfrm>
          <a:prstGeom prst="rect">
            <a:avLst/>
          </a:prstGeom>
          <a:noFill/>
          <a:ln/>
        </p:spPr>
        <p:txBody>
          <a:bodyPr wrap="square" lIns="0" tIns="0" rIns="0" bIns="0" rtlCol="0" anchor="t"/>
          <a:lstStyle/>
          <a:p>
            <a:pPr marL="0" indent="0" algn="l">
              <a:buNone/>
            </a:pPr>
            <a:r>
              <a:rPr lang="en-US" sz="4200" b="1" dirty="0">
                <a:solidFill>
                  <a:srgbClr val="06B6D4"/>
                </a:solidFill>
                <a:latin typeface="Arial" pitchFamily="34" charset="0"/>
                <a:ea typeface="Arial" pitchFamily="34" charset="-122"/>
                <a:cs typeface="Arial" pitchFamily="34" charset="-120"/>
              </a:rPr>
              <a:t>100%</a:t>
            </a:r>
            <a:endParaRPr lang="en-US" sz="4200" dirty="0"/>
          </a:p>
        </p:txBody>
      </p:sp>
      <p:sp>
        <p:nvSpPr>
          <p:cNvPr id="12" name="Text 10"/>
          <p:cNvSpPr/>
          <p:nvPr/>
        </p:nvSpPr>
        <p:spPr>
          <a:xfrm>
            <a:off x="6400651" y="2549277"/>
            <a:ext cx="2124355" cy="594271"/>
          </a:xfrm>
          <a:prstGeom prst="rect">
            <a:avLst/>
          </a:prstGeom>
          <a:noFill/>
          <a:ln/>
        </p:spPr>
        <p:txBody>
          <a:bodyPr wrap="square" lIns="0" tIns="0" rIns="0" bIns="0" rtlCol="0" anchor="t"/>
          <a:lstStyle/>
          <a:p>
            <a:pPr marL="0" indent="0" algn="l">
              <a:lnSpc>
                <a:spcPts val="1560"/>
              </a:lnSpc>
              <a:spcBef>
                <a:spcPts val="1200"/>
              </a:spcBef>
              <a:buNone/>
            </a:pPr>
            <a:r>
              <a:rPr lang="en-US" sz="1200" dirty="0">
                <a:solidFill>
                  <a:srgbClr val="FFFFFF"/>
                </a:solidFill>
                <a:latin typeface="Arial" pitchFamily="34" charset="0"/>
                <a:ea typeface="Arial" pitchFamily="34" charset="-122"/>
                <a:cs typeface="Arial" pitchFamily="34" charset="-120"/>
              </a:rPr>
              <a:t>research base recovered after a hardware shutdown — no rebuild</a:t>
            </a:r>
            <a:endParaRPr lang="en-US" sz="1200" dirty="0"/>
          </a:p>
        </p:txBody>
      </p:sp>
      <p:sp>
        <p:nvSpPr>
          <p:cNvPr id="13" name="Text 11"/>
          <p:cNvSpPr/>
          <p:nvPr/>
        </p:nvSpPr>
        <p:spPr>
          <a:xfrm>
            <a:off x="431750" y="4368701"/>
            <a:ext cx="667986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Most valuable where research volume would have been unmanageable manually; persistence proved practically important.</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613172"/>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The "critical reviewer" prompt caught three data errors before submission</a:t>
            </a:r>
            <a:endParaRPr lang="en-US" sz="2100" dirty="0"/>
          </a:p>
        </p:txBody>
      </p:sp>
      <p:sp>
        <p:nvSpPr>
          <p:cNvPr id="3" name="Text 1"/>
          <p:cNvSpPr/>
          <p:nvPr/>
        </p:nvSpPr>
        <p:spPr>
          <a:xfrm>
            <a:off x="431750" y="1057573"/>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4089202"/>
            <a:ext cx="8280350" cy="381000"/>
          </a:xfrm>
          <a:prstGeom prst="rect">
            <a:avLst/>
          </a:prstGeom>
          <a:solidFill>
            <a:srgbClr val="0F172A"/>
          </a:solidFill>
          <a:ln/>
        </p:spPr>
        <p:txBody>
          <a:bodyPr wrap="square" rtlCol="0" anchor="ctr"/>
          <a:lstStyle/>
          <a:p>
            <a:pPr marL="0" indent="0">
              <a:buNone/>
            </a:pPr>
            <a:endParaRPr lang="en-US" dirty="0"/>
          </a:p>
        </p:txBody>
      </p:sp>
      <p:sp>
        <p:nvSpPr>
          <p:cNvPr id="5" name="Text 3"/>
          <p:cNvSpPr/>
          <p:nvPr/>
        </p:nvSpPr>
        <p:spPr>
          <a:xfrm>
            <a:off x="634901" y="4203502"/>
            <a:ext cx="8031531" cy="152400"/>
          </a:xfrm>
          <a:prstGeom prst="rect">
            <a:avLst/>
          </a:prstGeom>
          <a:noFill/>
          <a:ln/>
        </p:spPr>
        <p:txBody>
          <a:bodyPr wrap="square" lIns="0" tIns="0" rIns="0" bIns="0" rtlCol="0" anchor="t"/>
          <a:lstStyle/>
          <a:p>
            <a:pPr marL="0" indent="0" algn="l">
              <a:buNone/>
            </a:pPr>
            <a:r>
              <a:rPr lang="en-US" sz="1100" dirty="0">
                <a:solidFill>
                  <a:srgbClr val="FFFFFF"/>
                </a:solidFill>
                <a:latin typeface="Arial" pitchFamily="34" charset="0"/>
                <a:ea typeface="Arial" pitchFamily="34" charset="-122"/>
                <a:cs typeface="Arial" pitchFamily="34" charset="-120"/>
              </a:rPr>
              <a:t>All three traced back to PwC- or Ernst &amp; Young-audited annual reports before entering the paper.</a:t>
            </a:r>
            <a:endParaRPr lang="en-US" sz="1100" dirty="0"/>
          </a:p>
        </p:txBody>
      </p:sp>
      <p:sp>
        <p:nvSpPr>
          <p:cNvPr id="6" name="Text 4"/>
          <p:cNvSpPr/>
          <p:nvPr/>
        </p:nvSpPr>
        <p:spPr>
          <a:xfrm>
            <a:off x="431750" y="4521101"/>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31750" y="1286024"/>
          <a:ext cx="8280351" cy="2387500"/>
        </p:xfrm>
        <a:graphic>
          <a:graphicData uri="http://schemas.openxmlformats.org/drawingml/2006/table">
            <a:tbl>
              <a:tblPr/>
              <a:tblGrid>
                <a:gridCol w="2484105">
                  <a:extLst>
                    <a:ext uri="{9D8B030D-6E8A-4147-A177-3AD203B41FA5}">
                      <a16:colId xmlns:a16="http://schemas.microsoft.com/office/drawing/2014/main" val="20000"/>
                    </a:ext>
                  </a:extLst>
                </a:gridCol>
                <a:gridCol w="2898123">
                  <a:extLst>
                    <a:ext uri="{9D8B030D-6E8A-4147-A177-3AD203B41FA5}">
                      <a16:colId xmlns:a16="http://schemas.microsoft.com/office/drawing/2014/main" val="20001"/>
                    </a:ext>
                  </a:extLst>
                </a:gridCol>
                <a:gridCol w="2898123">
                  <a:extLst>
                    <a:ext uri="{9D8B030D-6E8A-4147-A177-3AD203B41FA5}">
                      <a16:colId xmlns:a16="http://schemas.microsoft.com/office/drawing/2014/main" val="20002"/>
                    </a:ext>
                  </a:extLst>
                </a:gridCol>
              </a:tblGrid>
              <a:tr h="596875">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Data point</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Initial (wrong)</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Corrected (audited)</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EU countervailing tariff</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36.3% (provisional)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35.3% (final regulation)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Net profit figure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~10× inflated (currency unit)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Corrected via audited report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Earnings per share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Wrong share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Recomputed on correct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sharpest output came from framing Claude as a critical reviewer, not a collaborator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73152" cy="7132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31520" y="1618488"/>
            <a:ext cx="2743200" cy="6766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Critical-reviewer framing</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3611880" y="1618488"/>
            <a:ext cx="5029200" cy="676656"/>
          </a:xfrm>
          <a:prstGeom prst="rect">
            <a:avLst/>
          </a:prstGeom>
          <a:noFill/>
          <a:ln/>
        </p:spPr>
        <p:txBody>
          <a:bodyPr wrap="square"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“Review this section as a Dozent looking for overclaims, logical gaps, and APA errors” — surfaced issues neutral reviews missed.</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386584"/>
            <a:ext cx="73152" cy="7132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731520" y="2404872"/>
            <a:ext cx="2743200" cy="6766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Single-claim verification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3611880" y="2404872"/>
            <a:ext cx="5029200" cy="676656"/>
          </a:xfrm>
          <a:prstGeom prst="rect">
            <a:avLst/>
          </a:prstGeom>
          <a:noFill/>
          <a:ln/>
        </p:spPr>
        <p:txBody>
          <a:bodyPr wrap="square"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“Verify this figure against its source and quote the exact passage” — this caught the three data errors.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3172968"/>
            <a:ext cx="73152" cy="7132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31520" y="3191256"/>
            <a:ext cx="2743200" cy="6766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Shorten without loss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611880" y="3191256"/>
            <a:ext cx="5029200" cy="676656"/>
          </a:xfrm>
          <a:prstGeom prst="rect">
            <a:avLst/>
          </a:prstGeom>
          <a:noFill/>
          <a:ln/>
        </p:spPr>
        <p:txBody>
          <a:bodyPr wrap="square"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“Shorten to ~X words without changing the argument or removing any citations.”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959352"/>
            <a:ext cx="73152" cy="7132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3977640"/>
            <a:ext cx="2743200" cy="6766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Evidence-bounded comparison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611880" y="3977640"/>
            <a:ext cx="5029200" cy="676656"/>
          </a:xfrm>
          <a:prstGeom prst="rect">
            <a:avLst/>
          </a:prstGeom>
          <a:noFill/>
          <a:ln/>
        </p:spPr>
        <p:txBody>
          <a:bodyPr wrap="square" rtlCol="0" anchor="ct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1"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“Compare X across SAIC, BYD, Geely using only verified wiki data” — more reliable than free reasoning.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06586"/>
          </a:xfrm>
          <a:prstGeom prst="rect">
            <a:avLst/>
          </a:prstGeom>
          <a:noFill/>
          <a:ln/>
        </p:spPr>
        <p:txBody>
          <a:bodyPr wrap="square" lIns="0" tIns="0" rIns="0" bIns="0" rtlCol="0" anchor="t"/>
          <a:lstStyle/>
          <a:p>
            <a:pPr marL="0" indent="0" algn="l">
              <a:lnSpc>
                <a:spcPts val="2415"/>
              </a:lnSpc>
              <a:buNone/>
            </a:pPr>
            <a:r>
              <a:rPr lang="en-US" sz="2100" b="1" dirty="0">
                <a:solidFill>
                  <a:srgbClr val="0F172A"/>
                </a:solidFill>
                <a:latin typeface="Arial" pitchFamily="34" charset="0"/>
                <a:ea typeface="Arial" pitchFamily="34" charset="-122"/>
                <a:cs typeface="Arial" pitchFamily="34" charset="-120"/>
              </a:rPr>
              <a:t>Useful but bounded — and inexpensive at roughly €21 per month</a:t>
            </a:r>
            <a:endParaRPr lang="en-US" sz="2100" dirty="0"/>
          </a:p>
        </p:txBody>
      </p:sp>
      <p:sp>
        <p:nvSpPr>
          <p:cNvPr id="3" name="Text 1"/>
          <p:cNvSpPr/>
          <p:nvPr/>
        </p:nvSpPr>
        <p:spPr>
          <a:xfrm>
            <a:off x="431750" y="750987"/>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95251"/>
            <a:ext cx="4038600" cy="2006501"/>
          </a:xfrm>
          <a:prstGeom prst="rect">
            <a:avLst/>
          </a:prstGeom>
          <a:solidFill>
            <a:srgbClr val="EFF6FF"/>
          </a:solidFill>
          <a:ln/>
        </p:spPr>
        <p:txBody>
          <a:bodyPr wrap="square" rtlCol="0" anchor="ctr"/>
          <a:lstStyle/>
          <a:p>
            <a:pPr marL="0" indent="0">
              <a:buNone/>
            </a:pPr>
            <a:endParaRPr lang="en-US" dirty="0"/>
          </a:p>
        </p:txBody>
      </p:sp>
      <p:sp>
        <p:nvSpPr>
          <p:cNvPr id="5" name="Shape 3"/>
          <p:cNvSpPr/>
          <p:nvPr/>
        </p:nvSpPr>
        <p:spPr>
          <a:xfrm>
            <a:off x="431750" y="1319064"/>
            <a:ext cx="4038600" cy="0"/>
          </a:xfrm>
          <a:prstGeom prst="line">
            <a:avLst/>
          </a:prstGeom>
          <a:noFill/>
          <a:ln w="47625">
            <a:solidFill>
              <a:srgbClr val="2563EB"/>
            </a:solidFill>
            <a:prstDash val="solid"/>
          </a:ln>
        </p:spPr>
        <p:txBody>
          <a:bodyPr/>
          <a:lstStyle/>
          <a:p>
            <a:endParaRPr lang="en-US"/>
          </a:p>
        </p:txBody>
      </p:sp>
      <p:sp>
        <p:nvSpPr>
          <p:cNvPr id="6" name="Text 4"/>
          <p:cNvSpPr/>
          <p:nvPr/>
        </p:nvSpPr>
        <p:spPr>
          <a:xfrm>
            <a:off x="634901" y="1507927"/>
            <a:ext cx="3704945" cy="200025"/>
          </a:xfrm>
          <a:prstGeom prst="rect">
            <a:avLst/>
          </a:prstGeom>
          <a:noFill/>
          <a:ln/>
        </p:spPr>
        <p:txBody>
          <a:bodyPr wrap="square" lIns="0" tIns="0" rIns="0" bIns="0" rtlCol="0" anchor="t"/>
          <a:lstStyle/>
          <a:p>
            <a:pPr marL="0" indent="0" algn="l">
              <a:spcAft>
                <a:spcPts val="900"/>
              </a:spcAft>
              <a:buNone/>
            </a:pPr>
            <a:r>
              <a:rPr lang="en-US" sz="1300" b="1" dirty="0">
                <a:solidFill>
                  <a:srgbClr val="2563EB"/>
                </a:solidFill>
                <a:latin typeface="Arial" pitchFamily="34" charset="0"/>
                <a:ea typeface="Arial" pitchFamily="34" charset="-122"/>
                <a:cs typeface="Arial" pitchFamily="34" charset="-120"/>
              </a:rPr>
              <a:t>Where it was most helpful</a:t>
            </a:r>
            <a:endParaRPr lang="en-US" sz="1300" dirty="0"/>
          </a:p>
        </p:txBody>
      </p:sp>
      <p:sp>
        <p:nvSpPr>
          <p:cNvPr id="7" name="Text 5"/>
          <p:cNvSpPr/>
          <p:nvPr/>
        </p:nvSpPr>
        <p:spPr>
          <a:xfrm>
            <a:off x="634901" y="1822252"/>
            <a:ext cx="3632299" cy="746968"/>
          </a:xfrm>
          <a:prstGeom prst="rect">
            <a:avLst/>
          </a:prstGeom>
          <a:noFill/>
          <a:ln/>
        </p:spPr>
        <p:txBody>
          <a:bodyPr wrap="square" lIns="95250" tIns="0" rIns="0" bIns="0" rtlCol="0" anchor="t"/>
          <a:lstStyle/>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Handled research volume unmanageable by hand</a:t>
            </a:r>
            <a:endParaRPr lang="en-US" sz="1150" dirty="0"/>
          </a:p>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Caught three genuine data errors pre-submission</a:t>
            </a:r>
            <a:endParaRPr lang="en-US" sz="1150" dirty="0"/>
          </a:p>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Persistent base survived a hardware failure</a:t>
            </a:r>
            <a:endParaRPr lang="en-US" sz="1150" dirty="0"/>
          </a:p>
        </p:txBody>
      </p:sp>
      <p:sp>
        <p:nvSpPr>
          <p:cNvPr id="8" name="Text 6"/>
          <p:cNvSpPr/>
          <p:nvPr/>
        </p:nvSpPr>
        <p:spPr>
          <a:xfrm>
            <a:off x="4673501" y="1295251"/>
            <a:ext cx="4038600" cy="2006501"/>
          </a:xfrm>
          <a:prstGeom prst="rect">
            <a:avLst/>
          </a:prstGeom>
          <a:solidFill>
            <a:srgbClr val="FEF2F2"/>
          </a:solidFill>
          <a:ln/>
        </p:spPr>
        <p:txBody>
          <a:bodyPr wrap="square" rtlCol="0" anchor="ctr"/>
          <a:lstStyle/>
          <a:p>
            <a:pPr marL="0" indent="0">
              <a:buNone/>
            </a:pPr>
            <a:endParaRPr lang="en-US" dirty="0"/>
          </a:p>
        </p:txBody>
      </p:sp>
      <p:sp>
        <p:nvSpPr>
          <p:cNvPr id="9" name="Shape 7"/>
          <p:cNvSpPr/>
          <p:nvPr/>
        </p:nvSpPr>
        <p:spPr>
          <a:xfrm>
            <a:off x="4673501" y="1319064"/>
            <a:ext cx="4038600" cy="0"/>
          </a:xfrm>
          <a:prstGeom prst="line">
            <a:avLst/>
          </a:prstGeom>
          <a:noFill/>
          <a:ln w="47625">
            <a:solidFill>
              <a:srgbClr val="DC2626"/>
            </a:solidFill>
            <a:prstDash val="solid"/>
          </a:ln>
        </p:spPr>
        <p:txBody>
          <a:bodyPr/>
          <a:lstStyle/>
          <a:p>
            <a:endParaRPr lang="en-US"/>
          </a:p>
        </p:txBody>
      </p:sp>
      <p:sp>
        <p:nvSpPr>
          <p:cNvPr id="10" name="Text 8"/>
          <p:cNvSpPr/>
          <p:nvPr/>
        </p:nvSpPr>
        <p:spPr>
          <a:xfrm>
            <a:off x="4876651" y="1507927"/>
            <a:ext cx="3704945" cy="200025"/>
          </a:xfrm>
          <a:prstGeom prst="rect">
            <a:avLst/>
          </a:prstGeom>
          <a:noFill/>
          <a:ln/>
        </p:spPr>
        <p:txBody>
          <a:bodyPr wrap="square" lIns="0" tIns="0" rIns="0" bIns="0" rtlCol="0" anchor="t"/>
          <a:lstStyle/>
          <a:p>
            <a:pPr marL="0" indent="0" algn="l">
              <a:spcAft>
                <a:spcPts val="900"/>
              </a:spcAft>
              <a:buNone/>
            </a:pPr>
            <a:r>
              <a:rPr lang="en-US" sz="1300" b="1" dirty="0">
                <a:solidFill>
                  <a:srgbClr val="DC2626"/>
                </a:solidFill>
                <a:latin typeface="Arial" pitchFamily="34" charset="0"/>
                <a:ea typeface="Arial" pitchFamily="34" charset="-122"/>
                <a:cs typeface="Arial" pitchFamily="34" charset="-120"/>
              </a:rPr>
              <a:t>Real limitations</a:t>
            </a:r>
            <a:endParaRPr lang="en-US" sz="1300" dirty="0"/>
          </a:p>
        </p:txBody>
      </p:sp>
      <p:sp>
        <p:nvSpPr>
          <p:cNvPr id="11" name="Text 9"/>
          <p:cNvSpPr/>
          <p:nvPr/>
        </p:nvSpPr>
        <p:spPr>
          <a:xfrm>
            <a:off x="4876651" y="1822252"/>
            <a:ext cx="3632299" cy="1215330"/>
          </a:xfrm>
          <a:prstGeom prst="rect">
            <a:avLst/>
          </a:prstGeom>
          <a:noFill/>
          <a:ln/>
        </p:spPr>
        <p:txBody>
          <a:bodyPr wrap="square" lIns="95250" tIns="0" rIns="0" bIns="0" rtlCol="0" anchor="t"/>
          <a:lstStyle/>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No access to paywalled journals</a:t>
            </a:r>
            <a:endParaRPr lang="en-US" sz="1150" dirty="0"/>
          </a:p>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Geely's PDFs not machine-readable → more web research</a:t>
            </a:r>
            <a:endParaRPr lang="en-US" sz="1150" dirty="0"/>
          </a:p>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Token limits hit quickly on the stronger model</a:t>
            </a:r>
            <a:endParaRPr lang="en-US" sz="1150" dirty="0"/>
          </a:p>
          <a:p>
            <a:pPr marL="95250" indent="-95250" algn="l">
              <a:lnSpc>
                <a:spcPts val="1495"/>
              </a:lnSpc>
              <a:spcAft>
                <a:spcPts val="700"/>
              </a:spcAft>
              <a:buSzPct val="100000"/>
              <a:buChar char="•"/>
            </a:pPr>
            <a:r>
              <a:rPr lang="en-US" sz="1150" dirty="0">
                <a:solidFill>
                  <a:srgbClr val="1E293B"/>
                </a:solidFill>
                <a:latin typeface="Arial" pitchFamily="34" charset="0"/>
                <a:ea typeface="Arial" pitchFamily="34" charset="-122"/>
                <a:cs typeface="Arial" pitchFamily="34" charset="-120"/>
              </a:rPr>
              <a:t>AI formulations needed active critical review</a:t>
            </a:r>
            <a:endParaRPr lang="en-US" sz="1150" dirty="0"/>
          </a:p>
        </p:txBody>
      </p:sp>
      <p:sp>
        <p:nvSpPr>
          <p:cNvPr id="12" name="Text 10"/>
          <p:cNvSpPr/>
          <p:nvPr/>
        </p:nvSpPr>
        <p:spPr>
          <a:xfrm>
            <a:off x="431750" y="3505051"/>
            <a:ext cx="8280350" cy="469702"/>
          </a:xfrm>
          <a:prstGeom prst="rect">
            <a:avLst/>
          </a:prstGeom>
          <a:solidFill>
            <a:srgbClr val="0F172A"/>
          </a:solidFill>
          <a:ln/>
        </p:spPr>
        <p:txBody>
          <a:bodyPr wrap="square" rtlCol="0" anchor="ctr"/>
          <a:lstStyle/>
          <a:p>
            <a:pPr marL="0" indent="0">
              <a:buNone/>
            </a:pPr>
            <a:endParaRPr lang="en-US" dirty="0"/>
          </a:p>
        </p:txBody>
      </p:sp>
      <p:sp>
        <p:nvSpPr>
          <p:cNvPr id="13" name="Text 11"/>
          <p:cNvSpPr/>
          <p:nvPr/>
        </p:nvSpPr>
        <p:spPr>
          <a:xfrm>
            <a:off x="634901" y="3644652"/>
            <a:ext cx="8031531" cy="190500"/>
          </a:xfrm>
          <a:prstGeom prst="rect">
            <a:avLst/>
          </a:prstGeom>
          <a:noFill/>
          <a:ln/>
        </p:spPr>
        <p:txBody>
          <a:bodyPr wrap="square" lIns="0" tIns="0" rIns="0" bIns="0" rtlCol="0" anchor="t"/>
          <a:lstStyle/>
          <a:p>
            <a:pPr marL="0" indent="0" algn="l">
              <a:buNone/>
            </a:pPr>
            <a:r>
              <a:rPr lang="en-US" sz="1250" b="1" dirty="0">
                <a:solidFill>
                  <a:srgbClr val="06B6D4"/>
                </a:solidFill>
                <a:latin typeface="Arial" pitchFamily="34" charset="0"/>
                <a:ea typeface="Arial" pitchFamily="34" charset="-122"/>
                <a:cs typeface="Arial" pitchFamily="34" charset="-120"/>
              </a:rPr>
              <a:t>Cost:</a:t>
            </a:r>
            <a:r>
              <a:rPr lang="en-US" sz="1250" dirty="0">
                <a:solidFill>
                  <a:srgbClr val="FFFFFF"/>
                </a:solidFill>
                <a:latin typeface="Arial" pitchFamily="34" charset="0"/>
                <a:ea typeface="Arial" pitchFamily="34" charset="-122"/>
                <a:cs typeface="Arial" pitchFamily="34" charset="-120"/>
              </a:rPr>
              <a:t> Claude Pro at ~€21 / month per member · no per-query charges · no paid third-party data services.</a:t>
            </a:r>
            <a:endParaRPr lang="en-US" sz="1250" dirty="0"/>
          </a:p>
        </p:txBody>
      </p:sp>
      <p:sp>
        <p:nvSpPr>
          <p:cNvPr id="14" name="Text 12"/>
          <p:cNvSpPr/>
          <p:nvPr/>
        </p:nvSpPr>
        <p:spPr>
          <a:xfrm>
            <a:off x="431750" y="4698802"/>
            <a:ext cx="502534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Analytical judgment, argumentation, and all interpretive decisions remained with the authors.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6839</Words>
  <Application>Microsoft Office PowerPoint</Application>
  <PresentationFormat>Bildschirmpräsentation (16:9)</PresentationFormat>
  <Paragraphs>603</Paragraphs>
  <Slides>39</Slides>
  <Notes>39</Notes>
  <HiddenSlides>20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39</vt:i4>
      </vt:variant>
    </vt:vector>
  </HeadingPairs>
  <TitlesOfParts>
    <vt:vector size="44" baseType="lpstr">
      <vt:lpstr>Aptos</vt: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Batu</cp:lastModifiedBy>
  <cp:revision>2</cp:revision>
  <dcterms:created xsi:type="dcterms:W3CDTF">2026-06-25T15:09:39Z</dcterms:created>
  <dcterms:modified xsi:type="dcterms:W3CDTF">2026-06-27T13:09:27Z</dcterms:modified>
</cp:coreProperties>
</file>