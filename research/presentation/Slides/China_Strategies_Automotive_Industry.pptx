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EV share of new-car sales in China,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share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2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2022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2035E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</c:v>
                </c:pt>
                <c:pt idx="1">
                  <c:v>29</c:v>
                </c:pt>
                <c:pt idx="2">
                  <c:v>47</c:v>
                </c:pt>
                <c:pt idx="3">
                  <c:v>55</c:v>
                </c:pt>
                <c:pt idx="4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9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E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SAIC ownership structure, 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Ownership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32F2F"/>
              </a:solidFill>
              <a:effectLst/>
            </c:spPr>
          </c:dPt>
          <c:dPt>
            <c:idx val="1"/>
            <c:bubble3D val="0"/>
            <c:spPr>
              <a:solidFill>
                <a:srgbClr val="0B1F3A"/>
              </a:solidFill>
              <a:effectLst/>
            </c:spPr>
          </c:dPt>
          <c:dPt>
            <c:idx val="2"/>
            <c:bubble3D val="0"/>
            <c:spPr>
              <a:solidFill>
                <a:srgbClr val="3E6B9A"/>
              </a:solidFill>
              <a:effectLst/>
            </c:spPr>
          </c:dPt>
          <c:dPt>
            <c:idx val="3"/>
            <c:bubble3D val="0"/>
            <c:spPr>
              <a:solidFill>
                <a:srgbClr val="C9D2D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Shanghai SASAC</c:v>
                </c:pt>
                <c:pt idx="1">
                  <c:v>COSCO Shipping</c:v>
                </c:pt>
                <c:pt idx="2">
                  <c:v>Yuejin Motor</c:v>
                </c:pt>
                <c:pt idx="3">
                  <c:v>Free float / 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63.71</c:v>
                </c:pt>
                <c:pt idx="1">
                  <c:v>5.91</c:v>
                </c:pt>
                <c:pt idx="2">
                  <c:v>3.6</c:v>
                </c:pt>
                <c:pt idx="3">
                  <c:v>26.78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2C2C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B1F3A"/>
                </a:solidFill>
                <a:latin typeface="Arial"/>
              </a:rPr>
              <a:t>2025 capacity utilisation,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</c:v>
                </c:pt>
              </c:strCache>
            </c:strRef>
          </c:tx>
          <c:spPr>
            <a:solidFill>
              <a:srgbClr val="D32F2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2C2C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C2A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C2A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SAIC-GM</c:v>
                  </c:pt>
                  <c:pt idx="1">
                    <c:v>VW MEB (EV)</c:v>
                  </c:pt>
                  <c:pt idx="2">
                    <c:v>SAIC-VW</c:v>
                  </c:pt>
                  <c:pt idx="3">
                    <c:v>PVB own-brand</c:v>
                  </c:pt>
                  <c:pt idx="4">
                    <c:v>Wuling own-brand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</c:v>
                </c:pt>
                <c:pt idx="1">
                  <c:v>14</c:v>
                </c:pt>
                <c:pt idx="2">
                  <c:v>55</c:v>
                </c:pt>
                <c:pt idx="3">
                  <c:v>76</c:v>
                </c:pt>
                <c:pt idx="4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900" u="none">
                  <a:solidFill>
                    <a:srgbClr val="2C2C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EE6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871389"/>
            <a:ext cx="78502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 — M&amp;A AS TRANSFORMER OF THE AUTOMOTIVE INDUSTRY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87301" y="1226939"/>
            <a:ext cx="7850276" cy="96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6"/>
              </a:lnSpc>
              <a:spcBef>
                <a:spcPts val="1600"/>
              </a:spcBef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Strategies in the Automotive Industry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87301" y="2399258"/>
            <a:ext cx="939701" cy="63401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2665809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600"/>
              </a:spcBef>
              <a:buNone/>
            </a:pPr>
            <a:r>
              <a:rPr lang="en-US" sz="1500" dirty="0">
                <a:solidFill>
                  <a:srgbClr val="C4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Financing, and Long-Term Value Creation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7301" y="3262610"/>
            <a:ext cx="1333202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2E4A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74527" y="3348335"/>
            <a:ext cx="977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MOTOR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34803" y="3262610"/>
            <a:ext cx="686246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2E4A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22029" y="3348335"/>
            <a:ext cx="3180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35350" y="3262610"/>
            <a:ext cx="867519" cy="304800"/>
          </a:xfrm>
          <a:prstGeom prst="roundRect">
            <a:avLst>
              <a:gd name="adj" fmla="val 12500"/>
            </a:avLst>
          </a:prstGeom>
          <a:noFill/>
          <a:ln w="9525">
            <a:solidFill>
              <a:srgbClr val="2E4A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22575" y="3348335"/>
            <a:ext cx="5029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87301" y="3948410"/>
            <a:ext cx="785027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E8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 OF BANKING AND FINANCE  ·  GOETHE-UNIVERSITÄT FRANKFURT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87301" y="4110186"/>
            <a:ext cx="785027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6E8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ORT  ·  BATUGHAN MAUS  ·  CHIARA STUBNER  ·  19 JUNE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 of new cars in China are electric in 2025 — which model survives?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3739009" cy="1180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new cars sold in China are electric in 2025 (IEA 2026)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Chinese-HQ makers supply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global EV sales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BEVs sold domestically are cheaper than the average car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forecast: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&gt;90%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 share in China by 2035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3559076"/>
            <a:ext cx="3739009" cy="1270248"/>
          </a:xfrm>
          <a:prstGeom prst="roundRect">
            <a:avLst>
              <a:gd name="adj" fmla="val 3999"/>
            </a:avLst>
          </a:prstGeom>
          <a:solidFill>
            <a:srgbClr val="0B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351" y="3698677"/>
            <a:ext cx="34770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71351" y="3889177"/>
            <a:ext cx="3477086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governance &amp; financing structure creates long-term shareholder value in a technology-intensive, high-growth market?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351" y="4556373"/>
            <a:ext cx="34770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cases, identical market conditions: </a:t>
            </a:r>
            <a:pPr algn="l" indent="0" marL="0"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· BYD · Geely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301" y="4921300"/>
            <a:ext cx="28669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(2026). EV share of new-car sales; 2035 figure is an IEA projection.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891314" y="4902250"/>
            <a:ext cx="8633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 |  02</a:t>
            </a:r>
            <a:endParaRPr lang="en-US" sz="8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384030" y="1570881"/>
          <a:ext cx="4317950" cy="27685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paths, one market — sharply diverging outcomes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2641699" cy="3748385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301" y="1099989"/>
            <a:ext cx="2641699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258639"/>
            <a:ext cx="2357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Motor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351" y="1537990"/>
            <a:ext cx="330101" cy="25301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351" y="1702891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1351" y="1842492"/>
            <a:ext cx="235783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State-directed JV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351" y="2115443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1351" y="2255044"/>
            <a:ext cx="2357830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SASAC (63.71%)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1351" y="2526209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2024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71351" y="2665809"/>
            <a:ext cx="2357830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Bef>
                <a:spcPts val="200"/>
              </a:spcBef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1.67bn  (−88%)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1351" y="2936974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READINESS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1351" y="3076575"/>
            <a:ext cx="23578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JV conversion ongoing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51150" y="1080939"/>
            <a:ext cx="2641699" cy="3748385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51150" y="1099989"/>
            <a:ext cx="2641699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6201" y="1258639"/>
            <a:ext cx="2357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16201" y="1537990"/>
            <a:ext cx="330101" cy="25301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16201" y="1702891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16201" y="1842492"/>
            <a:ext cx="235783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vertical integration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6201" y="2115443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16201" y="2255044"/>
            <a:ext cx="2357830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Chuanfu, founder (~17%)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6201" y="2526209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2024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16201" y="2665809"/>
            <a:ext cx="2357830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Bef>
                <a:spcPts val="200"/>
              </a:spcBef>
              <a:buNone/>
            </a:pPr>
            <a:r>
              <a:rPr lang="en-US" sz="9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40.25bn  (+34%)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16201" y="2936974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READINESS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16201" y="3076575"/>
            <a:ext cx="23578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— full ICE exit in 2022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96000" y="1080939"/>
            <a:ext cx="2641699" cy="3748385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96000" y="1099989"/>
            <a:ext cx="2641699" cy="0"/>
          </a:xfrm>
          <a:prstGeom prst="line">
            <a:avLst/>
          </a:prstGeom>
          <a:noFill/>
          <a:ln w="38100">
            <a:solidFill>
              <a:srgbClr val="3E6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1050" y="1258639"/>
            <a:ext cx="23578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61050" y="1537990"/>
            <a:ext cx="330101" cy="25301"/>
          </a:xfrm>
          <a:prstGeom prst="rect">
            <a:avLst/>
          </a:prstGeom>
          <a:solidFill>
            <a:srgbClr val="3E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61050" y="1702891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61050" y="1842492"/>
            <a:ext cx="2357830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spcBef>
                <a:spcPts val="200"/>
              </a:spcBef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M&amp;A-driven private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1050" y="2115443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61050" y="2255044"/>
            <a:ext cx="2357830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Bef>
                <a:spcPts val="2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Shufu, private (100% ZGH)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1050" y="2526209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2024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61050" y="2665809"/>
            <a:ext cx="2357830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spcBef>
                <a:spcPts val="200"/>
              </a:spcBef>
              <a:buNone/>
            </a:pPr>
            <a:r>
              <a:rPr lang="en-US" sz="95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RMB 16.8bn  (+240%)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61050" y="2936974"/>
            <a:ext cx="2357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8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READINESS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61050" y="3076575"/>
            <a:ext cx="23578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— platform-dependent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6301" y="4921300"/>
            <a:ext cx="173831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 annual reports (FY2024).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7891314" y="4902250"/>
            <a:ext cx="8633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 | 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&amp; LITERATURE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theoretical strands — one analytical lens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4089499" cy="1804392"/>
          </a:xfrm>
          <a:prstGeom prst="roundRect">
            <a:avLst>
              <a:gd name="adj" fmla="val 2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25351" y="1080939"/>
            <a:ext cx="0" cy="1804392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451" y="1220539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451" y="1404640"/>
            <a:ext cx="379572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 governance &amp; SOE efficiency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451" y="1661071"/>
            <a:ext cx="3721298" cy="73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Shleifer &amp; Vishny (1994): politicians maximise employment, not firm value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Fan, Wong &amp; Zhang (2007): connected CEOs → −18% CAR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Megginson &amp; Netter (2001): mixed ownership ≠ more profitable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8200" y="1080939"/>
            <a:ext cx="4089499" cy="1804392"/>
          </a:xfrm>
          <a:prstGeom prst="roundRect">
            <a:avLst>
              <a:gd name="adj" fmla="val 2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7250" y="1080939"/>
            <a:ext cx="0" cy="1804392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1350" y="1220539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1350" y="1404640"/>
            <a:ext cx="379572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 dynamics &amp; capability transfer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1350" y="1661071"/>
            <a:ext cx="3721298" cy="57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Holmes et al. (2015): JV as an implicit technology tax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Howell (2018): JV rents crowd out autonomous innovation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Inkpen &amp; Beamish (1997): JVs destabilise as learning ends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301" y="3024932"/>
            <a:ext cx="4089499" cy="1804392"/>
          </a:xfrm>
          <a:prstGeom prst="roundRect">
            <a:avLst>
              <a:gd name="adj" fmla="val 2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5351" y="3024932"/>
            <a:ext cx="0" cy="1804392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3164532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9451" y="3348633"/>
            <a:ext cx="379572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 M&amp;A &amp; springboard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9451" y="3605064"/>
            <a:ext cx="3721298" cy="36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Luo &amp; Tung (2007): acquisitions as a latecomer springboard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Zheng, Noorderhaven &amp; Du (2022): 4-stage integration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48200" y="3024932"/>
            <a:ext cx="4089499" cy="1804392"/>
          </a:xfrm>
          <a:prstGeom prst="roundRect">
            <a:avLst>
              <a:gd name="adj" fmla="val 2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67250" y="3024932"/>
            <a:ext cx="0" cy="1804392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1350" y="3164532"/>
            <a:ext cx="379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1350" y="3348633"/>
            <a:ext cx="3795724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capabilities &amp; founder control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1350" y="3605064"/>
            <a:ext cx="3721298" cy="523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Teece, Pisano &amp; Shuen (1997): advantage from tacit, path-dependent knowledge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et al. (2025): founder control → more breakthrough innovation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301" y="4921300"/>
            <a:ext cx="14864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references in the seminar paper.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144917" y="4902250"/>
            <a:ext cx="6046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  | 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SAIC: the state as controller — politically embedded objectives by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23271" y="1080939"/>
            <a:ext cx="4714429" cy="67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~73% state ownership: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SASAC 63.71% + COSCO 5.91% + Yuejin 3.60%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“Two consistencies”: Party leadership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 enterprise system — a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formal, constitutive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of governance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271" y="1796951"/>
            <a:ext cx="4714429" cy="806648"/>
          </a:xfrm>
          <a:prstGeom prst="roundRect">
            <a:avLst>
              <a:gd name="adj" fmla="val 6298"/>
            </a:avLst>
          </a:prstGeom>
          <a:solidFill>
            <a:srgbClr val="FC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42321" y="1796951"/>
            <a:ext cx="0" cy="806648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26421" y="1936552"/>
            <a:ext cx="44331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PENALTY — FAN ET AL. 2007 (n=790)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26421" y="2114252"/>
            <a:ext cx="4433152" cy="349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−18%</a:t>
            </a:r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3-yr post-IPO CAR · sales growth </a:t>
            </a:r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−21%</a:t>
            </a:r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earnings </a:t>
            </a:r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−24%</a:t>
            </a:r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bureaucrats on </a:t>
            </a:r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pPr algn="l" indent="0" marL="0">
              <a:lnSpc>
                <a:spcPts val="1378"/>
              </a:lnSpc>
              <a:spcBef>
                <a:spcPts val="500"/>
              </a:spcBef>
              <a:buNone/>
            </a:pPr>
            <a:r>
              <a:rPr lang="en-US" sz="9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boards (vs. 19%)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271" y="2717899"/>
            <a:ext cx="48087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reform:</a:t>
            </a:r>
            <a:pPr algn="l" indent="0" marL="0">
              <a:lnSpc>
                <a:spcPts val="1260"/>
              </a:lnSpc>
              <a:spcBef>
                <a:spcPts val="900"/>
              </a:spcBef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Board of Supervisors abolished → stronger Audit Committee. Formal modernisation only — the 63.71% SASAC stake and Party mandate are unchanged.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301" y="4921300"/>
            <a:ext cx="29542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Motor (2026); Fan, Wong &amp; Zhang (2007); Shleifer &amp; Vishny (1994).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896523" y="4902250"/>
            <a:ext cx="85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 |  05</a:t>
            </a:r>
            <a:endParaRPr lang="en-US" sz="8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38460" y="1608981"/>
          <a:ext cx="3149501" cy="26923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private models: consolidated founder control vs. a conglomerate apex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4064050" cy="3748385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301" y="1099989"/>
            <a:ext cx="406405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258639"/>
            <a:ext cx="380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founder control without political constraint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351" y="1728490"/>
            <a:ext cx="330101" cy="25301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351" y="1868091"/>
            <a:ext cx="3733949" cy="1530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Chuanfu: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Chairman + CEO since 1995, ~17% direct; with Lu Xiangyang (5.1%) &gt;1/3 of votes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Party committee with directive authority; subsidies (RMB 10.4bn) confer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 rights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without consensus: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exit 2022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BYD Semiconductor, FinDreams spin-off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“Fast decision-making” named a core advantage (He 2025)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73501" y="1080939"/>
            <a:ext cx="4064198" cy="3748385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73501" y="1099989"/>
            <a:ext cx="4064198" cy="0"/>
          </a:xfrm>
          <a:prstGeom prst="line">
            <a:avLst/>
          </a:prstGeom>
          <a:noFill/>
          <a:ln w="38100">
            <a:solidFill>
              <a:srgbClr val="3E6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8551" y="1258639"/>
            <a:ext cx="3808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— private conglomerate apex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38551" y="1537990"/>
            <a:ext cx="330101" cy="25301"/>
          </a:xfrm>
          <a:prstGeom prst="rect">
            <a:avLst/>
          </a:prstGeom>
          <a:solidFill>
            <a:srgbClr val="3E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8551" y="1677591"/>
            <a:ext cx="3734098" cy="135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Shufu: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100% owner of unlisted ZGH apex → ~76% control of Geely Auto (HK 0175)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JV-partner or state-committee consent required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path: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Volvo 2010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($1.8bn) → LEVC 2013 → Lotus 2017 (51%) → Smart JV 2020 (50:50)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Multi-brand portfolio → coordination costs rise with complexity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301" y="4921300"/>
            <a:ext cx="31695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Annual Report (2024); He (2025); Zhang et al. (2025); Luo &amp; Tung (2007).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896523" y="4902250"/>
            <a:ext cx="858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 | 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5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capital-light JV becomes a capital trap; BYD’s internal financing is a structural strength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1155502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1155502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346002"/>
            <a:ext cx="4064050" cy="3483322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301" y="1365052"/>
            <a:ext cx="4064050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523702"/>
            <a:ext cx="3808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— capital-light JV becomes a capital trap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351" y="1803053"/>
            <a:ext cx="330101" cy="25301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351" y="1942654"/>
            <a:ext cx="3733949" cy="617339"/>
          </a:xfrm>
          <a:prstGeom prst="roundRect">
            <a:avLst>
              <a:gd name="adj" fmla="val 6172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90401" y="1942654"/>
            <a:ext cx="0" cy="617339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402" y="2031504"/>
            <a:ext cx="35107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0.58%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6402" y="2336304"/>
            <a:ext cx="3510787" cy="1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spcBef>
                <a:spcPts val="300"/>
              </a:spcBef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ROE 2024 (from 5.84% in 2022)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71351" y="2661493"/>
            <a:ext cx="3733949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 model: VW + GM each carry 50% of capex &amp; risk → dividends without own investment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SAIC-GM sales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−56.5%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forced to absorb 50% impairment without restructuring control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−15.7%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(RMB 627.6bn); net profit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−88.2%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(RMB 1.67bn); EU duty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3501" y="1346002"/>
            <a:ext cx="4064198" cy="3483322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3501" y="1365052"/>
            <a:ext cx="4064198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8551" y="1523702"/>
            <a:ext cx="3808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internal financing as structural strength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38551" y="1803053"/>
            <a:ext cx="330101" cy="25301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38551" y="1942654"/>
            <a:ext cx="3734098" cy="617339"/>
          </a:xfrm>
          <a:prstGeom prst="roundRect">
            <a:avLst>
              <a:gd name="adj" fmla="val 6172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57601" y="1942654"/>
            <a:ext cx="0" cy="617339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3602" y="2031504"/>
            <a:ext cx="3510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003602" y="2336304"/>
            <a:ext cx="3510939" cy="1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spcBef>
                <a:spcPts val="300"/>
              </a:spcBef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Interest-bearing debt as share of total liabilities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38551" y="2661493"/>
            <a:ext cx="3734098" cy="110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FY2024 revenue RMB 777.1bn (+29%); operating CF RMB 133.5bn; cash RMB 154.9bn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RMB 54.2bn (+35.7%)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net profit RMB 40.3bn — in 13 of 14 years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Subsidies RMB 10.4bn (~26% of profit) but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 rights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301" y="4921300"/>
            <a:ext cx="31590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Motor (2025); BYD Annual Report (2024); European Commission (2024).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003977" y="4902250"/>
            <a:ext cx="748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 | 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Geely: leverage for speed — the highest financing risk of the three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4064198" cy="617339"/>
          </a:xfrm>
          <a:prstGeom prst="roundRect">
            <a:avLst>
              <a:gd name="adj" fmla="val 6172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25351" y="1080939"/>
            <a:ext cx="0" cy="617339"/>
          </a:xfrm>
          <a:prstGeom prst="line">
            <a:avLst/>
          </a:prstGeom>
          <a:noFill/>
          <a:ln w="38100">
            <a:solidFill>
              <a:srgbClr val="3E6B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169789"/>
            <a:ext cx="38476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71351" y="1474589"/>
            <a:ext cx="3847642" cy="13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spcBef>
                <a:spcPts val="300"/>
              </a:spcBef>
              <a:buNone/>
            </a:pPr>
            <a:r>
              <a:rPr lang="en-US" sz="8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Volvo IPO 2021 (~$18.5bn) vs. 2010 buy ($1.8bn)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6301" y="1825079"/>
            <a:ext cx="4064198" cy="67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Volvo 2010: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$1.8bn price → ~$2.7bn total; banks (BoC/CCB/ExIm) ~$2.1bn + ~$932m central-gov (~50%)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ZGH debt RMB 16.1bn (2009) →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71.1bn (2010)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D/C ratio 73.5%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73650" y="1080939"/>
            <a:ext cx="4064050" cy="1094929"/>
          </a:xfrm>
          <a:prstGeom prst="roundRect">
            <a:avLst>
              <a:gd name="adj" fmla="val 4640"/>
            </a:avLst>
          </a:prstGeom>
          <a:solidFill>
            <a:srgbClr val="FC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92700" y="1080939"/>
            <a:ext cx="0" cy="1094929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0" y="1220539"/>
            <a:ext cx="376976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REFINANCING RISK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76800" y="1411039"/>
            <a:ext cx="3695849" cy="549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Polestar:</a:t>
            </a:r>
            <a:pPr algn="l" indent="0" marL="0">
              <a:lnSpc>
                <a:spcPts val="1242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−$1.17bn FY23, going-concern (Deloitte), $103m cash, ~$2bn needed to 2028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Lotus Tech:</a:t>
            </a:r>
            <a:pPr algn="l" indent="0" marL="0">
              <a:lnSpc>
                <a:spcPts val="1242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~$3.2bn accumulated deficit; revenue −44% FY25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650" y="2290167"/>
            <a:ext cx="4145331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Bef>
                <a:spcPts val="900"/>
              </a:spcBef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debt service remains structurally dependent on Volvo's sustained profitability.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6301" y="4437906"/>
            <a:ext cx="8331398" cy="391418"/>
          </a:xfrm>
          <a:prstGeom prst="roundRect">
            <a:avLst>
              <a:gd name="adj" fmla="val 12978"/>
            </a:avLst>
          </a:prstGeom>
          <a:solidFill>
            <a:srgbClr val="0B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351" y="4552206"/>
            <a:ext cx="8161324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BYD = growth speed vs. resilience · SAIC = risk-hedging vs. loss of control · Geely = balance-sheet risk vs. strategic speed.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301" y="4921300"/>
            <a:ext cx="30584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Balcet, Wang &amp; Richet (2012); company filings (Polestar, Lotus Technology).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003977" y="4902250"/>
            <a:ext cx="748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Financing  | 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“JV rents are like opium” — the capability paradox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4064198" cy="1190179"/>
          </a:xfrm>
          <a:prstGeom prst="roundRect">
            <a:avLst>
              <a:gd name="adj" fmla="val 42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25351" y="1080939"/>
            <a:ext cx="0" cy="1190179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451" y="1220539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JV GAVE — Bai et al. 2025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451" y="1430089"/>
            <a:ext cx="3695998" cy="625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+8.3%</a:t>
            </a:r>
            <a:pPr algn="l" indent="0" marL="0">
              <a:lnSpc>
                <a:spcPts val="1242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quality gain in JV-affiliated models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 gap: 65% higher (2001) → 33% (2014)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Channel: worker mobility &amp; suppliers — not patents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6301" y="2385417"/>
            <a:ext cx="4064198" cy="956370"/>
          </a:xfrm>
          <a:prstGeom prst="roundRect">
            <a:avLst>
              <a:gd name="adj" fmla="val 531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5351" y="2385417"/>
            <a:ext cx="0" cy="95637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451" y="2525018"/>
            <a:ext cx="3769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PREVENTED — Howell 2018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451" y="2734568"/>
            <a:ext cx="3695998" cy="391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Firms cut quality instead of innovating under regulation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Cannibalisation: own brand competes with profitable JV stream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73650" y="2174825"/>
            <a:ext cx="4064050" cy="1560612"/>
          </a:xfrm>
          <a:prstGeom prst="roundRect">
            <a:avLst>
              <a:gd name="adj" fmla="val 3255"/>
            </a:avLst>
          </a:prstGeom>
          <a:solidFill>
            <a:srgbClr val="0B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4150" y="2339876"/>
            <a:ext cx="37567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CAPABILITY PARADOX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4150" y="2574727"/>
            <a:ext cx="37567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800"/>
              </a:spcBef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“JV rents are like opium”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64150" y="2822377"/>
            <a:ext cx="37567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He Guangyan, former Minister of Machinery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64150" y="3063627"/>
            <a:ext cx="3756711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1000"/>
              </a:spcBef>
              <a:buNone/>
            </a:pPr>
            <a:r>
              <a:rPr lang="en-US" sz="950" dirty="0">
                <a:solidFill>
                  <a:srgbClr val="C4D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JV transferred production quality but suppressed the autonomous innovation the EV era needs — no proprietary battery, no software platform.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301" y="4921300"/>
            <a:ext cx="28920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Bai, Barwick, Cao &amp; Li (2025); Howell (2018); Inkpen &amp; Beamish (1997).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998172" y="4902250"/>
            <a:ext cx="7543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 | 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BUILDING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build (non-imitable) vs. M&amp;A as a capability compressor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4064050" cy="3748385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301" y="1099989"/>
            <a:ext cx="406405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258639"/>
            <a:ext cx="3808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organic build, structurally hard to imitate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351" y="1537990"/>
            <a:ext cx="330101" cy="25301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351" y="1677591"/>
            <a:ext cx="3733949" cy="170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 phone batteries → 2003 vehicles → mid-2000s automotive batteries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“Specialised vertical integration”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capabilities stack on each other (Wang, Zhao &amp; Ruet 2022)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Tacit knowledge in routines —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transferable by licence or hiring (Teece et al. 1997)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shaped the policy agenda rather than followed it (Whitfield &amp; Wuttke 2026)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73501" y="1080939"/>
            <a:ext cx="4064198" cy="3748385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73501" y="1099989"/>
            <a:ext cx="4064198" cy="0"/>
          </a:xfrm>
          <a:prstGeom prst="line">
            <a:avLst/>
          </a:prstGeom>
          <a:noFill/>
          <a:ln w="38100">
            <a:solidFill>
              <a:srgbClr val="3E6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8551" y="1258639"/>
            <a:ext cx="3808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— M&amp;A as capability compressor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38551" y="1537990"/>
            <a:ext cx="330101" cy="25301"/>
          </a:xfrm>
          <a:prstGeom prst="rect">
            <a:avLst/>
          </a:prstGeom>
          <a:solidFill>
            <a:srgbClr val="3E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8551" y="1677591"/>
            <a:ext cx="3734098" cy="170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Volvo 2010: instant access to safety engineering, 3 platforms, 2,400+ dealers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asset-seeking FDI (Luo &amp; Tung 2007); 4-stage integration (Zheng et al. 2022)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 platform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bilateral co-development across Volvo, Lynk &amp; Co, Geely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+600%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7 years; measurable patent convergence (Konda et al. 2022)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301" y="4921300"/>
            <a:ext cx="35423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Zhao &amp; Ruet (2022); Teece et al. (1997); Zheng et al. (2022); Konda et al. (2022).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998172" y="4902250"/>
            <a:ext cx="7543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 | 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 erosion meets the EV transition — simultaneously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73650" y="1080939"/>
            <a:ext cx="4064050" cy="956370"/>
          </a:xfrm>
          <a:prstGeom prst="roundRect">
            <a:avLst>
              <a:gd name="adj" fmla="val 5312"/>
            </a:avLst>
          </a:prstGeom>
          <a:solidFill>
            <a:srgbClr val="FC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92700" y="1080939"/>
            <a:ext cx="0" cy="95637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6800" y="1220539"/>
            <a:ext cx="3769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PRESSURE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76800" y="1430089"/>
            <a:ext cx="3695849" cy="391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Domestic: JV demand collapses, own-brand still runs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 EU duty </a:t>
            </a:r>
            <a:pPr algn="l" indent="0" marL="0">
              <a:lnSpc>
                <a:spcPts val="1242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35.3%</a:t>
            </a:r>
            <a:pPr algn="l" indent="0" marL="0">
              <a:lnSpc>
                <a:spcPts val="1242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double BYD's 17.0%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73650" y="2151608"/>
            <a:ext cx="4064050" cy="955923"/>
          </a:xfrm>
          <a:prstGeom prst="roundRect">
            <a:avLst>
              <a:gd name="adj" fmla="val 53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92700" y="2151608"/>
            <a:ext cx="0" cy="955923"/>
          </a:xfrm>
          <a:prstGeom prst="line">
            <a:avLst/>
          </a:prstGeom>
          <a:noFill/>
          <a:ln w="381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2291209"/>
            <a:ext cx="37697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RESPONSE: “JV 2.0”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76800" y="2487960"/>
            <a:ext cx="3769766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500"/>
              </a:spcBef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Repurpose JV capacity for own-brand EVs; SAIC SHANGJIE with Huawei (Sep 2025). But SASAC 63.71% + Party mandate cap the speed of capital reallocation.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301" y="4921300"/>
            <a:ext cx="33504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Motor (2026); European Commission (2024). 2025 capacity-utilisation figures.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101608" y="4902250"/>
            <a:ext cx="6488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 |  11</a:t>
            </a:r>
            <a:endParaRPr lang="en-US" sz="8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33400" y="1583531"/>
          <a:ext cx="3810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VIABILITY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BYD: transition structurally complete; Geely: strong core, risky periphery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4064050" cy="3748385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301" y="1099989"/>
            <a:ext cx="406405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258639"/>
            <a:ext cx="3808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EV transition structurally complete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1351" y="1537990"/>
            <a:ext cx="330101" cy="25301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351" y="1677591"/>
            <a:ext cx="3733949" cy="170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full ICE exit — no combustion segment burdens capital allocation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FY2025: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&gt;1M exports (+140%)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119 countries; 4th year global NEV leader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5.6bn capital raise (Mar 2025): institutions + sovereign funds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Risks: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gross margin 19%→18%; net profit −19% (RMB 32.6bn); net-cash → net-debt; EU duty 17% (27% combined)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73501" y="1080939"/>
            <a:ext cx="4064198" cy="3748385"/>
          </a:xfrm>
          <a:prstGeom prst="roundRect">
            <a:avLst>
              <a:gd name="adj" fmla="val 135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73501" y="1099989"/>
            <a:ext cx="4064198" cy="0"/>
          </a:xfrm>
          <a:prstGeom prst="line">
            <a:avLst/>
          </a:prstGeom>
          <a:noFill/>
          <a:ln w="38100">
            <a:solidFill>
              <a:srgbClr val="3E6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8551" y="1258639"/>
            <a:ext cx="3808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— strong core, risky periphery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38551" y="1537990"/>
            <a:ext cx="330101" cy="25301"/>
          </a:xfrm>
          <a:prstGeom prst="rect">
            <a:avLst/>
          </a:prstGeom>
          <a:solidFill>
            <a:srgbClr val="3E6B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8551" y="1677591"/>
            <a:ext cx="3734098" cy="135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Auto: revenue +32% ($33.4bn); net profit 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+240%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Volvo Cars: SEK 400.2bn, 6.8% EBIT — second record year; NEVs 51.5% of H1-25 sales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stock +39% (early 2026) vs. BYD +12%</a:t>
            </a:r>
            <a:endParaRPr lang="en-US" sz="1000" dirty="0"/>
          </a:p>
          <a:p>
            <a:pPr algn="l" marL="342900" indent="-342900">
              <a:lnSpc>
                <a:spcPts val="138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Risks:</a:t>
            </a:r>
            <a:pPr algn="l" indent="0" marL="0">
              <a:lnSpc>
                <a:spcPts val="138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Polestar (going concern) + Lotus (−44%) + Smart; EV relies on Volvo/Smart platforms — no unilateral ZGH 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6301" y="4921300"/>
            <a:ext cx="38696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Annual Report (2025); Geely Automobile Holdings interim results (2025); Allen et al. (2024).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095952" y="4902250"/>
            <a:ext cx="6545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 | 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GENERALIZABLE LESSONS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5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The mode of capability acquisition determines durability across technology cycles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1155502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1155502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4258121"/>
            <a:ext cx="8331398" cy="571202"/>
          </a:xfrm>
          <a:prstGeom prst="roundRect">
            <a:avLst>
              <a:gd name="adj" fmla="val 8894"/>
            </a:avLst>
          </a:prstGeom>
          <a:solidFill>
            <a:srgbClr val="E8F7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0113" y="4258121"/>
            <a:ext cx="0" cy="571202"/>
          </a:xfrm>
          <a:prstGeom prst="line">
            <a:avLst/>
          </a:prstGeom>
          <a:noFill/>
          <a:ln w="47625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8976" y="4372421"/>
            <a:ext cx="8112746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Mandatory technology transfer buys short-run quality but displaces the autonomous innovation needed for the next technology cycle. Voluntary acquisition and organic development avoid this — trading </a:t>
            </a:r>
            <a:pPr algn="l"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vs. depth vs. independence</a:t>
            </a:r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301" y="4921300"/>
            <a:ext cx="2286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 et al. (2025); Teece et al. (1997); Konda et al. (2022).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071545" y="4902250"/>
            <a:ext cx="6794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 |  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650" y="1824186"/>
          <a:ext cx="8178701" cy="1905000"/>
        </p:xfrm>
        <a:graphic>
          <a:graphicData uri="http://schemas.openxmlformats.org/drawingml/2006/table">
            <a:tbl>
              <a:tblPr/>
              <a:tblGrid>
                <a:gridCol w="1799314"/>
                <a:gridCol w="2126462"/>
                <a:gridCol w="2126462"/>
                <a:gridCol w="2126462"/>
              </a:tblGrid>
              <a:tr h="47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SAIC — Mandatory JV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2F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BYD — Organic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Geely — M&amp;A</a:t>
                      </a:r>
                      <a:endParaRPr lang="en-US" sz="11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6B9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</a:rPr>
                        <a:t>Short-term effect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+8.3% quality (Bai et al. 2025)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Slow to build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Instant platforms &amp; brands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</a:rPr>
                        <a:t>Long-term effect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Autonomous innovation displaced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Proprietary, non-imitable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Bilateral co-development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</a:rPr>
                        <a:t>EV readiness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Lacking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High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C2C2C"/>
                          </a:solidFill>
                        </a:rPr>
                        <a:t>Platform-dependent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GENERALIZABLE LESSONS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5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governance drives adaptability · Lesson 3: capital structure drives resilience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1155502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1155502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346002"/>
            <a:ext cx="8331398" cy="1300311"/>
          </a:xfrm>
          <a:prstGeom prst="roundRect">
            <a:avLst>
              <a:gd name="adj" fmla="val 390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25351" y="1346002"/>
            <a:ext cx="0" cy="1300311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451" y="1485602"/>
            <a:ext cx="81224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Governance is a first-order determinant of strategic adaptability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9451" y="1758553"/>
            <a:ext cx="256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9451" y="1942654"/>
            <a:ext cx="256929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split across SASAC, Party &amp; 50/50 JV boards → slow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1518" y="1758553"/>
            <a:ext cx="2569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31518" y="1942654"/>
            <a:ext cx="256944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founder control → ICE exit 2022 with no external approval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53733" y="1758553"/>
            <a:ext cx="256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53733" y="1942654"/>
            <a:ext cx="256929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apex, but multi-brand portfolio creates coordination costs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9451" y="2352526"/>
            <a:ext cx="812246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800"/>
              </a:spcBef>
              <a:buNone/>
            </a:pPr>
            <a:r>
              <a:rPr lang="en-US" sz="900" i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the rate of technological change exceeds a governance structure's decision cycle, governance itself becomes the binding competitive constraint.”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301" y="2785914"/>
            <a:ext cx="8331398" cy="1044625"/>
          </a:xfrm>
          <a:prstGeom prst="roundRect">
            <a:avLst>
              <a:gd name="adj" fmla="val 48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25351" y="2785914"/>
            <a:ext cx="0" cy="1044625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51" y="2925514"/>
            <a:ext cx="81224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Capital structure determines resilience when markets contract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9451" y="3198465"/>
            <a:ext cx="256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9451" y="3382566"/>
            <a:ext cx="256929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Capital-light → capital trap: absorbs 50% of impairment without control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1518" y="3198465"/>
            <a:ext cx="2569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1518" y="3382566"/>
            <a:ext cx="256944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Self-financing → resilient to partner losses; vulnerable to margin compression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3733" y="3198465"/>
            <a:ext cx="25692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E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53733" y="3382566"/>
            <a:ext cx="256929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for speed → highest return (10× Volvo); highest portfolio default risk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6301" y="4921300"/>
            <a:ext cx="192974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across the four analytical dimensions.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071545" y="4902250"/>
            <a:ext cx="6794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 | 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6950" cy="51435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" y="1145530"/>
            <a:ext cx="79021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1851" y="1415355"/>
            <a:ext cx="7772400" cy="1170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is the binding constraint — it sets which financing strategies are viable, which capabilities can be built autonomously, and which competitive positions stay reachable under rapid technological change.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851" y="2763441"/>
            <a:ext cx="812750" cy="5075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1851" y="3001417"/>
            <a:ext cx="2472333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851" y="3112443"/>
            <a:ext cx="2521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— structurally superior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61851" y="3328243"/>
            <a:ext cx="25217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AF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control + vertical integration + internal financing for the EV era.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99234" y="3001417"/>
            <a:ext cx="2472482" cy="0"/>
          </a:xfrm>
          <a:prstGeom prst="line">
            <a:avLst/>
          </a:prstGeom>
          <a:noFill/>
          <a:ln w="19050">
            <a:solidFill>
              <a:srgbClr val="3E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9234" y="3112443"/>
            <a:ext cx="25219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F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— strong but exposed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99234" y="3328243"/>
            <a:ext cx="252193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AF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High-performing core; portfolio complexity &amp; leverage are the vulnerability.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6766" y="3001417"/>
            <a:ext cx="2472333" cy="0"/>
          </a:xfrm>
          <a:prstGeom prst="line">
            <a:avLst/>
          </a:prstGeom>
          <a:noFill/>
          <a:ln w="1905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6766" y="3112443"/>
            <a:ext cx="2521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8B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SAIC — a double brake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6766" y="3328243"/>
            <a:ext cx="252177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3"/>
              </a:lnSpc>
              <a:spcBef>
                <a:spcPts val="500"/>
              </a:spcBef>
              <a:buNone/>
            </a:pPr>
            <a:r>
              <a:rPr lang="en-US" sz="850" dirty="0">
                <a:solidFill>
                  <a:srgbClr val="AF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 legacy meets political governance; modernisation is formal, not structural.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1851" y="3829050"/>
            <a:ext cx="7772400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1600"/>
              </a:spcBef>
              <a:buNone/>
            </a:pPr>
            <a:r>
              <a:rPr lang="en-US" sz="950" i="1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 can SAIC's “JV 2.0” overcome the politico-bureaucratic decision speed that has historically capped its adaptability?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AI HIGHLIGHTS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06301" y="523875"/>
            <a:ext cx="8498026" cy="26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8"/>
              </a:lnSpc>
              <a:spcBef>
                <a:spcPts val="600"/>
              </a:spcBef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used a shared git repository + Claude (Anthropic)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90439"/>
            <a:ext cx="660350" cy="38100"/>
          </a:xfrm>
          <a:prstGeom prst="rect">
            <a:avLst/>
          </a:prstGeom>
          <a:solidFill>
            <a:srgbClr val="00C2A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0052" y="890439"/>
            <a:ext cx="203150" cy="38100"/>
          </a:xfrm>
          <a:prstGeom prst="rect">
            <a:avLst/>
          </a:prstGeom>
          <a:solidFill>
            <a:srgbClr val="D32F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1080939"/>
            <a:ext cx="2667000" cy="3285083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6301" y="1099989"/>
            <a:ext cx="2667000" cy="0"/>
          </a:xfrm>
          <a:prstGeom prst="line">
            <a:avLst/>
          </a:prstGeom>
          <a:noFill/>
          <a:ln w="381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351" y="1258639"/>
            <a:ext cx="23836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351" y="1512540"/>
            <a:ext cx="2336899" cy="1331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git repo with three company wikis (BYD, SAIC, Geely)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CLI: wiki-ingest, wiki-query, wiki-lint agents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29+ academic sources ingested, linked &amp; cross-referenced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Source-rating system for prioritisation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8351" y="1080939"/>
            <a:ext cx="2667149" cy="3285083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8351" y="1099989"/>
            <a:ext cx="2667149" cy="0"/>
          </a:xfrm>
          <a:prstGeom prst="line">
            <a:avLst/>
          </a:prstGeom>
          <a:noFill/>
          <a:ln w="381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3402" y="1258639"/>
            <a:ext cx="2383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helped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3402" y="1512540"/>
            <a:ext cx="2337048" cy="1098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Auto-extraction &amp; linking of entities and concepts across sources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Cross-source synthesis flagged contradictions (e.g. ROE discrepancy)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assistance directly from cited material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70550" y="1080939"/>
            <a:ext cx="2667149" cy="3285083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70550" y="1099989"/>
            <a:ext cx="2667149" cy="0"/>
          </a:xfrm>
          <a:prstGeom prst="line">
            <a:avLst/>
          </a:prstGeom>
          <a:noFill/>
          <a:ln w="38100">
            <a:solidFill>
              <a:srgbClr val="D32F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5601" y="1258639"/>
            <a:ext cx="23837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5601" y="1512540"/>
            <a:ext cx="2337048" cy="94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SharePoint/cloud access → local files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financials → consistent cross-checks vs. annual reports</a:t>
            </a:r>
            <a:endParaRPr lang="en-US" sz="900" dirty="0"/>
          </a:p>
          <a:p>
            <a:pPr algn="l" marL="342900" indent="-342900">
              <a:lnSpc>
                <a:spcPts val="1242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schema setup took ~1–2h up front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6301" y="4492972"/>
            <a:ext cx="8331398" cy="336352"/>
          </a:xfrm>
          <a:prstGeom prst="roundRect">
            <a:avLst>
              <a:gd name="adj" fmla="val 15103"/>
            </a:avLst>
          </a:prstGeom>
          <a:solidFill>
            <a:srgbClr val="0B1F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1351" y="4594473"/>
            <a:ext cx="81613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Claude Pro ~$20/month · </a:t>
            </a:r>
            <a:pPr algn="l"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local-first research wiki, shared via git.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6301" y="4834086"/>
            <a:ext cx="8331398" cy="0"/>
          </a:xfrm>
          <a:prstGeom prst="line">
            <a:avLst/>
          </a:prstGeom>
          <a:noFill/>
          <a:ln w="9525">
            <a:solidFill>
              <a:srgbClr val="D9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301" y="4921300"/>
            <a:ext cx="2549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Tooling: Claude Code CLI with an APM-managed research wiki.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857381" y="4902250"/>
            <a:ext cx="8979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Highlights  | 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Strategies in the Automotive Industry</dc:title>
  <dc:subject>PptxGenJS Presentation</dc:subject>
  <dc:creator>Ort · Maus · Stubner</dc:creator>
  <cp:lastModifiedBy>Ort · Maus · Stubner</cp:lastModifiedBy>
  <cp:revision>1</cp:revision>
  <dcterms:created xsi:type="dcterms:W3CDTF">2026-06-19T14:38:21Z</dcterms:created>
  <dcterms:modified xsi:type="dcterms:W3CDTF">2026-06-19T14:38:21Z</dcterms:modified>
</cp:coreProperties>
</file>