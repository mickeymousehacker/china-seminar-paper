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China Strategies in the Automotive Industry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17520"/>
            <a:ext cx="10515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9EC"/>
                </a:solidFill>
                <a:latin typeface="Arial"/>
              </a:rPr>
              <a:t>Governance, Financing, and Long-Term Value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8D8"/>
                </a:solidFill>
                <a:latin typeface="Arial"/>
              </a:rPr>
              <a:t>Seminar "M&amp;A as Transformer of the Automotive Industry" | Goethe-Universität Frankfurt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4C8"/>
                </a:solidFill>
                <a:latin typeface="Arial"/>
              </a:rPr>
              <a:t>Julia Ort · Batughan Maus · Chiara Stubner  |  19. Juni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3E0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10515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9EC"/>
                </a:solidFill>
                <a:latin typeface="Arial"/>
              </a:rPr>
              <a:t>Setting the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D62"/>
                </a:solidFill>
                <a:latin typeface="Arial"/>
              </a:rPr>
              <a:t>55% of all new cars in China are electric in 2025 — who survives?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2743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88136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6424"/>
            <a:ext cx="106070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The market has already tipped — incumbents must adapt or exit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EV share China 2025: ~55% of all new registrations (IEA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751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75104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Chinese OEMs: 60% of all global EV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0428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04288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70% of BEVs sold in China cost less than the average car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334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33472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IEA forecast: &gt;90% EV share in China by 2035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6265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62656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9184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Research Question: Which governance and financing structure creates long-term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62102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62102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shareholder value in a technology-intensive, fast-moving market?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5020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950208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793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279392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Three cases under identical market conditions: SAIC · BYD · Geely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D62"/>
                </a:solidFill>
                <a:latin typeface="Arial"/>
              </a:rPr>
              <a:t>Three paths, one market — sharply divergent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2743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88136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6424"/>
            <a:ext cx="106070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Governance structure drives divergence in EV readiness and financial performance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4592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3017520"/>
                <a:gridCol w="30175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SAIC Motor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BYD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Geely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State-directed JV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Organic vertical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M&amp;A-driven private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Shanghai SASAC (63.71%)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Wang Chuanfu, founder (17%)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Li Shufu, private (100% ZGH)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Net profit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RMB 1.67bn (−88%)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RMB 40.25bn (+34%)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RMB 16.8bn (+240%)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EV Readiness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Medium — JV restructuring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High — ICE exit 2022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Medium — platform-dependent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3E0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Theory &amp; Literature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10515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9EC"/>
                </a:solidFill>
                <a:latin typeface="Arial"/>
              </a:rPr>
              <a:t>Four Theoretical Lenses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D62"/>
                </a:solidFill>
                <a:latin typeface="Arial"/>
              </a:rPr>
              <a:t>Four theoretical lenses — one analytical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2743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05156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1. Political Governance &amp; SOE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807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8074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Shleifer &amp; Vishny (1994): politicians maximize employment, not firm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0992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099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Fan, Wong &amp; Zhang (2007): politically connected CEOs → −18% CAR, −21% revenue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391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03911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Megginson &amp; Netter (2001): mixed-ownership firms no more profitable than pure SOEs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6829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68296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69748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2. JV Dynamics &amp; Capability Transfer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2666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2666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Holmes, McGrattan &amp; Prescott (2015): JV as implicit technology tax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3558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35584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Howell (2018): JV rents crowd out autonomous innovation ("like opium")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8503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685032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1421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014216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3. Cross-border M&amp;A &amp; Springboard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434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34340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Luo &amp; Tung (2007): emerging-market firms use acquisitions as springboard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67258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67258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Zheng, Noorderhaven &amp; Du (2022): 4-stage integration (distancing → diversifying)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00176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001768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33095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330952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4. Dynamic Capabilities &amp; Founder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66013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66013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Teece, Pisano &amp; Shuen (1997): sustainable advantage through path-dependent tacit knowledge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98932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98932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Zhang et al. (2025): founder control → more breakthrough innovation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3E0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10515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9EC"/>
                </a:solidFill>
                <a:latin typeface="Arial"/>
              </a:rPr>
              <a:t>Who Controls the Steering Wheel?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D62"/>
                </a:solidFill>
                <a:latin typeface="Arial"/>
              </a:rPr>
              <a:t>SAIC: State as controller — politically embedded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2743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88136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6424"/>
            <a:ext cx="106070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~73% state-owned → political goals embedded in governance structure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4592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383280"/>
                <a:gridCol w="33832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Politically connected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Non-connected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3-year 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−18%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Revenue growth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−21%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Profit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−24%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Board bureaucrats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19%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D62"/>
                </a:solidFill>
                <a:latin typeface="Arial"/>
              </a:rPr>
              <a:t>BYD &amp; Geely: Founder control without political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2743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88136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6424"/>
            <a:ext cx="106070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Consolidated control enables fast, unilateral strategic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BYD — Wang Chuanfu: Chairman + CEO since 1995, ~17% direct; &gt;1/3 voting rights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751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97510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No Party Committee directive; subsidies (RMB 10.4bn) grant no control rights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0428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0428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ICE exit 2022, BYD Semiconductor, FinDreams spin-off — no external approval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334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3347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Wang Chuanfu: "Fast decision-making" as central competitive advantage (He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6265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62656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9184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Geely — Li Shufu: 100% owner ZGH (unlisted apex) → ~76% control over Geely Auto HK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62102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62102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No JV-partner or state-committee approval needed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5020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95020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Volvo 2010 ($1.8bn) → LEVC 2013 → Lotus 2017 (51%) → Smart JV 2020 (50:50 Mercedes)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793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Risk: multi-brand portfolio generates growing coordination costs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3E0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Financing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10515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9EC"/>
                </a:solidFill>
                <a:latin typeface="Arial"/>
              </a:rPr>
              <a:t>Capital Structure as Strategic Bet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D62"/>
                </a:solidFill>
                <a:latin typeface="Arial"/>
              </a:rPr>
              <a:t>SAIC &amp; BYD: Capital trap vs. self-financing resilience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2743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88136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6424"/>
            <a:ext cx="106070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SAIC absorbs 50% impairment without restructuring control; BYD reinvests all cash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SAIC — Capital-light JV model becomes a capital 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751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97510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2024: SAIC-GM sales −56.54% → must absorb 50% impairment without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0428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0428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Revenue −15.73% (RMB 627.59bn), Net profit −88.19% (RMB 1.67bn), ROE 0.58%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334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3347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EU countervailing duty: 35.3% — highest of all three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6265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62656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9184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BYD — Internal financing as structural strength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62102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62102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FY2024: Revenue RMB 777.1bn (+29%), Operating CF RMB 133.5bn, Cash RMB 154.9bn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5020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95020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R&amp;D 2024: RMB 54.2bn (+35.7%) — exceeds annual net profit RMB 40.3bn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793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In 13 of 14 years (2011–2024): R&amp;D expenditure exceeded annual net profit (He 2025)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6085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60857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Interest-bearing debt only 4.9% of total liabilities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D62"/>
                </a:solidFill>
                <a:latin typeface="Arial"/>
              </a:rPr>
              <a:t>Geely: Leverage for speed — highest financial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2743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88136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6424"/>
            <a:ext cx="106070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Volvo deal returned 10× — but Polestar and Lotus now create portfolio 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Volvo Deal 2010 — The paradigm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751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97510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Purchase price: $1.8bn → total capital ~$2.7bn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0428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0428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Financing: Bank of China/CCB/ExIm ~$2.1bn + ~$932m central government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334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3347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ZGH debt: RMB 16.05bn (2009) → RMB 71.07bn (2010); D/C ratio 73.47%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6265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9626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Return: Volvo IPO October 2021 ~$18.5bn — 10× purchase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9184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2102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621024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Current risks (2024/25)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5020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95020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Polestar: Net loss $1.17bn FY2023, going-concern warning (Deloitte), $103m cash end-2024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793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Polestar: ZGH as guarantor, ~$2bn capital need through 2028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6085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60857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Lotus Technology: cumulative deficit ~$3.2bn (FY2025), Revenue −44% FY2025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3E0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Capability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10515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9EC"/>
                </a:solidFill>
                <a:latin typeface="Arial"/>
              </a:rPr>
              <a:t>Build, Buy, or Borrow?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D62"/>
                </a:solidFill>
                <a:latin typeface="Arial"/>
              </a:rPr>
              <a:t>SAIC and the Capability Paradox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2743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64008" cy="9144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1556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2D62"/>
                </a:solidFill>
                <a:latin typeface="Arial"/>
              </a:rPr>
              <a:t>"JV rents are like opium"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363"/>
                </a:solidFill>
                <a:latin typeface="Arial"/>
              </a:rPr>
              <a:t>— He Guangyan, former Minister of Machinery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What the JV model gave (Bai et al. 2025, n=all auto models 2001–2014)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7802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7802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+8.3% quality improvement in JV-affiliated models vs. non-affiliated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0720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0720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Defect rate: 65% higher in 2001 → 33% higher in 2014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363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13639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Transfer via worker mobility + supplier networks (not patent transfer)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655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465576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79476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What the JV model prevented (Howell 2018)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239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12394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JV firms responded to regulatory pressure with quality reduction, not innovation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5312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4531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Cannibalization: own brand competes with profitable JV revenue stream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7823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782312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1149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111496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Capability Paradox: JV transferred production quality but suppressed autonomous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44068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44068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innovation needed for the EV era — no proprietary battery, no software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D62"/>
                </a:solidFill>
                <a:latin typeface="Arial"/>
              </a:rPr>
              <a:t>BYD &amp; Geely: Organic depth vs. M&amp;A speed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2743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88136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6424"/>
            <a:ext cx="106070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BYD's tacit knowledge is non-imitable; Geely's M&amp;A created genuine co-development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BYD — Organic internal build: structurally hard to imitate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751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97510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1995: mobile phone batteries → 2003: vehicles → mid-2000s: automotive batteries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0428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0428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"Specialised Vertical Integration": competencies stack on each other (Wang, Zhao &amp; Ruet 2022)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334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3347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Teece et al. (1997): tacit knowledge in routines — not transferable via licence or talent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6265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9626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BYD did not follow policy agenda — it actively co-designed it (Whitfield &amp; Wuttke 2026)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9184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2102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621024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Geely — M&amp;A as capability compressor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5020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95020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Volvo 2010: immediate access to safety engineering, 3 platforms, 2,400+ dealer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793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4-stage integration (Zheng et al. 2022): distancing → balancing → building → diversifying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6085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60857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CMA Platform: bilateral co-development across Volvo, Lynk &amp; Co, Geely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377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93776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R&amp;D expenditure: +600% in 7 years post-acquisition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2669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26694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Konda et al. (2022): measurable patent convergence → genuine co-creation effect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3E0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Long-Term Viability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10515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9EC"/>
                </a:solidFill>
                <a:latin typeface="Arial"/>
              </a:rPr>
              <a:t>Who Has a Sustainable Position?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D62"/>
                </a:solidFill>
                <a:latin typeface="Arial"/>
              </a:rPr>
              <a:t>SAIC: JV erosion meets EV transition simultaneously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2743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88136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6424"/>
            <a:ext cx="106070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Double pressure: JV demand collapsing while EV transition requires new capital allocation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4592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560320"/>
                <a:gridCol w="2560320"/>
                <a:gridCol w="25603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Facility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Capacity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Production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Utilisation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SAIC-GM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1.452m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534,000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SAIC-VW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1.920m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1.058m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55%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VW MEB (EV)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34,464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Own-brand (PVB)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76–95%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D62"/>
                </a:solidFill>
                <a:latin typeface="Arial"/>
              </a:rPr>
              <a:t>BYD &amp; Geely: EV transition complete vs. strong core, risky periphery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2743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88136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6424"/>
            <a:ext cx="106070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BYD structurally repositioned; Geely strong at core but portfolio liabilities accumulate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45920"/>
          <a:ext cx="1088136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5953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Entity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Performance 2024/25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BYD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&gt;1m exported vehicles (+140% YoY), 119 countries, 4th year global NEV leader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BYD risk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Gross margin 19%→18%; Net profit −19% (RMB 32.6bn); net-cash → net-debt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Geely Auto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Revenue +32% ($33.4bn), Net profit +240%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Volvo Cars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SEK 400.2bn revenue, 6.8% EBIT — second record year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Geely stock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+39% early 2026 vs. BYD +12%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Polestar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Going concern, $103m cash, ~$2bn capital need, ZGH guarantor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Lotus Technology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Revenue −44% FY2025, cumulative deficit ~$3.2bn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3E0"/>
                </a:solidFill>
                <a:latin typeface="Arial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Generalizable Lessons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10515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9EC"/>
                </a:solidFill>
                <a:latin typeface="Arial"/>
              </a:rPr>
              <a:t>What Can Other Markets Learn?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D62"/>
                </a:solidFill>
                <a:latin typeface="Arial"/>
              </a:rPr>
              <a:t>Lesson 1: Mode of capability acquisition determines durability across technology cycles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2743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88136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6424"/>
            <a:ext cx="106070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Mandatory Technology Transfer creates short-term gains but crowds out next-cycle innovation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4592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81528"/>
                <a:gridCol w="3081528"/>
                <a:gridCol w="307238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SAIC (Mandatory JV)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BYD (Organic)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Geely (M&amp;A)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Short-term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+8.3% quality (Bai et al.)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Immediate platforms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Autonomous innovation crowded out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Proprietary, non-imitable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Bilateral co-development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EV 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Platform-dependent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Cost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Political control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Leverage &amp; complexity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D62"/>
                </a:solidFill>
                <a:latin typeface="Arial"/>
              </a:rPr>
              <a:t>Lessons 2 &amp; 3: Governance and capital structure as first-order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2743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64008" cy="9144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1556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2D62"/>
                </a:solidFill>
                <a:latin typeface="Arial"/>
              </a:rPr>
              <a:t>"When the rate of technological change exceeds the decision cycle time of a governance structure, governance itself becomes the binding competitive constraint."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Lesson 2: Governance is a first-order determinant of strategic adaptability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7802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7802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SAIC: control split across SASAC + Party Committee + 50:50 JV boards → slow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0720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80720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BYD: consolidated founder control → ICE exit 2022 without external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363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13639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Geely: private apex, but multi-brand portfolio generates coordination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655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65576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947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Lesson 3: Capital structure determines resilience when markets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239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12394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SAIC: capital-light → capital trap; 50% impairment without restructuring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5312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4531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BYD: self-financing → resilient to partner losses; vulnerable to margin compression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7823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78231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Geely: leverage for speed → 10× Volvo return; highest portfolio liability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3E0"/>
                </a:solidFill>
                <a:latin typeface="Arial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10515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9EC"/>
                </a:solidFill>
                <a:latin typeface="Arial"/>
              </a:rPr>
              <a:t>Governance as Binding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D62"/>
                </a:solidFill>
                <a:latin typeface="Arial"/>
              </a:rPr>
              <a:t>Governance is the binding constraint across all four dimensions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2743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88136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6424"/>
            <a:ext cx="106070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Governance determines financing options, capability development, and competitive position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4592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1645920"/>
                <a:gridCol w="1645920"/>
                <a:gridCol w="1645920"/>
                <a:gridCol w="33832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Governance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Financing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Capabilities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EV Readiness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BYD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Founder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Self-fin.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Organic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Complete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Structurally superior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Geely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Private ✓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Leverage ⚠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M&amp;A ✓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Platform-dep. ⚠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Strong core, risky periphery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SAIC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State/Party 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Capital trap 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JV-dep. 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Transitioning 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Double structural brake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D62"/>
                </a:solidFill>
                <a:latin typeface="Arial"/>
              </a:rPr>
              <a:t>AI Highlights — Shared Git Repository + Claude (Anthropic)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2743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05156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What we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807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8074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Shared git repository with three separate company wikis (BYD, SAIC, Geely)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0992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099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Claude Code CLI with wiki-ingest, wiki-query, wiki-lint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391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03911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29+ academic sources structured, ingested, cross-referenced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6829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6829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Source-rating system for source prioritisation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69748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2666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026664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What worked well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3558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35584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Wiki-Ingest: automatic extraction and linking of entities and concepts across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8503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68503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Cross-source synthesis: contradictions between sources automatically flagged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01421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01421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Writing assistance: sections drafted directly from cited 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34340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7258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672584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Challenges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00176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00176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No direct SharePoint/cloud access → files had to be stored locally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33095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33095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Hallucinations on financial figures → consistent cross-checks against annual reports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66013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66013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363"/>
                </a:solidFill>
                <a:latin typeface="Arial"/>
              </a:rPr>
              <a:t>Wiki schema required initial setup (~1–2h)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98932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3185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0A3E0"/>
                </a:solidFill>
                <a:latin typeface="Arial"/>
              </a:rPr>
              <a:t>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6318504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rial"/>
              </a:rPr>
              <a:t>Cost: Claude Pro ~$20/month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36363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